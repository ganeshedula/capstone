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516d03c20154ca0" /><Relationship Type="http://schemas.openxmlformats.org/officeDocument/2006/relationships/extended-properties" Target="/docProps/app.xml" Id="Ra57842ac507c43e5" /><Relationship Type="http://schemas.openxmlformats.org/officeDocument/2006/relationships/officeDocument" Target="/ppt/presentation.xml" Id="R8134e1a43a6f4306" /></Relationships>
</file>

<file path=ppt/presentation.xml><?xml version="1.0" encoding="utf-8"?>
<p:presentation xmlns:p="http://schemas.openxmlformats.org/presentationml/2006/main">
  <p:sldMasterIdLst>
    <p:sldMasterId xmlns:r="http://schemas.openxmlformats.org/officeDocument/2006/relationships" id="2147483648" r:id="Rb6477dbdf6544184"/>
  </p:sldMasterIdLst>
  <p:notesMasterIdLst>
    <p:notesMasterId xmlns:r="http://schemas.openxmlformats.org/officeDocument/2006/relationships" r:id="Rece6dc48abaf4f05"/>
  </p:notesMasterIdLst>
  <p:sldIdLst>
    <p:sldId xmlns:r="http://schemas.openxmlformats.org/officeDocument/2006/relationships" id="256" r:id="Rc147488997c442b0"/>
    <p:sldId xmlns:r="http://schemas.openxmlformats.org/officeDocument/2006/relationships" id="257" r:id="R0ef8e9fbd46d4f7f"/>
    <p:sldId xmlns:r="http://schemas.openxmlformats.org/officeDocument/2006/relationships" id="258" r:id="R641f778ca4c949ff"/>
    <p:sldId xmlns:r="http://schemas.openxmlformats.org/officeDocument/2006/relationships" id="259" r:id="Rbd001404392b4053"/>
    <p:sldId xmlns:r="http://schemas.openxmlformats.org/officeDocument/2006/relationships" id="260" r:id="R68ec189e775c4285"/>
    <p:sldId xmlns:r="http://schemas.openxmlformats.org/officeDocument/2006/relationships" id="261" r:id="Rfbfd27b90d364aea"/>
    <p:sldId xmlns:r="http://schemas.openxmlformats.org/officeDocument/2006/relationships" id="262" r:id="Rb6fcefdf95e747eb"/>
    <p:sldId xmlns:r="http://schemas.openxmlformats.org/officeDocument/2006/relationships" id="263" r:id="R6f250caaed414a72"/>
    <p:sldId xmlns:r="http://schemas.openxmlformats.org/officeDocument/2006/relationships" id="264" r:id="R726b814a515a43a9"/>
    <p:sldId xmlns:r="http://schemas.openxmlformats.org/officeDocument/2006/relationships" id="265" r:id="R1093581651c7482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7a785552a7a48ee" /><Relationship Type="http://schemas.openxmlformats.org/officeDocument/2006/relationships/slideMaster" Target="/ppt/slideMasters/slideMaster1.xml" Id="Rb6477dbdf6544184" /><Relationship Type="http://schemas.openxmlformats.org/officeDocument/2006/relationships/notesMaster" Target="/ppt/notesMasters/notesMaster1.xml" Id="Rece6dc48abaf4f05" /><Relationship Type="http://schemas.openxmlformats.org/officeDocument/2006/relationships/presProps" Target="/ppt/presProps.xml" Id="R73ee5f9a3f81415c" /><Relationship Type="http://schemas.openxmlformats.org/officeDocument/2006/relationships/tableStyles" Target="/ppt/tableStyles.xml" Id="R38c9d93c8c9c4137" /><Relationship Type="http://schemas.openxmlformats.org/officeDocument/2006/relationships/slide" Target="/ppt/slides/slide1.xml" Id="Rc147488997c442b0" /><Relationship Type="http://schemas.openxmlformats.org/officeDocument/2006/relationships/slide" Target="/ppt/slides/slide2.xml" Id="R0ef8e9fbd46d4f7f" /><Relationship Type="http://schemas.openxmlformats.org/officeDocument/2006/relationships/slide" Target="/ppt/slides/slide3.xml" Id="R641f778ca4c949ff" /><Relationship Type="http://schemas.openxmlformats.org/officeDocument/2006/relationships/slide" Target="/ppt/slides/slide4.xml" Id="Rbd001404392b4053" /><Relationship Type="http://schemas.openxmlformats.org/officeDocument/2006/relationships/slide" Target="/ppt/slides/slide5.xml" Id="R68ec189e775c4285" /><Relationship Type="http://schemas.openxmlformats.org/officeDocument/2006/relationships/slide" Target="/ppt/slides/slide6.xml" Id="Rfbfd27b90d364aea" /><Relationship Type="http://schemas.openxmlformats.org/officeDocument/2006/relationships/slide" Target="/ppt/slides/slide7.xml" Id="Rb6fcefdf95e747eb" /><Relationship Type="http://schemas.openxmlformats.org/officeDocument/2006/relationships/slide" Target="/ppt/slides/slide8.xml" Id="R6f250caaed414a72" /><Relationship Type="http://schemas.openxmlformats.org/officeDocument/2006/relationships/slide" Target="/ppt/slides/slide9.xml" Id="R726b814a515a43a9" /><Relationship Type="http://schemas.openxmlformats.org/officeDocument/2006/relationships/slide" Target="/ppt/slides/slide10.xml" Id="R1093581651c7482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22881948d00435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ddb043001f34d10" /><Relationship Type="http://schemas.openxmlformats.org/officeDocument/2006/relationships/notesMaster" Target="/ppt/notesMasters/notesMaster1.xml" Id="R3322ad2d15b0408c" /></Relationships>
</file>

<file path=ppt/notesSlides/_rels/notesSlide2.xml.rels>&#65279;<?xml version="1.0" encoding="utf-8"?><Relationships xmlns="http://schemas.openxmlformats.org/package/2006/relationships"><Relationship Type="http://schemas.openxmlformats.org/officeDocument/2006/relationships/slide" Target="/ppt/slides/slide2.xml" Id="Re2c57f644f984c10" /><Relationship Type="http://schemas.openxmlformats.org/officeDocument/2006/relationships/notesMaster" Target="/ppt/notesMasters/notesMaster1.xml" Id="Rc0b9bb844b0148b1" /></Relationships>
</file>

<file path=ppt/notesSlides/_rels/notesSlide3.xml.rels>&#65279;<?xml version="1.0" encoding="utf-8"?><Relationships xmlns="http://schemas.openxmlformats.org/package/2006/relationships"><Relationship Type="http://schemas.openxmlformats.org/officeDocument/2006/relationships/slide" Target="/ppt/slides/slide3.xml" Id="Rc5d29b66471d499f" /><Relationship Type="http://schemas.openxmlformats.org/officeDocument/2006/relationships/notesMaster" Target="/ppt/notesMasters/notesMaster1.xml" Id="Rf55ef8ef98c64cca" /></Relationships>
</file>

<file path=ppt/notesSlides/_rels/notesSlide4.xml.rels>&#65279;<?xml version="1.0" encoding="utf-8"?><Relationships xmlns="http://schemas.openxmlformats.org/package/2006/relationships"><Relationship Type="http://schemas.openxmlformats.org/officeDocument/2006/relationships/slide" Target="/ppt/slides/slide4.xml" Id="Rfb1f635503a24153" /><Relationship Type="http://schemas.openxmlformats.org/officeDocument/2006/relationships/notesMaster" Target="/ppt/notesMasters/notesMaster1.xml" Id="Rf7c07b48dc524934" /></Relationships>
</file>

<file path=ppt/notesSlides/_rels/notesSlide5.xml.rels>&#65279;<?xml version="1.0" encoding="utf-8"?><Relationships xmlns="http://schemas.openxmlformats.org/package/2006/relationships"><Relationship Type="http://schemas.openxmlformats.org/officeDocument/2006/relationships/slide" Target="/ppt/slides/slide5.xml" Id="R7d6671a1a0a0476d" /><Relationship Type="http://schemas.openxmlformats.org/officeDocument/2006/relationships/notesMaster" Target="/ppt/notesMasters/notesMaster1.xml" Id="R924da45c53434669" /></Relationships>
</file>

<file path=ppt/notesSlides/_rels/notesSlide6.xml.rels>&#65279;<?xml version="1.0" encoding="utf-8"?><Relationships xmlns="http://schemas.openxmlformats.org/package/2006/relationships"><Relationship Type="http://schemas.openxmlformats.org/officeDocument/2006/relationships/slide" Target="/ppt/slides/slide6.xml" Id="R93e24f6985c64d20" /><Relationship Type="http://schemas.openxmlformats.org/officeDocument/2006/relationships/notesMaster" Target="/ppt/notesMasters/notesMaster1.xml" Id="R5e6e1f0a873b4dde" /></Relationships>
</file>

<file path=ppt/notesSlides/_rels/notesSlide7.xml.rels>&#65279;<?xml version="1.0" encoding="utf-8"?><Relationships xmlns="http://schemas.openxmlformats.org/package/2006/relationships"><Relationship Type="http://schemas.openxmlformats.org/officeDocument/2006/relationships/slide" Target="/ppt/slides/slide7.xml" Id="Rb6873e01c02a4203" /><Relationship Type="http://schemas.openxmlformats.org/officeDocument/2006/relationships/notesMaster" Target="/ppt/notesMasters/notesMaster1.xml" Id="R99e8fd931144408a" /></Relationships>
</file>

<file path=ppt/notesSlides/_rels/notesSlide8.xml.rels>&#65279;<?xml version="1.0" encoding="utf-8"?><Relationships xmlns="http://schemas.openxmlformats.org/package/2006/relationships"><Relationship Type="http://schemas.openxmlformats.org/officeDocument/2006/relationships/slide" Target="/ppt/slides/slide8.xml" Id="Ra77eddc842a340e6" /><Relationship Type="http://schemas.openxmlformats.org/officeDocument/2006/relationships/notesMaster" Target="/ppt/notesMasters/notesMaster1.xml" Id="R816a065efb964b86" /></Relationships>
</file>

<file path=ppt/notesSlides/_rels/notesSlide9.xml.rels>&#65279;<?xml version="1.0" encoding="utf-8"?><Relationships xmlns="http://schemas.openxmlformats.org/package/2006/relationships"><Relationship Type="http://schemas.openxmlformats.org/officeDocument/2006/relationships/slide" Target="/ppt/slides/slide9.xml" Id="R7c5ff4bacae04598" /><Relationship Type="http://schemas.openxmlformats.org/officeDocument/2006/relationships/notesMaster" Target="/ppt/notesMasters/notesMaster1.xml" Id="Ra59d349072654ca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829b56ed8bb4d93" /><Relationship Type="http://schemas.openxmlformats.org/officeDocument/2006/relationships/notesMaster" Target="/ppt/notesMasters/notesMaster1.xml" Id="R32e12d7e6931427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title supplied by the user: “Layer-Contrastive Decoding with Epistemic Uncertainty and Self-Consistency for Small Language Models.” The technical subtitle identifies the implemented TinyLlama reliability pipeline.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details are based on README.md, config.yaml, main.py, run_experiment.py, Neural Network/dola.py, and Neural Network/enn_torch.py. No benchmark result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Motivation is framed as an evaluation problem, not as a claim that the project already improves reliability. TruthfulQA describes how language models can reproduce common falsehoods: Lin, Hilton, and Evans, ACL 2022, https://aclanthology.org/2022.acl-long.229/.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Objectives reflect the implemented commands and methods in main.py and run_experiment.py. The last objective is intentionally evaluative and makes no claim of achieved improvement.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Zhang et al., “TinyLlama: An Open-Source Small Language Model,” https://arxiv.org/abs/2401.02385. Chuang et al., “DoLa: Decoding by Contrasting Layers Improves Factuality in Large Language Models,” ICLR 2024, https://openreview.net/forum?id=Th6NyL07na. Osband et al., “Epistemic Neural Networks,” https://arxiv.org/abs/2107.08924. Wang et al., “Self-Consistency Improves Chain of Thought Reasoning in Language Models,” ICLR 2023, https://arxiv.org/abs/2203.11171. These references motivate individual methods; the deck does not claim prior work validated this exact combination.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C4 feature preparation and document split: Neural Network/data_prep.py. Model and DoLa decoding: Neural Network/dola.py. Epinet training and sampled entropy: Neural Network/enn_torch.py. Candidate aggregation: run_experiment.py and Neural Network/self_consistency.py. The diagram represents implemented code paths, not evidence of successful trained runs. C4 background reference: Raffel et al., JMLR 2020, https://jmlr.org/papers/v21/20-074.html.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Architecture details are read from Neural Network/dola.py and Neural Network/enn_torch.py. The configured TinyLlama structure uses a mature index of 21, candidate premature indices [0,4,8,12,16,20], hidden width 2,048, Epinet width 512, epistemic index size 6, and three samples by default. The answer path shows sampling candidate strings, scoring with the entropy heuristic, and aggregating votes; entropy is not itself answer correctness. The model_audit_experiments.json records 8,664,064 trainable Epinet parameters.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Values verified from config.yaml, Neural Network/features_cache.npz, eval_questions.json, README.md, results/training_history.json, results/model_audit_experiments.json, and checkpoints/enn_best.pt. Cache metadata: version 4, 20 requested texts, max_length 128, val_fraction 0.1; arrays contain 1,841 rows, mature/premature shapes (1841,2048), labels (1841,), and 20 document IDs. Saved audit records 1,637 train and 204 validation examples, deterministic document-level split seed 42, two epochs, batch 1, lr 1e-4, K=3, final train loss 2.3298, final validation loss 2.5698, MPS backend, Python 3.10.20, PyTorch 2.11.0, Transformers 5.17.0, Datasets 4.8.5, NumPy 1.26.4, and 8,664,064 trainable Epinet parameters. Physical machine model and RAM and exact C4 revision are not stored.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output/c4_eval_20260930_enn02/c4_eval_results.json records n_texts=100, n_tokens=9431, alpha=0.05, ENN weight=0.2, before (DoLa) top-1 0.5022, top-5 0.7284, perplexity 10.7034; after (DoLa+ENN) top-1 0.5031, top-5 0.7289, perplexity 10.7189. These are descriptive next-token metrics, not answer accuracy. results/model_audit_experiments.json records two separate TruthfulQA 10-question slices: indices 0–9 at alpha=1, weight=1 with MC1/MC2 Base .7/.4931, DoLa .4/.4546, DoLa+ENN .4/.4511; indices 10–19 at alpha=.05, weight=0 with Base .3/.4076, DoLa .3/.4066, DoLa+ENN .3/.4066. The zero weight makes DoLa+ENN score-identical to DoLa in the second slice. The two slices differ in hyperparameters and are not pooled or directly compared.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Conclusion and future work reflect the absence of current benchmark outputs and checkpoint. No accuracy or reliability improvement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6095920ae5e4f0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25021edbb0c426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f3abf5da07d49f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5c66d700c4647e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b94849aa20e4bd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50aadf44167436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F4DAF67-A0BC-4C06-8039-D80EAAC0FD5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2E39F22-3A2E-4CC2-83A0-76010960375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89B774C-E2B2-47ED-815C-5573122DE2B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6AF9E01-3067-4639-B15E-F7938E7A203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70B2A0A-8144-4B8C-8431-8D5594DE4DF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C96CF83-69F7-47BD-9ACC-2FEFB9AB6FA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ACDB57E-5761-4136-8E49-884BFB05905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A31C52D-B528-451C-8252-753324FFC36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CEFB559-8EA8-4832-B67B-7F471D9179D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EAFCEC7-900F-499E-8A55-2DD7486F640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717dad6993941aa" /><Relationship Type="http://schemas.openxmlformats.org/officeDocument/2006/relationships/slideLayout" Target="/ppt/slideLayouts/slideLayout1.xml" Id="R28d03e33fc9a4cc2" /><Relationship Type="http://schemas.openxmlformats.org/officeDocument/2006/relationships/slideLayout" Target="/ppt/slideLayouts/slideLayout2.xml" Id="R44e1539141a0425f" /><Relationship Type="http://schemas.openxmlformats.org/officeDocument/2006/relationships/slideLayout" Target="/ppt/slideLayouts/slideLayout3.xml" Id="Re7f41efc540a47b0" /><Relationship Type="http://schemas.openxmlformats.org/officeDocument/2006/relationships/slideLayout" Target="/ppt/slideLayouts/slideLayout4.xml" Id="R0c9099cc08aa471d" /><Relationship Type="http://schemas.openxmlformats.org/officeDocument/2006/relationships/slideLayout" Target="/ppt/slideLayouts/slideLayout5.xml" Id="Rdd37f4af9b614695" /><Relationship Type="http://schemas.openxmlformats.org/officeDocument/2006/relationships/slideLayout" Target="/ppt/slideLayouts/slideLayout6.xml" Id="R852c42a0f53144a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8d03e33fc9a4cc2"/>
    <p:sldLayoutId xmlns:r="http://schemas.openxmlformats.org/officeDocument/2006/relationships" id="2147483650" r:id="R44e1539141a0425f"/>
    <p:sldLayoutId xmlns:r="http://schemas.openxmlformats.org/officeDocument/2006/relationships" id="2147483651" r:id="Re7f41efc540a47b0"/>
    <p:sldLayoutId xmlns:r="http://schemas.openxmlformats.org/officeDocument/2006/relationships" id="2147483652" r:id="R0c9099cc08aa471d"/>
    <p:sldLayoutId xmlns:r="http://schemas.openxmlformats.org/officeDocument/2006/relationships" id="2147483653" r:id="Rdd37f4af9b614695"/>
    <p:sldLayoutId xmlns:r="http://schemas.openxmlformats.org/officeDocument/2006/relationships" id="2147483654" r:id="R852c42a0f53144a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60816af930a433f" /><Relationship Type="http://schemas.openxmlformats.org/officeDocument/2006/relationships/notesSlide" Target="/ppt/notesSlides/notesSlide1.xml" Id="R6a7b34047e9f452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595e7f14767460b" /><Relationship Type="http://schemas.openxmlformats.org/officeDocument/2006/relationships/notesSlide" Target="/ppt/notesSlides/notesSlide2.xml" Id="R2317e88068794a2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ce9bd963aa14530" /><Relationship Type="http://schemas.openxmlformats.org/officeDocument/2006/relationships/notesSlide" Target="/ppt/notesSlides/notesSlide3.xml" Id="Re041289e0ec9460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18bdd3b9bd14b44" /><Relationship Type="http://schemas.openxmlformats.org/officeDocument/2006/relationships/notesSlide" Target="/ppt/notesSlides/notesSlide4.xml" Id="R4077b4c0f3fc467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4af115ba085421b" /><Relationship Type="http://schemas.openxmlformats.org/officeDocument/2006/relationships/notesSlide" Target="/ppt/notesSlides/notesSlide5.xml" Id="Rcbcf14de0f5d4f6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5d6973e24ed48bd" /><Relationship Type="http://schemas.openxmlformats.org/officeDocument/2006/relationships/notesSlide" Target="/ppt/notesSlides/notesSlide6.xml" Id="Rb399cc0e3dce41b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9ba07d0e00d47ef" /><Relationship Type="http://schemas.openxmlformats.org/officeDocument/2006/relationships/notesSlide" Target="/ppt/notesSlides/notesSlide7.xml" Id="Rdf8badc3e17c471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8299279fa0e1466a" /><Relationship Type="http://schemas.openxmlformats.org/officeDocument/2006/relationships/notesSlide" Target="/ppt/notesSlides/notesSlide8.xml" Id="Rb1683dba227146e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a4cf41f373d4bdb" /><Relationship Type="http://schemas.openxmlformats.org/officeDocument/2006/relationships/notesSlide" Target="/ppt/notesSlides/notesSlide9.xml" Id="R416fefee80684bb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0ba1bc146f1487b" /><Relationship Type="http://schemas.openxmlformats.org/officeDocument/2006/relationships/notesSlide" Target="/ppt/notesSlides/notesSlide10.xml" Id="Ref8d144680fe4e2b" /></Relationships>
</file>

<file path=ppt/slides/slide1.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63" name="">
            <a:extLst xmlns:a="http://schemas.openxmlformats.org/drawingml/2006/main">
              <a:ext uri="{FF2B5EF4-FFF2-40B4-BE49-F238E27FC236}">
                <a16:creationId xmlns:a16="http://schemas.microsoft.com/office/drawing/2014/main" id="{30ADA487-7008-49D4-B090-0739828FC391}"/>
              </a:ext>
            </a:extLst>
          </p:cNvPr>
          <p:cNvSpPr>
            <a:spLocks xmlns:a="http://schemas.openxmlformats.org/drawingml/2006/main" noGrp="1"/>
          </p:cNvSpPr>
          <p:nvPr/>
        </p:nvSpPr>
        <p:spPr>
          <a:xfrm xmlns:a="http://schemas.openxmlformats.org/drawingml/2006/main">
            <a:off x="0" y="0"/>
            <a:ext cx="7429500" cy="6858000"/>
          </a:xfrm>
          <a:prstGeom xmlns:a="http://schemas.openxmlformats.org/drawingml/2006/main" prst="rect">
            <a:avLst/>
          </a:prstGeom>
          <a:solidFill xmlns:a="http://schemas.openxmlformats.org/drawingml/2006/main">
            <a:srgbClr val="10253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78B428F-456F-480B-B669-555F1FF1299E}"/>
              </a:ext>
            </a:extLst>
          </p:cNvPr>
          <p:cNvSpPr>
            <a:spLocks xmlns:a="http://schemas.openxmlformats.org/drawingml/2006/main" noGrp="1"/>
          </p:cNvSpPr>
          <p:nvPr/>
        </p:nvSpPr>
        <p:spPr>
          <a:xfrm xmlns:a="http://schemas.openxmlformats.org/drawingml/2006/main">
            <a:off x="7429500" y="0"/>
            <a:ext cx="4762500" cy="6858000"/>
          </a:xfrm>
          <a:prstGeom xmlns:a="http://schemas.openxmlformats.org/drawingml/2006/main" prst="rect">
            <a:avLst/>
          </a:prstGeom>
          <a:solidFill xmlns:a="http://schemas.openxmlformats.org/drawingml/2006/main">
            <a:srgbClr val="EEF3F8"/>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0AA0228-DB73-4C68-9AD2-95417F92048C}"/>
              </a:ext>
            </a:extLst>
          </p:cNvPr>
          <p:cNvSpPr>
            <a:spLocks xmlns:a="http://schemas.openxmlformats.org/drawingml/2006/main" noGrp="1"/>
          </p:cNvSpPr>
          <p:nvPr/>
        </p:nvSpPr>
        <p:spPr>
          <a:xfrm xmlns:a="http://schemas.openxmlformats.org/drawingml/2006/main">
            <a:off x="609600" y="685800"/>
            <a:ext cx="628650" cy="47625"/>
          </a:xfrm>
          <a:prstGeom xmlns:a="http://schemas.openxmlformats.org/drawingml/2006/main" prst="rect">
            <a:avLst/>
          </a:prstGeom>
          <a:solidFill xmlns:a="http://schemas.openxmlformats.org/drawingml/2006/main">
            <a:srgbClr val="56C4BE"/>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EB9CCAC-032D-473B-B55D-E69569F7F74B}"/>
              </a:ext>
            </a:extLst>
          </p:cNvPr>
          <p:cNvSpPr>
            <a:spLocks xmlns:a="http://schemas.openxmlformats.org/drawingml/2006/main" noGrp="1"/>
          </p:cNvSpPr>
          <p:nvPr/>
        </p:nvSpPr>
        <p:spPr>
          <a:xfrm xmlns:a="http://schemas.openxmlformats.org/drawingml/2006/main">
            <a:off x="609600" y="742950"/>
            <a:ext cx="6286500" cy="1504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FFFFFF"/>
                </a:solidFill>
                <a:latin typeface="Helvetica Neue"/>
                <a:ea typeface="Helvetica Neue"/>
                <a:cs typeface="Helvetica Neue"/>
              </a:defRPr>
            </a:defPPr>
          </a:lstStyle>
          <a:p xmlns:a="http://schemas.openxmlformats.org/drawingml/2006/main">
            <a:pPr algn="l">
              <a:lnSpc>
                <a:spcPct val="95000"/>
              </a:lnSpc>
              <a:buNone/>
              <a:defRPr sz="2550" b="1">
                <a:solidFill>
                  <a:srgbClr val="FFFFFF"/>
                </a:solidFill>
                <a:latin typeface="Helvetica Neue"/>
                <a:ea typeface="Helvetica Neue"/>
                <a:cs typeface="Helvetica Neue"/>
              </a:defRPr>
            </a:pPr>
            <a:r>
              <a:rPr sz="2550" b="1">
                <a:solidFill>
                  <a:srgbClr val="FFFFFF"/>
                </a:solidFill>
                <a:latin typeface="Helvetica Neue"/>
                <a:ea typeface="Helvetica Neue"/>
                <a:cs typeface="Helvetica Neue"/>
              </a:rPr>
              <a:t>Layer-Contrastive Decoding</a:t>
            </a:r>
          </a:p>
          <a:p xmlns:a="http://schemas.openxmlformats.org/drawingml/2006/main">
            <a:pPr algn="l">
              <a:lnSpc>
                <a:spcPct val="95000"/>
              </a:lnSpc>
              <a:buNone/>
              <a:defRPr sz="2550" b="1">
                <a:solidFill>
                  <a:srgbClr val="FFFFFF"/>
                </a:solidFill>
                <a:latin typeface="Helvetica Neue"/>
                <a:ea typeface="Helvetica Neue"/>
                <a:cs typeface="Helvetica Neue"/>
              </a:defRPr>
            </a:pPr>
            <a:r>
              <a:rPr sz="2550" b="1">
                <a:solidFill>
                  <a:srgbClr val="FFFFFF"/>
                </a:solidFill>
                <a:latin typeface="Helvetica Neue"/>
                <a:ea typeface="Helvetica Neue"/>
                <a:cs typeface="Helvetica Neue"/>
              </a:rPr>
              <a:t>with Epistemic Uncertainty</a:t>
            </a:r>
          </a:p>
          <a:p xmlns:a="http://schemas.openxmlformats.org/drawingml/2006/main">
            <a:pPr algn="l">
              <a:lnSpc>
                <a:spcPct val="95000"/>
              </a:lnSpc>
              <a:buNone/>
              <a:defRPr sz="2550" b="1">
                <a:solidFill>
                  <a:srgbClr val="FFFFFF"/>
                </a:solidFill>
                <a:latin typeface="Helvetica Neue"/>
                <a:ea typeface="Helvetica Neue"/>
                <a:cs typeface="Helvetica Neue"/>
              </a:defRPr>
            </a:pPr>
            <a:r>
              <a:rPr sz="2550" b="1">
                <a:solidFill>
                  <a:srgbClr val="FFFFFF"/>
                </a:solidFill>
                <a:latin typeface="Helvetica Neue"/>
                <a:ea typeface="Helvetica Neue"/>
                <a:cs typeface="Helvetica Neue"/>
              </a:rPr>
              <a:t>and Self-Consistency for</a:t>
            </a:r>
          </a:p>
          <a:p xmlns:a="http://schemas.openxmlformats.org/drawingml/2006/main">
            <a:pPr algn="l">
              <a:lnSpc>
                <a:spcPct val="95000"/>
              </a:lnSpc>
              <a:buNone/>
              <a:defRPr sz="2550" b="1">
                <a:solidFill>
                  <a:srgbClr val="FFFFFF"/>
                </a:solidFill>
                <a:latin typeface="Helvetica Neue"/>
                <a:ea typeface="Helvetica Neue"/>
                <a:cs typeface="Helvetica Neue"/>
              </a:defRPr>
            </a:pPr>
            <a:r>
              <a:rPr sz="2550" b="1">
                <a:solidFill>
                  <a:srgbClr val="FFFFFF"/>
                </a:solidFill>
                <a:latin typeface="Helvetica Neue"/>
                <a:ea typeface="Helvetica Neue"/>
                <a:cs typeface="Helvetica Neue"/>
              </a:rPr>
              <a:t>Small Language Models</a:t>
            </a:r>
          </a:p>
        </p:txBody>
      </p:sp>
      <p:sp>
        <p:nvSpPr>
          <p:cNvPr id="5" name="">
            <a:extLst xmlns:a="http://schemas.openxmlformats.org/drawingml/2006/main">
              <a:ext uri="{FF2B5EF4-FFF2-40B4-BE49-F238E27FC236}">
                <a16:creationId xmlns:a16="http://schemas.microsoft.com/office/drawing/2014/main" id="{54CE7173-3B17-440C-BA2D-3E7063DB5FF4}"/>
              </a:ext>
            </a:extLst>
          </p:cNvPr>
          <p:cNvSpPr>
            <a:spLocks xmlns:a="http://schemas.openxmlformats.org/drawingml/2006/main" noGrp="1"/>
          </p:cNvSpPr>
          <p:nvPr/>
        </p:nvSpPr>
        <p:spPr>
          <a:xfrm xmlns:a="http://schemas.openxmlformats.org/drawingml/2006/main">
            <a:off x="628650" y="2343150"/>
            <a:ext cx="600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B9D8F0"/>
                </a:solidFill>
                <a:latin typeface="Helvetica Neue"/>
                <a:ea typeface="Helvetica Neue"/>
                <a:cs typeface="Helvetica Neue"/>
              </a:defRPr>
            </a:defPPr>
          </a:lstStyle>
          <a:p xmlns:a="http://schemas.openxmlformats.org/drawingml/2006/main">
            <a:pPr algn="l">
              <a:lnSpc>
                <a:spcPct val="105000"/>
              </a:lnSpc>
              <a:buNone/>
              <a:defRPr sz="1500" b="0">
                <a:solidFill>
                  <a:srgbClr val="B9D8F0"/>
                </a:solidFill>
                <a:latin typeface="Helvetica Neue"/>
                <a:ea typeface="Helvetica Neue"/>
                <a:cs typeface="Helvetica Neue"/>
              </a:defRPr>
            </a:pPr>
            <a:r>
              <a:rPr sz="1500" b="0">
                <a:solidFill>
                  <a:srgbClr val="B9D8F0"/>
                </a:solidFill>
                <a:latin typeface="Helvetica Neue"/>
                <a:ea typeface="Helvetica Neue"/>
                <a:cs typeface="Helvetica Neue"/>
              </a:rPr>
              <a:t>TinyLlama reliability pipeline</a:t>
            </a:r>
          </a:p>
        </p:txBody>
      </p:sp>
      <p:sp>
        <p:nvSpPr>
          <p:cNvPr id="6" name="">
            <a:extLst xmlns:a="http://schemas.openxmlformats.org/drawingml/2006/main">
              <a:ext uri="{FF2B5EF4-FFF2-40B4-BE49-F238E27FC236}">
                <a16:creationId xmlns:a16="http://schemas.microsoft.com/office/drawing/2014/main" id="{9DF1D413-AC8F-4FD5-976F-79FBE48D87BA}"/>
              </a:ext>
            </a:extLst>
          </p:cNvPr>
          <p:cNvSpPr>
            <a:spLocks xmlns:a="http://schemas.openxmlformats.org/drawingml/2006/main" noGrp="1"/>
          </p:cNvSpPr>
          <p:nvPr/>
        </p:nvSpPr>
        <p:spPr>
          <a:xfrm xmlns:a="http://schemas.openxmlformats.org/drawingml/2006/main">
            <a:off x="628650" y="2867025"/>
            <a:ext cx="4953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FFFFFF"/>
                </a:solidFill>
                <a:latin typeface="Helvetica Neue"/>
                <a:ea typeface="Helvetica Neue"/>
                <a:cs typeface="Helvetica Neue"/>
              </a:defRPr>
            </a:defPPr>
          </a:lstStyle>
          <a:p xmlns:a="http://schemas.openxmlformats.org/drawingml/2006/main">
            <a:pPr algn="l">
              <a:lnSpc>
                <a:spcPct val="105000"/>
              </a:lnSpc>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B.Tech Capstone Project Review</a:t>
            </a:r>
          </a:p>
        </p:txBody>
      </p:sp>
      <p:sp>
        <p:nvSpPr>
          <p:cNvPr id="7" name="">
            <a:extLst xmlns:a="http://schemas.openxmlformats.org/drawingml/2006/main">
              <a:ext uri="{FF2B5EF4-FFF2-40B4-BE49-F238E27FC236}">
                <a16:creationId xmlns:a16="http://schemas.microsoft.com/office/drawing/2014/main" id="{D127BD54-BC1B-4437-8AF0-5DDE62A40ACD}"/>
              </a:ext>
            </a:extLst>
          </p:cNvPr>
          <p:cNvSpPr>
            <a:spLocks xmlns:a="http://schemas.openxmlformats.org/drawingml/2006/main" noGrp="1"/>
          </p:cNvSpPr>
          <p:nvPr/>
        </p:nvSpPr>
        <p:spPr>
          <a:xfrm xmlns:a="http://schemas.openxmlformats.org/drawingml/2006/main" flipV="0">
            <a:off x="628650" y="3295650"/>
            <a:ext cx="5943600" cy="0"/>
          </a:xfrm>
          <a:prstGeom xmlns:a="http://schemas.openxmlformats.org/drawingml/2006/main" prst="line">
            <a:avLst/>
          </a:prstGeom>
          <a:noFill xmlns:a="http://schemas.openxmlformats.org/drawingml/2006/main"/>
          <a:ln xmlns:a="http://schemas.openxmlformats.org/drawingml/2006/main" w="9525">
            <a:solidFill>
              <a:srgbClr val="54708C"/>
            </a:solidFill>
            <a:prstDash val="solid"/>
          </a:ln>
        </p:spPr>
      </p:sp>
      <p:sp>
        <p:nvSpPr>
          <p:cNvPr id="8" name="">
            <a:extLst xmlns:a="http://schemas.openxmlformats.org/drawingml/2006/main">
              <a:ext uri="{FF2B5EF4-FFF2-40B4-BE49-F238E27FC236}">
                <a16:creationId xmlns:a16="http://schemas.microsoft.com/office/drawing/2014/main" id="{1100FFDF-56D4-4D0B-9303-D253E6E8EE2D}"/>
              </a:ext>
            </a:extLst>
          </p:cNvPr>
          <p:cNvSpPr>
            <a:spLocks xmlns:a="http://schemas.openxmlformats.org/drawingml/2006/main" noGrp="1"/>
          </p:cNvSpPr>
          <p:nvPr/>
        </p:nvSpPr>
        <p:spPr>
          <a:xfrm xmlns:a="http://schemas.openxmlformats.org/drawingml/2006/main">
            <a:off x="628650" y="3495675"/>
            <a:ext cx="209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72D0C7"/>
                </a:solidFill>
                <a:latin typeface="Helvetica Neue"/>
                <a:ea typeface="Helvetica Neue"/>
                <a:cs typeface="Helvetica Neue"/>
              </a:defRPr>
            </a:defPPr>
          </a:lstStyle>
          <a:p xmlns:a="http://schemas.openxmlformats.org/drawingml/2006/main">
            <a:pPr algn="l">
              <a:lnSpc>
                <a:spcPct val="105000"/>
              </a:lnSpc>
              <a:buNone/>
              <a:defRPr sz="975" b="1">
                <a:solidFill>
                  <a:srgbClr val="72D0C7"/>
                </a:solidFill>
                <a:latin typeface="Helvetica Neue"/>
                <a:ea typeface="Helvetica Neue"/>
                <a:cs typeface="Helvetica Neue"/>
              </a:defRPr>
            </a:pPr>
            <a:r>
              <a:rPr sz="975" b="1">
                <a:solidFill>
                  <a:srgbClr val="72D0C7"/>
                </a:solidFill>
                <a:latin typeface="Helvetica Neue"/>
                <a:ea typeface="Helvetica Neue"/>
                <a:cs typeface="Helvetica Neue"/>
              </a:rPr>
              <a:t>PRESENTED BY</a:t>
            </a:r>
          </a:p>
        </p:txBody>
      </p:sp>
      <p:sp>
        <p:nvSpPr>
          <p:cNvPr id="9" name="">
            <a:extLst xmlns:a="http://schemas.openxmlformats.org/drawingml/2006/main">
              <a:ext uri="{FF2B5EF4-FFF2-40B4-BE49-F238E27FC236}">
                <a16:creationId xmlns:a16="http://schemas.microsoft.com/office/drawing/2014/main" id="{2B38EBDF-E2EE-42FD-8BD8-311244925B5C}"/>
              </a:ext>
            </a:extLst>
          </p:cNvPr>
          <p:cNvSpPr>
            <a:spLocks xmlns:a="http://schemas.openxmlformats.org/drawingml/2006/main" noGrp="1"/>
          </p:cNvSpPr>
          <p:nvPr/>
        </p:nvSpPr>
        <p:spPr>
          <a:xfrm xmlns:a="http://schemas.openxmlformats.org/drawingml/2006/main">
            <a:off x="628650" y="3781425"/>
            <a:ext cx="60769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FFFFFF"/>
                </a:solidFill>
                <a:latin typeface="Helvetica Neue"/>
                <a:ea typeface="Helvetica Neue"/>
                <a:cs typeface="Helvetica Neue"/>
              </a:defRPr>
            </a:defPPr>
          </a:lstStyle>
          <a:p xmlns:a="http://schemas.openxmlformats.org/drawingml/2006/main">
            <a:pPr algn="l">
              <a:lnSpc>
                <a:spcPct val="108000"/>
              </a:lnSpc>
              <a:buNone/>
              <a:defRPr sz="1200" b="0">
                <a:solidFill>
                  <a:srgbClr val="FFFFFF"/>
                </a:solidFill>
                <a:latin typeface="Helvetica Neue"/>
                <a:ea typeface="Helvetica Neue"/>
                <a:cs typeface="Helvetica Neue"/>
              </a:defRPr>
            </a:pPr>
            <a:r>
              <a:rPr sz="1200" b="0">
                <a:solidFill>
                  <a:srgbClr val="FFFFFF"/>
                </a:solidFill>
                <a:latin typeface="Helvetica Neue"/>
                <a:ea typeface="Helvetica Neue"/>
                <a:cs typeface="Helvetica Neue"/>
              </a:rPr>
              <a:t>E. Ganesh Kumar Reddy  ·  23BCE8969</a:t>
            </a:r>
          </a:p>
          <a:p xmlns:a="http://schemas.openxmlformats.org/drawingml/2006/main">
            <a:pPr algn="l">
              <a:lnSpc>
                <a:spcPct val="108000"/>
              </a:lnSpc>
              <a:buNone/>
              <a:defRPr sz="1200" b="0">
                <a:solidFill>
                  <a:srgbClr val="FFFFFF"/>
                </a:solidFill>
                <a:latin typeface="Helvetica Neue"/>
                <a:ea typeface="Helvetica Neue"/>
                <a:cs typeface="Helvetica Neue"/>
              </a:defRPr>
            </a:pPr>
            <a:r>
              <a:rPr sz="1200" b="0">
                <a:solidFill>
                  <a:srgbClr val="FFFFFF"/>
                </a:solidFill>
                <a:latin typeface="Helvetica Neue"/>
                <a:ea typeface="Helvetica Neue"/>
                <a:cs typeface="Helvetica Neue"/>
              </a:rPr>
              <a:t>B. Sai Susmitha  ·  23BCE9884</a:t>
            </a:r>
          </a:p>
          <a:p xmlns:a="http://schemas.openxmlformats.org/drawingml/2006/main">
            <a:pPr algn="l">
              <a:lnSpc>
                <a:spcPct val="108000"/>
              </a:lnSpc>
              <a:buNone/>
              <a:defRPr sz="1200" b="0">
                <a:solidFill>
                  <a:srgbClr val="FFFFFF"/>
                </a:solidFill>
                <a:latin typeface="Helvetica Neue"/>
                <a:ea typeface="Helvetica Neue"/>
                <a:cs typeface="Helvetica Neue"/>
              </a:defRPr>
            </a:pPr>
            <a:r>
              <a:rPr sz="1200" b="0">
                <a:solidFill>
                  <a:srgbClr val="FFFFFF"/>
                </a:solidFill>
                <a:latin typeface="Helvetica Neue"/>
                <a:ea typeface="Helvetica Neue"/>
                <a:cs typeface="Helvetica Neue"/>
              </a:rPr>
              <a:t>P. Dhanush Datta  ·  23BCE9258</a:t>
            </a:r>
          </a:p>
          <a:p xmlns:a="http://schemas.openxmlformats.org/drawingml/2006/main">
            <a:pPr algn="l">
              <a:lnSpc>
                <a:spcPct val="108000"/>
              </a:lnSpc>
              <a:buNone/>
              <a:defRPr sz="1200" b="0">
                <a:solidFill>
                  <a:srgbClr val="FFFFFF"/>
                </a:solidFill>
                <a:latin typeface="Helvetica Neue"/>
                <a:ea typeface="Helvetica Neue"/>
                <a:cs typeface="Helvetica Neue"/>
              </a:defRPr>
            </a:pPr>
            <a:r>
              <a:rPr sz="1200" b="0">
                <a:solidFill>
                  <a:srgbClr val="FFFFFF"/>
                </a:solidFill>
                <a:latin typeface="Helvetica Neue"/>
                <a:ea typeface="Helvetica Neue"/>
                <a:cs typeface="Helvetica Neue"/>
              </a:rPr>
              <a:t>E. Sri Vardhan Reddy  ·  23BCE8972</a:t>
            </a:r>
          </a:p>
        </p:txBody>
      </p:sp>
      <p:sp>
        <p:nvSpPr>
          <p:cNvPr id="10" name="">
            <a:extLst xmlns:a="http://schemas.openxmlformats.org/drawingml/2006/main">
              <a:ext uri="{FF2B5EF4-FFF2-40B4-BE49-F238E27FC236}">
                <a16:creationId xmlns:a16="http://schemas.microsoft.com/office/drawing/2014/main" id="{550D3A65-25D4-4768-B36C-BB63DBA06A73}"/>
              </a:ext>
            </a:extLst>
          </p:cNvPr>
          <p:cNvSpPr>
            <a:spLocks xmlns:a="http://schemas.openxmlformats.org/drawingml/2006/main" noGrp="1"/>
          </p:cNvSpPr>
          <p:nvPr/>
        </p:nvSpPr>
        <p:spPr>
          <a:xfrm xmlns:a="http://schemas.openxmlformats.org/drawingml/2006/main">
            <a:off x="628650" y="5191125"/>
            <a:ext cx="1619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72D0C7"/>
                </a:solidFill>
                <a:latin typeface="Helvetica Neue"/>
                <a:ea typeface="Helvetica Neue"/>
                <a:cs typeface="Helvetica Neue"/>
              </a:defRPr>
            </a:defPPr>
          </a:lstStyle>
          <a:p xmlns:a="http://schemas.openxmlformats.org/drawingml/2006/main">
            <a:pPr algn="l">
              <a:lnSpc>
                <a:spcPct val="105000"/>
              </a:lnSpc>
              <a:buNone/>
              <a:defRPr sz="975" b="1">
                <a:solidFill>
                  <a:srgbClr val="72D0C7"/>
                </a:solidFill>
                <a:latin typeface="Helvetica Neue"/>
                <a:ea typeface="Helvetica Neue"/>
                <a:cs typeface="Helvetica Neue"/>
              </a:defRPr>
            </a:pPr>
            <a:r>
              <a:rPr sz="975" b="1">
                <a:solidFill>
                  <a:srgbClr val="72D0C7"/>
                </a:solidFill>
                <a:latin typeface="Helvetica Neue"/>
                <a:ea typeface="Helvetica Neue"/>
                <a:cs typeface="Helvetica Neue"/>
              </a:rPr>
              <a:t>GUIDED BY</a:t>
            </a:r>
          </a:p>
        </p:txBody>
      </p:sp>
      <p:sp>
        <p:nvSpPr>
          <p:cNvPr id="11" name="">
            <a:extLst xmlns:a="http://schemas.openxmlformats.org/drawingml/2006/main">
              <a:ext uri="{FF2B5EF4-FFF2-40B4-BE49-F238E27FC236}">
                <a16:creationId xmlns:a16="http://schemas.microsoft.com/office/drawing/2014/main" id="{3C833E20-9F81-4E93-A666-6BBBA0F60A30}"/>
              </a:ext>
            </a:extLst>
          </p:cNvPr>
          <p:cNvSpPr>
            <a:spLocks xmlns:a="http://schemas.openxmlformats.org/drawingml/2006/main" noGrp="1"/>
          </p:cNvSpPr>
          <p:nvPr/>
        </p:nvSpPr>
        <p:spPr>
          <a:xfrm xmlns:a="http://schemas.openxmlformats.org/drawingml/2006/main">
            <a:off x="628650" y="5457825"/>
            <a:ext cx="609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FFFFFF"/>
                </a:solidFill>
                <a:latin typeface="Helvetica Neue"/>
                <a:ea typeface="Helvetica Neue"/>
                <a:cs typeface="Helvetica Neue"/>
              </a:defRPr>
            </a:defPPr>
          </a:lstStyle>
          <a:p xmlns:a="http://schemas.openxmlformats.org/drawingml/2006/main">
            <a:pPr algn="l">
              <a:lnSpc>
                <a:spcPct val="105000"/>
              </a:lnSpc>
              <a:buNone/>
              <a:defRPr sz="1125" b="0">
                <a:solidFill>
                  <a:srgbClr val="FFFFFF"/>
                </a:solidFill>
                <a:latin typeface="Helvetica Neue"/>
                <a:ea typeface="Helvetica Neue"/>
                <a:cs typeface="Helvetica Neue"/>
              </a:defRPr>
            </a:pPr>
            <a:r>
              <a:rPr sz="1125" b="0">
                <a:solidFill>
                  <a:srgbClr val="FFFFFF"/>
                </a:solidFill>
                <a:latin typeface="Helvetica Neue"/>
                <a:ea typeface="Helvetica Neue"/>
                <a:cs typeface="Helvetica Neue"/>
              </a:rPr>
              <a:t>Palacharla Ravi Kumar  |  Assistant Professor Sr. Grade-2</a:t>
            </a:r>
          </a:p>
          <a:p xmlns:a="http://schemas.openxmlformats.org/drawingml/2006/main">
            <a:pPr algn="l">
              <a:lnSpc>
                <a:spcPct val="105000"/>
              </a:lnSpc>
              <a:buNone/>
              <a:defRPr sz="1125" b="0">
                <a:solidFill>
                  <a:srgbClr val="FFFFFF"/>
                </a:solidFill>
                <a:latin typeface="Helvetica Neue"/>
                <a:ea typeface="Helvetica Neue"/>
                <a:cs typeface="Helvetica Neue"/>
              </a:defRPr>
            </a:pPr>
            <a:r>
              <a:rPr sz="1125" b="0">
                <a:solidFill>
                  <a:srgbClr val="FFFFFF"/>
                </a:solidFill>
                <a:latin typeface="Helvetica Neue"/>
                <a:ea typeface="Helvetica Neue"/>
                <a:cs typeface="Helvetica Neue"/>
              </a:rPr>
              <a:t>SCOPE, VIT-AP University</a:t>
            </a:r>
          </a:p>
        </p:txBody>
      </p:sp>
      <p:sp>
        <p:nvSpPr>
          <p:cNvPr id="12" name="">
            <a:extLst xmlns:a="http://schemas.openxmlformats.org/drawingml/2006/main">
              <a:ext uri="{FF2B5EF4-FFF2-40B4-BE49-F238E27FC236}">
                <a16:creationId xmlns:a16="http://schemas.microsoft.com/office/drawing/2014/main" id="{590EF4D6-9DEA-468E-A002-4AC2D7A550D0}"/>
              </a:ext>
            </a:extLst>
          </p:cNvPr>
          <p:cNvSpPr>
            <a:spLocks xmlns:a="http://schemas.openxmlformats.org/drawingml/2006/main" noGrp="1"/>
          </p:cNvSpPr>
          <p:nvPr/>
        </p:nvSpPr>
        <p:spPr>
          <a:xfrm xmlns:a="http://schemas.openxmlformats.org/drawingml/2006/main">
            <a:off x="7962900" y="55245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125" b="1">
                <a:solidFill>
                  <a:srgbClr val="2864C5"/>
                </a:solidFill>
                <a:latin typeface="Helvetica Neue"/>
                <a:ea typeface="Helvetica Neue"/>
                <a:cs typeface="Helvetica Neue"/>
              </a:defRPr>
            </a:defPPr>
          </a:lstStyle>
          <a:p xmlns:a="http://schemas.openxmlformats.org/drawingml/2006/main">
            <a:pPr algn="r">
              <a:lnSpc>
                <a:spcPct val="105000"/>
              </a:lnSpc>
              <a:buNone/>
              <a:defRPr sz="1125" b="1">
                <a:solidFill>
                  <a:srgbClr val="2864C5"/>
                </a:solidFill>
                <a:latin typeface="Helvetica Neue"/>
                <a:ea typeface="Helvetica Neue"/>
                <a:cs typeface="Helvetica Neue"/>
              </a:defRPr>
            </a:pPr>
            <a:r>
              <a:rPr sz="1125" b="1">
                <a:solidFill>
                  <a:srgbClr val="2864C5"/>
                </a:solidFill>
                <a:latin typeface="Helvetica Neue"/>
                <a:ea typeface="Helvetica Neue"/>
                <a:cs typeface="Helvetica Neue"/>
              </a:rPr>
              <a:t>VIT-AP UNIVERSITY</a:t>
            </a:r>
          </a:p>
        </p:txBody>
      </p:sp>
      <p:sp>
        <p:nvSpPr>
          <p:cNvPr id="13" name="">
            <a:extLst xmlns:a="http://schemas.openxmlformats.org/drawingml/2006/main">
              <a:ext uri="{FF2B5EF4-FFF2-40B4-BE49-F238E27FC236}">
                <a16:creationId xmlns:a16="http://schemas.microsoft.com/office/drawing/2014/main" id="{53DC28E1-EF7C-44E8-AA08-167947DA580D}"/>
              </a:ext>
            </a:extLst>
          </p:cNvPr>
          <p:cNvSpPr>
            <a:spLocks xmlns:a="http://schemas.openxmlformats.org/drawingml/2006/main" noGrp="1"/>
          </p:cNvSpPr>
          <p:nvPr/>
        </p:nvSpPr>
        <p:spPr>
          <a:xfrm xmlns:a="http://schemas.openxmlformats.org/drawingml/2006/main">
            <a:off x="7962900" y="1066800"/>
            <a:ext cx="3333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372"/>
          </a:bodyPr>
          <a:lstStyle xmlns:a="http://schemas.openxmlformats.org/drawingml/2006/main">
            <a:defPPr algn="r">
              <a:defRPr sz="2100" b="1">
                <a:solidFill>
                  <a:srgbClr val="10253F"/>
                </a:solidFill>
                <a:latin typeface="Helvetica Neue"/>
                <a:ea typeface="Helvetica Neue"/>
                <a:cs typeface="Helvetica Neue"/>
              </a:defRPr>
            </a:defPPr>
          </a:lstStyle>
          <a:p xmlns:a="http://schemas.openxmlformats.org/drawingml/2006/main">
            <a:pPr algn="r">
              <a:lnSpc>
                <a:spcPct val="105000"/>
              </a:lnSpc>
              <a:buNone/>
              <a:defRPr sz="2100" b="1">
                <a:solidFill>
                  <a:srgbClr val="10253F"/>
                </a:solidFill>
                <a:latin typeface="Helvetica Neue"/>
                <a:ea typeface="Helvetica Neue"/>
                <a:cs typeface="Helvetica Neue"/>
              </a:defRPr>
            </a:pPr>
            <a:r>
              <a:rPr sz="2100" b="1">
                <a:solidFill>
                  <a:srgbClr val="10253F"/>
                </a:solidFill>
                <a:latin typeface="Helvetica Neue"/>
                <a:ea typeface="Helvetica Neue"/>
                <a:cs typeface="Helvetica Neue"/>
              </a:rPr>
              <a:t>Layer contrast</a:t>
            </a:r>
          </a:p>
          <a:p xmlns:a="http://schemas.openxmlformats.org/drawingml/2006/main">
            <a:pPr algn="r">
              <a:lnSpc>
                <a:spcPct val="105000"/>
              </a:lnSpc>
              <a:buNone/>
              <a:defRPr sz="2100" b="1">
                <a:solidFill>
                  <a:srgbClr val="10253F"/>
                </a:solidFill>
                <a:latin typeface="Helvetica Neue"/>
                <a:ea typeface="Helvetica Neue"/>
                <a:cs typeface="Helvetica Neue"/>
              </a:defRPr>
            </a:pPr>
            <a:r>
              <a:rPr sz="2100" b="1">
                <a:solidFill>
                  <a:srgbClr val="10253F"/>
                </a:solidFill>
                <a:latin typeface="Helvetica Neue"/>
                <a:ea typeface="Helvetica Neue"/>
                <a:cs typeface="Helvetica Neue"/>
              </a:rPr>
              <a:t>and uncertainty</a:t>
            </a:r>
          </a:p>
        </p:txBody>
      </p:sp>
      <p:sp>
        <p:nvSpPr>
          <p:cNvPr id="14" name="">
            <a:extLst xmlns:a="http://schemas.openxmlformats.org/drawingml/2006/main">
              <a:ext uri="{FF2B5EF4-FFF2-40B4-BE49-F238E27FC236}">
                <a16:creationId xmlns:a16="http://schemas.microsoft.com/office/drawing/2014/main" id="{E349316E-4383-45D9-BE77-634F0BD2CD9E}"/>
              </a:ext>
            </a:extLst>
          </p:cNvPr>
          <p:cNvSpPr>
            <a:spLocks xmlns:a="http://schemas.openxmlformats.org/drawingml/2006/main" noGrp="1"/>
          </p:cNvSpPr>
          <p:nvPr/>
        </p:nvSpPr>
        <p:spPr>
          <a:xfrm xmlns:a="http://schemas.openxmlformats.org/drawingml/2006/main" flipV="1">
            <a:off x="8315325" y="2314575"/>
            <a:ext cx="1047750" cy="28575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15" name="">
            <a:extLst xmlns:a="http://schemas.openxmlformats.org/drawingml/2006/main">
              <a:ext uri="{FF2B5EF4-FFF2-40B4-BE49-F238E27FC236}">
                <a16:creationId xmlns:a16="http://schemas.microsoft.com/office/drawing/2014/main" id="{467A9DA6-D23C-4F31-A7E7-6FA871D7472A}"/>
              </a:ext>
            </a:extLst>
          </p:cNvPr>
          <p:cNvSpPr>
            <a:spLocks xmlns:a="http://schemas.openxmlformats.org/drawingml/2006/main" noGrp="1"/>
          </p:cNvSpPr>
          <p:nvPr/>
        </p:nvSpPr>
        <p:spPr>
          <a:xfrm xmlns:a="http://schemas.openxmlformats.org/drawingml/2006/main" flipV="0">
            <a:off x="8315325" y="2600325"/>
            <a:ext cx="1047750" cy="447675"/>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16" name="">
            <a:extLst xmlns:a="http://schemas.openxmlformats.org/drawingml/2006/main">
              <a:ext uri="{FF2B5EF4-FFF2-40B4-BE49-F238E27FC236}">
                <a16:creationId xmlns:a16="http://schemas.microsoft.com/office/drawing/2014/main" id="{E5B5F089-64DC-42B5-92CA-A89F916EE011}"/>
              </a:ext>
            </a:extLst>
          </p:cNvPr>
          <p:cNvSpPr>
            <a:spLocks xmlns:a="http://schemas.openxmlformats.org/drawingml/2006/main" noGrp="1"/>
          </p:cNvSpPr>
          <p:nvPr/>
        </p:nvSpPr>
        <p:spPr>
          <a:xfrm xmlns:a="http://schemas.openxmlformats.org/drawingml/2006/main" flipV="0">
            <a:off x="8315325" y="2600325"/>
            <a:ext cx="1047750" cy="118110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17" name="">
            <a:extLst xmlns:a="http://schemas.openxmlformats.org/drawingml/2006/main">
              <a:ext uri="{FF2B5EF4-FFF2-40B4-BE49-F238E27FC236}">
                <a16:creationId xmlns:a16="http://schemas.microsoft.com/office/drawing/2014/main" id="{1F448FCE-2215-4B60-BE9B-C73E1099005A}"/>
              </a:ext>
            </a:extLst>
          </p:cNvPr>
          <p:cNvSpPr>
            <a:spLocks xmlns:a="http://schemas.openxmlformats.org/drawingml/2006/main" noGrp="1"/>
          </p:cNvSpPr>
          <p:nvPr/>
        </p:nvSpPr>
        <p:spPr>
          <a:xfrm xmlns:a="http://schemas.openxmlformats.org/drawingml/2006/main" flipV="0">
            <a:off x="8315325" y="2600325"/>
            <a:ext cx="1047750" cy="1914525"/>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18" name="">
            <a:extLst xmlns:a="http://schemas.openxmlformats.org/drawingml/2006/main">
              <a:ext uri="{FF2B5EF4-FFF2-40B4-BE49-F238E27FC236}">
                <a16:creationId xmlns:a16="http://schemas.microsoft.com/office/drawing/2014/main" id="{FCF68237-DCE1-4D87-8951-AF2C5068D544}"/>
              </a:ext>
            </a:extLst>
          </p:cNvPr>
          <p:cNvSpPr>
            <a:spLocks xmlns:a="http://schemas.openxmlformats.org/drawingml/2006/main" noGrp="1"/>
          </p:cNvSpPr>
          <p:nvPr/>
        </p:nvSpPr>
        <p:spPr>
          <a:xfrm xmlns:a="http://schemas.openxmlformats.org/drawingml/2006/main" flipV="1">
            <a:off x="8315325" y="2314575"/>
            <a:ext cx="1047750" cy="118110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19" name="">
            <a:extLst xmlns:a="http://schemas.openxmlformats.org/drawingml/2006/main">
              <a:ext uri="{FF2B5EF4-FFF2-40B4-BE49-F238E27FC236}">
                <a16:creationId xmlns:a16="http://schemas.microsoft.com/office/drawing/2014/main" id="{F426F011-134D-4C53-A1D3-EAD61C4C24C2}"/>
              </a:ext>
            </a:extLst>
          </p:cNvPr>
          <p:cNvSpPr>
            <a:spLocks xmlns:a="http://schemas.openxmlformats.org/drawingml/2006/main" noGrp="1"/>
          </p:cNvSpPr>
          <p:nvPr/>
        </p:nvSpPr>
        <p:spPr>
          <a:xfrm xmlns:a="http://schemas.openxmlformats.org/drawingml/2006/main" flipV="1">
            <a:off x="8315325" y="3048000"/>
            <a:ext cx="1047750" cy="447675"/>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20" name="">
            <a:extLst xmlns:a="http://schemas.openxmlformats.org/drawingml/2006/main">
              <a:ext uri="{FF2B5EF4-FFF2-40B4-BE49-F238E27FC236}">
                <a16:creationId xmlns:a16="http://schemas.microsoft.com/office/drawing/2014/main" id="{CD417072-5E1D-4834-84B1-0ED2781B4C51}"/>
              </a:ext>
            </a:extLst>
          </p:cNvPr>
          <p:cNvSpPr>
            <a:spLocks xmlns:a="http://schemas.openxmlformats.org/drawingml/2006/main" noGrp="1"/>
          </p:cNvSpPr>
          <p:nvPr/>
        </p:nvSpPr>
        <p:spPr>
          <a:xfrm xmlns:a="http://schemas.openxmlformats.org/drawingml/2006/main" flipV="0">
            <a:off x="8315325" y="3495675"/>
            <a:ext cx="1047750" cy="28575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21" name="">
            <a:extLst xmlns:a="http://schemas.openxmlformats.org/drawingml/2006/main">
              <a:ext uri="{FF2B5EF4-FFF2-40B4-BE49-F238E27FC236}">
                <a16:creationId xmlns:a16="http://schemas.microsoft.com/office/drawing/2014/main" id="{3DC40A74-7A5C-4A20-9C10-0AD8A6B6983D}"/>
              </a:ext>
            </a:extLst>
          </p:cNvPr>
          <p:cNvSpPr>
            <a:spLocks xmlns:a="http://schemas.openxmlformats.org/drawingml/2006/main" noGrp="1"/>
          </p:cNvSpPr>
          <p:nvPr/>
        </p:nvSpPr>
        <p:spPr>
          <a:xfrm xmlns:a="http://schemas.openxmlformats.org/drawingml/2006/main" flipV="0">
            <a:off x="8315325" y="3495675"/>
            <a:ext cx="1047750" cy="1019175"/>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22" name="">
            <a:extLst xmlns:a="http://schemas.openxmlformats.org/drawingml/2006/main">
              <a:ext uri="{FF2B5EF4-FFF2-40B4-BE49-F238E27FC236}">
                <a16:creationId xmlns:a16="http://schemas.microsoft.com/office/drawing/2014/main" id="{766B8656-24EA-4F01-B22F-01B96FD177FB}"/>
              </a:ext>
            </a:extLst>
          </p:cNvPr>
          <p:cNvSpPr>
            <a:spLocks xmlns:a="http://schemas.openxmlformats.org/drawingml/2006/main" noGrp="1"/>
          </p:cNvSpPr>
          <p:nvPr/>
        </p:nvSpPr>
        <p:spPr>
          <a:xfrm xmlns:a="http://schemas.openxmlformats.org/drawingml/2006/main" flipV="1">
            <a:off x="8315325" y="2314575"/>
            <a:ext cx="1047750" cy="207645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23" name="">
            <a:extLst xmlns:a="http://schemas.openxmlformats.org/drawingml/2006/main">
              <a:ext uri="{FF2B5EF4-FFF2-40B4-BE49-F238E27FC236}">
                <a16:creationId xmlns:a16="http://schemas.microsoft.com/office/drawing/2014/main" id="{CAE92CCC-E1B0-48B2-A2C8-FC5707E50A68}"/>
              </a:ext>
            </a:extLst>
          </p:cNvPr>
          <p:cNvSpPr>
            <a:spLocks xmlns:a="http://schemas.openxmlformats.org/drawingml/2006/main" noGrp="1"/>
          </p:cNvSpPr>
          <p:nvPr/>
        </p:nvSpPr>
        <p:spPr>
          <a:xfrm xmlns:a="http://schemas.openxmlformats.org/drawingml/2006/main" flipV="1">
            <a:off x="8315325" y="3048000"/>
            <a:ext cx="1047750" cy="1343025"/>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24" name="">
            <a:extLst xmlns:a="http://schemas.openxmlformats.org/drawingml/2006/main">
              <a:ext uri="{FF2B5EF4-FFF2-40B4-BE49-F238E27FC236}">
                <a16:creationId xmlns:a16="http://schemas.microsoft.com/office/drawing/2014/main" id="{C1CC052E-D836-4584-B45F-1DF3C36667B6}"/>
              </a:ext>
            </a:extLst>
          </p:cNvPr>
          <p:cNvSpPr>
            <a:spLocks xmlns:a="http://schemas.openxmlformats.org/drawingml/2006/main" noGrp="1"/>
          </p:cNvSpPr>
          <p:nvPr/>
        </p:nvSpPr>
        <p:spPr>
          <a:xfrm xmlns:a="http://schemas.openxmlformats.org/drawingml/2006/main" flipV="1">
            <a:off x="8315325" y="3781425"/>
            <a:ext cx="1047750" cy="60960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25" name="">
            <a:extLst xmlns:a="http://schemas.openxmlformats.org/drawingml/2006/main">
              <a:ext uri="{FF2B5EF4-FFF2-40B4-BE49-F238E27FC236}">
                <a16:creationId xmlns:a16="http://schemas.microsoft.com/office/drawing/2014/main" id="{3D287389-5070-4415-ABC6-7797D592BB61}"/>
              </a:ext>
            </a:extLst>
          </p:cNvPr>
          <p:cNvSpPr>
            <a:spLocks xmlns:a="http://schemas.openxmlformats.org/drawingml/2006/main" noGrp="1"/>
          </p:cNvSpPr>
          <p:nvPr/>
        </p:nvSpPr>
        <p:spPr>
          <a:xfrm xmlns:a="http://schemas.openxmlformats.org/drawingml/2006/main" flipV="0">
            <a:off x="8315325" y="4391025"/>
            <a:ext cx="1047750" cy="123825"/>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26" name="">
            <a:extLst xmlns:a="http://schemas.openxmlformats.org/drawingml/2006/main">
              <a:ext uri="{FF2B5EF4-FFF2-40B4-BE49-F238E27FC236}">
                <a16:creationId xmlns:a16="http://schemas.microsoft.com/office/drawing/2014/main" id="{7A481742-F13B-4D56-998C-B79B986C7756}"/>
              </a:ext>
            </a:extLst>
          </p:cNvPr>
          <p:cNvSpPr>
            <a:spLocks xmlns:a="http://schemas.openxmlformats.org/drawingml/2006/main" noGrp="1"/>
          </p:cNvSpPr>
          <p:nvPr/>
        </p:nvSpPr>
        <p:spPr>
          <a:xfrm xmlns:a="http://schemas.openxmlformats.org/drawingml/2006/main" flipV="0">
            <a:off x="9363075" y="2314575"/>
            <a:ext cx="1066800" cy="28575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27" name="">
            <a:extLst xmlns:a="http://schemas.openxmlformats.org/drawingml/2006/main">
              <a:ext uri="{FF2B5EF4-FFF2-40B4-BE49-F238E27FC236}">
                <a16:creationId xmlns:a16="http://schemas.microsoft.com/office/drawing/2014/main" id="{1490B62B-EF68-4274-9E09-5BE92702B79E}"/>
              </a:ext>
            </a:extLst>
          </p:cNvPr>
          <p:cNvSpPr>
            <a:spLocks xmlns:a="http://schemas.openxmlformats.org/drawingml/2006/main" noGrp="1"/>
          </p:cNvSpPr>
          <p:nvPr/>
        </p:nvSpPr>
        <p:spPr>
          <a:xfrm xmlns:a="http://schemas.openxmlformats.org/drawingml/2006/main" flipV="0">
            <a:off x="9363075" y="2314575"/>
            <a:ext cx="1066800" cy="118110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28" name="">
            <a:extLst xmlns:a="http://schemas.openxmlformats.org/drawingml/2006/main">
              <a:ext uri="{FF2B5EF4-FFF2-40B4-BE49-F238E27FC236}">
                <a16:creationId xmlns:a16="http://schemas.microsoft.com/office/drawing/2014/main" id="{6734A420-3AAB-4EDD-A14D-2C78CAF84411}"/>
              </a:ext>
            </a:extLst>
          </p:cNvPr>
          <p:cNvSpPr>
            <a:spLocks xmlns:a="http://schemas.openxmlformats.org/drawingml/2006/main" noGrp="1"/>
          </p:cNvSpPr>
          <p:nvPr/>
        </p:nvSpPr>
        <p:spPr>
          <a:xfrm xmlns:a="http://schemas.openxmlformats.org/drawingml/2006/main" flipV="0">
            <a:off x="9363075" y="2314575"/>
            <a:ext cx="1066800" cy="207645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29" name="">
            <a:extLst xmlns:a="http://schemas.openxmlformats.org/drawingml/2006/main">
              <a:ext uri="{FF2B5EF4-FFF2-40B4-BE49-F238E27FC236}">
                <a16:creationId xmlns:a16="http://schemas.microsoft.com/office/drawing/2014/main" id="{35F9C0F4-C06E-420D-B056-67DF5762B1EA}"/>
              </a:ext>
            </a:extLst>
          </p:cNvPr>
          <p:cNvSpPr>
            <a:spLocks xmlns:a="http://schemas.openxmlformats.org/drawingml/2006/main" noGrp="1"/>
          </p:cNvSpPr>
          <p:nvPr/>
        </p:nvSpPr>
        <p:spPr>
          <a:xfrm xmlns:a="http://schemas.openxmlformats.org/drawingml/2006/main" flipV="1">
            <a:off x="9363075" y="2600325"/>
            <a:ext cx="1066800" cy="447675"/>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30" name="">
            <a:extLst xmlns:a="http://schemas.openxmlformats.org/drawingml/2006/main">
              <a:ext uri="{FF2B5EF4-FFF2-40B4-BE49-F238E27FC236}">
                <a16:creationId xmlns:a16="http://schemas.microsoft.com/office/drawing/2014/main" id="{D55CD37E-0D6A-4795-9A1F-3FAFE40A9A8D}"/>
              </a:ext>
            </a:extLst>
          </p:cNvPr>
          <p:cNvSpPr>
            <a:spLocks xmlns:a="http://schemas.openxmlformats.org/drawingml/2006/main" noGrp="1"/>
          </p:cNvSpPr>
          <p:nvPr/>
        </p:nvSpPr>
        <p:spPr>
          <a:xfrm xmlns:a="http://schemas.openxmlformats.org/drawingml/2006/main" flipV="0">
            <a:off x="9363075" y="3048000"/>
            <a:ext cx="1066800" cy="447675"/>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31" name="">
            <a:extLst xmlns:a="http://schemas.openxmlformats.org/drawingml/2006/main">
              <a:ext uri="{FF2B5EF4-FFF2-40B4-BE49-F238E27FC236}">
                <a16:creationId xmlns:a16="http://schemas.microsoft.com/office/drawing/2014/main" id="{21D736D2-0618-4E9D-AB5E-61ACC9225902}"/>
              </a:ext>
            </a:extLst>
          </p:cNvPr>
          <p:cNvSpPr>
            <a:spLocks xmlns:a="http://schemas.openxmlformats.org/drawingml/2006/main" noGrp="1"/>
          </p:cNvSpPr>
          <p:nvPr/>
        </p:nvSpPr>
        <p:spPr>
          <a:xfrm xmlns:a="http://schemas.openxmlformats.org/drawingml/2006/main" flipV="0">
            <a:off x="9363075" y="3048000"/>
            <a:ext cx="1066800" cy="1343025"/>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32" name="">
            <a:extLst xmlns:a="http://schemas.openxmlformats.org/drawingml/2006/main">
              <a:ext uri="{FF2B5EF4-FFF2-40B4-BE49-F238E27FC236}">
                <a16:creationId xmlns:a16="http://schemas.microsoft.com/office/drawing/2014/main" id="{00E93CD7-1AA8-4AF9-BB34-405C6FF46B12}"/>
              </a:ext>
            </a:extLst>
          </p:cNvPr>
          <p:cNvSpPr>
            <a:spLocks xmlns:a="http://schemas.openxmlformats.org/drawingml/2006/main" noGrp="1"/>
          </p:cNvSpPr>
          <p:nvPr/>
        </p:nvSpPr>
        <p:spPr>
          <a:xfrm xmlns:a="http://schemas.openxmlformats.org/drawingml/2006/main" flipV="1">
            <a:off x="9363075" y="2600325"/>
            <a:ext cx="1066800" cy="118110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33" name="">
            <a:extLst xmlns:a="http://schemas.openxmlformats.org/drawingml/2006/main">
              <a:ext uri="{FF2B5EF4-FFF2-40B4-BE49-F238E27FC236}">
                <a16:creationId xmlns:a16="http://schemas.microsoft.com/office/drawing/2014/main" id="{853BD21E-D76B-4BDF-A7B3-DD583AA9635B}"/>
              </a:ext>
            </a:extLst>
          </p:cNvPr>
          <p:cNvSpPr>
            <a:spLocks xmlns:a="http://schemas.openxmlformats.org/drawingml/2006/main" noGrp="1"/>
          </p:cNvSpPr>
          <p:nvPr/>
        </p:nvSpPr>
        <p:spPr>
          <a:xfrm xmlns:a="http://schemas.openxmlformats.org/drawingml/2006/main" flipV="1">
            <a:off x="9363075" y="3495675"/>
            <a:ext cx="1066800" cy="28575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34" name="">
            <a:extLst xmlns:a="http://schemas.openxmlformats.org/drawingml/2006/main">
              <a:ext uri="{FF2B5EF4-FFF2-40B4-BE49-F238E27FC236}">
                <a16:creationId xmlns:a16="http://schemas.microsoft.com/office/drawing/2014/main" id="{91393B14-7F36-4850-AF1E-AFA2D107A462}"/>
              </a:ext>
            </a:extLst>
          </p:cNvPr>
          <p:cNvSpPr>
            <a:spLocks xmlns:a="http://schemas.openxmlformats.org/drawingml/2006/main" noGrp="1"/>
          </p:cNvSpPr>
          <p:nvPr/>
        </p:nvSpPr>
        <p:spPr>
          <a:xfrm xmlns:a="http://schemas.openxmlformats.org/drawingml/2006/main" flipV="0">
            <a:off x="9363075" y="3781425"/>
            <a:ext cx="1066800" cy="60960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35" name="">
            <a:extLst xmlns:a="http://schemas.openxmlformats.org/drawingml/2006/main">
              <a:ext uri="{FF2B5EF4-FFF2-40B4-BE49-F238E27FC236}">
                <a16:creationId xmlns:a16="http://schemas.microsoft.com/office/drawing/2014/main" id="{3525D26C-4316-4E7C-BEFE-41A12DFA934F}"/>
              </a:ext>
            </a:extLst>
          </p:cNvPr>
          <p:cNvSpPr>
            <a:spLocks xmlns:a="http://schemas.openxmlformats.org/drawingml/2006/main" noGrp="1"/>
          </p:cNvSpPr>
          <p:nvPr/>
        </p:nvSpPr>
        <p:spPr>
          <a:xfrm xmlns:a="http://schemas.openxmlformats.org/drawingml/2006/main" flipV="1">
            <a:off x="9363075" y="2600325"/>
            <a:ext cx="1066800" cy="1914525"/>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36" name="">
            <a:extLst xmlns:a="http://schemas.openxmlformats.org/drawingml/2006/main">
              <a:ext uri="{FF2B5EF4-FFF2-40B4-BE49-F238E27FC236}">
                <a16:creationId xmlns:a16="http://schemas.microsoft.com/office/drawing/2014/main" id="{96062291-93A2-4BCD-9CF0-7973818302AE}"/>
              </a:ext>
            </a:extLst>
          </p:cNvPr>
          <p:cNvSpPr>
            <a:spLocks xmlns:a="http://schemas.openxmlformats.org/drawingml/2006/main" noGrp="1"/>
          </p:cNvSpPr>
          <p:nvPr/>
        </p:nvSpPr>
        <p:spPr>
          <a:xfrm xmlns:a="http://schemas.openxmlformats.org/drawingml/2006/main" flipV="1">
            <a:off x="9363075" y="3495675"/>
            <a:ext cx="1066800" cy="1019175"/>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37" name="">
            <a:extLst xmlns:a="http://schemas.openxmlformats.org/drawingml/2006/main">
              <a:ext uri="{FF2B5EF4-FFF2-40B4-BE49-F238E27FC236}">
                <a16:creationId xmlns:a16="http://schemas.microsoft.com/office/drawing/2014/main" id="{85386CDE-6DE9-4ACF-AA8D-7CCED98AD974}"/>
              </a:ext>
            </a:extLst>
          </p:cNvPr>
          <p:cNvSpPr>
            <a:spLocks xmlns:a="http://schemas.openxmlformats.org/drawingml/2006/main" noGrp="1"/>
          </p:cNvSpPr>
          <p:nvPr/>
        </p:nvSpPr>
        <p:spPr>
          <a:xfrm xmlns:a="http://schemas.openxmlformats.org/drawingml/2006/main" flipV="1">
            <a:off x="9363075" y="4391025"/>
            <a:ext cx="1066800" cy="123825"/>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38" name="">
            <a:extLst xmlns:a="http://schemas.openxmlformats.org/drawingml/2006/main">
              <a:ext uri="{FF2B5EF4-FFF2-40B4-BE49-F238E27FC236}">
                <a16:creationId xmlns:a16="http://schemas.microsoft.com/office/drawing/2014/main" id="{2E6CFD89-75C2-4294-B645-E151962AE618}"/>
              </a:ext>
            </a:extLst>
          </p:cNvPr>
          <p:cNvSpPr>
            <a:spLocks xmlns:a="http://schemas.openxmlformats.org/drawingml/2006/main" noGrp="1"/>
          </p:cNvSpPr>
          <p:nvPr/>
        </p:nvSpPr>
        <p:spPr>
          <a:xfrm xmlns:a="http://schemas.openxmlformats.org/drawingml/2006/main" flipV="0">
            <a:off x="10429875" y="2600325"/>
            <a:ext cx="838200" cy="20955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39" name="">
            <a:extLst xmlns:a="http://schemas.openxmlformats.org/drawingml/2006/main">
              <a:ext uri="{FF2B5EF4-FFF2-40B4-BE49-F238E27FC236}">
                <a16:creationId xmlns:a16="http://schemas.microsoft.com/office/drawing/2014/main" id="{EC9DA4FD-686D-4183-80EA-42F34D82FB7E}"/>
              </a:ext>
            </a:extLst>
          </p:cNvPr>
          <p:cNvSpPr>
            <a:spLocks xmlns:a="http://schemas.openxmlformats.org/drawingml/2006/main" noGrp="1"/>
          </p:cNvSpPr>
          <p:nvPr/>
        </p:nvSpPr>
        <p:spPr>
          <a:xfrm xmlns:a="http://schemas.openxmlformats.org/drawingml/2006/main" flipV="0">
            <a:off x="10429875" y="2600325"/>
            <a:ext cx="838200" cy="112395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40" name="">
            <a:extLst xmlns:a="http://schemas.openxmlformats.org/drawingml/2006/main">
              <a:ext uri="{FF2B5EF4-FFF2-40B4-BE49-F238E27FC236}">
                <a16:creationId xmlns:a16="http://schemas.microsoft.com/office/drawing/2014/main" id="{62D31391-7533-47C9-8849-CE266EDBFFFA}"/>
              </a:ext>
            </a:extLst>
          </p:cNvPr>
          <p:cNvSpPr>
            <a:spLocks xmlns:a="http://schemas.openxmlformats.org/drawingml/2006/main" noGrp="1"/>
          </p:cNvSpPr>
          <p:nvPr/>
        </p:nvSpPr>
        <p:spPr>
          <a:xfrm xmlns:a="http://schemas.openxmlformats.org/drawingml/2006/main" flipV="0">
            <a:off x="10429875" y="2600325"/>
            <a:ext cx="838200" cy="203835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41" name="">
            <a:extLst xmlns:a="http://schemas.openxmlformats.org/drawingml/2006/main">
              <a:ext uri="{FF2B5EF4-FFF2-40B4-BE49-F238E27FC236}">
                <a16:creationId xmlns:a16="http://schemas.microsoft.com/office/drawing/2014/main" id="{90B21AD2-4D93-4FD7-AF33-6E5F9034504A}"/>
              </a:ext>
            </a:extLst>
          </p:cNvPr>
          <p:cNvSpPr>
            <a:spLocks xmlns:a="http://schemas.openxmlformats.org/drawingml/2006/main" noGrp="1"/>
          </p:cNvSpPr>
          <p:nvPr/>
        </p:nvSpPr>
        <p:spPr>
          <a:xfrm xmlns:a="http://schemas.openxmlformats.org/drawingml/2006/main" flipV="1">
            <a:off x="10429875" y="2809875"/>
            <a:ext cx="838200" cy="68580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42" name="">
            <a:extLst xmlns:a="http://schemas.openxmlformats.org/drawingml/2006/main">
              <a:ext uri="{FF2B5EF4-FFF2-40B4-BE49-F238E27FC236}">
                <a16:creationId xmlns:a16="http://schemas.microsoft.com/office/drawing/2014/main" id="{3C1D9D37-09C0-4FD5-B455-79E8CB6D7006}"/>
              </a:ext>
            </a:extLst>
          </p:cNvPr>
          <p:cNvSpPr>
            <a:spLocks xmlns:a="http://schemas.openxmlformats.org/drawingml/2006/main" noGrp="1"/>
          </p:cNvSpPr>
          <p:nvPr/>
        </p:nvSpPr>
        <p:spPr>
          <a:xfrm xmlns:a="http://schemas.openxmlformats.org/drawingml/2006/main" flipV="0">
            <a:off x="10429875" y="3495675"/>
            <a:ext cx="838200" cy="22860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43" name="">
            <a:extLst xmlns:a="http://schemas.openxmlformats.org/drawingml/2006/main">
              <a:ext uri="{FF2B5EF4-FFF2-40B4-BE49-F238E27FC236}">
                <a16:creationId xmlns:a16="http://schemas.microsoft.com/office/drawing/2014/main" id="{7D314D7B-EBF1-4D46-A89F-EFDC26613369}"/>
              </a:ext>
            </a:extLst>
          </p:cNvPr>
          <p:cNvSpPr>
            <a:spLocks xmlns:a="http://schemas.openxmlformats.org/drawingml/2006/main" noGrp="1"/>
          </p:cNvSpPr>
          <p:nvPr/>
        </p:nvSpPr>
        <p:spPr>
          <a:xfrm xmlns:a="http://schemas.openxmlformats.org/drawingml/2006/main" flipV="0">
            <a:off x="10429875" y="3495675"/>
            <a:ext cx="838200" cy="114300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44" name="">
            <a:extLst xmlns:a="http://schemas.openxmlformats.org/drawingml/2006/main">
              <a:ext uri="{FF2B5EF4-FFF2-40B4-BE49-F238E27FC236}">
                <a16:creationId xmlns:a16="http://schemas.microsoft.com/office/drawing/2014/main" id="{64A1B0A7-1959-4C6B-B5CF-595BAF9E6E7D}"/>
              </a:ext>
            </a:extLst>
          </p:cNvPr>
          <p:cNvSpPr>
            <a:spLocks xmlns:a="http://schemas.openxmlformats.org/drawingml/2006/main" noGrp="1"/>
          </p:cNvSpPr>
          <p:nvPr/>
        </p:nvSpPr>
        <p:spPr>
          <a:xfrm xmlns:a="http://schemas.openxmlformats.org/drawingml/2006/main" flipV="1">
            <a:off x="10429875" y="2809875"/>
            <a:ext cx="838200" cy="158115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45" name="">
            <a:extLst xmlns:a="http://schemas.openxmlformats.org/drawingml/2006/main">
              <a:ext uri="{FF2B5EF4-FFF2-40B4-BE49-F238E27FC236}">
                <a16:creationId xmlns:a16="http://schemas.microsoft.com/office/drawing/2014/main" id="{BE2A1875-43FA-4A24-8348-DFB926120859}"/>
              </a:ext>
            </a:extLst>
          </p:cNvPr>
          <p:cNvSpPr>
            <a:spLocks xmlns:a="http://schemas.openxmlformats.org/drawingml/2006/main" noGrp="1"/>
          </p:cNvSpPr>
          <p:nvPr/>
        </p:nvSpPr>
        <p:spPr>
          <a:xfrm xmlns:a="http://schemas.openxmlformats.org/drawingml/2006/main" flipV="1">
            <a:off x="10429875" y="3724275"/>
            <a:ext cx="838200" cy="66675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46" name="">
            <a:extLst xmlns:a="http://schemas.openxmlformats.org/drawingml/2006/main">
              <a:ext uri="{FF2B5EF4-FFF2-40B4-BE49-F238E27FC236}">
                <a16:creationId xmlns:a16="http://schemas.microsoft.com/office/drawing/2014/main" id="{8FA9BB07-7108-48F7-9150-05B52DE6A1E2}"/>
              </a:ext>
            </a:extLst>
          </p:cNvPr>
          <p:cNvSpPr>
            <a:spLocks xmlns:a="http://schemas.openxmlformats.org/drawingml/2006/main" noGrp="1"/>
          </p:cNvSpPr>
          <p:nvPr/>
        </p:nvSpPr>
        <p:spPr>
          <a:xfrm xmlns:a="http://schemas.openxmlformats.org/drawingml/2006/main" flipV="0">
            <a:off x="10429875" y="4391025"/>
            <a:ext cx="838200" cy="24765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47" name="">
            <a:extLst xmlns:a="http://schemas.openxmlformats.org/drawingml/2006/main">
              <a:ext uri="{FF2B5EF4-FFF2-40B4-BE49-F238E27FC236}">
                <a16:creationId xmlns:a16="http://schemas.microsoft.com/office/drawing/2014/main" id="{F656F376-F08E-4E61-AF96-A52B467CA911}"/>
              </a:ext>
            </a:extLst>
          </p:cNvPr>
          <p:cNvSpPr>
            <a:spLocks xmlns:a="http://schemas.openxmlformats.org/drawingml/2006/main" noGrp="1"/>
          </p:cNvSpPr>
          <p:nvPr/>
        </p:nvSpPr>
        <p:spPr>
          <a:xfrm xmlns:a="http://schemas.openxmlformats.org/drawingml/2006/main">
            <a:off x="8191500" y="2476500"/>
            <a:ext cx="247650" cy="247650"/>
          </a:xfrm>
          <a:prstGeom xmlns:a="http://schemas.openxmlformats.org/drawingml/2006/main" prst="ellipse">
            <a:avLst/>
          </a:prstGeom>
          <a:solidFill xmlns:a="http://schemas.openxmlformats.org/drawingml/2006/main">
            <a:srgbClr val="2864C5"/>
          </a:solidFill>
          <a:ln xmlns:a="http://schemas.openxmlformats.org/drawingml/2006/main" w="19050">
            <a:solidFill>
              <a:srgbClr val="FFFFFF"/>
            </a:solidFill>
            <a:prstDash val="solid"/>
          </a:ln>
        </p:spPr>
      </p:sp>
      <p:sp>
        <p:nvSpPr>
          <p:cNvPr id="48" name="">
            <a:extLst xmlns:a="http://schemas.openxmlformats.org/drawingml/2006/main">
              <a:ext uri="{FF2B5EF4-FFF2-40B4-BE49-F238E27FC236}">
                <a16:creationId xmlns:a16="http://schemas.microsoft.com/office/drawing/2014/main" id="{C6E33E9E-9C2B-4D8B-BB2A-7989AB92B16B}"/>
              </a:ext>
            </a:extLst>
          </p:cNvPr>
          <p:cNvSpPr>
            <a:spLocks xmlns:a="http://schemas.openxmlformats.org/drawingml/2006/main" noGrp="1"/>
          </p:cNvSpPr>
          <p:nvPr/>
        </p:nvSpPr>
        <p:spPr>
          <a:xfrm xmlns:a="http://schemas.openxmlformats.org/drawingml/2006/main">
            <a:off x="8191500" y="3371850"/>
            <a:ext cx="247650" cy="247650"/>
          </a:xfrm>
          <a:prstGeom xmlns:a="http://schemas.openxmlformats.org/drawingml/2006/main" prst="ellipse">
            <a:avLst/>
          </a:prstGeom>
          <a:solidFill xmlns:a="http://schemas.openxmlformats.org/drawingml/2006/main">
            <a:srgbClr val="2864C5"/>
          </a:solidFill>
          <a:ln xmlns:a="http://schemas.openxmlformats.org/drawingml/2006/main" w="19050">
            <a:solidFill>
              <a:srgbClr val="FFFFFF"/>
            </a:solidFill>
            <a:prstDash val="solid"/>
          </a:ln>
        </p:spPr>
      </p:sp>
      <p:sp>
        <p:nvSpPr>
          <p:cNvPr id="49" name="">
            <a:extLst xmlns:a="http://schemas.openxmlformats.org/drawingml/2006/main">
              <a:ext uri="{FF2B5EF4-FFF2-40B4-BE49-F238E27FC236}">
                <a16:creationId xmlns:a16="http://schemas.microsoft.com/office/drawing/2014/main" id="{CEAD7D14-78C5-45AB-8AC0-EA553205278E}"/>
              </a:ext>
            </a:extLst>
          </p:cNvPr>
          <p:cNvSpPr>
            <a:spLocks xmlns:a="http://schemas.openxmlformats.org/drawingml/2006/main" noGrp="1"/>
          </p:cNvSpPr>
          <p:nvPr/>
        </p:nvSpPr>
        <p:spPr>
          <a:xfrm xmlns:a="http://schemas.openxmlformats.org/drawingml/2006/main">
            <a:off x="8191500" y="4267200"/>
            <a:ext cx="247650" cy="247650"/>
          </a:xfrm>
          <a:prstGeom xmlns:a="http://schemas.openxmlformats.org/drawingml/2006/main" prst="ellipse">
            <a:avLst/>
          </a:prstGeom>
          <a:solidFill xmlns:a="http://schemas.openxmlformats.org/drawingml/2006/main">
            <a:srgbClr val="2864C5"/>
          </a:solidFill>
          <a:ln xmlns:a="http://schemas.openxmlformats.org/drawingml/2006/main" w="19050">
            <a:solidFill>
              <a:srgbClr val="FFFFFF"/>
            </a:solidFill>
            <a:prstDash val="solid"/>
          </a:ln>
        </p:spPr>
      </p:sp>
      <p:sp>
        <p:nvSpPr>
          <p:cNvPr id="50" name="">
            <a:extLst xmlns:a="http://schemas.openxmlformats.org/drawingml/2006/main">
              <a:ext uri="{FF2B5EF4-FFF2-40B4-BE49-F238E27FC236}">
                <a16:creationId xmlns:a16="http://schemas.microsoft.com/office/drawing/2014/main" id="{C1498C06-3FB9-42EE-8C7C-A7F6B4AF1C6F}"/>
              </a:ext>
            </a:extLst>
          </p:cNvPr>
          <p:cNvSpPr>
            <a:spLocks xmlns:a="http://schemas.openxmlformats.org/drawingml/2006/main" noGrp="1"/>
          </p:cNvSpPr>
          <p:nvPr/>
        </p:nvSpPr>
        <p:spPr>
          <a:xfrm xmlns:a="http://schemas.openxmlformats.org/drawingml/2006/main">
            <a:off x="9239250" y="2190750"/>
            <a:ext cx="247650" cy="247650"/>
          </a:xfrm>
          <a:prstGeom xmlns:a="http://schemas.openxmlformats.org/drawingml/2006/main" prst="ellipse">
            <a:avLst/>
          </a:prstGeom>
          <a:solidFill xmlns:a="http://schemas.openxmlformats.org/drawingml/2006/main">
            <a:srgbClr val="7295B8"/>
          </a:solidFill>
          <a:ln xmlns:a="http://schemas.openxmlformats.org/drawingml/2006/main" w="19050">
            <a:solidFill>
              <a:srgbClr val="FFFFFF"/>
            </a:solidFill>
            <a:prstDash val="solid"/>
          </a:ln>
        </p:spPr>
      </p:sp>
      <p:sp>
        <p:nvSpPr>
          <p:cNvPr id="51" name="">
            <a:extLst xmlns:a="http://schemas.openxmlformats.org/drawingml/2006/main">
              <a:ext uri="{FF2B5EF4-FFF2-40B4-BE49-F238E27FC236}">
                <a16:creationId xmlns:a16="http://schemas.microsoft.com/office/drawing/2014/main" id="{07216494-D2D5-4A78-80E3-2148CB963374}"/>
              </a:ext>
            </a:extLst>
          </p:cNvPr>
          <p:cNvSpPr>
            <a:spLocks xmlns:a="http://schemas.openxmlformats.org/drawingml/2006/main" noGrp="1"/>
          </p:cNvSpPr>
          <p:nvPr/>
        </p:nvSpPr>
        <p:spPr>
          <a:xfrm xmlns:a="http://schemas.openxmlformats.org/drawingml/2006/main">
            <a:off x="9239250" y="2924175"/>
            <a:ext cx="247650" cy="247650"/>
          </a:xfrm>
          <a:prstGeom xmlns:a="http://schemas.openxmlformats.org/drawingml/2006/main" prst="ellipse">
            <a:avLst/>
          </a:prstGeom>
          <a:solidFill xmlns:a="http://schemas.openxmlformats.org/drawingml/2006/main">
            <a:srgbClr val="7295B8"/>
          </a:solidFill>
          <a:ln xmlns:a="http://schemas.openxmlformats.org/drawingml/2006/main" w="19050">
            <a:solidFill>
              <a:srgbClr val="FFFFFF"/>
            </a:solidFill>
            <a:prstDash val="solid"/>
          </a:ln>
        </p:spPr>
      </p:sp>
      <p:sp>
        <p:nvSpPr>
          <p:cNvPr id="52" name="">
            <a:extLst xmlns:a="http://schemas.openxmlformats.org/drawingml/2006/main">
              <a:ext uri="{FF2B5EF4-FFF2-40B4-BE49-F238E27FC236}">
                <a16:creationId xmlns:a16="http://schemas.microsoft.com/office/drawing/2014/main" id="{D1169453-6D07-49A0-BA50-6B53CDFD557A}"/>
              </a:ext>
            </a:extLst>
          </p:cNvPr>
          <p:cNvSpPr>
            <a:spLocks xmlns:a="http://schemas.openxmlformats.org/drawingml/2006/main" noGrp="1"/>
          </p:cNvSpPr>
          <p:nvPr/>
        </p:nvSpPr>
        <p:spPr>
          <a:xfrm xmlns:a="http://schemas.openxmlformats.org/drawingml/2006/main">
            <a:off x="9239250" y="3657600"/>
            <a:ext cx="247650" cy="247650"/>
          </a:xfrm>
          <a:prstGeom xmlns:a="http://schemas.openxmlformats.org/drawingml/2006/main" prst="ellipse">
            <a:avLst/>
          </a:prstGeom>
          <a:solidFill xmlns:a="http://schemas.openxmlformats.org/drawingml/2006/main">
            <a:srgbClr val="7295B8"/>
          </a:solidFill>
          <a:ln xmlns:a="http://schemas.openxmlformats.org/drawingml/2006/main" w="19050">
            <a:solidFill>
              <a:srgbClr val="FFFFFF"/>
            </a:solidFill>
            <a:prstDash val="solid"/>
          </a:ln>
        </p:spPr>
      </p:sp>
      <p:sp>
        <p:nvSpPr>
          <p:cNvPr id="53" name="">
            <a:extLst xmlns:a="http://schemas.openxmlformats.org/drawingml/2006/main">
              <a:ext uri="{FF2B5EF4-FFF2-40B4-BE49-F238E27FC236}">
                <a16:creationId xmlns:a16="http://schemas.microsoft.com/office/drawing/2014/main" id="{51CDD7B1-DDC7-4F2B-B622-016F1C7CE882}"/>
              </a:ext>
            </a:extLst>
          </p:cNvPr>
          <p:cNvSpPr>
            <a:spLocks xmlns:a="http://schemas.openxmlformats.org/drawingml/2006/main" noGrp="1"/>
          </p:cNvSpPr>
          <p:nvPr/>
        </p:nvSpPr>
        <p:spPr>
          <a:xfrm xmlns:a="http://schemas.openxmlformats.org/drawingml/2006/main">
            <a:off x="9239250" y="4391025"/>
            <a:ext cx="247650" cy="247650"/>
          </a:xfrm>
          <a:prstGeom xmlns:a="http://schemas.openxmlformats.org/drawingml/2006/main" prst="ellipse">
            <a:avLst/>
          </a:prstGeom>
          <a:solidFill xmlns:a="http://schemas.openxmlformats.org/drawingml/2006/main">
            <a:srgbClr val="7295B8"/>
          </a:solidFill>
          <a:ln xmlns:a="http://schemas.openxmlformats.org/drawingml/2006/main" w="19050">
            <a:solidFill>
              <a:srgbClr val="FFFFFF"/>
            </a:solidFill>
            <a:prstDash val="solid"/>
          </a:ln>
        </p:spPr>
      </p:sp>
      <p:sp>
        <p:nvSpPr>
          <p:cNvPr id="54" name="">
            <a:extLst xmlns:a="http://schemas.openxmlformats.org/drawingml/2006/main">
              <a:ext uri="{FF2B5EF4-FFF2-40B4-BE49-F238E27FC236}">
                <a16:creationId xmlns:a16="http://schemas.microsoft.com/office/drawing/2014/main" id="{C8B98C26-51A2-43FC-93D4-879F86B4DDB9}"/>
              </a:ext>
            </a:extLst>
          </p:cNvPr>
          <p:cNvSpPr>
            <a:spLocks xmlns:a="http://schemas.openxmlformats.org/drawingml/2006/main" noGrp="1"/>
          </p:cNvSpPr>
          <p:nvPr/>
        </p:nvSpPr>
        <p:spPr>
          <a:xfrm xmlns:a="http://schemas.openxmlformats.org/drawingml/2006/main">
            <a:off x="10306050" y="2476500"/>
            <a:ext cx="247650" cy="247650"/>
          </a:xfrm>
          <a:prstGeom xmlns:a="http://schemas.openxmlformats.org/drawingml/2006/main" prst="ellipse">
            <a:avLst/>
          </a:prstGeom>
          <a:solidFill xmlns:a="http://schemas.openxmlformats.org/drawingml/2006/main">
            <a:srgbClr val="7295B8"/>
          </a:solidFill>
          <a:ln xmlns:a="http://schemas.openxmlformats.org/drawingml/2006/main" w="19050">
            <a:solidFill>
              <a:srgbClr val="FFFFFF"/>
            </a:solidFill>
            <a:prstDash val="solid"/>
          </a:ln>
        </p:spPr>
      </p:sp>
      <p:sp>
        <p:nvSpPr>
          <p:cNvPr id="55" name="">
            <a:extLst xmlns:a="http://schemas.openxmlformats.org/drawingml/2006/main">
              <a:ext uri="{FF2B5EF4-FFF2-40B4-BE49-F238E27FC236}">
                <a16:creationId xmlns:a16="http://schemas.microsoft.com/office/drawing/2014/main" id="{5A366B01-1E71-4A0A-ADFD-EFA51CDE36AB}"/>
              </a:ext>
            </a:extLst>
          </p:cNvPr>
          <p:cNvSpPr>
            <a:spLocks xmlns:a="http://schemas.openxmlformats.org/drawingml/2006/main" noGrp="1"/>
          </p:cNvSpPr>
          <p:nvPr/>
        </p:nvSpPr>
        <p:spPr>
          <a:xfrm xmlns:a="http://schemas.openxmlformats.org/drawingml/2006/main">
            <a:off x="10306050" y="3371850"/>
            <a:ext cx="247650" cy="247650"/>
          </a:xfrm>
          <a:prstGeom xmlns:a="http://schemas.openxmlformats.org/drawingml/2006/main" prst="ellipse">
            <a:avLst/>
          </a:prstGeom>
          <a:solidFill xmlns:a="http://schemas.openxmlformats.org/drawingml/2006/main">
            <a:srgbClr val="7295B8"/>
          </a:solidFill>
          <a:ln xmlns:a="http://schemas.openxmlformats.org/drawingml/2006/main" w="19050">
            <a:solidFill>
              <a:srgbClr val="FFFFFF"/>
            </a:solidFill>
            <a:prstDash val="solid"/>
          </a:ln>
        </p:spPr>
      </p:sp>
      <p:sp>
        <p:nvSpPr>
          <p:cNvPr id="56" name="">
            <a:extLst xmlns:a="http://schemas.openxmlformats.org/drawingml/2006/main">
              <a:ext uri="{FF2B5EF4-FFF2-40B4-BE49-F238E27FC236}">
                <a16:creationId xmlns:a16="http://schemas.microsoft.com/office/drawing/2014/main" id="{CE8FBDA8-64D1-41DE-AF5E-EF302060BBF5}"/>
              </a:ext>
            </a:extLst>
          </p:cNvPr>
          <p:cNvSpPr>
            <a:spLocks xmlns:a="http://schemas.openxmlformats.org/drawingml/2006/main" noGrp="1"/>
          </p:cNvSpPr>
          <p:nvPr/>
        </p:nvSpPr>
        <p:spPr>
          <a:xfrm xmlns:a="http://schemas.openxmlformats.org/drawingml/2006/main">
            <a:off x="10306050" y="4267200"/>
            <a:ext cx="247650" cy="247650"/>
          </a:xfrm>
          <a:prstGeom xmlns:a="http://schemas.openxmlformats.org/drawingml/2006/main" prst="ellipse">
            <a:avLst/>
          </a:prstGeom>
          <a:solidFill xmlns:a="http://schemas.openxmlformats.org/drawingml/2006/main">
            <a:srgbClr val="7295B8"/>
          </a:solidFill>
          <a:ln xmlns:a="http://schemas.openxmlformats.org/drawingml/2006/main" w="19050">
            <a:solidFill>
              <a:srgbClr val="FFFFFF"/>
            </a:solidFill>
            <a:prstDash val="solid"/>
          </a:ln>
        </p:spPr>
      </p:sp>
      <p:sp>
        <p:nvSpPr>
          <p:cNvPr id="57" name="">
            <a:extLst xmlns:a="http://schemas.openxmlformats.org/drawingml/2006/main">
              <a:ext uri="{FF2B5EF4-FFF2-40B4-BE49-F238E27FC236}">
                <a16:creationId xmlns:a16="http://schemas.microsoft.com/office/drawing/2014/main" id="{A3553707-30D4-4D76-A15A-2122668B6B01}"/>
              </a:ext>
            </a:extLst>
          </p:cNvPr>
          <p:cNvSpPr>
            <a:spLocks xmlns:a="http://schemas.openxmlformats.org/drawingml/2006/main" noGrp="1"/>
          </p:cNvSpPr>
          <p:nvPr/>
        </p:nvSpPr>
        <p:spPr>
          <a:xfrm xmlns:a="http://schemas.openxmlformats.org/drawingml/2006/main">
            <a:off x="11144250" y="2686050"/>
            <a:ext cx="247650" cy="247650"/>
          </a:xfrm>
          <a:prstGeom xmlns:a="http://schemas.openxmlformats.org/drawingml/2006/main" prst="ellipse">
            <a:avLst/>
          </a:prstGeom>
          <a:solidFill xmlns:a="http://schemas.openxmlformats.org/drawingml/2006/main">
            <a:srgbClr val="148A8A"/>
          </a:solidFill>
          <a:ln xmlns:a="http://schemas.openxmlformats.org/drawingml/2006/main" w="19050">
            <a:solidFill>
              <a:srgbClr val="FFFFFF"/>
            </a:solidFill>
            <a:prstDash val="solid"/>
          </a:ln>
        </p:spPr>
      </p:sp>
      <p:sp>
        <p:nvSpPr>
          <p:cNvPr id="58" name="">
            <a:extLst xmlns:a="http://schemas.openxmlformats.org/drawingml/2006/main">
              <a:ext uri="{FF2B5EF4-FFF2-40B4-BE49-F238E27FC236}">
                <a16:creationId xmlns:a16="http://schemas.microsoft.com/office/drawing/2014/main" id="{3AA02A8B-9AB8-46C9-9667-CBE03017BAB3}"/>
              </a:ext>
            </a:extLst>
          </p:cNvPr>
          <p:cNvSpPr>
            <a:spLocks xmlns:a="http://schemas.openxmlformats.org/drawingml/2006/main" noGrp="1"/>
          </p:cNvSpPr>
          <p:nvPr/>
        </p:nvSpPr>
        <p:spPr>
          <a:xfrm xmlns:a="http://schemas.openxmlformats.org/drawingml/2006/main">
            <a:off x="11144250" y="3600450"/>
            <a:ext cx="247650" cy="247650"/>
          </a:xfrm>
          <a:prstGeom xmlns:a="http://schemas.openxmlformats.org/drawingml/2006/main" prst="ellipse">
            <a:avLst/>
          </a:prstGeom>
          <a:solidFill xmlns:a="http://schemas.openxmlformats.org/drawingml/2006/main">
            <a:srgbClr val="148A8A"/>
          </a:solidFill>
          <a:ln xmlns:a="http://schemas.openxmlformats.org/drawingml/2006/main" w="19050">
            <a:solidFill>
              <a:srgbClr val="FFFFFF"/>
            </a:solidFill>
            <a:prstDash val="solid"/>
          </a:ln>
        </p:spPr>
      </p:sp>
      <p:sp>
        <p:nvSpPr>
          <p:cNvPr id="59" name="">
            <a:extLst xmlns:a="http://schemas.openxmlformats.org/drawingml/2006/main">
              <a:ext uri="{FF2B5EF4-FFF2-40B4-BE49-F238E27FC236}">
                <a16:creationId xmlns:a16="http://schemas.microsoft.com/office/drawing/2014/main" id="{A353E3EF-48DE-48E3-B3BB-2BCA51CAEBCF}"/>
              </a:ext>
            </a:extLst>
          </p:cNvPr>
          <p:cNvSpPr>
            <a:spLocks xmlns:a="http://schemas.openxmlformats.org/drawingml/2006/main" noGrp="1"/>
          </p:cNvSpPr>
          <p:nvPr/>
        </p:nvSpPr>
        <p:spPr>
          <a:xfrm xmlns:a="http://schemas.openxmlformats.org/drawingml/2006/main">
            <a:off x="11144250" y="4514850"/>
            <a:ext cx="247650" cy="247650"/>
          </a:xfrm>
          <a:prstGeom xmlns:a="http://schemas.openxmlformats.org/drawingml/2006/main" prst="ellipse">
            <a:avLst/>
          </a:prstGeom>
          <a:solidFill xmlns:a="http://schemas.openxmlformats.org/drawingml/2006/main">
            <a:srgbClr val="148A8A"/>
          </a:solidFill>
          <a:ln xmlns:a="http://schemas.openxmlformats.org/drawingml/2006/main" w="19050">
            <a:solidFill>
              <a:srgbClr val="FFFFFF"/>
            </a:solidFill>
            <a:prstDash val="solid"/>
          </a:ln>
        </p:spPr>
      </p:sp>
      <p:sp>
        <p:nvSpPr>
          <p:cNvPr id="60" name="">
            <a:extLst xmlns:a="http://schemas.openxmlformats.org/drawingml/2006/main">
              <a:ext uri="{FF2B5EF4-FFF2-40B4-BE49-F238E27FC236}">
                <a16:creationId xmlns:a16="http://schemas.microsoft.com/office/drawing/2014/main" id="{E22B12DE-46D5-4394-BA30-9FD868C497B0}"/>
              </a:ext>
            </a:extLst>
          </p:cNvPr>
          <p:cNvSpPr>
            <a:spLocks xmlns:a="http://schemas.openxmlformats.org/drawingml/2006/main" noGrp="1"/>
          </p:cNvSpPr>
          <p:nvPr/>
        </p:nvSpPr>
        <p:spPr>
          <a:xfrm xmlns:a="http://schemas.openxmlformats.org/drawingml/2006/main">
            <a:off x="8001000" y="5067300"/>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00" b="1">
                <a:solidFill>
                  <a:srgbClr val="536477"/>
                </a:solidFill>
                <a:latin typeface="Helvetica Neue"/>
                <a:ea typeface="Helvetica Neue"/>
                <a:cs typeface="Helvetica Neue"/>
              </a:defRPr>
            </a:defPPr>
          </a:lstStyle>
          <a:p xmlns:a="http://schemas.openxmlformats.org/drawingml/2006/main">
            <a:pPr algn="ctr">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PROMPT</a:t>
            </a:r>
          </a:p>
        </p:txBody>
      </p:sp>
      <p:sp>
        <p:nvSpPr>
          <p:cNvPr id="61" name="">
            <a:extLst xmlns:a="http://schemas.openxmlformats.org/drawingml/2006/main">
              <a:ext uri="{FF2B5EF4-FFF2-40B4-BE49-F238E27FC236}">
                <a16:creationId xmlns:a16="http://schemas.microsoft.com/office/drawing/2014/main" id="{2EE283DE-2D57-4EE4-81A4-FD9C5BD1A57F}"/>
              </a:ext>
            </a:extLst>
          </p:cNvPr>
          <p:cNvSpPr>
            <a:spLocks xmlns:a="http://schemas.openxmlformats.org/drawingml/2006/main" noGrp="1"/>
          </p:cNvSpPr>
          <p:nvPr/>
        </p:nvSpPr>
        <p:spPr>
          <a:xfrm xmlns:a="http://schemas.openxmlformats.org/drawingml/2006/main">
            <a:off x="9182100" y="5067300"/>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00" b="1">
                <a:solidFill>
                  <a:srgbClr val="536477"/>
                </a:solidFill>
                <a:latin typeface="Helvetica Neue"/>
                <a:ea typeface="Helvetica Neue"/>
                <a:cs typeface="Helvetica Neue"/>
              </a:defRPr>
            </a:defPPr>
          </a:lstStyle>
          <a:p xmlns:a="http://schemas.openxmlformats.org/drawingml/2006/main">
            <a:pPr algn="ctr">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HIDDEN LAYERS</a:t>
            </a:r>
          </a:p>
        </p:txBody>
      </p:sp>
      <p:sp>
        <p:nvSpPr>
          <p:cNvPr id="62" name="">
            <a:extLst xmlns:a="http://schemas.openxmlformats.org/drawingml/2006/main">
              <a:ext uri="{FF2B5EF4-FFF2-40B4-BE49-F238E27FC236}">
                <a16:creationId xmlns:a16="http://schemas.microsoft.com/office/drawing/2014/main" id="{814B0AD9-BAB3-483E-B055-EB2E5CDC8EC5}"/>
              </a:ext>
            </a:extLst>
          </p:cNvPr>
          <p:cNvSpPr>
            <a:spLocks xmlns:a="http://schemas.openxmlformats.org/drawingml/2006/main" noGrp="1"/>
          </p:cNvSpPr>
          <p:nvPr/>
        </p:nvSpPr>
        <p:spPr>
          <a:xfrm xmlns:a="http://schemas.openxmlformats.org/drawingml/2006/main">
            <a:off x="10858500" y="5067300"/>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00" b="1">
                <a:solidFill>
                  <a:srgbClr val="536477"/>
                </a:solidFill>
                <a:latin typeface="Helvetica Neue"/>
                <a:ea typeface="Helvetica Neue"/>
                <a:cs typeface="Helvetica Neue"/>
              </a:defRPr>
            </a:defPPr>
          </a:lstStyle>
          <a:p xmlns:a="http://schemas.openxmlformats.org/drawingml/2006/main">
            <a:pPr algn="ctr">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ANSWER</a:t>
            </a:r>
          </a:p>
        </p:txBody>
      </p:sp>
    </p:spTree>
    <p:extLst>
      <p:ext uri="{BB962C8B-B14F-4D97-AF65-F5344CB8AC3E}">
        <p14:creationId xmlns:p14="http://schemas.microsoft.com/office/powerpoint/2010/main" val="134751364"/>
      </p:ext>
    </p:extLst>
  </p:cSld>
</p:sld>
</file>

<file path=ppt/slides/slide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A8DA0A49-58DC-491F-9A45-899F136483F4}"/>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C7EF8F5-C411-4A4B-955B-8F265CD3ECD5}"/>
              </a:ext>
            </a:extLst>
          </p:cNvPr>
          <p:cNvSpPr>
            <a:spLocks xmlns:a="http://schemas.openxmlformats.org/drawingml/2006/main" noGrp="1"/>
          </p:cNvSpPr>
          <p:nvPr/>
        </p:nvSpPr>
        <p:spPr>
          <a:xfrm xmlns:a="http://schemas.openxmlformats.org/drawingml/2006/main">
            <a:off x="552450" y="361950"/>
            <a:ext cx="1104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0253F"/>
                </a:solidFill>
                <a:latin typeface="Helvetica Neue"/>
                <a:ea typeface="Helvetica Neue"/>
                <a:cs typeface="Helvetica Neue"/>
              </a:defRPr>
            </a:defPPr>
          </a:lstStyle>
          <a:p xmlns:a="http://schemas.openxmlformats.org/drawingml/2006/main">
            <a:pPr algn="l">
              <a:lnSpc>
                <a:spcPct val="105000"/>
              </a:lnSpc>
              <a:buNone/>
              <a:defRPr sz="2550" b="1">
                <a:solidFill>
                  <a:srgbClr val="10253F"/>
                </a:solidFill>
                <a:latin typeface="Helvetica Neue"/>
                <a:ea typeface="Helvetica Neue"/>
                <a:cs typeface="Helvetica Neue"/>
              </a:defRPr>
            </a:pPr>
            <a:r>
              <a:rPr sz="2550" b="1">
                <a:solidFill>
                  <a:srgbClr val="10253F"/>
                </a:solidFill>
                <a:latin typeface="Helvetica Neue"/>
                <a:ea typeface="Helvetica Neue"/>
                <a:cs typeface="Helvetica Neue"/>
              </a:rPr>
              <a:t>Project Overview</a:t>
            </a:r>
          </a:p>
        </p:txBody>
      </p:sp>
      <p:sp>
        <p:nvSpPr>
          <p:cNvPr id="3" name="">
            <a:extLst xmlns:a="http://schemas.openxmlformats.org/drawingml/2006/main">
              <a:ext uri="{FF2B5EF4-FFF2-40B4-BE49-F238E27FC236}">
                <a16:creationId xmlns:a16="http://schemas.microsoft.com/office/drawing/2014/main" id="{4AF5F36E-5F2F-4A2D-BBE2-C435450C2DF3}"/>
              </a:ext>
            </a:extLst>
          </p:cNvPr>
          <p:cNvSpPr>
            <a:spLocks xmlns:a="http://schemas.openxmlformats.org/drawingml/2006/main" noGrp="1"/>
          </p:cNvSpPr>
          <p:nvPr/>
        </p:nvSpPr>
        <p:spPr>
          <a:xfrm xmlns:a="http://schemas.openxmlformats.org/drawingml/2006/main">
            <a:off x="571500" y="876300"/>
            <a:ext cx="10953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36477"/>
                </a:solidFill>
                <a:latin typeface="Helvetica Neue"/>
                <a:ea typeface="Helvetica Neue"/>
                <a:cs typeface="Helvetica Neue"/>
              </a:defRPr>
            </a:defPPr>
          </a:lstStyle>
          <a:p xmlns:a="http://schemas.openxmlformats.org/drawingml/2006/main">
            <a:pPr algn="l">
              <a:lnSpc>
                <a:spcPct val="105000"/>
              </a:lnSpc>
              <a:buNone/>
              <a:defRPr sz="1275" b="0">
                <a:solidFill>
                  <a:srgbClr val="536477"/>
                </a:solidFill>
                <a:latin typeface="Helvetica Neue"/>
                <a:ea typeface="Helvetica Neue"/>
                <a:cs typeface="Helvetica Neue"/>
              </a:defRPr>
            </a:pPr>
            <a:r>
              <a:rPr sz="1275" b="0">
                <a:solidFill>
                  <a:srgbClr val="536477"/>
                </a:solidFill>
                <a:latin typeface="Helvetica Neue"/>
                <a:ea typeface="Helvetica Neue"/>
                <a:cs typeface="Helvetica Neue"/>
              </a:rPr>
              <a:t>A small language model can answer questions. This project studies how decoding and uncertainty signals can help evaluate those answers.</a:t>
            </a:r>
          </a:p>
        </p:txBody>
      </p:sp>
      <p:sp>
        <p:nvSpPr>
          <p:cNvPr id="4" name="">
            <a:extLst xmlns:a="http://schemas.openxmlformats.org/drawingml/2006/main">
              <a:ext uri="{FF2B5EF4-FFF2-40B4-BE49-F238E27FC236}">
                <a16:creationId xmlns:a16="http://schemas.microsoft.com/office/drawing/2014/main" id="{73A2D475-315B-43BF-BC4B-B144E9C0A3AB}"/>
              </a:ext>
            </a:extLst>
          </p:cNvPr>
          <p:cNvSpPr>
            <a:spLocks xmlns:a="http://schemas.openxmlformats.org/drawingml/2006/main" noGrp="1"/>
          </p:cNvSpPr>
          <p:nvPr/>
        </p:nvSpPr>
        <p:spPr>
          <a:xfrm xmlns:a="http://schemas.openxmlformats.org/drawingml/2006/main" flipV="0">
            <a:off x="571500" y="6438900"/>
            <a:ext cx="11049000" cy="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5" name="">
            <a:extLst xmlns:a="http://schemas.openxmlformats.org/drawingml/2006/main">
              <a:ext uri="{FF2B5EF4-FFF2-40B4-BE49-F238E27FC236}">
                <a16:creationId xmlns:a16="http://schemas.microsoft.com/office/drawing/2014/main" id="{C437505F-BFF4-4600-8A98-193486B00284}"/>
              </a:ext>
            </a:extLst>
          </p:cNvPr>
          <p:cNvSpPr>
            <a:spLocks xmlns:a="http://schemas.openxmlformats.org/drawingml/2006/main" noGrp="1"/>
          </p:cNvSpPr>
          <p:nvPr/>
        </p:nvSpPr>
        <p:spPr>
          <a:xfrm xmlns:a="http://schemas.openxmlformats.org/drawingml/2006/main">
            <a:off x="571500" y="6534150"/>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536477"/>
                </a:solidFill>
                <a:latin typeface="Helvetica Neue"/>
                <a:ea typeface="Helvetica Neue"/>
                <a:cs typeface="Helvetica Neue"/>
              </a:defRPr>
            </a:defPPr>
          </a:lstStyle>
          <a:p xmlns:a="http://schemas.openxmlformats.org/drawingml/2006/main">
            <a:pPr algn="l">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VIT-AP UNIVERSITY  /  SCOPE</a:t>
            </a:r>
          </a:p>
        </p:txBody>
      </p:sp>
      <p:sp>
        <p:nvSpPr>
          <p:cNvPr id="6" name="">
            <a:extLst xmlns:a="http://schemas.openxmlformats.org/drawingml/2006/main">
              <a:ext uri="{FF2B5EF4-FFF2-40B4-BE49-F238E27FC236}">
                <a16:creationId xmlns:a16="http://schemas.microsoft.com/office/drawing/2014/main" id="{B8A90C48-89CC-42A2-BDCC-EC1A962EDD48}"/>
              </a:ext>
            </a:extLst>
          </p:cNvPr>
          <p:cNvSpPr>
            <a:spLocks xmlns:a="http://schemas.openxmlformats.org/drawingml/2006/main" noGrp="1"/>
          </p:cNvSpPr>
          <p:nvPr/>
        </p:nvSpPr>
        <p:spPr>
          <a:xfrm xmlns:a="http://schemas.openxmlformats.org/drawingml/2006/main">
            <a:off x="11087100" y="65151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a:solidFill>
                  <a:srgbClr val="536477"/>
                </a:solidFill>
                <a:latin typeface="Helvetica Neue"/>
                <a:ea typeface="Helvetica Neue"/>
                <a:cs typeface="Helvetica Neue"/>
              </a:defRPr>
            </a:defPPr>
          </a:lstStyle>
          <a:p xmlns:a="http://schemas.openxmlformats.org/drawingml/2006/main">
            <a:pPr algn="r">
              <a:lnSpc>
                <a:spcPct val="105000"/>
              </a:lnSpc>
              <a:buNone/>
              <a:defRPr sz="975" b="1">
                <a:solidFill>
                  <a:srgbClr val="536477"/>
                </a:solidFill>
                <a:latin typeface="Helvetica Neue"/>
                <a:ea typeface="Helvetica Neue"/>
                <a:cs typeface="Helvetica Neue"/>
              </a:defRPr>
            </a:pPr>
            <a:r>
              <a:rPr sz="975" b="1">
                <a:solidFill>
                  <a:srgbClr val="536477"/>
                </a:solidFill>
                <a:latin typeface="Helvetica Neue"/>
                <a:ea typeface="Helvetica Neue"/>
                <a:cs typeface="Helvetica Neue"/>
              </a:rPr>
              <a:t>02</a:t>
            </a:r>
          </a:p>
        </p:txBody>
      </p:sp>
      <p:sp>
        <p:nvSpPr>
          <p:cNvPr id="7" name="">
            <a:extLst xmlns:a="http://schemas.openxmlformats.org/drawingml/2006/main">
              <a:ext uri="{FF2B5EF4-FFF2-40B4-BE49-F238E27FC236}">
                <a16:creationId xmlns:a16="http://schemas.microsoft.com/office/drawing/2014/main" id="{8096F383-60AE-4A28-89A5-3D49D90C92CB}"/>
              </a:ext>
            </a:extLst>
          </p:cNvPr>
          <p:cNvSpPr>
            <a:spLocks xmlns:a="http://schemas.openxmlformats.org/drawingml/2006/main" noGrp="1"/>
          </p:cNvSpPr>
          <p:nvPr/>
        </p:nvSpPr>
        <p:spPr>
          <a:xfrm xmlns:a="http://schemas.openxmlformats.org/drawingml/2006/main">
            <a:off x="647700" y="1485900"/>
            <a:ext cx="266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864C5"/>
                </a:solidFill>
                <a:latin typeface="Helvetica Neue"/>
                <a:ea typeface="Helvetica Neue"/>
                <a:cs typeface="Helvetica Neue"/>
              </a:defRPr>
            </a:defPPr>
          </a:lstStyle>
          <a:p xmlns:a="http://schemas.openxmlformats.org/drawingml/2006/main">
            <a:pPr algn="l">
              <a:lnSpc>
                <a:spcPct val="105000"/>
              </a:lnSpc>
              <a:buNone/>
              <a:defRPr sz="975" b="1">
                <a:solidFill>
                  <a:srgbClr val="2864C5"/>
                </a:solidFill>
                <a:latin typeface="Helvetica Neue"/>
                <a:ea typeface="Helvetica Neue"/>
                <a:cs typeface="Helvetica Neue"/>
              </a:defRPr>
            </a:pPr>
            <a:r>
              <a:rPr sz="975" b="1">
                <a:solidFill>
                  <a:srgbClr val="2864C5"/>
                </a:solidFill>
                <a:latin typeface="Helvetica Neue"/>
                <a:ea typeface="Helvetica Neue"/>
                <a:cs typeface="Helvetica Neue"/>
              </a:rPr>
              <a:t>PROJECT IN ONE LINE</a:t>
            </a:r>
          </a:p>
        </p:txBody>
      </p:sp>
      <p:sp>
        <p:nvSpPr>
          <p:cNvPr id="8" name="">
            <a:extLst xmlns:a="http://schemas.openxmlformats.org/drawingml/2006/main">
              <a:ext uri="{FF2B5EF4-FFF2-40B4-BE49-F238E27FC236}">
                <a16:creationId xmlns:a16="http://schemas.microsoft.com/office/drawing/2014/main" id="{73229FF3-DB5C-4199-A74E-23CADD656B72}"/>
              </a:ext>
            </a:extLst>
          </p:cNvPr>
          <p:cNvSpPr>
            <a:spLocks xmlns:a="http://schemas.openxmlformats.org/drawingml/2006/main" noGrp="1"/>
          </p:cNvSpPr>
          <p:nvPr/>
        </p:nvSpPr>
        <p:spPr>
          <a:xfrm xmlns:a="http://schemas.openxmlformats.org/drawingml/2006/main">
            <a:off x="647700" y="1752600"/>
            <a:ext cx="10572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a:solidFill>
                  <a:srgbClr val="10253F"/>
                </a:solidFill>
                <a:latin typeface="Helvetica Neue"/>
                <a:ea typeface="Helvetica Neue"/>
                <a:cs typeface="Helvetica Neue"/>
              </a:defRPr>
            </a:defPPr>
          </a:lstStyle>
          <a:p xmlns:a="http://schemas.openxmlformats.org/drawingml/2006/main">
            <a:pPr algn="l">
              <a:lnSpc>
                <a:spcPct val="105000"/>
              </a:lnSpc>
              <a:buNone/>
              <a:defRPr sz="1950" b="1">
                <a:solidFill>
                  <a:srgbClr val="10253F"/>
                </a:solidFill>
                <a:latin typeface="Helvetica Neue"/>
                <a:ea typeface="Helvetica Neue"/>
                <a:cs typeface="Helvetica Neue"/>
              </a:defRPr>
            </a:pPr>
            <a:r>
              <a:rPr sz="1950" b="1">
                <a:solidFill>
                  <a:srgbClr val="10253F"/>
                </a:solidFill>
                <a:latin typeface="Helvetica Neue"/>
                <a:ea typeface="Helvetica Neue"/>
                <a:cs typeface="Helvetica Neue"/>
              </a:rPr>
              <a:t>Compare layer-contrastive decoding and Epinet-based uncertainty for TinyLlama answer generation.</a:t>
            </a:r>
          </a:p>
        </p:txBody>
      </p:sp>
      <p:sp>
        <p:nvSpPr>
          <p:cNvPr id="9" name="">
            <a:extLst xmlns:a="http://schemas.openxmlformats.org/drawingml/2006/main">
              <a:ext uri="{FF2B5EF4-FFF2-40B4-BE49-F238E27FC236}">
                <a16:creationId xmlns:a16="http://schemas.microsoft.com/office/drawing/2014/main" id="{A4D76E17-A383-4787-BEF8-8E1851C70941}"/>
              </a:ext>
            </a:extLst>
          </p:cNvPr>
          <p:cNvSpPr>
            <a:spLocks xmlns:a="http://schemas.openxmlformats.org/drawingml/2006/main" noGrp="1"/>
          </p:cNvSpPr>
          <p:nvPr/>
        </p:nvSpPr>
        <p:spPr>
          <a:xfrm xmlns:a="http://schemas.openxmlformats.org/drawingml/2006/main">
            <a:off x="742950" y="3009900"/>
            <a:ext cx="2857500" cy="1238250"/>
          </a:xfrm>
          <a:prstGeom xmlns:a="http://schemas.openxmlformats.org/drawingml/2006/main" prst="roundRect">
            <a:avLst>
              <a:gd name="adj" fmla="val 6154"/>
            </a:avLst>
          </a:prstGeom>
          <a:solidFill xmlns:a="http://schemas.openxmlformats.org/drawingml/2006/main">
            <a:srgbClr val="FFFFFF"/>
          </a:solidFill>
          <a:ln xmlns:a="http://schemas.openxmlformats.org/drawingml/2006/main" w="9525">
            <a:solidFill>
              <a:srgbClr val="D6DEE8"/>
            </a:solidFill>
            <a:prstDash val="solid"/>
          </a:ln>
        </p:spPr>
      </p:sp>
      <p:sp>
        <p:nvSpPr>
          <p:cNvPr id="10" name="">
            <a:extLst xmlns:a="http://schemas.openxmlformats.org/drawingml/2006/main">
              <a:ext uri="{FF2B5EF4-FFF2-40B4-BE49-F238E27FC236}">
                <a16:creationId xmlns:a16="http://schemas.microsoft.com/office/drawing/2014/main" id="{2A70AA3C-0BD5-42C7-B677-D190EB4D3AA1}"/>
              </a:ext>
            </a:extLst>
          </p:cNvPr>
          <p:cNvSpPr>
            <a:spLocks xmlns:a="http://schemas.openxmlformats.org/drawingml/2006/main" noGrp="1"/>
          </p:cNvSpPr>
          <p:nvPr/>
        </p:nvSpPr>
        <p:spPr>
          <a:xfrm xmlns:a="http://schemas.openxmlformats.org/drawingml/2006/main">
            <a:off x="742950" y="3009900"/>
            <a:ext cx="47625" cy="123825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2858DA15-C2DD-45FD-BF8C-B40B2126FCD7}"/>
              </a:ext>
            </a:extLst>
          </p:cNvPr>
          <p:cNvSpPr>
            <a:spLocks xmlns:a="http://schemas.openxmlformats.org/drawingml/2006/main" noGrp="1"/>
          </p:cNvSpPr>
          <p:nvPr/>
        </p:nvSpPr>
        <p:spPr>
          <a:xfrm xmlns:a="http://schemas.openxmlformats.org/drawingml/2006/main">
            <a:off x="914400" y="3152775"/>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Question prompt</a:t>
            </a:r>
          </a:p>
        </p:txBody>
      </p:sp>
      <p:sp>
        <p:nvSpPr>
          <p:cNvPr id="12" name="">
            <a:extLst xmlns:a="http://schemas.openxmlformats.org/drawingml/2006/main">
              <a:ext uri="{FF2B5EF4-FFF2-40B4-BE49-F238E27FC236}">
                <a16:creationId xmlns:a16="http://schemas.microsoft.com/office/drawing/2014/main" id="{61CEE8A4-FFCC-4FD3-BBB8-E4E54E4EAC66}"/>
              </a:ext>
            </a:extLst>
          </p:cNvPr>
          <p:cNvSpPr>
            <a:spLocks xmlns:a="http://schemas.openxmlformats.org/drawingml/2006/main" noGrp="1"/>
          </p:cNvSpPr>
          <p:nvPr/>
        </p:nvSpPr>
        <p:spPr>
          <a:xfrm xmlns:a="http://schemas.openxmlformats.org/drawingml/2006/main">
            <a:off x="914400" y="3467100"/>
            <a:ext cx="253365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A user asks a short factual question.</a:t>
            </a:r>
          </a:p>
        </p:txBody>
      </p:sp>
      <p:sp>
        <p:nvSpPr>
          <p:cNvPr id="13" name="">
            <a:extLst xmlns:a="http://schemas.openxmlformats.org/drawingml/2006/main">
              <a:ext uri="{FF2B5EF4-FFF2-40B4-BE49-F238E27FC236}">
                <a16:creationId xmlns:a16="http://schemas.microsoft.com/office/drawing/2014/main" id="{27B5EE62-C0E8-405C-A361-E09ECD7ED35C}"/>
              </a:ext>
            </a:extLst>
          </p:cNvPr>
          <p:cNvSpPr>
            <a:spLocks xmlns:a="http://schemas.openxmlformats.org/drawingml/2006/main" noGrp="1"/>
          </p:cNvSpPr>
          <p:nvPr/>
        </p:nvSpPr>
        <p:spPr>
          <a:xfrm xmlns:a="http://schemas.openxmlformats.org/drawingml/2006/main">
            <a:off x="4667250" y="3009900"/>
            <a:ext cx="2857500" cy="1238250"/>
          </a:xfrm>
          <a:prstGeom xmlns:a="http://schemas.openxmlformats.org/drawingml/2006/main" prst="roundRect">
            <a:avLst>
              <a:gd name="adj" fmla="val 6154"/>
            </a:avLst>
          </a:prstGeom>
          <a:solidFill xmlns:a="http://schemas.openxmlformats.org/drawingml/2006/main">
            <a:srgbClr val="FFFFFF"/>
          </a:solidFill>
          <a:ln xmlns:a="http://schemas.openxmlformats.org/drawingml/2006/main" w="9525">
            <a:solidFill>
              <a:srgbClr val="D6DEE8"/>
            </a:solidFill>
            <a:prstDash val="solid"/>
          </a:ln>
        </p:spPr>
      </p:sp>
      <p:sp>
        <p:nvSpPr>
          <p:cNvPr id="14" name="">
            <a:extLst xmlns:a="http://schemas.openxmlformats.org/drawingml/2006/main">
              <a:ext uri="{FF2B5EF4-FFF2-40B4-BE49-F238E27FC236}">
                <a16:creationId xmlns:a16="http://schemas.microsoft.com/office/drawing/2014/main" id="{25DD8526-2C0A-467E-9951-DF029D29A2AA}"/>
              </a:ext>
            </a:extLst>
          </p:cNvPr>
          <p:cNvSpPr>
            <a:spLocks xmlns:a="http://schemas.openxmlformats.org/drawingml/2006/main" noGrp="1"/>
          </p:cNvSpPr>
          <p:nvPr/>
        </p:nvSpPr>
        <p:spPr>
          <a:xfrm xmlns:a="http://schemas.openxmlformats.org/drawingml/2006/main">
            <a:off x="4667250" y="3009900"/>
            <a:ext cx="47625" cy="1238250"/>
          </a:xfrm>
          <a:prstGeom xmlns:a="http://schemas.openxmlformats.org/drawingml/2006/main" prst="rect">
            <a:avLst/>
          </a:prstGeom>
          <a:solidFill xmlns:a="http://schemas.openxmlformats.org/drawingml/2006/main">
            <a:srgbClr val="148A8A"/>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D98883F5-F51E-413F-B9E1-126B8DC9CF53}"/>
              </a:ext>
            </a:extLst>
          </p:cNvPr>
          <p:cNvSpPr>
            <a:spLocks xmlns:a="http://schemas.openxmlformats.org/drawingml/2006/main" noGrp="1"/>
          </p:cNvSpPr>
          <p:nvPr/>
        </p:nvSpPr>
        <p:spPr>
          <a:xfrm xmlns:a="http://schemas.openxmlformats.org/drawingml/2006/main">
            <a:off x="4838700" y="3152775"/>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TinyLlama + DoLa</a:t>
            </a:r>
          </a:p>
        </p:txBody>
      </p:sp>
      <p:sp>
        <p:nvSpPr>
          <p:cNvPr id="16" name="">
            <a:extLst xmlns:a="http://schemas.openxmlformats.org/drawingml/2006/main">
              <a:ext uri="{FF2B5EF4-FFF2-40B4-BE49-F238E27FC236}">
                <a16:creationId xmlns:a16="http://schemas.microsoft.com/office/drawing/2014/main" id="{A9548418-72EA-405F-91A9-D2F5BC2734AA}"/>
              </a:ext>
            </a:extLst>
          </p:cNvPr>
          <p:cNvSpPr>
            <a:spLocks xmlns:a="http://schemas.openxmlformats.org/drawingml/2006/main" noGrp="1"/>
          </p:cNvSpPr>
          <p:nvPr/>
        </p:nvSpPr>
        <p:spPr>
          <a:xfrm xmlns:a="http://schemas.openxmlformats.org/drawingml/2006/main">
            <a:off x="4838700" y="3467100"/>
            <a:ext cx="253365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Contrast final-layer scores with a selected earlier layer.</a:t>
            </a:r>
          </a:p>
        </p:txBody>
      </p:sp>
      <p:sp>
        <p:nvSpPr>
          <p:cNvPr id="17" name="">
            <a:extLst xmlns:a="http://schemas.openxmlformats.org/drawingml/2006/main">
              <a:ext uri="{FF2B5EF4-FFF2-40B4-BE49-F238E27FC236}">
                <a16:creationId xmlns:a16="http://schemas.microsoft.com/office/drawing/2014/main" id="{4372F564-216E-4B51-9950-F425DB37EB60}"/>
              </a:ext>
            </a:extLst>
          </p:cNvPr>
          <p:cNvSpPr>
            <a:spLocks xmlns:a="http://schemas.openxmlformats.org/drawingml/2006/main" noGrp="1"/>
          </p:cNvSpPr>
          <p:nvPr/>
        </p:nvSpPr>
        <p:spPr>
          <a:xfrm xmlns:a="http://schemas.openxmlformats.org/drawingml/2006/main">
            <a:off x="8591550" y="3009900"/>
            <a:ext cx="2857500" cy="1238250"/>
          </a:xfrm>
          <a:prstGeom xmlns:a="http://schemas.openxmlformats.org/drawingml/2006/main" prst="roundRect">
            <a:avLst>
              <a:gd name="adj" fmla="val 6154"/>
            </a:avLst>
          </a:prstGeom>
          <a:solidFill xmlns:a="http://schemas.openxmlformats.org/drawingml/2006/main">
            <a:srgbClr val="FFFFFF"/>
          </a:solidFill>
          <a:ln xmlns:a="http://schemas.openxmlformats.org/drawingml/2006/main" w="9525">
            <a:solidFill>
              <a:srgbClr val="D6DEE8"/>
            </a:solidFill>
            <a:prstDash val="solid"/>
          </a:ln>
        </p:spPr>
      </p:sp>
      <p:sp>
        <p:nvSpPr>
          <p:cNvPr id="18" name="">
            <a:extLst xmlns:a="http://schemas.openxmlformats.org/drawingml/2006/main">
              <a:ext uri="{FF2B5EF4-FFF2-40B4-BE49-F238E27FC236}">
                <a16:creationId xmlns:a16="http://schemas.microsoft.com/office/drawing/2014/main" id="{4510B22A-7B44-4C6D-A2A8-3431A9175250}"/>
              </a:ext>
            </a:extLst>
          </p:cNvPr>
          <p:cNvSpPr>
            <a:spLocks xmlns:a="http://schemas.openxmlformats.org/drawingml/2006/main" noGrp="1"/>
          </p:cNvSpPr>
          <p:nvPr/>
        </p:nvSpPr>
        <p:spPr>
          <a:xfrm xmlns:a="http://schemas.openxmlformats.org/drawingml/2006/main">
            <a:off x="8591550" y="3009900"/>
            <a:ext cx="47625" cy="1238250"/>
          </a:xfrm>
          <a:prstGeom xmlns:a="http://schemas.openxmlformats.org/drawingml/2006/main" prst="rect">
            <a:avLst/>
          </a:prstGeom>
          <a:solidFill xmlns:a="http://schemas.openxmlformats.org/drawingml/2006/main">
            <a:srgbClr val="C7782B"/>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4C1D5F60-9A4B-49CD-8685-B30524AAA1B9}"/>
              </a:ext>
            </a:extLst>
          </p:cNvPr>
          <p:cNvSpPr>
            <a:spLocks xmlns:a="http://schemas.openxmlformats.org/drawingml/2006/main" noGrp="1"/>
          </p:cNvSpPr>
          <p:nvPr/>
        </p:nvSpPr>
        <p:spPr>
          <a:xfrm xmlns:a="http://schemas.openxmlformats.org/drawingml/2006/main">
            <a:off x="8763000" y="3152775"/>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Answer + signals</a:t>
            </a:r>
          </a:p>
        </p:txBody>
      </p:sp>
      <p:sp>
        <p:nvSpPr>
          <p:cNvPr id="20" name="">
            <a:extLst xmlns:a="http://schemas.openxmlformats.org/drawingml/2006/main">
              <a:ext uri="{FF2B5EF4-FFF2-40B4-BE49-F238E27FC236}">
                <a16:creationId xmlns:a16="http://schemas.microsoft.com/office/drawing/2014/main" id="{88CE54A6-D3AA-40C1-BA1B-2459B97F7E39}"/>
              </a:ext>
            </a:extLst>
          </p:cNvPr>
          <p:cNvSpPr>
            <a:spLocks xmlns:a="http://schemas.openxmlformats.org/drawingml/2006/main" noGrp="1"/>
          </p:cNvSpPr>
          <p:nvPr/>
        </p:nvSpPr>
        <p:spPr>
          <a:xfrm xmlns:a="http://schemas.openxmlformats.org/drawingml/2006/main">
            <a:off x="8763000" y="3467100"/>
            <a:ext cx="253365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Generate a response and inspect uncertainty or candidate agreement.</a:t>
            </a:r>
          </a:p>
        </p:txBody>
      </p:sp>
      <p:sp>
        <p:nvSpPr>
          <p:cNvPr id="21" name="">
            <a:extLst xmlns:a="http://schemas.openxmlformats.org/drawingml/2006/main">
              <a:ext uri="{FF2B5EF4-FFF2-40B4-BE49-F238E27FC236}">
                <a16:creationId xmlns:a16="http://schemas.microsoft.com/office/drawing/2014/main" id="{40F4D976-7A82-4A3E-8830-B5F49C1D7F6B}"/>
              </a:ext>
            </a:extLst>
          </p:cNvPr>
          <p:cNvSpPr>
            <a:spLocks xmlns:a="http://schemas.openxmlformats.org/drawingml/2006/main" noGrp="1"/>
          </p:cNvSpPr>
          <p:nvPr/>
        </p:nvSpPr>
        <p:spPr>
          <a:xfrm xmlns:a="http://schemas.openxmlformats.org/drawingml/2006/main" flipV="0">
            <a:off x="3600450" y="3629025"/>
            <a:ext cx="923925" cy="0"/>
          </a:xfrm>
          <a:prstGeom xmlns:a="http://schemas.openxmlformats.org/drawingml/2006/main" prst="line">
            <a:avLst/>
          </a:prstGeom>
          <a:noFill xmlns:a="http://schemas.openxmlformats.org/drawingml/2006/main"/>
          <a:ln xmlns:a="http://schemas.openxmlformats.org/drawingml/2006/main" w="28575">
            <a:solidFill>
              <a:srgbClr val="2864C5"/>
            </a:solidFill>
            <a:prstDash val="solid"/>
          </a:ln>
        </p:spPr>
      </p:sp>
      <p:sp>
        <p:nvSpPr>
          <p:cNvPr id="22" name="">
            <a:extLst xmlns:a="http://schemas.openxmlformats.org/drawingml/2006/main">
              <a:ext uri="{FF2B5EF4-FFF2-40B4-BE49-F238E27FC236}">
                <a16:creationId xmlns:a16="http://schemas.microsoft.com/office/drawing/2014/main" id="{03DC5F94-C905-4D6A-A99C-F25D87ED154E}"/>
              </a:ext>
            </a:extLst>
          </p:cNvPr>
          <p:cNvSpPr>
            <a:spLocks xmlns:a="http://schemas.openxmlformats.org/drawingml/2006/main" noGrp="1"/>
          </p:cNvSpPr>
          <p:nvPr/>
        </p:nvSpPr>
        <p:spPr>
          <a:xfrm xmlns:a="http://schemas.openxmlformats.org/drawingml/2006/main" rot="5400000">
            <a:off x="4476750" y="3571875"/>
            <a:ext cx="114300" cy="114300"/>
          </a:xfrm>
          <a:prstGeom xmlns:a="http://schemas.openxmlformats.org/drawingml/2006/main" prst="triangle">
            <a:avLst/>
          </a:prstGeom>
          <a:solidFill xmlns:a="http://schemas.openxmlformats.org/drawingml/2006/main">
            <a:srgbClr val="2864C5"/>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C501AD6F-5A14-42F1-BCDE-95E2A460A675}"/>
              </a:ext>
            </a:extLst>
          </p:cNvPr>
          <p:cNvSpPr>
            <a:spLocks xmlns:a="http://schemas.openxmlformats.org/drawingml/2006/main" noGrp="1"/>
          </p:cNvSpPr>
          <p:nvPr/>
        </p:nvSpPr>
        <p:spPr>
          <a:xfrm xmlns:a="http://schemas.openxmlformats.org/drawingml/2006/main" flipV="0">
            <a:off x="7524750" y="3629025"/>
            <a:ext cx="923925" cy="0"/>
          </a:xfrm>
          <a:prstGeom xmlns:a="http://schemas.openxmlformats.org/drawingml/2006/main" prst="line">
            <a:avLst/>
          </a:prstGeom>
          <a:noFill xmlns:a="http://schemas.openxmlformats.org/drawingml/2006/main"/>
          <a:ln xmlns:a="http://schemas.openxmlformats.org/drawingml/2006/main" w="28575">
            <a:solidFill>
              <a:srgbClr val="2864C5"/>
            </a:solidFill>
            <a:prstDash val="solid"/>
          </a:ln>
        </p:spPr>
      </p:sp>
      <p:sp>
        <p:nvSpPr>
          <p:cNvPr id="24" name="">
            <a:extLst xmlns:a="http://schemas.openxmlformats.org/drawingml/2006/main">
              <a:ext uri="{FF2B5EF4-FFF2-40B4-BE49-F238E27FC236}">
                <a16:creationId xmlns:a16="http://schemas.microsoft.com/office/drawing/2014/main" id="{F34C1355-FA34-429C-B4DB-8A31A2B2DDF1}"/>
              </a:ext>
            </a:extLst>
          </p:cNvPr>
          <p:cNvSpPr>
            <a:spLocks xmlns:a="http://schemas.openxmlformats.org/drawingml/2006/main" noGrp="1"/>
          </p:cNvSpPr>
          <p:nvPr/>
        </p:nvSpPr>
        <p:spPr>
          <a:xfrm xmlns:a="http://schemas.openxmlformats.org/drawingml/2006/main" rot="5400000">
            <a:off x="8401050" y="3571875"/>
            <a:ext cx="114300" cy="114300"/>
          </a:xfrm>
          <a:prstGeom xmlns:a="http://schemas.openxmlformats.org/drawingml/2006/main" prst="triangle">
            <a:avLst/>
          </a:prstGeom>
          <a:solidFill xmlns:a="http://schemas.openxmlformats.org/drawingml/2006/main">
            <a:srgbClr val="2864C5"/>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1F6E241C-FB5B-4EAC-91BE-407A560C9B34}"/>
              </a:ext>
            </a:extLst>
          </p:cNvPr>
          <p:cNvSpPr>
            <a:spLocks xmlns:a="http://schemas.openxmlformats.org/drawingml/2006/main" noGrp="1"/>
          </p:cNvSpPr>
          <p:nvPr/>
        </p:nvSpPr>
        <p:spPr>
          <a:xfrm xmlns:a="http://schemas.openxmlformats.org/drawingml/2006/main">
            <a:off x="647700" y="4857750"/>
            <a:ext cx="266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864C5"/>
                </a:solidFill>
                <a:latin typeface="Helvetica Neue"/>
                <a:ea typeface="Helvetica Neue"/>
                <a:cs typeface="Helvetica Neue"/>
              </a:defRPr>
            </a:defPPr>
          </a:lstStyle>
          <a:p xmlns:a="http://schemas.openxmlformats.org/drawingml/2006/main">
            <a:pPr algn="l">
              <a:lnSpc>
                <a:spcPct val="105000"/>
              </a:lnSpc>
              <a:buNone/>
              <a:defRPr sz="975" b="1">
                <a:solidFill>
                  <a:srgbClr val="2864C5"/>
                </a:solidFill>
                <a:latin typeface="Helvetica Neue"/>
                <a:ea typeface="Helvetica Neue"/>
                <a:cs typeface="Helvetica Neue"/>
              </a:defRPr>
            </a:pPr>
            <a:r>
              <a:rPr sz="975" b="1">
                <a:solidFill>
                  <a:srgbClr val="2864C5"/>
                </a:solidFill>
                <a:latin typeface="Helvetica Neue"/>
                <a:ea typeface="Helvetica Neue"/>
                <a:cs typeface="Helvetica Neue"/>
              </a:rPr>
              <a:t>IMPLEMENTED TECHNOLOGIES</a:t>
            </a:r>
          </a:p>
        </p:txBody>
      </p:sp>
      <p:sp>
        <p:nvSpPr>
          <p:cNvPr id="26" name="">
            <a:extLst xmlns:a="http://schemas.openxmlformats.org/drawingml/2006/main">
              <a:ext uri="{FF2B5EF4-FFF2-40B4-BE49-F238E27FC236}">
                <a16:creationId xmlns:a16="http://schemas.microsoft.com/office/drawing/2014/main" id="{CB01453F-E813-423F-A0AB-AACA7DD2950F}"/>
              </a:ext>
            </a:extLst>
          </p:cNvPr>
          <p:cNvSpPr>
            <a:spLocks xmlns:a="http://schemas.openxmlformats.org/drawingml/2006/main" noGrp="1"/>
          </p:cNvSpPr>
          <p:nvPr/>
        </p:nvSpPr>
        <p:spPr>
          <a:xfrm xmlns:a="http://schemas.openxmlformats.org/drawingml/2006/main">
            <a:off x="647700" y="5162550"/>
            <a:ext cx="1066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536477"/>
                </a:solidFill>
                <a:latin typeface="Helvetica Neue"/>
                <a:ea typeface="Helvetica Neue"/>
                <a:cs typeface="Helvetica Neue"/>
              </a:defRPr>
            </a:defPPr>
          </a:lstStyle>
          <a:p xmlns:a="http://schemas.openxmlformats.org/drawingml/2006/main">
            <a:pPr algn="l">
              <a:lnSpc>
                <a:spcPct val="105000"/>
              </a:lnSpc>
              <a:buNone/>
              <a:defRPr sz="1350" b="1">
                <a:solidFill>
                  <a:srgbClr val="536477"/>
                </a:solidFill>
                <a:latin typeface="Helvetica Neue"/>
                <a:ea typeface="Helvetica Neue"/>
                <a:cs typeface="Helvetica Neue"/>
              </a:defRPr>
            </a:pPr>
            <a:r>
              <a:rPr sz="1350" b="1">
                <a:solidFill>
                  <a:srgbClr val="536477"/>
                </a:solidFill>
                <a:latin typeface="Helvetica Neue"/>
                <a:ea typeface="Helvetica Neue"/>
                <a:cs typeface="Helvetica Neue"/>
              </a:rPr>
              <a:t>Python   /   PyTorch   /   Hugging Face Transformers &amp; Datasets   /   NumPy</a:t>
            </a:r>
          </a:p>
        </p:txBody>
      </p:sp>
      <p:sp>
        <p:nvSpPr>
          <p:cNvPr id="27" name="">
            <a:extLst xmlns:a="http://schemas.openxmlformats.org/drawingml/2006/main">
              <a:ext uri="{FF2B5EF4-FFF2-40B4-BE49-F238E27FC236}">
                <a16:creationId xmlns:a16="http://schemas.microsoft.com/office/drawing/2014/main" id="{62D45CE0-D51B-4723-BCAB-D5F8125C7AB4}"/>
              </a:ext>
            </a:extLst>
          </p:cNvPr>
          <p:cNvSpPr>
            <a:spLocks xmlns:a="http://schemas.openxmlformats.org/drawingml/2006/main" noGrp="1"/>
          </p:cNvSpPr>
          <p:nvPr/>
        </p:nvSpPr>
        <p:spPr>
          <a:xfrm xmlns:a="http://schemas.openxmlformats.org/drawingml/2006/main">
            <a:off x="647700" y="5619750"/>
            <a:ext cx="1076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36477"/>
                </a:solidFill>
                <a:latin typeface="Helvetica Neue"/>
                <a:ea typeface="Helvetica Neue"/>
                <a:cs typeface="Helvetica Neue"/>
              </a:defRPr>
            </a:defPPr>
          </a:lstStyle>
          <a:p xmlns:a="http://schemas.openxmlformats.org/drawingml/2006/main">
            <a:pPr algn="l">
              <a:lnSpc>
                <a:spcPct val="105000"/>
              </a:lnSpc>
              <a:buNone/>
              <a:defRPr sz="1200" b="0">
                <a:solidFill>
                  <a:srgbClr val="536477"/>
                </a:solidFill>
                <a:latin typeface="Helvetica Neue"/>
                <a:ea typeface="Helvetica Neue"/>
                <a:cs typeface="Helvetica Neue"/>
              </a:defRPr>
            </a:pPr>
            <a:r>
              <a:rPr sz="1200" b="0">
                <a:solidFill>
                  <a:srgbClr val="536477"/>
                </a:solidFill>
                <a:latin typeface="Helvetica Neue"/>
                <a:ea typeface="Helvetica Neue"/>
                <a:cs typeface="Helvetica Neue"/>
              </a:rPr>
              <a:t>Methods: TinyLlama   ·   DoLa   ·   Epistemic Neural Network (Epinet)   ·   Self-consistency</a:t>
            </a:r>
          </a:p>
        </p:txBody>
      </p:sp>
    </p:spTree>
    <p:extLst>
      <p:ext uri="{BB962C8B-B14F-4D97-AF65-F5344CB8AC3E}">
        <p14:creationId xmlns:p14="http://schemas.microsoft.com/office/powerpoint/2010/main" val="1853144446"/>
      </p:ext>
    </p:extLst>
  </p:cSld>
</p:sld>
</file>

<file path=ppt/slides/slide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155561A9-F472-45C7-BD1A-0F9806BA76B3}"/>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9544ACE-F2EC-44FC-A6A2-2F443683C979}"/>
              </a:ext>
            </a:extLst>
          </p:cNvPr>
          <p:cNvSpPr>
            <a:spLocks xmlns:a="http://schemas.openxmlformats.org/drawingml/2006/main" noGrp="1"/>
          </p:cNvSpPr>
          <p:nvPr/>
        </p:nvSpPr>
        <p:spPr>
          <a:xfrm xmlns:a="http://schemas.openxmlformats.org/drawingml/2006/main">
            <a:off x="552450" y="361950"/>
            <a:ext cx="1104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0253F"/>
                </a:solidFill>
                <a:latin typeface="Helvetica Neue"/>
                <a:ea typeface="Helvetica Neue"/>
                <a:cs typeface="Helvetica Neue"/>
              </a:defRPr>
            </a:defPPr>
          </a:lstStyle>
          <a:p xmlns:a="http://schemas.openxmlformats.org/drawingml/2006/main">
            <a:pPr algn="l">
              <a:lnSpc>
                <a:spcPct val="105000"/>
              </a:lnSpc>
              <a:buNone/>
              <a:defRPr sz="2550" b="1">
                <a:solidFill>
                  <a:srgbClr val="10253F"/>
                </a:solidFill>
                <a:latin typeface="Helvetica Neue"/>
                <a:ea typeface="Helvetica Neue"/>
                <a:cs typeface="Helvetica Neue"/>
              </a:defRPr>
            </a:pPr>
            <a:r>
              <a:rPr sz="2550" b="1">
                <a:solidFill>
                  <a:srgbClr val="10253F"/>
                </a:solidFill>
                <a:latin typeface="Helvetica Neue"/>
                <a:ea typeface="Helvetica Neue"/>
                <a:cs typeface="Helvetica Neue"/>
              </a:rPr>
              <a:t>Problem Statement &amp; Motivation</a:t>
            </a:r>
          </a:p>
        </p:txBody>
      </p:sp>
      <p:sp>
        <p:nvSpPr>
          <p:cNvPr id="3" name="">
            <a:extLst xmlns:a="http://schemas.openxmlformats.org/drawingml/2006/main">
              <a:ext uri="{FF2B5EF4-FFF2-40B4-BE49-F238E27FC236}">
                <a16:creationId xmlns:a16="http://schemas.microsoft.com/office/drawing/2014/main" id="{DA6E43C1-F416-4383-99EC-9FF63178FEFB}"/>
              </a:ext>
            </a:extLst>
          </p:cNvPr>
          <p:cNvSpPr>
            <a:spLocks xmlns:a="http://schemas.openxmlformats.org/drawingml/2006/main" noGrp="1"/>
          </p:cNvSpPr>
          <p:nvPr/>
        </p:nvSpPr>
        <p:spPr>
          <a:xfrm xmlns:a="http://schemas.openxmlformats.org/drawingml/2006/main">
            <a:off x="571500" y="876300"/>
            <a:ext cx="10953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36477"/>
                </a:solidFill>
                <a:latin typeface="Helvetica Neue"/>
                <a:ea typeface="Helvetica Neue"/>
                <a:cs typeface="Helvetica Neue"/>
              </a:defRPr>
            </a:defPPr>
          </a:lstStyle>
          <a:p xmlns:a="http://schemas.openxmlformats.org/drawingml/2006/main">
            <a:pPr algn="l">
              <a:lnSpc>
                <a:spcPct val="105000"/>
              </a:lnSpc>
              <a:buNone/>
              <a:defRPr sz="1275" b="0">
                <a:solidFill>
                  <a:srgbClr val="536477"/>
                </a:solidFill>
                <a:latin typeface="Helvetica Neue"/>
                <a:ea typeface="Helvetica Neue"/>
                <a:cs typeface="Helvetica Neue"/>
              </a:defRPr>
            </a:pPr>
            <a:r>
              <a:rPr sz="1275" b="0">
                <a:solidFill>
                  <a:srgbClr val="536477"/>
                </a:solidFill>
                <a:latin typeface="Helvetica Neue"/>
                <a:ea typeface="Helvetica Neue"/>
                <a:cs typeface="Helvetica Neue"/>
              </a:rPr>
              <a:t>Fluent language generation does not by itself show whether a response is correct or reliable.</a:t>
            </a:r>
          </a:p>
        </p:txBody>
      </p:sp>
      <p:sp>
        <p:nvSpPr>
          <p:cNvPr id="4" name="">
            <a:extLst xmlns:a="http://schemas.openxmlformats.org/drawingml/2006/main">
              <a:ext uri="{FF2B5EF4-FFF2-40B4-BE49-F238E27FC236}">
                <a16:creationId xmlns:a16="http://schemas.microsoft.com/office/drawing/2014/main" id="{2A9F05A1-999C-43CD-B525-14BC1BC7C995}"/>
              </a:ext>
            </a:extLst>
          </p:cNvPr>
          <p:cNvSpPr>
            <a:spLocks xmlns:a="http://schemas.openxmlformats.org/drawingml/2006/main" noGrp="1"/>
          </p:cNvSpPr>
          <p:nvPr/>
        </p:nvSpPr>
        <p:spPr>
          <a:xfrm xmlns:a="http://schemas.openxmlformats.org/drawingml/2006/main" flipV="0">
            <a:off x="571500" y="6438900"/>
            <a:ext cx="11049000" cy="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5" name="">
            <a:extLst xmlns:a="http://schemas.openxmlformats.org/drawingml/2006/main">
              <a:ext uri="{FF2B5EF4-FFF2-40B4-BE49-F238E27FC236}">
                <a16:creationId xmlns:a16="http://schemas.microsoft.com/office/drawing/2014/main" id="{3ABD0AD1-D24A-4FAE-B31A-AC81F342024C}"/>
              </a:ext>
            </a:extLst>
          </p:cNvPr>
          <p:cNvSpPr>
            <a:spLocks xmlns:a="http://schemas.openxmlformats.org/drawingml/2006/main" noGrp="1"/>
          </p:cNvSpPr>
          <p:nvPr/>
        </p:nvSpPr>
        <p:spPr>
          <a:xfrm xmlns:a="http://schemas.openxmlformats.org/drawingml/2006/main">
            <a:off x="571500" y="6534150"/>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536477"/>
                </a:solidFill>
                <a:latin typeface="Helvetica Neue"/>
                <a:ea typeface="Helvetica Neue"/>
                <a:cs typeface="Helvetica Neue"/>
              </a:defRPr>
            </a:defPPr>
          </a:lstStyle>
          <a:p xmlns:a="http://schemas.openxmlformats.org/drawingml/2006/main">
            <a:pPr algn="l">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VIT-AP UNIVERSITY  /  SCOPE</a:t>
            </a:r>
          </a:p>
        </p:txBody>
      </p:sp>
      <p:sp>
        <p:nvSpPr>
          <p:cNvPr id="6" name="">
            <a:extLst xmlns:a="http://schemas.openxmlformats.org/drawingml/2006/main">
              <a:ext uri="{FF2B5EF4-FFF2-40B4-BE49-F238E27FC236}">
                <a16:creationId xmlns:a16="http://schemas.microsoft.com/office/drawing/2014/main" id="{9F84AEE6-974E-4331-8879-B134293EC0BD}"/>
              </a:ext>
            </a:extLst>
          </p:cNvPr>
          <p:cNvSpPr>
            <a:spLocks xmlns:a="http://schemas.openxmlformats.org/drawingml/2006/main" noGrp="1"/>
          </p:cNvSpPr>
          <p:nvPr/>
        </p:nvSpPr>
        <p:spPr>
          <a:xfrm xmlns:a="http://schemas.openxmlformats.org/drawingml/2006/main">
            <a:off x="11087100" y="65151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a:solidFill>
                  <a:srgbClr val="536477"/>
                </a:solidFill>
                <a:latin typeface="Helvetica Neue"/>
                <a:ea typeface="Helvetica Neue"/>
                <a:cs typeface="Helvetica Neue"/>
              </a:defRPr>
            </a:defPPr>
          </a:lstStyle>
          <a:p xmlns:a="http://schemas.openxmlformats.org/drawingml/2006/main">
            <a:pPr algn="r">
              <a:lnSpc>
                <a:spcPct val="105000"/>
              </a:lnSpc>
              <a:buNone/>
              <a:defRPr sz="975" b="1">
                <a:solidFill>
                  <a:srgbClr val="536477"/>
                </a:solidFill>
                <a:latin typeface="Helvetica Neue"/>
                <a:ea typeface="Helvetica Neue"/>
                <a:cs typeface="Helvetica Neue"/>
              </a:defRPr>
            </a:pPr>
            <a:r>
              <a:rPr sz="975" b="1">
                <a:solidFill>
                  <a:srgbClr val="536477"/>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2CA3D5DB-A426-4014-A8B2-30437C0D528C}"/>
              </a:ext>
            </a:extLst>
          </p:cNvPr>
          <p:cNvSpPr>
            <a:spLocks xmlns:a="http://schemas.openxmlformats.org/drawingml/2006/main" noGrp="1"/>
          </p:cNvSpPr>
          <p:nvPr/>
        </p:nvSpPr>
        <p:spPr>
          <a:xfrm xmlns:a="http://schemas.openxmlformats.org/drawingml/2006/main">
            <a:off x="685800" y="14668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864C5"/>
                </a:solidFill>
                <a:latin typeface="Helvetica Neue"/>
                <a:ea typeface="Helvetica Neue"/>
                <a:cs typeface="Helvetica Neue"/>
              </a:defRPr>
            </a:defPPr>
          </a:lstStyle>
          <a:p xmlns:a="http://schemas.openxmlformats.org/drawingml/2006/main">
            <a:pPr algn="l">
              <a:lnSpc>
                <a:spcPct val="105000"/>
              </a:lnSpc>
              <a:buNone/>
              <a:defRPr sz="975" b="1">
                <a:solidFill>
                  <a:srgbClr val="2864C5"/>
                </a:solidFill>
                <a:latin typeface="Helvetica Neue"/>
                <a:ea typeface="Helvetica Neue"/>
                <a:cs typeface="Helvetica Neue"/>
              </a:defRPr>
            </a:pPr>
            <a:r>
              <a:rPr sz="975" b="1">
                <a:solidFill>
                  <a:srgbClr val="2864C5"/>
                </a:solidFill>
                <a:latin typeface="Helvetica Neue"/>
                <a:ea typeface="Helvetica Neue"/>
                <a:cs typeface="Helvetica Neue"/>
              </a:rPr>
              <a:t>PROBLEM</a:t>
            </a:r>
          </a:p>
        </p:txBody>
      </p:sp>
      <p:sp>
        <p:nvSpPr>
          <p:cNvPr id="8" name="">
            <a:extLst xmlns:a="http://schemas.openxmlformats.org/drawingml/2006/main">
              <a:ext uri="{FF2B5EF4-FFF2-40B4-BE49-F238E27FC236}">
                <a16:creationId xmlns:a16="http://schemas.microsoft.com/office/drawing/2014/main" id="{8212784B-7454-44C0-926E-D5AF4390CD0C}"/>
              </a:ext>
            </a:extLst>
          </p:cNvPr>
          <p:cNvSpPr>
            <a:spLocks xmlns:a="http://schemas.openxmlformats.org/drawingml/2006/main" noGrp="1"/>
          </p:cNvSpPr>
          <p:nvPr/>
        </p:nvSpPr>
        <p:spPr>
          <a:xfrm xmlns:a="http://schemas.openxmlformats.org/drawingml/2006/main">
            <a:off x="685800" y="1752600"/>
            <a:ext cx="46196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457"/>
          </a:bodyPr>
          <a:lstStyle xmlns:a="http://schemas.openxmlformats.org/drawingml/2006/main">
            <a:defPPr algn="l">
              <a:defRPr sz="2025" b="1">
                <a:solidFill>
                  <a:srgbClr val="10253F"/>
                </a:solidFill>
                <a:latin typeface="Helvetica Neue"/>
                <a:ea typeface="Helvetica Neue"/>
                <a:cs typeface="Helvetica Neue"/>
              </a:defRPr>
            </a:defPPr>
          </a:lstStyle>
          <a:p xmlns:a="http://schemas.openxmlformats.org/drawingml/2006/main">
            <a:pPr algn="l">
              <a:lnSpc>
                <a:spcPct val="105000"/>
              </a:lnSpc>
              <a:buNone/>
              <a:defRPr sz="2025" b="1">
                <a:solidFill>
                  <a:srgbClr val="10253F"/>
                </a:solidFill>
                <a:latin typeface="Helvetica Neue"/>
                <a:ea typeface="Helvetica Neue"/>
                <a:cs typeface="Helvetica Neue"/>
              </a:defRPr>
            </a:pPr>
            <a:r>
              <a:rPr sz="2025" b="1">
                <a:solidFill>
                  <a:srgbClr val="10253F"/>
                </a:solidFill>
                <a:latin typeface="Helvetica Neue"/>
                <a:ea typeface="Helvetica Neue"/>
                <a:cs typeface="Helvetica Neue"/>
              </a:rPr>
              <a:t>A single model response offers limited evidence about answer reliability.</a:t>
            </a:r>
          </a:p>
        </p:txBody>
      </p:sp>
      <p:sp>
        <p:nvSpPr>
          <p:cNvPr id="9" name="">
            <a:extLst xmlns:a="http://schemas.openxmlformats.org/drawingml/2006/main">
              <a:ext uri="{FF2B5EF4-FFF2-40B4-BE49-F238E27FC236}">
                <a16:creationId xmlns:a16="http://schemas.microsoft.com/office/drawing/2014/main" id="{186020B5-B8AC-47D6-B16F-9FCE3C20E717}"/>
              </a:ext>
            </a:extLst>
          </p:cNvPr>
          <p:cNvSpPr>
            <a:spLocks xmlns:a="http://schemas.openxmlformats.org/drawingml/2006/main" noGrp="1"/>
          </p:cNvSpPr>
          <p:nvPr/>
        </p:nvSpPr>
        <p:spPr>
          <a:xfrm xmlns:a="http://schemas.openxmlformats.org/drawingml/2006/main">
            <a:off x="685800" y="2571750"/>
            <a:ext cx="461962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536477"/>
                </a:solidFill>
                <a:latin typeface="Helvetica Neue"/>
                <a:ea typeface="Helvetica Neue"/>
                <a:cs typeface="Helvetica Neue"/>
              </a:defRPr>
            </a:defPPr>
          </a:lstStyle>
          <a:p xmlns:a="http://schemas.openxmlformats.org/drawingml/2006/main">
            <a:pPr algn="l">
              <a:lnSpc>
                <a:spcPct val="105000"/>
              </a:lnSpc>
              <a:buNone/>
              <a:defRPr sz="1425" b="0">
                <a:solidFill>
                  <a:srgbClr val="536477"/>
                </a:solidFill>
                <a:latin typeface="Helvetica Neue"/>
                <a:ea typeface="Helvetica Neue"/>
                <a:cs typeface="Helvetica Neue"/>
              </a:defRPr>
            </a:pPr>
            <a:r>
              <a:rPr sz="1425" b="0">
                <a:solidFill>
                  <a:srgbClr val="536477"/>
                </a:solidFill>
                <a:latin typeface="Helvetica Neue"/>
                <a:ea typeface="Helvetica Neue"/>
                <a:cs typeface="Helvetica Neue"/>
              </a:rPr>
              <a:t>The project tests complementary signals at two levels: token scores across model layers and agreement across sampled answers.</a:t>
            </a:r>
          </a:p>
        </p:txBody>
      </p:sp>
      <p:sp>
        <p:nvSpPr>
          <p:cNvPr id="10" name="">
            <a:extLst xmlns:a="http://schemas.openxmlformats.org/drawingml/2006/main">
              <a:ext uri="{FF2B5EF4-FFF2-40B4-BE49-F238E27FC236}">
                <a16:creationId xmlns:a16="http://schemas.microsoft.com/office/drawing/2014/main" id="{B214F727-C612-4F61-82E6-86A7DFE7B0B0}"/>
              </a:ext>
            </a:extLst>
          </p:cNvPr>
          <p:cNvSpPr>
            <a:spLocks xmlns:a="http://schemas.openxmlformats.org/drawingml/2006/main" noGrp="1"/>
          </p:cNvSpPr>
          <p:nvPr/>
        </p:nvSpPr>
        <p:spPr>
          <a:xfrm xmlns:a="http://schemas.openxmlformats.org/drawingml/2006/main">
            <a:off x="6477000" y="1428750"/>
            <a:ext cx="4876800" cy="2000250"/>
          </a:xfrm>
          <a:prstGeom xmlns:a="http://schemas.openxmlformats.org/drawingml/2006/main" prst="roundRect">
            <a:avLst>
              <a:gd name="adj" fmla="val 3810"/>
            </a:avLst>
          </a:prstGeom>
          <a:solidFill xmlns:a="http://schemas.openxmlformats.org/drawingml/2006/main">
            <a:srgbClr val="FFFFFF"/>
          </a:solidFill>
          <a:ln xmlns:a="http://schemas.openxmlformats.org/drawingml/2006/main" w="9525">
            <a:solidFill>
              <a:srgbClr val="D6DEE8"/>
            </a:solidFill>
            <a:prstDash val="solid"/>
          </a:ln>
        </p:spPr>
      </p:sp>
      <p:sp>
        <p:nvSpPr>
          <p:cNvPr id="11" name="">
            <a:extLst xmlns:a="http://schemas.openxmlformats.org/drawingml/2006/main">
              <a:ext uri="{FF2B5EF4-FFF2-40B4-BE49-F238E27FC236}">
                <a16:creationId xmlns:a16="http://schemas.microsoft.com/office/drawing/2014/main" id="{EFC127E7-A5DA-4494-9A30-42E07063D181}"/>
              </a:ext>
            </a:extLst>
          </p:cNvPr>
          <p:cNvSpPr>
            <a:spLocks xmlns:a="http://schemas.openxmlformats.org/drawingml/2006/main" noGrp="1"/>
          </p:cNvSpPr>
          <p:nvPr/>
        </p:nvSpPr>
        <p:spPr>
          <a:xfrm xmlns:a="http://schemas.openxmlformats.org/drawingml/2006/main">
            <a:off x="6781800" y="16954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C7782B"/>
                </a:solidFill>
                <a:latin typeface="Helvetica Neue"/>
                <a:ea typeface="Helvetica Neue"/>
                <a:cs typeface="Helvetica Neue"/>
              </a:defRPr>
            </a:defPPr>
          </a:lstStyle>
          <a:p xmlns:a="http://schemas.openxmlformats.org/drawingml/2006/main">
            <a:pPr algn="l">
              <a:lnSpc>
                <a:spcPct val="105000"/>
              </a:lnSpc>
              <a:buNone/>
              <a:defRPr sz="975" b="1">
                <a:solidFill>
                  <a:srgbClr val="C7782B"/>
                </a:solidFill>
                <a:latin typeface="Helvetica Neue"/>
                <a:ea typeface="Helvetica Neue"/>
                <a:cs typeface="Helvetica Neue"/>
              </a:defRPr>
            </a:pPr>
            <a:r>
              <a:rPr sz="975" b="1">
                <a:solidFill>
                  <a:srgbClr val="C7782B"/>
                </a:solidFill>
                <a:latin typeface="Helvetica Neue"/>
                <a:ea typeface="Helvetica Neue"/>
                <a:cs typeface="Helvetica Neue"/>
              </a:rPr>
              <a:t>GENERATION CAN SOUND CERTAIN</a:t>
            </a:r>
          </a:p>
        </p:txBody>
      </p:sp>
      <p:sp>
        <p:nvSpPr>
          <p:cNvPr id="12" name="">
            <a:extLst xmlns:a="http://schemas.openxmlformats.org/drawingml/2006/main">
              <a:ext uri="{FF2B5EF4-FFF2-40B4-BE49-F238E27FC236}">
                <a16:creationId xmlns:a16="http://schemas.microsoft.com/office/drawing/2014/main" id="{BB92E675-835A-4AAE-9032-6685E4D4A1C7}"/>
              </a:ext>
            </a:extLst>
          </p:cNvPr>
          <p:cNvSpPr>
            <a:spLocks xmlns:a="http://schemas.openxmlformats.org/drawingml/2006/main" noGrp="1"/>
          </p:cNvSpPr>
          <p:nvPr/>
        </p:nvSpPr>
        <p:spPr>
          <a:xfrm xmlns:a="http://schemas.openxmlformats.org/drawingml/2006/main">
            <a:off x="6781800" y="2057400"/>
            <a:ext cx="3981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1">
                <a:solidFill>
                  <a:srgbClr val="10253F"/>
                </a:solidFill>
                <a:latin typeface="Helvetica Neue"/>
                <a:ea typeface="Helvetica Neue"/>
                <a:cs typeface="Helvetica Neue"/>
              </a:defRPr>
            </a:defPPr>
          </a:lstStyle>
          <a:p xmlns:a="http://schemas.openxmlformats.org/drawingml/2006/main">
            <a:pPr algn="l">
              <a:lnSpc>
                <a:spcPct val="105000"/>
              </a:lnSpc>
              <a:buNone/>
              <a:defRPr sz="2025" b="1">
                <a:solidFill>
                  <a:srgbClr val="10253F"/>
                </a:solidFill>
                <a:latin typeface="Helvetica Neue"/>
                <a:ea typeface="Helvetica Neue"/>
                <a:cs typeface="Helvetica Neue"/>
              </a:defRPr>
            </a:pPr>
            <a:r>
              <a:rPr sz="2025" b="1">
                <a:solidFill>
                  <a:srgbClr val="10253F"/>
                </a:solidFill>
                <a:latin typeface="Helvetica Neue"/>
                <a:ea typeface="Helvetica Neue"/>
                <a:cs typeface="Helvetica Neue"/>
              </a:rPr>
              <a:t>“The answer is …”</a:t>
            </a:r>
          </a:p>
        </p:txBody>
      </p:sp>
      <p:sp>
        <p:nvSpPr>
          <p:cNvPr id="13" name="">
            <a:extLst xmlns:a="http://schemas.openxmlformats.org/drawingml/2006/main">
              <a:ext uri="{FF2B5EF4-FFF2-40B4-BE49-F238E27FC236}">
                <a16:creationId xmlns:a16="http://schemas.microsoft.com/office/drawing/2014/main" id="{4A5212BE-4700-4B89-83BD-FEDF587416E2}"/>
              </a:ext>
            </a:extLst>
          </p:cNvPr>
          <p:cNvSpPr>
            <a:spLocks xmlns:a="http://schemas.openxmlformats.org/drawingml/2006/main" noGrp="1"/>
          </p:cNvSpPr>
          <p:nvPr/>
        </p:nvSpPr>
        <p:spPr>
          <a:xfrm xmlns:a="http://schemas.openxmlformats.org/drawingml/2006/main" flipV="0">
            <a:off x="6781800" y="2600325"/>
            <a:ext cx="4248150" cy="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14" name="">
            <a:extLst xmlns:a="http://schemas.openxmlformats.org/drawingml/2006/main">
              <a:ext uri="{FF2B5EF4-FFF2-40B4-BE49-F238E27FC236}">
                <a16:creationId xmlns:a16="http://schemas.microsoft.com/office/drawing/2014/main" id="{0BD3BCBD-F589-478C-AB3F-7360D383224F}"/>
              </a:ext>
            </a:extLst>
          </p:cNvPr>
          <p:cNvSpPr>
            <a:spLocks xmlns:a="http://schemas.openxmlformats.org/drawingml/2006/main" noGrp="1"/>
          </p:cNvSpPr>
          <p:nvPr/>
        </p:nvSpPr>
        <p:spPr>
          <a:xfrm xmlns:a="http://schemas.openxmlformats.org/drawingml/2006/main">
            <a:off x="6781800" y="2819400"/>
            <a:ext cx="419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9B4B49"/>
                </a:solidFill>
                <a:latin typeface="Helvetica Neue"/>
                <a:ea typeface="Helvetica Neue"/>
                <a:cs typeface="Helvetica Neue"/>
              </a:defRPr>
            </a:defPPr>
          </a:lstStyle>
          <a:p xmlns:a="http://schemas.openxmlformats.org/drawingml/2006/main">
            <a:pPr algn="l">
              <a:lnSpc>
                <a:spcPct val="105000"/>
              </a:lnSpc>
              <a:buNone/>
              <a:defRPr sz="1350" b="1">
                <a:solidFill>
                  <a:srgbClr val="9B4B49"/>
                </a:solidFill>
                <a:latin typeface="Helvetica Neue"/>
                <a:ea typeface="Helvetica Neue"/>
                <a:cs typeface="Helvetica Neue"/>
              </a:defRPr>
            </a:pPr>
            <a:r>
              <a:rPr sz="1350" b="1">
                <a:solidFill>
                  <a:srgbClr val="9B4B49"/>
                </a:solidFill>
                <a:latin typeface="Helvetica Neue"/>
                <a:ea typeface="Helvetica Neue"/>
                <a:cs typeface="Helvetica Neue"/>
              </a:rPr>
              <a:t>Surface fluency  ≠  measured correctness</a:t>
            </a:r>
          </a:p>
        </p:txBody>
      </p:sp>
      <p:sp>
        <p:nvSpPr>
          <p:cNvPr id="15" name="">
            <a:extLst xmlns:a="http://schemas.openxmlformats.org/drawingml/2006/main">
              <a:ext uri="{FF2B5EF4-FFF2-40B4-BE49-F238E27FC236}">
                <a16:creationId xmlns:a16="http://schemas.microsoft.com/office/drawing/2014/main" id="{FB61EC26-D252-4663-8435-6E92F0E08FCC}"/>
              </a:ext>
            </a:extLst>
          </p:cNvPr>
          <p:cNvSpPr>
            <a:spLocks xmlns:a="http://schemas.openxmlformats.org/drawingml/2006/main" noGrp="1"/>
          </p:cNvSpPr>
          <p:nvPr/>
        </p:nvSpPr>
        <p:spPr>
          <a:xfrm xmlns:a="http://schemas.openxmlformats.org/drawingml/2006/main">
            <a:off x="685800" y="394335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864C5"/>
                </a:solidFill>
                <a:latin typeface="Helvetica Neue"/>
                <a:ea typeface="Helvetica Neue"/>
                <a:cs typeface="Helvetica Neue"/>
              </a:defRPr>
            </a:defPPr>
          </a:lstStyle>
          <a:p xmlns:a="http://schemas.openxmlformats.org/drawingml/2006/main">
            <a:pPr algn="l">
              <a:lnSpc>
                <a:spcPct val="105000"/>
              </a:lnSpc>
              <a:buNone/>
              <a:defRPr sz="975" b="1">
                <a:solidFill>
                  <a:srgbClr val="2864C5"/>
                </a:solidFill>
                <a:latin typeface="Helvetica Neue"/>
                <a:ea typeface="Helvetica Neue"/>
                <a:cs typeface="Helvetica Neue"/>
              </a:defRPr>
            </a:pPr>
            <a:r>
              <a:rPr sz="975" b="1">
                <a:solidFill>
                  <a:srgbClr val="2864C5"/>
                </a:solidFill>
                <a:latin typeface="Helvetica Neue"/>
                <a:ea typeface="Helvetica Neue"/>
                <a:cs typeface="Helvetica Neue"/>
              </a:rPr>
              <a:t>CHALLENGES ADDRESSED BY THE IMPLEMENTATION</a:t>
            </a:r>
          </a:p>
        </p:txBody>
      </p:sp>
      <p:sp>
        <p:nvSpPr>
          <p:cNvPr id="16" name="">
            <a:extLst xmlns:a="http://schemas.openxmlformats.org/drawingml/2006/main">
              <a:ext uri="{FF2B5EF4-FFF2-40B4-BE49-F238E27FC236}">
                <a16:creationId xmlns:a16="http://schemas.microsoft.com/office/drawing/2014/main" id="{52B36B2A-B9AD-4430-B0A5-EF1CAD639E27}"/>
              </a:ext>
            </a:extLst>
          </p:cNvPr>
          <p:cNvSpPr>
            <a:spLocks xmlns:a="http://schemas.openxmlformats.org/drawingml/2006/main" noGrp="1"/>
          </p:cNvSpPr>
          <p:nvPr/>
        </p:nvSpPr>
        <p:spPr>
          <a:xfrm xmlns:a="http://schemas.openxmlformats.org/drawingml/2006/main">
            <a:off x="723900" y="4324350"/>
            <a:ext cx="266700" cy="266700"/>
          </a:xfrm>
          <a:prstGeom xmlns:a="http://schemas.openxmlformats.org/drawingml/2006/main" prst="ellipse">
            <a:avLst/>
          </a:prstGeom>
          <a:solidFill xmlns:a="http://schemas.openxmlformats.org/drawingml/2006/main">
            <a:srgbClr val="E8F0FC"/>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B5F2E987-0BA0-49E3-BDBE-2519872D57D8}"/>
              </a:ext>
            </a:extLst>
          </p:cNvPr>
          <p:cNvSpPr>
            <a:spLocks xmlns:a="http://schemas.openxmlformats.org/drawingml/2006/main" noGrp="1"/>
          </p:cNvSpPr>
          <p:nvPr/>
        </p:nvSpPr>
        <p:spPr>
          <a:xfrm xmlns:a="http://schemas.openxmlformats.org/drawingml/2006/main">
            <a:off x="723900" y="437197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1">
                <a:solidFill>
                  <a:srgbClr val="2864C5"/>
                </a:solidFill>
                <a:latin typeface="Helvetica Neue"/>
                <a:ea typeface="Helvetica Neue"/>
                <a:cs typeface="Helvetica Neue"/>
              </a:defRPr>
            </a:defPPr>
          </a:lstStyle>
          <a:p xmlns:a="http://schemas.openxmlformats.org/drawingml/2006/main">
            <a:pPr algn="ctr">
              <a:lnSpc>
                <a:spcPct val="105000"/>
              </a:lnSpc>
              <a:buNone/>
              <a:defRPr sz="975" b="1">
                <a:solidFill>
                  <a:srgbClr val="2864C5"/>
                </a:solidFill>
                <a:latin typeface="Helvetica Neue"/>
                <a:ea typeface="Helvetica Neue"/>
                <a:cs typeface="Helvetica Neue"/>
              </a:defRPr>
            </a:pPr>
            <a:r>
              <a:rPr sz="975" b="1">
                <a:solidFill>
                  <a:srgbClr val="2864C5"/>
                </a:solidFill>
                <a:latin typeface="Helvetica Neue"/>
                <a:ea typeface="Helvetica Neue"/>
                <a:cs typeface="Helvetica Neue"/>
              </a:rPr>
              <a:t>1</a:t>
            </a:r>
          </a:p>
        </p:txBody>
      </p:sp>
      <p:sp>
        <p:nvSpPr>
          <p:cNvPr id="18" name="">
            <a:extLst xmlns:a="http://schemas.openxmlformats.org/drawingml/2006/main">
              <a:ext uri="{FF2B5EF4-FFF2-40B4-BE49-F238E27FC236}">
                <a16:creationId xmlns:a16="http://schemas.microsoft.com/office/drawing/2014/main" id="{313EDF7B-DB9A-4595-B821-8B03FDC41C8A}"/>
              </a:ext>
            </a:extLst>
          </p:cNvPr>
          <p:cNvSpPr>
            <a:spLocks xmlns:a="http://schemas.openxmlformats.org/drawingml/2006/main" noGrp="1"/>
          </p:cNvSpPr>
          <p:nvPr/>
        </p:nvSpPr>
        <p:spPr>
          <a:xfrm xmlns:a="http://schemas.openxmlformats.org/drawingml/2006/main">
            <a:off x="1143000" y="4305300"/>
            <a:ext cx="1790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10253F"/>
                </a:solidFill>
                <a:latin typeface="Helvetica Neue"/>
                <a:ea typeface="Helvetica Neue"/>
                <a:cs typeface="Helvetica Neue"/>
              </a:defRPr>
            </a:defPPr>
          </a:lstStyle>
          <a:p xmlns:a="http://schemas.openxmlformats.org/drawingml/2006/main">
            <a:pPr algn="l">
              <a:lnSpc>
                <a:spcPct val="105000"/>
              </a:lnSpc>
              <a:buNone/>
              <a:defRPr sz="1275" b="1">
                <a:solidFill>
                  <a:srgbClr val="10253F"/>
                </a:solidFill>
                <a:latin typeface="Helvetica Neue"/>
                <a:ea typeface="Helvetica Neue"/>
                <a:cs typeface="Helvetica Neue"/>
              </a:defRPr>
            </a:pPr>
            <a:r>
              <a:rPr sz="1275" b="1">
                <a:solidFill>
                  <a:srgbClr val="10253F"/>
                </a:solidFill>
                <a:latin typeface="Helvetica Neue"/>
                <a:ea typeface="Helvetica Neue"/>
                <a:cs typeface="Helvetica Neue"/>
              </a:rPr>
              <a:t>One-shot decoding</a:t>
            </a:r>
          </a:p>
        </p:txBody>
      </p:sp>
      <p:sp>
        <p:nvSpPr>
          <p:cNvPr id="19" name="">
            <a:extLst xmlns:a="http://schemas.openxmlformats.org/drawingml/2006/main">
              <a:ext uri="{FF2B5EF4-FFF2-40B4-BE49-F238E27FC236}">
                <a16:creationId xmlns:a16="http://schemas.microsoft.com/office/drawing/2014/main" id="{13E5B495-6AB7-4906-BE66-D7419482AD49}"/>
              </a:ext>
            </a:extLst>
          </p:cNvPr>
          <p:cNvSpPr>
            <a:spLocks xmlns:a="http://schemas.openxmlformats.org/drawingml/2006/main" noGrp="1"/>
          </p:cNvSpPr>
          <p:nvPr/>
        </p:nvSpPr>
        <p:spPr>
          <a:xfrm xmlns:a="http://schemas.openxmlformats.org/drawingml/2006/main">
            <a:off x="3009900" y="4305300"/>
            <a:ext cx="7829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36477"/>
                </a:solidFill>
                <a:latin typeface="Helvetica Neue"/>
                <a:ea typeface="Helvetica Neue"/>
                <a:cs typeface="Helvetica Neue"/>
              </a:defRPr>
            </a:defPPr>
          </a:lstStyle>
          <a:p xmlns:a="http://schemas.openxmlformats.org/drawingml/2006/main">
            <a:pPr algn="l">
              <a:lnSpc>
                <a:spcPct val="105000"/>
              </a:lnSpc>
              <a:buNone/>
              <a:defRPr sz="1200" b="0">
                <a:solidFill>
                  <a:srgbClr val="536477"/>
                </a:solidFill>
                <a:latin typeface="Helvetica Neue"/>
                <a:ea typeface="Helvetica Neue"/>
                <a:cs typeface="Helvetica Neue"/>
              </a:defRPr>
            </a:pPr>
            <a:r>
              <a:rPr sz="1200" b="0">
                <a:solidFill>
                  <a:srgbClr val="536477"/>
                </a:solidFill>
                <a:latin typeface="Helvetica Neue"/>
                <a:ea typeface="Helvetica Neue"/>
                <a:cs typeface="Helvetica Neue"/>
              </a:rPr>
              <a:t>No answer aggregation across candidates</a:t>
            </a:r>
          </a:p>
        </p:txBody>
      </p:sp>
      <p:sp>
        <p:nvSpPr>
          <p:cNvPr id="20" name="">
            <a:extLst xmlns:a="http://schemas.openxmlformats.org/drawingml/2006/main">
              <a:ext uri="{FF2B5EF4-FFF2-40B4-BE49-F238E27FC236}">
                <a16:creationId xmlns:a16="http://schemas.microsoft.com/office/drawing/2014/main" id="{6D1E1B36-B4D6-4B70-BF95-9D710CF6B8ED}"/>
              </a:ext>
            </a:extLst>
          </p:cNvPr>
          <p:cNvSpPr>
            <a:spLocks xmlns:a="http://schemas.openxmlformats.org/drawingml/2006/main" noGrp="1"/>
          </p:cNvSpPr>
          <p:nvPr/>
        </p:nvSpPr>
        <p:spPr>
          <a:xfrm xmlns:a="http://schemas.openxmlformats.org/drawingml/2006/main">
            <a:off x="723900" y="4876800"/>
            <a:ext cx="266700" cy="266700"/>
          </a:xfrm>
          <a:prstGeom xmlns:a="http://schemas.openxmlformats.org/drawingml/2006/main" prst="ellipse">
            <a:avLst/>
          </a:prstGeom>
          <a:solidFill xmlns:a="http://schemas.openxmlformats.org/drawingml/2006/main">
            <a:srgbClr val="E8F0FC"/>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39709436-FD3D-4960-B4D9-9118D51DFD16}"/>
              </a:ext>
            </a:extLst>
          </p:cNvPr>
          <p:cNvSpPr>
            <a:spLocks xmlns:a="http://schemas.openxmlformats.org/drawingml/2006/main" noGrp="1"/>
          </p:cNvSpPr>
          <p:nvPr/>
        </p:nvSpPr>
        <p:spPr>
          <a:xfrm xmlns:a="http://schemas.openxmlformats.org/drawingml/2006/main">
            <a:off x="723900" y="49244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1">
                <a:solidFill>
                  <a:srgbClr val="2864C5"/>
                </a:solidFill>
                <a:latin typeface="Helvetica Neue"/>
                <a:ea typeface="Helvetica Neue"/>
                <a:cs typeface="Helvetica Neue"/>
              </a:defRPr>
            </a:defPPr>
          </a:lstStyle>
          <a:p xmlns:a="http://schemas.openxmlformats.org/drawingml/2006/main">
            <a:pPr algn="ctr">
              <a:lnSpc>
                <a:spcPct val="105000"/>
              </a:lnSpc>
              <a:buNone/>
              <a:defRPr sz="975" b="1">
                <a:solidFill>
                  <a:srgbClr val="2864C5"/>
                </a:solidFill>
                <a:latin typeface="Helvetica Neue"/>
                <a:ea typeface="Helvetica Neue"/>
                <a:cs typeface="Helvetica Neue"/>
              </a:defRPr>
            </a:pPr>
            <a:r>
              <a:rPr sz="975" b="1">
                <a:solidFill>
                  <a:srgbClr val="2864C5"/>
                </a:solidFill>
                <a:latin typeface="Helvetica Neue"/>
                <a:ea typeface="Helvetica Neue"/>
                <a:cs typeface="Helvetica Neue"/>
              </a:rPr>
              <a:t>2</a:t>
            </a:r>
          </a:p>
        </p:txBody>
      </p:sp>
      <p:sp>
        <p:nvSpPr>
          <p:cNvPr id="22" name="">
            <a:extLst xmlns:a="http://schemas.openxmlformats.org/drawingml/2006/main">
              <a:ext uri="{FF2B5EF4-FFF2-40B4-BE49-F238E27FC236}">
                <a16:creationId xmlns:a16="http://schemas.microsoft.com/office/drawing/2014/main" id="{B8D25C6C-AE20-4849-912F-95C5204FDB7F}"/>
              </a:ext>
            </a:extLst>
          </p:cNvPr>
          <p:cNvSpPr>
            <a:spLocks xmlns:a="http://schemas.openxmlformats.org/drawingml/2006/main" noGrp="1"/>
          </p:cNvSpPr>
          <p:nvPr/>
        </p:nvSpPr>
        <p:spPr>
          <a:xfrm xmlns:a="http://schemas.openxmlformats.org/drawingml/2006/main">
            <a:off x="1143000" y="4857750"/>
            <a:ext cx="1790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10253F"/>
                </a:solidFill>
                <a:latin typeface="Helvetica Neue"/>
                <a:ea typeface="Helvetica Neue"/>
                <a:cs typeface="Helvetica Neue"/>
              </a:defRPr>
            </a:defPPr>
          </a:lstStyle>
          <a:p xmlns:a="http://schemas.openxmlformats.org/drawingml/2006/main">
            <a:pPr algn="l">
              <a:lnSpc>
                <a:spcPct val="105000"/>
              </a:lnSpc>
              <a:buNone/>
              <a:defRPr sz="1275" b="1">
                <a:solidFill>
                  <a:srgbClr val="10253F"/>
                </a:solidFill>
                <a:latin typeface="Helvetica Neue"/>
                <a:ea typeface="Helvetica Neue"/>
                <a:cs typeface="Helvetica Neue"/>
              </a:defRPr>
            </a:pPr>
            <a:r>
              <a:rPr sz="1275" b="1">
                <a:solidFill>
                  <a:srgbClr val="10253F"/>
                </a:solidFill>
                <a:latin typeface="Helvetica Neue"/>
                <a:ea typeface="Helvetica Neue"/>
                <a:cs typeface="Helvetica Neue"/>
              </a:rPr>
              <a:t>Layer disagreement</a:t>
            </a:r>
          </a:p>
        </p:txBody>
      </p:sp>
      <p:sp>
        <p:nvSpPr>
          <p:cNvPr id="23" name="">
            <a:extLst xmlns:a="http://schemas.openxmlformats.org/drawingml/2006/main">
              <a:ext uri="{FF2B5EF4-FFF2-40B4-BE49-F238E27FC236}">
                <a16:creationId xmlns:a16="http://schemas.microsoft.com/office/drawing/2014/main" id="{DDB95186-6C93-484A-AC5B-3AD04F97B295}"/>
              </a:ext>
            </a:extLst>
          </p:cNvPr>
          <p:cNvSpPr>
            <a:spLocks xmlns:a="http://schemas.openxmlformats.org/drawingml/2006/main" noGrp="1"/>
          </p:cNvSpPr>
          <p:nvPr/>
        </p:nvSpPr>
        <p:spPr>
          <a:xfrm xmlns:a="http://schemas.openxmlformats.org/drawingml/2006/main">
            <a:off x="3009900" y="4857750"/>
            <a:ext cx="7829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36477"/>
                </a:solidFill>
                <a:latin typeface="Helvetica Neue"/>
                <a:ea typeface="Helvetica Neue"/>
                <a:cs typeface="Helvetica Neue"/>
              </a:defRPr>
            </a:defPPr>
          </a:lstStyle>
          <a:p xmlns:a="http://schemas.openxmlformats.org/drawingml/2006/main">
            <a:pPr algn="l">
              <a:lnSpc>
                <a:spcPct val="105000"/>
              </a:lnSpc>
              <a:buNone/>
              <a:defRPr sz="1200" b="0">
                <a:solidFill>
                  <a:srgbClr val="536477"/>
                </a:solidFill>
                <a:latin typeface="Helvetica Neue"/>
                <a:ea typeface="Helvetica Neue"/>
                <a:cs typeface="Helvetica Neue"/>
              </a:defRPr>
            </a:pPr>
            <a:r>
              <a:rPr sz="1200" b="0">
                <a:solidFill>
                  <a:srgbClr val="536477"/>
                </a:solidFill>
                <a:latin typeface="Helvetica Neue"/>
                <a:ea typeface="Helvetica Neue"/>
                <a:cs typeface="Helvetica Neue"/>
              </a:rPr>
              <a:t>Intermediate and final predictions can differ</a:t>
            </a:r>
          </a:p>
        </p:txBody>
      </p:sp>
      <p:sp>
        <p:nvSpPr>
          <p:cNvPr id="24" name="">
            <a:extLst xmlns:a="http://schemas.openxmlformats.org/drawingml/2006/main">
              <a:ext uri="{FF2B5EF4-FFF2-40B4-BE49-F238E27FC236}">
                <a16:creationId xmlns:a16="http://schemas.microsoft.com/office/drawing/2014/main" id="{87E2DD47-8AB6-4768-969A-BCD9B0DEB59D}"/>
              </a:ext>
            </a:extLst>
          </p:cNvPr>
          <p:cNvSpPr>
            <a:spLocks xmlns:a="http://schemas.openxmlformats.org/drawingml/2006/main" noGrp="1"/>
          </p:cNvSpPr>
          <p:nvPr/>
        </p:nvSpPr>
        <p:spPr>
          <a:xfrm xmlns:a="http://schemas.openxmlformats.org/drawingml/2006/main">
            <a:off x="723900" y="5429250"/>
            <a:ext cx="266700" cy="266700"/>
          </a:xfrm>
          <a:prstGeom xmlns:a="http://schemas.openxmlformats.org/drawingml/2006/main" prst="ellipse">
            <a:avLst/>
          </a:prstGeom>
          <a:solidFill xmlns:a="http://schemas.openxmlformats.org/drawingml/2006/main">
            <a:srgbClr val="F5EBDD"/>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680722C3-B82E-47AD-A91A-60615974D241}"/>
              </a:ext>
            </a:extLst>
          </p:cNvPr>
          <p:cNvSpPr>
            <a:spLocks xmlns:a="http://schemas.openxmlformats.org/drawingml/2006/main" noGrp="1"/>
          </p:cNvSpPr>
          <p:nvPr/>
        </p:nvSpPr>
        <p:spPr>
          <a:xfrm xmlns:a="http://schemas.openxmlformats.org/drawingml/2006/main">
            <a:off x="723900" y="547687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1">
                <a:solidFill>
                  <a:srgbClr val="2864C5"/>
                </a:solidFill>
                <a:latin typeface="Helvetica Neue"/>
                <a:ea typeface="Helvetica Neue"/>
                <a:cs typeface="Helvetica Neue"/>
              </a:defRPr>
            </a:defPPr>
          </a:lstStyle>
          <a:p xmlns:a="http://schemas.openxmlformats.org/drawingml/2006/main">
            <a:pPr algn="ctr">
              <a:lnSpc>
                <a:spcPct val="105000"/>
              </a:lnSpc>
              <a:buNone/>
              <a:defRPr sz="975" b="1">
                <a:solidFill>
                  <a:srgbClr val="2864C5"/>
                </a:solidFill>
                <a:latin typeface="Helvetica Neue"/>
                <a:ea typeface="Helvetica Neue"/>
                <a:cs typeface="Helvetica Neue"/>
              </a:defRPr>
            </a:pPr>
            <a:r>
              <a:rPr sz="975" b="1">
                <a:solidFill>
                  <a:srgbClr val="2864C5"/>
                </a:solidFill>
                <a:latin typeface="Helvetica Neue"/>
                <a:ea typeface="Helvetica Neue"/>
                <a:cs typeface="Helvetica Neue"/>
              </a:rPr>
              <a:t>3</a:t>
            </a:r>
          </a:p>
        </p:txBody>
      </p:sp>
      <p:sp>
        <p:nvSpPr>
          <p:cNvPr id="26" name="">
            <a:extLst xmlns:a="http://schemas.openxmlformats.org/drawingml/2006/main">
              <a:ext uri="{FF2B5EF4-FFF2-40B4-BE49-F238E27FC236}">
                <a16:creationId xmlns:a16="http://schemas.microsoft.com/office/drawing/2014/main" id="{62CCF0CE-7594-44A1-B8BD-AA4D7CE4C240}"/>
              </a:ext>
            </a:extLst>
          </p:cNvPr>
          <p:cNvSpPr>
            <a:spLocks xmlns:a="http://schemas.openxmlformats.org/drawingml/2006/main" noGrp="1"/>
          </p:cNvSpPr>
          <p:nvPr/>
        </p:nvSpPr>
        <p:spPr>
          <a:xfrm xmlns:a="http://schemas.openxmlformats.org/drawingml/2006/main">
            <a:off x="1143000" y="5410200"/>
            <a:ext cx="1790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10253F"/>
                </a:solidFill>
                <a:latin typeface="Helvetica Neue"/>
                <a:ea typeface="Helvetica Neue"/>
                <a:cs typeface="Helvetica Neue"/>
              </a:defRPr>
            </a:defPPr>
          </a:lstStyle>
          <a:p xmlns:a="http://schemas.openxmlformats.org/drawingml/2006/main">
            <a:pPr algn="l">
              <a:lnSpc>
                <a:spcPct val="105000"/>
              </a:lnSpc>
              <a:buNone/>
              <a:defRPr sz="1275" b="1">
                <a:solidFill>
                  <a:srgbClr val="10253F"/>
                </a:solidFill>
                <a:latin typeface="Helvetica Neue"/>
                <a:ea typeface="Helvetica Neue"/>
                <a:cs typeface="Helvetica Neue"/>
              </a:defRPr>
            </a:pPr>
            <a:r>
              <a:rPr sz="1275" b="1">
                <a:solidFill>
                  <a:srgbClr val="10253F"/>
                </a:solidFill>
                <a:latin typeface="Helvetica Neue"/>
                <a:ea typeface="Helvetica Neue"/>
                <a:cs typeface="Helvetica Neue"/>
              </a:rPr>
              <a:t>Uncertainty meaning</a:t>
            </a:r>
          </a:p>
        </p:txBody>
      </p:sp>
      <p:sp>
        <p:nvSpPr>
          <p:cNvPr id="27" name="">
            <a:extLst xmlns:a="http://schemas.openxmlformats.org/drawingml/2006/main">
              <a:ext uri="{FF2B5EF4-FFF2-40B4-BE49-F238E27FC236}">
                <a16:creationId xmlns:a16="http://schemas.microsoft.com/office/drawing/2014/main" id="{869A8289-116A-4DC3-8C0B-961F219350C1}"/>
              </a:ext>
            </a:extLst>
          </p:cNvPr>
          <p:cNvSpPr>
            <a:spLocks xmlns:a="http://schemas.openxmlformats.org/drawingml/2006/main" noGrp="1"/>
          </p:cNvSpPr>
          <p:nvPr/>
        </p:nvSpPr>
        <p:spPr>
          <a:xfrm xmlns:a="http://schemas.openxmlformats.org/drawingml/2006/main">
            <a:off x="3009900" y="5410200"/>
            <a:ext cx="7829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36477"/>
                </a:solidFill>
                <a:latin typeface="Helvetica Neue"/>
                <a:ea typeface="Helvetica Neue"/>
                <a:cs typeface="Helvetica Neue"/>
              </a:defRPr>
            </a:defPPr>
          </a:lstStyle>
          <a:p xmlns:a="http://schemas.openxmlformats.org/drawingml/2006/main">
            <a:pPr algn="l">
              <a:lnSpc>
                <a:spcPct val="105000"/>
              </a:lnSpc>
              <a:buNone/>
              <a:defRPr sz="1200" b="0">
                <a:solidFill>
                  <a:srgbClr val="536477"/>
                </a:solidFill>
                <a:latin typeface="Helvetica Neue"/>
                <a:ea typeface="Helvetica Neue"/>
                <a:cs typeface="Helvetica Neue"/>
              </a:defRPr>
            </a:pPr>
            <a:r>
              <a:rPr sz="1200" b="0">
                <a:solidFill>
                  <a:srgbClr val="536477"/>
                </a:solidFill>
                <a:latin typeface="Helvetica Neue"/>
                <a:ea typeface="Helvetica Neue"/>
                <a:cs typeface="Helvetica Neue"/>
              </a:rPr>
              <a:t>Entropy is not automatically correctness probability</a:t>
            </a:r>
          </a:p>
        </p:txBody>
      </p:sp>
    </p:spTree>
    <p:extLst>
      <p:ext uri="{BB962C8B-B14F-4D97-AF65-F5344CB8AC3E}">
        <p14:creationId xmlns:p14="http://schemas.microsoft.com/office/powerpoint/2010/main" val="1282024531"/>
      </p:ext>
    </p:extLst>
  </p:cSld>
</p:sld>
</file>

<file path=ppt/slides/slide4.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A2EEBD45-6F2E-40D1-A45B-400F50786F7E}"/>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9CD25CB-BE3A-4722-A7E6-E158DC223EDC}"/>
              </a:ext>
            </a:extLst>
          </p:cNvPr>
          <p:cNvSpPr>
            <a:spLocks xmlns:a="http://schemas.openxmlformats.org/drawingml/2006/main" noGrp="1"/>
          </p:cNvSpPr>
          <p:nvPr/>
        </p:nvSpPr>
        <p:spPr>
          <a:xfrm xmlns:a="http://schemas.openxmlformats.org/drawingml/2006/main">
            <a:off x="552450" y="361950"/>
            <a:ext cx="1104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0253F"/>
                </a:solidFill>
                <a:latin typeface="Helvetica Neue"/>
                <a:ea typeface="Helvetica Neue"/>
                <a:cs typeface="Helvetica Neue"/>
              </a:defRPr>
            </a:defPPr>
          </a:lstStyle>
          <a:p xmlns:a="http://schemas.openxmlformats.org/drawingml/2006/main">
            <a:pPr algn="l">
              <a:lnSpc>
                <a:spcPct val="105000"/>
              </a:lnSpc>
              <a:buNone/>
              <a:defRPr sz="2550" b="1">
                <a:solidFill>
                  <a:srgbClr val="10253F"/>
                </a:solidFill>
                <a:latin typeface="Helvetica Neue"/>
                <a:ea typeface="Helvetica Neue"/>
                <a:cs typeface="Helvetica Neue"/>
              </a:defRPr>
            </a:pPr>
            <a:r>
              <a:rPr sz="2550" b="1">
                <a:solidFill>
                  <a:srgbClr val="10253F"/>
                </a:solidFill>
                <a:latin typeface="Helvetica Neue"/>
                <a:ea typeface="Helvetica Neue"/>
                <a:cs typeface="Helvetica Neue"/>
              </a:rPr>
              <a:t>Project Objectives</a:t>
            </a:r>
          </a:p>
        </p:txBody>
      </p:sp>
      <p:sp>
        <p:nvSpPr>
          <p:cNvPr id="3" name="">
            <a:extLst xmlns:a="http://schemas.openxmlformats.org/drawingml/2006/main">
              <a:ext uri="{FF2B5EF4-FFF2-40B4-BE49-F238E27FC236}">
                <a16:creationId xmlns:a16="http://schemas.microsoft.com/office/drawing/2014/main" id="{CE4C97CD-7DC8-485F-B94A-B9DB62E4E2FA}"/>
              </a:ext>
            </a:extLst>
          </p:cNvPr>
          <p:cNvSpPr>
            <a:spLocks xmlns:a="http://schemas.openxmlformats.org/drawingml/2006/main" noGrp="1"/>
          </p:cNvSpPr>
          <p:nvPr/>
        </p:nvSpPr>
        <p:spPr>
          <a:xfrm xmlns:a="http://schemas.openxmlformats.org/drawingml/2006/main">
            <a:off x="571500" y="876300"/>
            <a:ext cx="10953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36477"/>
                </a:solidFill>
                <a:latin typeface="Helvetica Neue"/>
                <a:ea typeface="Helvetica Neue"/>
                <a:cs typeface="Helvetica Neue"/>
              </a:defRPr>
            </a:defPPr>
          </a:lstStyle>
          <a:p xmlns:a="http://schemas.openxmlformats.org/drawingml/2006/main">
            <a:pPr algn="l">
              <a:lnSpc>
                <a:spcPct val="105000"/>
              </a:lnSpc>
              <a:buNone/>
              <a:defRPr sz="1275" b="0">
                <a:solidFill>
                  <a:srgbClr val="536477"/>
                </a:solidFill>
                <a:latin typeface="Helvetica Neue"/>
                <a:ea typeface="Helvetica Neue"/>
                <a:cs typeface="Helvetica Neue"/>
              </a:defRPr>
            </a:pPr>
            <a:r>
              <a:rPr sz="1275" b="0">
                <a:solidFill>
                  <a:srgbClr val="536477"/>
                </a:solidFill>
                <a:latin typeface="Helvetica Neue"/>
                <a:ea typeface="Helvetica Neue"/>
                <a:cs typeface="Helvetica Neue"/>
              </a:rPr>
              <a:t>The implementation connects decoding, uncertainty estimation, and answer-level comparison.</a:t>
            </a:r>
          </a:p>
        </p:txBody>
      </p:sp>
      <p:sp>
        <p:nvSpPr>
          <p:cNvPr id="4" name="">
            <a:extLst xmlns:a="http://schemas.openxmlformats.org/drawingml/2006/main">
              <a:ext uri="{FF2B5EF4-FFF2-40B4-BE49-F238E27FC236}">
                <a16:creationId xmlns:a16="http://schemas.microsoft.com/office/drawing/2014/main" id="{1050832E-F1A8-4EF0-9688-BE7FB989B944}"/>
              </a:ext>
            </a:extLst>
          </p:cNvPr>
          <p:cNvSpPr>
            <a:spLocks xmlns:a="http://schemas.openxmlformats.org/drawingml/2006/main" noGrp="1"/>
          </p:cNvSpPr>
          <p:nvPr/>
        </p:nvSpPr>
        <p:spPr>
          <a:xfrm xmlns:a="http://schemas.openxmlformats.org/drawingml/2006/main" flipV="0">
            <a:off x="571500" y="6438900"/>
            <a:ext cx="11049000" cy="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5" name="">
            <a:extLst xmlns:a="http://schemas.openxmlformats.org/drawingml/2006/main">
              <a:ext uri="{FF2B5EF4-FFF2-40B4-BE49-F238E27FC236}">
                <a16:creationId xmlns:a16="http://schemas.microsoft.com/office/drawing/2014/main" id="{D303F06C-2DBF-41A9-B05D-37231289B39F}"/>
              </a:ext>
            </a:extLst>
          </p:cNvPr>
          <p:cNvSpPr>
            <a:spLocks xmlns:a="http://schemas.openxmlformats.org/drawingml/2006/main" noGrp="1"/>
          </p:cNvSpPr>
          <p:nvPr/>
        </p:nvSpPr>
        <p:spPr>
          <a:xfrm xmlns:a="http://schemas.openxmlformats.org/drawingml/2006/main">
            <a:off x="571500" y="6534150"/>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536477"/>
                </a:solidFill>
                <a:latin typeface="Helvetica Neue"/>
                <a:ea typeface="Helvetica Neue"/>
                <a:cs typeface="Helvetica Neue"/>
              </a:defRPr>
            </a:defPPr>
          </a:lstStyle>
          <a:p xmlns:a="http://schemas.openxmlformats.org/drawingml/2006/main">
            <a:pPr algn="l">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VIT-AP UNIVERSITY  /  SCOPE</a:t>
            </a:r>
          </a:p>
        </p:txBody>
      </p:sp>
      <p:sp>
        <p:nvSpPr>
          <p:cNvPr id="6" name="">
            <a:extLst xmlns:a="http://schemas.openxmlformats.org/drawingml/2006/main">
              <a:ext uri="{FF2B5EF4-FFF2-40B4-BE49-F238E27FC236}">
                <a16:creationId xmlns:a16="http://schemas.microsoft.com/office/drawing/2014/main" id="{EBBDBB4B-2A1C-4B26-B62B-C9620B9FAB8A}"/>
              </a:ext>
            </a:extLst>
          </p:cNvPr>
          <p:cNvSpPr>
            <a:spLocks xmlns:a="http://schemas.openxmlformats.org/drawingml/2006/main" noGrp="1"/>
          </p:cNvSpPr>
          <p:nvPr/>
        </p:nvSpPr>
        <p:spPr>
          <a:xfrm xmlns:a="http://schemas.openxmlformats.org/drawingml/2006/main">
            <a:off x="11087100" y="65151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a:solidFill>
                  <a:srgbClr val="536477"/>
                </a:solidFill>
                <a:latin typeface="Helvetica Neue"/>
                <a:ea typeface="Helvetica Neue"/>
                <a:cs typeface="Helvetica Neue"/>
              </a:defRPr>
            </a:defPPr>
          </a:lstStyle>
          <a:p xmlns:a="http://schemas.openxmlformats.org/drawingml/2006/main">
            <a:pPr algn="r">
              <a:lnSpc>
                <a:spcPct val="105000"/>
              </a:lnSpc>
              <a:buNone/>
              <a:defRPr sz="975" b="1">
                <a:solidFill>
                  <a:srgbClr val="536477"/>
                </a:solidFill>
                <a:latin typeface="Helvetica Neue"/>
                <a:ea typeface="Helvetica Neue"/>
                <a:cs typeface="Helvetica Neue"/>
              </a:defRPr>
            </a:pPr>
            <a:r>
              <a:rPr sz="975" b="1">
                <a:solidFill>
                  <a:srgbClr val="536477"/>
                </a:solidFill>
                <a:latin typeface="Helvetica Neue"/>
                <a:ea typeface="Helvetica Neue"/>
                <a:cs typeface="Helvetica Neue"/>
              </a:rPr>
              <a:t>04</a:t>
            </a:r>
          </a:p>
        </p:txBody>
      </p:sp>
      <p:sp>
        <p:nvSpPr>
          <p:cNvPr id="7" name="">
            <a:extLst xmlns:a="http://schemas.openxmlformats.org/drawingml/2006/main">
              <a:ext uri="{FF2B5EF4-FFF2-40B4-BE49-F238E27FC236}">
                <a16:creationId xmlns:a16="http://schemas.microsoft.com/office/drawing/2014/main" id="{E786A62E-37E2-4190-94D0-470D67ECC4E7}"/>
              </a:ext>
            </a:extLst>
          </p:cNvPr>
          <p:cNvSpPr>
            <a:spLocks xmlns:a="http://schemas.openxmlformats.org/drawingml/2006/main" noGrp="1"/>
          </p:cNvSpPr>
          <p:nvPr/>
        </p:nvSpPr>
        <p:spPr>
          <a:xfrm xmlns:a="http://schemas.openxmlformats.org/drawingml/2006/main">
            <a:off x="685800" y="1524000"/>
            <a:ext cx="400050" cy="400050"/>
          </a:xfrm>
          <a:prstGeom xmlns:a="http://schemas.openxmlformats.org/drawingml/2006/main" prst="ellipse">
            <a:avLst/>
          </a:prstGeom>
          <a:solidFill xmlns:a="http://schemas.openxmlformats.org/drawingml/2006/main">
            <a:srgbClr val="2864C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7DA2A93-53A7-4CB7-BC40-CB6D4FA2245A}"/>
              </a:ext>
            </a:extLst>
          </p:cNvPr>
          <p:cNvSpPr>
            <a:spLocks xmlns:a="http://schemas.openxmlformats.org/drawingml/2006/main" noGrp="1"/>
          </p:cNvSpPr>
          <p:nvPr/>
        </p:nvSpPr>
        <p:spPr>
          <a:xfrm xmlns:a="http://schemas.openxmlformats.org/drawingml/2006/main">
            <a:off x="685800" y="1628775"/>
            <a:ext cx="400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1">
                <a:solidFill>
                  <a:srgbClr val="FFFFFF"/>
                </a:solidFill>
                <a:latin typeface="Helvetica Neue"/>
                <a:ea typeface="Helvetica Neue"/>
                <a:cs typeface="Helvetica Neue"/>
              </a:defRPr>
            </a:defPPr>
          </a:lstStyle>
          <a:p xmlns:a="http://schemas.openxmlformats.org/drawingml/2006/main">
            <a:pPr algn="ctr">
              <a:lnSpc>
                <a:spcPct val="105000"/>
              </a:lnSpc>
              <a:buNone/>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01</a:t>
            </a:r>
          </a:p>
        </p:txBody>
      </p:sp>
      <p:sp>
        <p:nvSpPr>
          <p:cNvPr id="9" name="">
            <a:extLst xmlns:a="http://schemas.openxmlformats.org/drawingml/2006/main">
              <a:ext uri="{FF2B5EF4-FFF2-40B4-BE49-F238E27FC236}">
                <a16:creationId xmlns:a16="http://schemas.microsoft.com/office/drawing/2014/main" id="{BE5BDBAF-2D26-4247-B1DD-4DC07D3AD3F3}"/>
              </a:ext>
            </a:extLst>
          </p:cNvPr>
          <p:cNvSpPr>
            <a:spLocks xmlns:a="http://schemas.openxmlformats.org/drawingml/2006/main" noGrp="1"/>
          </p:cNvSpPr>
          <p:nvPr/>
        </p:nvSpPr>
        <p:spPr>
          <a:xfrm xmlns:a="http://schemas.openxmlformats.org/drawingml/2006/main">
            <a:off x="1276350" y="1485900"/>
            <a:ext cx="447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0253F"/>
                </a:solidFill>
                <a:latin typeface="Helvetica Neue"/>
                <a:ea typeface="Helvetica Neue"/>
                <a:cs typeface="Helvetica Neue"/>
              </a:defRPr>
            </a:defPPr>
          </a:lstStyle>
          <a:p xmlns:a="http://schemas.openxmlformats.org/drawingml/2006/main">
            <a:pPr algn="l">
              <a:lnSpc>
                <a:spcPct val="105000"/>
              </a:lnSpc>
              <a:buNone/>
              <a:defRPr sz="1500" b="1">
                <a:solidFill>
                  <a:srgbClr val="10253F"/>
                </a:solidFill>
                <a:latin typeface="Helvetica Neue"/>
                <a:ea typeface="Helvetica Neue"/>
                <a:cs typeface="Helvetica Neue"/>
              </a:defRPr>
            </a:pPr>
            <a:r>
              <a:rPr sz="1500" b="1">
                <a:solidFill>
                  <a:srgbClr val="10253F"/>
                </a:solidFill>
                <a:latin typeface="Helvetica Neue"/>
                <a:ea typeface="Helvetica Neue"/>
                <a:cs typeface="Helvetica Neue"/>
              </a:rPr>
              <a:t>Establish a Base baseline</a:t>
            </a:r>
          </a:p>
        </p:txBody>
      </p:sp>
      <p:sp>
        <p:nvSpPr>
          <p:cNvPr id="10" name="">
            <a:extLst xmlns:a="http://schemas.openxmlformats.org/drawingml/2006/main">
              <a:ext uri="{FF2B5EF4-FFF2-40B4-BE49-F238E27FC236}">
                <a16:creationId xmlns:a16="http://schemas.microsoft.com/office/drawing/2014/main" id="{4384A298-519A-4486-95E0-98C645CE543B}"/>
              </a:ext>
            </a:extLst>
          </p:cNvPr>
          <p:cNvSpPr>
            <a:spLocks xmlns:a="http://schemas.openxmlformats.org/drawingml/2006/main" noGrp="1"/>
          </p:cNvSpPr>
          <p:nvPr/>
        </p:nvSpPr>
        <p:spPr>
          <a:xfrm xmlns:a="http://schemas.openxmlformats.org/drawingml/2006/main">
            <a:off x="1276350" y="1866900"/>
            <a:ext cx="45529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36477"/>
                </a:solidFill>
                <a:latin typeface="Helvetica Neue"/>
                <a:ea typeface="Helvetica Neue"/>
                <a:cs typeface="Helvetica Neue"/>
              </a:defRPr>
            </a:defPPr>
          </a:lstStyle>
          <a:p xmlns:a="http://schemas.openxmlformats.org/drawingml/2006/main">
            <a:pPr algn="l">
              <a:lnSpc>
                <a:spcPct val="105000"/>
              </a:lnSpc>
              <a:buNone/>
              <a:defRPr sz="1200" b="0">
                <a:solidFill>
                  <a:srgbClr val="536477"/>
                </a:solidFill>
                <a:latin typeface="Helvetica Neue"/>
                <a:ea typeface="Helvetica Neue"/>
                <a:cs typeface="Helvetica Neue"/>
              </a:defRPr>
            </a:pPr>
            <a:r>
              <a:rPr sz="1200" b="0">
                <a:solidFill>
                  <a:srgbClr val="536477"/>
                </a:solidFill>
                <a:latin typeface="Helvetica Neue"/>
                <a:ea typeface="Helvetica Neue"/>
                <a:cs typeface="Helvetica Neue"/>
              </a:rPr>
              <a:t>Use the local TinyLlama chat model for question answering.</a:t>
            </a:r>
          </a:p>
        </p:txBody>
      </p:sp>
      <p:sp>
        <p:nvSpPr>
          <p:cNvPr id="11" name="">
            <a:extLst xmlns:a="http://schemas.openxmlformats.org/drawingml/2006/main">
              <a:ext uri="{FF2B5EF4-FFF2-40B4-BE49-F238E27FC236}">
                <a16:creationId xmlns:a16="http://schemas.microsoft.com/office/drawing/2014/main" id="{26A7293C-8F95-4BCE-A08D-8B300007C451}"/>
              </a:ext>
            </a:extLst>
          </p:cNvPr>
          <p:cNvSpPr>
            <a:spLocks xmlns:a="http://schemas.openxmlformats.org/drawingml/2006/main" noGrp="1"/>
          </p:cNvSpPr>
          <p:nvPr/>
        </p:nvSpPr>
        <p:spPr>
          <a:xfrm xmlns:a="http://schemas.openxmlformats.org/drawingml/2006/main">
            <a:off x="6305550" y="1524000"/>
            <a:ext cx="400050" cy="400050"/>
          </a:xfrm>
          <a:prstGeom xmlns:a="http://schemas.openxmlformats.org/drawingml/2006/main" prst="ellipse">
            <a:avLst/>
          </a:prstGeom>
          <a:solidFill xmlns:a="http://schemas.openxmlformats.org/drawingml/2006/main">
            <a:srgbClr val="2864C5"/>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FF3370A0-34C2-477C-9C2A-AFFF05833FF9}"/>
              </a:ext>
            </a:extLst>
          </p:cNvPr>
          <p:cNvSpPr>
            <a:spLocks xmlns:a="http://schemas.openxmlformats.org/drawingml/2006/main" noGrp="1"/>
          </p:cNvSpPr>
          <p:nvPr/>
        </p:nvSpPr>
        <p:spPr>
          <a:xfrm xmlns:a="http://schemas.openxmlformats.org/drawingml/2006/main">
            <a:off x="6305550" y="1628775"/>
            <a:ext cx="400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1">
                <a:solidFill>
                  <a:srgbClr val="FFFFFF"/>
                </a:solidFill>
                <a:latin typeface="Helvetica Neue"/>
                <a:ea typeface="Helvetica Neue"/>
                <a:cs typeface="Helvetica Neue"/>
              </a:defRPr>
            </a:defPPr>
          </a:lstStyle>
          <a:p xmlns:a="http://schemas.openxmlformats.org/drawingml/2006/main">
            <a:pPr algn="ctr">
              <a:lnSpc>
                <a:spcPct val="105000"/>
              </a:lnSpc>
              <a:buNone/>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02</a:t>
            </a:r>
          </a:p>
        </p:txBody>
      </p:sp>
      <p:sp>
        <p:nvSpPr>
          <p:cNvPr id="13" name="">
            <a:extLst xmlns:a="http://schemas.openxmlformats.org/drawingml/2006/main">
              <a:ext uri="{FF2B5EF4-FFF2-40B4-BE49-F238E27FC236}">
                <a16:creationId xmlns:a16="http://schemas.microsoft.com/office/drawing/2014/main" id="{10AD08B2-3F3F-46E0-B745-36A9B4D709AC}"/>
              </a:ext>
            </a:extLst>
          </p:cNvPr>
          <p:cNvSpPr>
            <a:spLocks xmlns:a="http://schemas.openxmlformats.org/drawingml/2006/main" noGrp="1"/>
          </p:cNvSpPr>
          <p:nvPr/>
        </p:nvSpPr>
        <p:spPr>
          <a:xfrm xmlns:a="http://schemas.openxmlformats.org/drawingml/2006/main">
            <a:off x="6896100" y="1485900"/>
            <a:ext cx="447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0253F"/>
                </a:solidFill>
                <a:latin typeface="Helvetica Neue"/>
                <a:ea typeface="Helvetica Neue"/>
                <a:cs typeface="Helvetica Neue"/>
              </a:defRPr>
            </a:defPPr>
          </a:lstStyle>
          <a:p xmlns:a="http://schemas.openxmlformats.org/drawingml/2006/main">
            <a:pPr algn="l">
              <a:lnSpc>
                <a:spcPct val="105000"/>
              </a:lnSpc>
              <a:buNone/>
              <a:defRPr sz="1500" b="1">
                <a:solidFill>
                  <a:srgbClr val="10253F"/>
                </a:solidFill>
                <a:latin typeface="Helvetica Neue"/>
                <a:ea typeface="Helvetica Neue"/>
                <a:cs typeface="Helvetica Neue"/>
              </a:defRPr>
            </a:pPr>
            <a:r>
              <a:rPr sz="1500" b="1">
                <a:solidFill>
                  <a:srgbClr val="10253F"/>
                </a:solidFill>
                <a:latin typeface="Helvetica Neue"/>
                <a:ea typeface="Helvetica Neue"/>
                <a:cs typeface="Helvetica Neue"/>
              </a:rPr>
              <a:t>Add layer contrast</a:t>
            </a:r>
          </a:p>
        </p:txBody>
      </p:sp>
      <p:sp>
        <p:nvSpPr>
          <p:cNvPr id="14" name="">
            <a:extLst xmlns:a="http://schemas.openxmlformats.org/drawingml/2006/main">
              <a:ext uri="{FF2B5EF4-FFF2-40B4-BE49-F238E27FC236}">
                <a16:creationId xmlns:a16="http://schemas.microsoft.com/office/drawing/2014/main" id="{EE20782D-81F0-4B66-8968-7F1ED101C484}"/>
              </a:ext>
            </a:extLst>
          </p:cNvPr>
          <p:cNvSpPr>
            <a:spLocks xmlns:a="http://schemas.openxmlformats.org/drawingml/2006/main" noGrp="1"/>
          </p:cNvSpPr>
          <p:nvPr/>
        </p:nvSpPr>
        <p:spPr>
          <a:xfrm xmlns:a="http://schemas.openxmlformats.org/drawingml/2006/main">
            <a:off x="6896100" y="1866900"/>
            <a:ext cx="45529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36477"/>
                </a:solidFill>
                <a:latin typeface="Helvetica Neue"/>
                <a:ea typeface="Helvetica Neue"/>
                <a:cs typeface="Helvetica Neue"/>
              </a:defRPr>
            </a:defPPr>
          </a:lstStyle>
          <a:p xmlns:a="http://schemas.openxmlformats.org/drawingml/2006/main">
            <a:pPr algn="l">
              <a:lnSpc>
                <a:spcPct val="105000"/>
              </a:lnSpc>
              <a:buNone/>
              <a:defRPr sz="1200" b="0">
                <a:solidFill>
                  <a:srgbClr val="536477"/>
                </a:solidFill>
                <a:latin typeface="Helvetica Neue"/>
                <a:ea typeface="Helvetica Neue"/>
                <a:cs typeface="Helvetica Neue"/>
              </a:defRPr>
            </a:pPr>
            <a:r>
              <a:rPr sz="1200" b="0">
                <a:solidFill>
                  <a:srgbClr val="536477"/>
                </a:solidFill>
                <a:latin typeface="Helvetica Neue"/>
                <a:ea typeface="Helvetica Neue"/>
                <a:cs typeface="Helvetica Neue"/>
              </a:rPr>
              <a:t>Select an earlier layer using Jensen–Shannon divergence and apply DoLa.</a:t>
            </a:r>
          </a:p>
        </p:txBody>
      </p:sp>
      <p:sp>
        <p:nvSpPr>
          <p:cNvPr id="15" name="">
            <a:extLst xmlns:a="http://schemas.openxmlformats.org/drawingml/2006/main">
              <a:ext uri="{FF2B5EF4-FFF2-40B4-BE49-F238E27FC236}">
                <a16:creationId xmlns:a16="http://schemas.microsoft.com/office/drawing/2014/main" id="{1D2951F6-8969-4A5A-9B0D-0E6E03BA3CD6}"/>
              </a:ext>
            </a:extLst>
          </p:cNvPr>
          <p:cNvSpPr>
            <a:spLocks xmlns:a="http://schemas.openxmlformats.org/drawingml/2006/main" noGrp="1"/>
          </p:cNvSpPr>
          <p:nvPr/>
        </p:nvSpPr>
        <p:spPr>
          <a:xfrm xmlns:a="http://schemas.openxmlformats.org/drawingml/2006/main">
            <a:off x="685800" y="2933700"/>
            <a:ext cx="400050" cy="400050"/>
          </a:xfrm>
          <a:prstGeom xmlns:a="http://schemas.openxmlformats.org/drawingml/2006/main" prst="ellipse">
            <a:avLst/>
          </a:prstGeom>
          <a:solidFill xmlns:a="http://schemas.openxmlformats.org/drawingml/2006/main">
            <a:srgbClr val="2864C5"/>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B45FF94F-B59C-4EA0-B756-22AA8F3E64B0}"/>
              </a:ext>
            </a:extLst>
          </p:cNvPr>
          <p:cNvSpPr>
            <a:spLocks xmlns:a="http://schemas.openxmlformats.org/drawingml/2006/main" noGrp="1"/>
          </p:cNvSpPr>
          <p:nvPr/>
        </p:nvSpPr>
        <p:spPr>
          <a:xfrm xmlns:a="http://schemas.openxmlformats.org/drawingml/2006/main">
            <a:off x="685800" y="3038475"/>
            <a:ext cx="400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1">
                <a:solidFill>
                  <a:srgbClr val="FFFFFF"/>
                </a:solidFill>
                <a:latin typeface="Helvetica Neue"/>
                <a:ea typeface="Helvetica Neue"/>
                <a:cs typeface="Helvetica Neue"/>
              </a:defRPr>
            </a:defPPr>
          </a:lstStyle>
          <a:p xmlns:a="http://schemas.openxmlformats.org/drawingml/2006/main">
            <a:pPr algn="ctr">
              <a:lnSpc>
                <a:spcPct val="105000"/>
              </a:lnSpc>
              <a:buNone/>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03</a:t>
            </a:r>
          </a:p>
        </p:txBody>
      </p:sp>
      <p:sp>
        <p:nvSpPr>
          <p:cNvPr id="17" name="">
            <a:extLst xmlns:a="http://schemas.openxmlformats.org/drawingml/2006/main">
              <a:ext uri="{FF2B5EF4-FFF2-40B4-BE49-F238E27FC236}">
                <a16:creationId xmlns:a16="http://schemas.microsoft.com/office/drawing/2014/main" id="{687EEE43-658D-4C35-94F7-21C07AB74C11}"/>
              </a:ext>
            </a:extLst>
          </p:cNvPr>
          <p:cNvSpPr>
            <a:spLocks xmlns:a="http://schemas.openxmlformats.org/drawingml/2006/main" noGrp="1"/>
          </p:cNvSpPr>
          <p:nvPr/>
        </p:nvSpPr>
        <p:spPr>
          <a:xfrm xmlns:a="http://schemas.openxmlformats.org/drawingml/2006/main">
            <a:off x="1276350" y="2895600"/>
            <a:ext cx="447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0253F"/>
                </a:solidFill>
                <a:latin typeface="Helvetica Neue"/>
                <a:ea typeface="Helvetica Neue"/>
                <a:cs typeface="Helvetica Neue"/>
              </a:defRPr>
            </a:defPPr>
          </a:lstStyle>
          <a:p xmlns:a="http://schemas.openxmlformats.org/drawingml/2006/main">
            <a:pPr algn="l">
              <a:lnSpc>
                <a:spcPct val="105000"/>
              </a:lnSpc>
              <a:buNone/>
              <a:defRPr sz="1500" b="1">
                <a:solidFill>
                  <a:srgbClr val="10253F"/>
                </a:solidFill>
                <a:latin typeface="Helvetica Neue"/>
                <a:ea typeface="Helvetica Neue"/>
                <a:cs typeface="Helvetica Neue"/>
              </a:defRPr>
            </a:pPr>
            <a:r>
              <a:rPr sz="1500" b="1">
                <a:solidFill>
                  <a:srgbClr val="10253F"/>
                </a:solidFill>
                <a:latin typeface="Helvetica Neue"/>
                <a:ea typeface="Helvetica Neue"/>
                <a:cs typeface="Helvetica Neue"/>
              </a:rPr>
              <a:t>Train an Epinet</a:t>
            </a:r>
          </a:p>
        </p:txBody>
      </p:sp>
      <p:sp>
        <p:nvSpPr>
          <p:cNvPr id="18" name="">
            <a:extLst xmlns:a="http://schemas.openxmlformats.org/drawingml/2006/main">
              <a:ext uri="{FF2B5EF4-FFF2-40B4-BE49-F238E27FC236}">
                <a16:creationId xmlns:a16="http://schemas.microsoft.com/office/drawing/2014/main" id="{BB6C0B42-51EE-4087-A962-E05AC8BD36ED}"/>
              </a:ext>
            </a:extLst>
          </p:cNvPr>
          <p:cNvSpPr>
            <a:spLocks xmlns:a="http://schemas.openxmlformats.org/drawingml/2006/main" noGrp="1"/>
          </p:cNvSpPr>
          <p:nvPr/>
        </p:nvSpPr>
        <p:spPr>
          <a:xfrm xmlns:a="http://schemas.openxmlformats.org/drawingml/2006/main">
            <a:off x="1276350" y="3276600"/>
            <a:ext cx="45529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36477"/>
                </a:solidFill>
                <a:latin typeface="Helvetica Neue"/>
                <a:ea typeface="Helvetica Neue"/>
                <a:cs typeface="Helvetica Neue"/>
              </a:defRPr>
            </a:defPPr>
          </a:lstStyle>
          <a:p xmlns:a="http://schemas.openxmlformats.org/drawingml/2006/main">
            <a:pPr algn="l">
              <a:lnSpc>
                <a:spcPct val="105000"/>
              </a:lnSpc>
              <a:buNone/>
              <a:defRPr sz="1200" b="0">
                <a:solidFill>
                  <a:srgbClr val="536477"/>
                </a:solidFill>
                <a:latin typeface="Helvetica Neue"/>
                <a:ea typeface="Helvetica Neue"/>
                <a:cs typeface="Helvetica Neue"/>
              </a:defRPr>
            </a:pPr>
            <a:r>
              <a:rPr sz="1200" b="0">
                <a:solidFill>
                  <a:srgbClr val="536477"/>
                </a:solidFill>
                <a:latin typeface="Helvetica Neue"/>
                <a:ea typeface="Helvetica Neue"/>
                <a:cs typeface="Helvetica Neue"/>
              </a:rPr>
              <a:t>Learn a next-token correction from C4 features while keeping the base model fixed.</a:t>
            </a:r>
          </a:p>
        </p:txBody>
      </p:sp>
      <p:sp>
        <p:nvSpPr>
          <p:cNvPr id="19" name="">
            <a:extLst xmlns:a="http://schemas.openxmlformats.org/drawingml/2006/main">
              <a:ext uri="{FF2B5EF4-FFF2-40B4-BE49-F238E27FC236}">
                <a16:creationId xmlns:a16="http://schemas.microsoft.com/office/drawing/2014/main" id="{9BA7F055-CD9A-4878-9585-E764960C5DE0}"/>
              </a:ext>
            </a:extLst>
          </p:cNvPr>
          <p:cNvSpPr>
            <a:spLocks xmlns:a="http://schemas.openxmlformats.org/drawingml/2006/main" noGrp="1"/>
          </p:cNvSpPr>
          <p:nvPr/>
        </p:nvSpPr>
        <p:spPr>
          <a:xfrm xmlns:a="http://schemas.openxmlformats.org/drawingml/2006/main">
            <a:off x="6305550" y="2933700"/>
            <a:ext cx="400050" cy="400050"/>
          </a:xfrm>
          <a:prstGeom xmlns:a="http://schemas.openxmlformats.org/drawingml/2006/main" prst="ellipse">
            <a:avLst/>
          </a:prstGeom>
          <a:solidFill xmlns:a="http://schemas.openxmlformats.org/drawingml/2006/main">
            <a:srgbClr val="2864C5"/>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3C6D1BDF-3772-4FEF-86A3-CDA07EC9E150}"/>
              </a:ext>
            </a:extLst>
          </p:cNvPr>
          <p:cNvSpPr>
            <a:spLocks xmlns:a="http://schemas.openxmlformats.org/drawingml/2006/main" noGrp="1"/>
          </p:cNvSpPr>
          <p:nvPr/>
        </p:nvSpPr>
        <p:spPr>
          <a:xfrm xmlns:a="http://schemas.openxmlformats.org/drawingml/2006/main">
            <a:off x="6305550" y="3038475"/>
            <a:ext cx="400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1">
                <a:solidFill>
                  <a:srgbClr val="FFFFFF"/>
                </a:solidFill>
                <a:latin typeface="Helvetica Neue"/>
                <a:ea typeface="Helvetica Neue"/>
                <a:cs typeface="Helvetica Neue"/>
              </a:defRPr>
            </a:defPPr>
          </a:lstStyle>
          <a:p xmlns:a="http://schemas.openxmlformats.org/drawingml/2006/main">
            <a:pPr algn="ctr">
              <a:lnSpc>
                <a:spcPct val="105000"/>
              </a:lnSpc>
              <a:buNone/>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04</a:t>
            </a:r>
          </a:p>
        </p:txBody>
      </p:sp>
      <p:sp>
        <p:nvSpPr>
          <p:cNvPr id="21" name="">
            <a:extLst xmlns:a="http://schemas.openxmlformats.org/drawingml/2006/main">
              <a:ext uri="{FF2B5EF4-FFF2-40B4-BE49-F238E27FC236}">
                <a16:creationId xmlns:a16="http://schemas.microsoft.com/office/drawing/2014/main" id="{36A3044E-31F1-4154-B2AD-BAF00257F822}"/>
              </a:ext>
            </a:extLst>
          </p:cNvPr>
          <p:cNvSpPr>
            <a:spLocks xmlns:a="http://schemas.openxmlformats.org/drawingml/2006/main" noGrp="1"/>
          </p:cNvSpPr>
          <p:nvPr/>
        </p:nvSpPr>
        <p:spPr>
          <a:xfrm xmlns:a="http://schemas.openxmlformats.org/drawingml/2006/main">
            <a:off x="6896100" y="2895600"/>
            <a:ext cx="447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0253F"/>
                </a:solidFill>
                <a:latin typeface="Helvetica Neue"/>
                <a:ea typeface="Helvetica Neue"/>
                <a:cs typeface="Helvetica Neue"/>
              </a:defRPr>
            </a:defPPr>
          </a:lstStyle>
          <a:p xmlns:a="http://schemas.openxmlformats.org/drawingml/2006/main">
            <a:pPr algn="l">
              <a:lnSpc>
                <a:spcPct val="105000"/>
              </a:lnSpc>
              <a:buNone/>
              <a:defRPr sz="1500" b="1">
                <a:solidFill>
                  <a:srgbClr val="10253F"/>
                </a:solidFill>
                <a:latin typeface="Helvetica Neue"/>
                <a:ea typeface="Helvetica Neue"/>
                <a:cs typeface="Helvetica Neue"/>
              </a:defRPr>
            </a:pPr>
            <a:r>
              <a:rPr sz="1500" b="1">
                <a:solidFill>
                  <a:srgbClr val="10253F"/>
                </a:solidFill>
                <a:latin typeface="Helvetica Neue"/>
                <a:ea typeface="Helvetica Neue"/>
                <a:cs typeface="Helvetica Neue"/>
              </a:rPr>
              <a:t>Aggregate candidate answers</a:t>
            </a:r>
          </a:p>
        </p:txBody>
      </p:sp>
      <p:sp>
        <p:nvSpPr>
          <p:cNvPr id="22" name="">
            <a:extLst xmlns:a="http://schemas.openxmlformats.org/drawingml/2006/main">
              <a:ext uri="{FF2B5EF4-FFF2-40B4-BE49-F238E27FC236}">
                <a16:creationId xmlns:a16="http://schemas.microsoft.com/office/drawing/2014/main" id="{80CFB06B-3998-485C-91F8-BFA81A467BC8}"/>
              </a:ext>
            </a:extLst>
          </p:cNvPr>
          <p:cNvSpPr>
            <a:spLocks xmlns:a="http://schemas.openxmlformats.org/drawingml/2006/main" noGrp="1"/>
          </p:cNvSpPr>
          <p:nvPr/>
        </p:nvSpPr>
        <p:spPr>
          <a:xfrm xmlns:a="http://schemas.openxmlformats.org/drawingml/2006/main">
            <a:off x="6896100" y="3276600"/>
            <a:ext cx="45529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36477"/>
                </a:solidFill>
                <a:latin typeface="Helvetica Neue"/>
                <a:ea typeface="Helvetica Neue"/>
                <a:cs typeface="Helvetica Neue"/>
              </a:defRPr>
            </a:defPPr>
          </a:lstStyle>
          <a:p xmlns:a="http://schemas.openxmlformats.org/drawingml/2006/main">
            <a:pPr algn="l">
              <a:lnSpc>
                <a:spcPct val="105000"/>
              </a:lnSpc>
              <a:buNone/>
              <a:defRPr sz="1200" b="0">
                <a:solidFill>
                  <a:srgbClr val="536477"/>
                </a:solidFill>
                <a:latin typeface="Helvetica Neue"/>
                <a:ea typeface="Helvetica Neue"/>
                <a:cs typeface="Helvetica Neue"/>
              </a:defRPr>
            </a:pPr>
            <a:r>
              <a:rPr sz="1200" b="0">
                <a:solidFill>
                  <a:srgbClr val="536477"/>
                </a:solidFill>
                <a:latin typeface="Helvetica Neue"/>
                <a:ea typeface="Helvetica Neue"/>
                <a:cs typeface="Helvetica Neue"/>
              </a:rPr>
              <a:t>Compare plurality voting with ENN-entropy-weighted voting.</a:t>
            </a:r>
          </a:p>
        </p:txBody>
      </p:sp>
      <p:sp>
        <p:nvSpPr>
          <p:cNvPr id="23" name="">
            <a:extLst xmlns:a="http://schemas.openxmlformats.org/drawingml/2006/main">
              <a:ext uri="{FF2B5EF4-FFF2-40B4-BE49-F238E27FC236}">
                <a16:creationId xmlns:a16="http://schemas.microsoft.com/office/drawing/2014/main" id="{4690DDFF-45A7-4275-A40D-831A70001868}"/>
              </a:ext>
            </a:extLst>
          </p:cNvPr>
          <p:cNvSpPr>
            <a:spLocks xmlns:a="http://schemas.openxmlformats.org/drawingml/2006/main" noGrp="1"/>
          </p:cNvSpPr>
          <p:nvPr/>
        </p:nvSpPr>
        <p:spPr>
          <a:xfrm xmlns:a="http://schemas.openxmlformats.org/drawingml/2006/main">
            <a:off x="685800" y="4343400"/>
            <a:ext cx="400050" cy="400050"/>
          </a:xfrm>
          <a:prstGeom xmlns:a="http://schemas.openxmlformats.org/drawingml/2006/main" prst="ellipse">
            <a:avLst/>
          </a:prstGeom>
          <a:solidFill xmlns:a="http://schemas.openxmlformats.org/drawingml/2006/main">
            <a:srgbClr val="148A8A"/>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BEF6BAA1-80BF-43A8-B837-5BE6F5E1D8AB}"/>
              </a:ext>
            </a:extLst>
          </p:cNvPr>
          <p:cNvSpPr>
            <a:spLocks xmlns:a="http://schemas.openxmlformats.org/drawingml/2006/main" noGrp="1"/>
          </p:cNvSpPr>
          <p:nvPr/>
        </p:nvSpPr>
        <p:spPr>
          <a:xfrm xmlns:a="http://schemas.openxmlformats.org/drawingml/2006/main">
            <a:off x="685800" y="4448175"/>
            <a:ext cx="400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1">
                <a:solidFill>
                  <a:srgbClr val="FFFFFF"/>
                </a:solidFill>
                <a:latin typeface="Helvetica Neue"/>
                <a:ea typeface="Helvetica Neue"/>
                <a:cs typeface="Helvetica Neue"/>
              </a:defRPr>
            </a:defPPr>
          </a:lstStyle>
          <a:p xmlns:a="http://schemas.openxmlformats.org/drawingml/2006/main">
            <a:pPr algn="ctr">
              <a:lnSpc>
                <a:spcPct val="105000"/>
              </a:lnSpc>
              <a:buNone/>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05</a:t>
            </a:r>
          </a:p>
        </p:txBody>
      </p:sp>
      <p:sp>
        <p:nvSpPr>
          <p:cNvPr id="25" name="">
            <a:extLst xmlns:a="http://schemas.openxmlformats.org/drawingml/2006/main">
              <a:ext uri="{FF2B5EF4-FFF2-40B4-BE49-F238E27FC236}">
                <a16:creationId xmlns:a16="http://schemas.microsoft.com/office/drawing/2014/main" id="{269F3B77-D16B-4C59-9A13-ADBC129A4441}"/>
              </a:ext>
            </a:extLst>
          </p:cNvPr>
          <p:cNvSpPr>
            <a:spLocks xmlns:a="http://schemas.openxmlformats.org/drawingml/2006/main" noGrp="1"/>
          </p:cNvSpPr>
          <p:nvPr/>
        </p:nvSpPr>
        <p:spPr>
          <a:xfrm xmlns:a="http://schemas.openxmlformats.org/drawingml/2006/main">
            <a:off x="1276350" y="4305300"/>
            <a:ext cx="447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0253F"/>
                </a:solidFill>
                <a:latin typeface="Helvetica Neue"/>
                <a:ea typeface="Helvetica Neue"/>
                <a:cs typeface="Helvetica Neue"/>
              </a:defRPr>
            </a:defPPr>
          </a:lstStyle>
          <a:p xmlns:a="http://schemas.openxmlformats.org/drawingml/2006/main">
            <a:pPr algn="l">
              <a:lnSpc>
                <a:spcPct val="105000"/>
              </a:lnSpc>
              <a:buNone/>
              <a:defRPr sz="1500" b="1">
                <a:solidFill>
                  <a:srgbClr val="10253F"/>
                </a:solidFill>
                <a:latin typeface="Helvetica Neue"/>
                <a:ea typeface="Helvetica Neue"/>
                <a:cs typeface="Helvetica Neue"/>
              </a:defRPr>
            </a:pPr>
            <a:r>
              <a:rPr sz="1500" b="1">
                <a:solidFill>
                  <a:srgbClr val="10253F"/>
                </a:solidFill>
                <a:latin typeface="Helvetica Neue"/>
                <a:ea typeface="Helvetica Neue"/>
                <a:cs typeface="Helvetica Neue"/>
              </a:rPr>
              <a:t>Measure quality and confidence</a:t>
            </a:r>
          </a:p>
        </p:txBody>
      </p:sp>
      <p:sp>
        <p:nvSpPr>
          <p:cNvPr id="26" name="">
            <a:extLst xmlns:a="http://schemas.openxmlformats.org/drawingml/2006/main">
              <a:ext uri="{FF2B5EF4-FFF2-40B4-BE49-F238E27FC236}">
                <a16:creationId xmlns:a16="http://schemas.microsoft.com/office/drawing/2014/main" id="{B72A0727-1E40-46F4-A0AF-6A88C0F8D71E}"/>
              </a:ext>
            </a:extLst>
          </p:cNvPr>
          <p:cNvSpPr>
            <a:spLocks xmlns:a="http://schemas.openxmlformats.org/drawingml/2006/main" noGrp="1"/>
          </p:cNvSpPr>
          <p:nvPr/>
        </p:nvSpPr>
        <p:spPr>
          <a:xfrm xmlns:a="http://schemas.openxmlformats.org/drawingml/2006/main">
            <a:off x="1276350" y="4686300"/>
            <a:ext cx="45529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36477"/>
                </a:solidFill>
                <a:latin typeface="Helvetica Neue"/>
                <a:ea typeface="Helvetica Neue"/>
                <a:cs typeface="Helvetica Neue"/>
              </a:defRPr>
            </a:defPPr>
          </a:lstStyle>
          <a:p xmlns:a="http://schemas.openxmlformats.org/drawingml/2006/main">
            <a:pPr algn="l">
              <a:lnSpc>
                <a:spcPct val="105000"/>
              </a:lnSpc>
              <a:buNone/>
              <a:defRPr sz="1200" b="0">
                <a:solidFill>
                  <a:srgbClr val="536477"/>
                </a:solidFill>
                <a:latin typeface="Helvetica Neue"/>
                <a:ea typeface="Helvetica Neue"/>
                <a:cs typeface="Helvetica Neue"/>
              </a:defRPr>
            </a:pPr>
            <a:r>
              <a:rPr sz="1200" b="0">
                <a:solidFill>
                  <a:srgbClr val="536477"/>
                </a:solidFill>
                <a:latin typeface="Helvetica Neue"/>
                <a:ea typeface="Helvetica Neue"/>
                <a:cs typeface="Helvetica Neue"/>
              </a:rPr>
              <a:t>Evaluate exact match and calibration metrics when run outputs are available.</a:t>
            </a:r>
          </a:p>
        </p:txBody>
      </p:sp>
      <p:sp>
        <p:nvSpPr>
          <p:cNvPr id="27" name="">
            <a:extLst xmlns:a="http://schemas.openxmlformats.org/drawingml/2006/main">
              <a:ext uri="{FF2B5EF4-FFF2-40B4-BE49-F238E27FC236}">
                <a16:creationId xmlns:a16="http://schemas.microsoft.com/office/drawing/2014/main" id="{0AFD365F-C4EC-4DE5-988B-36C6DE53D7D1}"/>
              </a:ext>
            </a:extLst>
          </p:cNvPr>
          <p:cNvSpPr>
            <a:spLocks xmlns:a="http://schemas.openxmlformats.org/drawingml/2006/main" noGrp="1"/>
          </p:cNvSpPr>
          <p:nvPr/>
        </p:nvSpPr>
        <p:spPr>
          <a:xfrm xmlns:a="http://schemas.openxmlformats.org/drawingml/2006/main">
            <a:off x="6305550" y="4305300"/>
            <a:ext cx="4876800" cy="895350"/>
          </a:xfrm>
          <a:prstGeom xmlns:a="http://schemas.openxmlformats.org/drawingml/2006/main" prst="roundRect">
            <a:avLst>
              <a:gd name="adj" fmla="val 8511"/>
            </a:avLst>
          </a:prstGeom>
          <a:solidFill xmlns:a="http://schemas.openxmlformats.org/drawingml/2006/main">
            <a:srgbClr val="DDF3F1"/>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65F6DF71-619F-4B29-BB33-05F67AA681D2}"/>
              </a:ext>
            </a:extLst>
          </p:cNvPr>
          <p:cNvSpPr>
            <a:spLocks xmlns:a="http://schemas.openxmlformats.org/drawingml/2006/main" noGrp="1"/>
          </p:cNvSpPr>
          <p:nvPr/>
        </p:nvSpPr>
        <p:spPr>
          <a:xfrm xmlns:a="http://schemas.openxmlformats.org/drawingml/2006/main">
            <a:off x="6534150" y="4476750"/>
            <a:ext cx="4419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13283F"/>
                </a:solidFill>
                <a:latin typeface="Helvetica Neue"/>
                <a:ea typeface="Helvetica Neue"/>
                <a:cs typeface="Helvetica Neue"/>
              </a:defRPr>
            </a:defPPr>
          </a:lstStyle>
          <a:p xmlns:a="http://schemas.openxmlformats.org/drawingml/2006/main">
            <a:pPr algn="l">
              <a:lnSpc>
                <a:spcPct val="105000"/>
              </a:lnSpc>
              <a:buNone/>
              <a:defRPr sz="1275" b="1">
                <a:solidFill>
                  <a:srgbClr val="13283F"/>
                </a:solidFill>
                <a:latin typeface="Helvetica Neue"/>
                <a:ea typeface="Helvetica Neue"/>
                <a:cs typeface="Helvetica Neue"/>
              </a:defRPr>
            </a:pPr>
            <a:r>
              <a:rPr sz="1275" b="1">
                <a:solidFill>
                  <a:srgbClr val="13283F"/>
                </a:solidFill>
                <a:latin typeface="Helvetica Neue"/>
                <a:ea typeface="Helvetica Neue"/>
                <a:cs typeface="Helvetica Neue"/>
              </a:rPr>
              <a:t>Evaluation is part of the objective. Saved runs are small and do not establish a general performance gain.</a:t>
            </a:r>
          </a:p>
        </p:txBody>
      </p:sp>
    </p:spTree>
    <p:extLst>
      <p:ext uri="{BB962C8B-B14F-4D97-AF65-F5344CB8AC3E}">
        <p14:creationId xmlns:p14="http://schemas.microsoft.com/office/powerpoint/2010/main" val="348139373"/>
      </p:ext>
    </p:extLst>
  </p:cSld>
</p:sld>
</file>

<file path=ppt/slides/slide5.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B7DA8993-BE42-4EB4-B3B5-0A602F6AF327}"/>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CD7C2CB-9522-4304-B34D-9178E93EC927}"/>
              </a:ext>
            </a:extLst>
          </p:cNvPr>
          <p:cNvSpPr>
            <a:spLocks xmlns:a="http://schemas.openxmlformats.org/drawingml/2006/main" noGrp="1"/>
          </p:cNvSpPr>
          <p:nvPr/>
        </p:nvSpPr>
        <p:spPr>
          <a:xfrm xmlns:a="http://schemas.openxmlformats.org/drawingml/2006/main">
            <a:off x="552450" y="361950"/>
            <a:ext cx="1104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0253F"/>
                </a:solidFill>
                <a:latin typeface="Helvetica Neue"/>
                <a:ea typeface="Helvetica Neue"/>
                <a:cs typeface="Helvetica Neue"/>
              </a:defRPr>
            </a:defPPr>
          </a:lstStyle>
          <a:p xmlns:a="http://schemas.openxmlformats.org/drawingml/2006/main">
            <a:pPr algn="l">
              <a:lnSpc>
                <a:spcPct val="105000"/>
              </a:lnSpc>
              <a:buNone/>
              <a:defRPr sz="2550" b="1">
                <a:solidFill>
                  <a:srgbClr val="10253F"/>
                </a:solidFill>
                <a:latin typeface="Helvetica Neue"/>
                <a:ea typeface="Helvetica Neue"/>
                <a:cs typeface="Helvetica Neue"/>
              </a:defRPr>
            </a:pPr>
            <a:r>
              <a:rPr sz="2550" b="1">
                <a:solidFill>
                  <a:srgbClr val="10253F"/>
                </a:solidFill>
                <a:latin typeface="Helvetica Neue"/>
                <a:ea typeface="Helvetica Neue"/>
                <a:cs typeface="Helvetica Neue"/>
              </a:rPr>
              <a:t>Existing Methods &amp; Research Gap</a:t>
            </a:r>
          </a:p>
        </p:txBody>
      </p:sp>
      <p:sp>
        <p:nvSpPr>
          <p:cNvPr id="3" name="">
            <a:extLst xmlns:a="http://schemas.openxmlformats.org/drawingml/2006/main">
              <a:ext uri="{FF2B5EF4-FFF2-40B4-BE49-F238E27FC236}">
                <a16:creationId xmlns:a16="http://schemas.microsoft.com/office/drawing/2014/main" id="{8B89E674-D9EC-400B-AB53-37B7682FA99F}"/>
              </a:ext>
            </a:extLst>
          </p:cNvPr>
          <p:cNvSpPr>
            <a:spLocks xmlns:a="http://schemas.openxmlformats.org/drawingml/2006/main" noGrp="1"/>
          </p:cNvSpPr>
          <p:nvPr/>
        </p:nvSpPr>
        <p:spPr>
          <a:xfrm xmlns:a="http://schemas.openxmlformats.org/drawingml/2006/main">
            <a:off x="571500" y="876300"/>
            <a:ext cx="10953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36477"/>
                </a:solidFill>
                <a:latin typeface="Helvetica Neue"/>
                <a:ea typeface="Helvetica Neue"/>
                <a:cs typeface="Helvetica Neue"/>
              </a:defRPr>
            </a:defPPr>
          </a:lstStyle>
          <a:p xmlns:a="http://schemas.openxmlformats.org/drawingml/2006/main">
            <a:pPr algn="l">
              <a:lnSpc>
                <a:spcPct val="105000"/>
              </a:lnSpc>
              <a:buNone/>
              <a:defRPr sz="1275" b="0">
                <a:solidFill>
                  <a:srgbClr val="536477"/>
                </a:solidFill>
                <a:latin typeface="Helvetica Neue"/>
                <a:ea typeface="Helvetica Neue"/>
                <a:cs typeface="Helvetica Neue"/>
              </a:defRPr>
            </a:pPr>
            <a:r>
              <a:rPr sz="1275" b="0">
                <a:solidFill>
                  <a:srgbClr val="536477"/>
                </a:solidFill>
                <a:latin typeface="Helvetica Neue"/>
                <a:ea typeface="Helvetica Neue"/>
                <a:cs typeface="Helvetica Neue"/>
              </a:rPr>
              <a:t>The project combines established ideas for a local small-model evaluation pipeline.</a:t>
            </a:r>
          </a:p>
        </p:txBody>
      </p:sp>
      <p:sp>
        <p:nvSpPr>
          <p:cNvPr id="4" name="">
            <a:extLst xmlns:a="http://schemas.openxmlformats.org/drawingml/2006/main">
              <a:ext uri="{FF2B5EF4-FFF2-40B4-BE49-F238E27FC236}">
                <a16:creationId xmlns:a16="http://schemas.microsoft.com/office/drawing/2014/main" id="{FAE7516B-05EB-4DD2-9390-941A291C846C}"/>
              </a:ext>
            </a:extLst>
          </p:cNvPr>
          <p:cNvSpPr>
            <a:spLocks xmlns:a="http://schemas.openxmlformats.org/drawingml/2006/main" noGrp="1"/>
          </p:cNvSpPr>
          <p:nvPr/>
        </p:nvSpPr>
        <p:spPr>
          <a:xfrm xmlns:a="http://schemas.openxmlformats.org/drawingml/2006/main" flipV="0">
            <a:off x="571500" y="6438900"/>
            <a:ext cx="11049000" cy="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5" name="">
            <a:extLst xmlns:a="http://schemas.openxmlformats.org/drawingml/2006/main">
              <a:ext uri="{FF2B5EF4-FFF2-40B4-BE49-F238E27FC236}">
                <a16:creationId xmlns:a16="http://schemas.microsoft.com/office/drawing/2014/main" id="{30593A45-1546-42FC-9276-04FF51CFFBA1}"/>
              </a:ext>
            </a:extLst>
          </p:cNvPr>
          <p:cNvSpPr>
            <a:spLocks xmlns:a="http://schemas.openxmlformats.org/drawingml/2006/main" noGrp="1"/>
          </p:cNvSpPr>
          <p:nvPr/>
        </p:nvSpPr>
        <p:spPr>
          <a:xfrm xmlns:a="http://schemas.openxmlformats.org/drawingml/2006/main">
            <a:off x="571500" y="6534150"/>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536477"/>
                </a:solidFill>
                <a:latin typeface="Helvetica Neue"/>
                <a:ea typeface="Helvetica Neue"/>
                <a:cs typeface="Helvetica Neue"/>
              </a:defRPr>
            </a:defPPr>
          </a:lstStyle>
          <a:p xmlns:a="http://schemas.openxmlformats.org/drawingml/2006/main">
            <a:pPr algn="l">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VIT-AP UNIVERSITY  /  SCOPE</a:t>
            </a:r>
          </a:p>
        </p:txBody>
      </p:sp>
      <p:sp>
        <p:nvSpPr>
          <p:cNvPr id="6" name="">
            <a:extLst xmlns:a="http://schemas.openxmlformats.org/drawingml/2006/main">
              <a:ext uri="{FF2B5EF4-FFF2-40B4-BE49-F238E27FC236}">
                <a16:creationId xmlns:a16="http://schemas.microsoft.com/office/drawing/2014/main" id="{AFD70EB4-0335-4F7B-9057-0E83AC5E2F36}"/>
              </a:ext>
            </a:extLst>
          </p:cNvPr>
          <p:cNvSpPr>
            <a:spLocks xmlns:a="http://schemas.openxmlformats.org/drawingml/2006/main" noGrp="1"/>
          </p:cNvSpPr>
          <p:nvPr/>
        </p:nvSpPr>
        <p:spPr>
          <a:xfrm xmlns:a="http://schemas.openxmlformats.org/drawingml/2006/main">
            <a:off x="11087100" y="65151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a:solidFill>
                  <a:srgbClr val="536477"/>
                </a:solidFill>
                <a:latin typeface="Helvetica Neue"/>
                <a:ea typeface="Helvetica Neue"/>
                <a:cs typeface="Helvetica Neue"/>
              </a:defRPr>
            </a:defPPr>
          </a:lstStyle>
          <a:p xmlns:a="http://schemas.openxmlformats.org/drawingml/2006/main">
            <a:pPr algn="r">
              <a:lnSpc>
                <a:spcPct val="105000"/>
              </a:lnSpc>
              <a:buNone/>
              <a:defRPr sz="975" b="1">
                <a:solidFill>
                  <a:srgbClr val="536477"/>
                </a:solidFill>
                <a:latin typeface="Helvetica Neue"/>
                <a:ea typeface="Helvetica Neue"/>
                <a:cs typeface="Helvetica Neue"/>
              </a:defRPr>
            </a:pPr>
            <a:r>
              <a:rPr sz="975" b="1">
                <a:solidFill>
                  <a:srgbClr val="536477"/>
                </a:solidFill>
                <a:latin typeface="Helvetica Neue"/>
                <a:ea typeface="Helvetica Neue"/>
                <a:cs typeface="Helvetica Neue"/>
              </a:rPr>
              <a:t>05</a:t>
            </a:r>
          </a:p>
        </p:txBody>
      </p:sp>
      <p:sp>
        <p:nvSpPr>
          <p:cNvPr id="7" name="">
            <a:extLst xmlns:a="http://schemas.openxmlformats.org/drawingml/2006/main">
              <a:ext uri="{FF2B5EF4-FFF2-40B4-BE49-F238E27FC236}">
                <a16:creationId xmlns:a16="http://schemas.microsoft.com/office/drawing/2014/main" id="{79073945-B86C-405A-B51B-F96C0D19A5EE}"/>
              </a:ext>
            </a:extLst>
          </p:cNvPr>
          <p:cNvSpPr>
            <a:spLocks xmlns:a="http://schemas.openxmlformats.org/drawingml/2006/main" noGrp="1"/>
          </p:cNvSpPr>
          <p:nvPr/>
        </p:nvSpPr>
        <p:spPr>
          <a:xfrm xmlns:a="http://schemas.openxmlformats.org/drawingml/2006/main">
            <a:off x="666750" y="1543050"/>
            <a:ext cx="2324100" cy="2171700"/>
          </a:xfrm>
          <a:prstGeom xmlns:a="http://schemas.openxmlformats.org/drawingml/2006/main" prst="roundRect">
            <a:avLst>
              <a:gd name="adj" fmla="val 3509"/>
            </a:avLst>
          </a:prstGeom>
          <a:solidFill xmlns:a="http://schemas.openxmlformats.org/drawingml/2006/main">
            <a:srgbClr val="FFFFFF"/>
          </a:solidFill>
          <a:ln xmlns:a="http://schemas.openxmlformats.org/drawingml/2006/main" w="9525">
            <a:solidFill>
              <a:srgbClr val="D6DEE8"/>
            </a:solidFill>
            <a:prstDash val="solid"/>
          </a:ln>
        </p:spPr>
      </p:sp>
      <p:sp>
        <p:nvSpPr>
          <p:cNvPr id="8" name="">
            <a:extLst xmlns:a="http://schemas.openxmlformats.org/drawingml/2006/main">
              <a:ext uri="{FF2B5EF4-FFF2-40B4-BE49-F238E27FC236}">
                <a16:creationId xmlns:a16="http://schemas.microsoft.com/office/drawing/2014/main" id="{7700598C-6C9B-404B-A080-5C081A907D71}"/>
              </a:ext>
            </a:extLst>
          </p:cNvPr>
          <p:cNvSpPr>
            <a:spLocks xmlns:a="http://schemas.openxmlformats.org/drawingml/2006/main" noGrp="1"/>
          </p:cNvSpPr>
          <p:nvPr/>
        </p:nvSpPr>
        <p:spPr>
          <a:xfrm xmlns:a="http://schemas.openxmlformats.org/drawingml/2006/main">
            <a:off x="666750" y="1543050"/>
            <a:ext cx="2324100" cy="47625"/>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348FAB9E-9A53-41D0-9077-59656EFEE7C4}"/>
              </a:ext>
            </a:extLst>
          </p:cNvPr>
          <p:cNvSpPr>
            <a:spLocks xmlns:a="http://schemas.openxmlformats.org/drawingml/2006/main" noGrp="1"/>
          </p:cNvSpPr>
          <p:nvPr/>
        </p:nvSpPr>
        <p:spPr>
          <a:xfrm xmlns:a="http://schemas.openxmlformats.org/drawingml/2006/main">
            <a:off x="838200" y="1762125"/>
            <a:ext cx="19812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Base language model</a:t>
            </a:r>
          </a:p>
        </p:txBody>
      </p:sp>
      <p:sp>
        <p:nvSpPr>
          <p:cNvPr id="10" name="">
            <a:extLst xmlns:a="http://schemas.openxmlformats.org/drawingml/2006/main">
              <a:ext uri="{FF2B5EF4-FFF2-40B4-BE49-F238E27FC236}">
                <a16:creationId xmlns:a16="http://schemas.microsoft.com/office/drawing/2014/main" id="{B7E1B7B2-08BB-40B7-9831-4AE44985D386}"/>
              </a:ext>
            </a:extLst>
          </p:cNvPr>
          <p:cNvSpPr>
            <a:spLocks xmlns:a="http://schemas.openxmlformats.org/drawingml/2006/main" noGrp="1"/>
          </p:cNvSpPr>
          <p:nvPr/>
        </p:nvSpPr>
        <p:spPr>
          <a:xfrm xmlns:a="http://schemas.openxmlformats.org/drawingml/2006/main">
            <a:off x="838200" y="2114550"/>
            <a:ext cx="1981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2864C5"/>
                </a:solidFill>
                <a:latin typeface="Helvetica Neue"/>
                <a:ea typeface="Helvetica Neue"/>
                <a:cs typeface="Helvetica Neue"/>
              </a:defRPr>
            </a:defPPr>
          </a:lstStyle>
          <a:p xmlns:a="http://schemas.openxmlformats.org/drawingml/2006/main">
            <a:pPr algn="l">
              <a:lnSpc>
                <a:spcPct val="105000"/>
              </a:lnSpc>
              <a:buNone/>
              <a:defRPr sz="1050" b="1">
                <a:solidFill>
                  <a:srgbClr val="2864C5"/>
                </a:solidFill>
                <a:latin typeface="Helvetica Neue"/>
                <a:ea typeface="Helvetica Neue"/>
                <a:cs typeface="Helvetica Neue"/>
              </a:defRPr>
            </a:pPr>
            <a:r>
              <a:rPr sz="1050" b="1">
                <a:solidFill>
                  <a:srgbClr val="2864C5"/>
                </a:solidFill>
                <a:latin typeface="Helvetica Neue"/>
                <a:ea typeface="Helvetica Neue"/>
                <a:cs typeface="Helvetica Neue"/>
              </a:rPr>
              <a:t>Next-token prediction</a:t>
            </a:r>
          </a:p>
        </p:txBody>
      </p:sp>
      <p:sp>
        <p:nvSpPr>
          <p:cNvPr id="11" name="">
            <a:extLst xmlns:a="http://schemas.openxmlformats.org/drawingml/2006/main">
              <a:ext uri="{FF2B5EF4-FFF2-40B4-BE49-F238E27FC236}">
                <a16:creationId xmlns:a16="http://schemas.microsoft.com/office/drawing/2014/main" id="{A7171052-D128-4FBE-A146-19C04E1A1119}"/>
              </a:ext>
            </a:extLst>
          </p:cNvPr>
          <p:cNvSpPr>
            <a:spLocks xmlns:a="http://schemas.openxmlformats.org/drawingml/2006/main" noGrp="1"/>
          </p:cNvSpPr>
          <p:nvPr/>
        </p:nvSpPr>
        <p:spPr>
          <a:xfrm xmlns:a="http://schemas.openxmlformats.org/drawingml/2006/main">
            <a:off x="838200" y="2476500"/>
            <a:ext cx="19812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536477"/>
                </a:solidFill>
                <a:latin typeface="Helvetica Neue"/>
                <a:ea typeface="Helvetica Neue"/>
                <a:cs typeface="Helvetica Neue"/>
              </a:defRPr>
            </a:defPPr>
          </a:lstStyle>
          <a:p xmlns:a="http://schemas.openxmlformats.org/drawingml/2006/main">
            <a:pPr algn="l">
              <a:lnSpc>
                <a:spcPct val="105000"/>
              </a:lnSpc>
              <a:buNone/>
              <a:defRPr sz="1125" b="0">
                <a:solidFill>
                  <a:srgbClr val="536477"/>
                </a:solidFill>
                <a:latin typeface="Helvetica Neue"/>
                <a:ea typeface="Helvetica Neue"/>
                <a:cs typeface="Helvetica Neue"/>
              </a:defRPr>
            </a:pPr>
            <a:r>
              <a:rPr sz="1125" b="0">
                <a:solidFill>
                  <a:srgbClr val="536477"/>
                </a:solidFill>
                <a:latin typeface="Helvetica Neue"/>
                <a:ea typeface="Helvetica Neue"/>
                <a:cs typeface="Helvetica Neue"/>
              </a:rPr>
              <a:t>Produces a single continuation under greedy decoding or sampling.</a:t>
            </a:r>
          </a:p>
        </p:txBody>
      </p:sp>
      <p:sp>
        <p:nvSpPr>
          <p:cNvPr id="12" name="">
            <a:extLst xmlns:a="http://schemas.openxmlformats.org/drawingml/2006/main">
              <a:ext uri="{FF2B5EF4-FFF2-40B4-BE49-F238E27FC236}">
                <a16:creationId xmlns:a16="http://schemas.microsoft.com/office/drawing/2014/main" id="{796A17FD-B18E-47F7-8A19-59466D14FE5C}"/>
              </a:ext>
            </a:extLst>
          </p:cNvPr>
          <p:cNvSpPr>
            <a:spLocks xmlns:a="http://schemas.openxmlformats.org/drawingml/2006/main" noGrp="1"/>
          </p:cNvSpPr>
          <p:nvPr/>
        </p:nvSpPr>
        <p:spPr>
          <a:xfrm xmlns:a="http://schemas.openxmlformats.org/drawingml/2006/main">
            <a:off x="838200" y="3390900"/>
            <a:ext cx="20193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536477"/>
                </a:solidFill>
                <a:latin typeface="Helvetica Neue"/>
                <a:ea typeface="Helvetica Neue"/>
                <a:cs typeface="Helvetica Neue"/>
              </a:defRPr>
            </a:defPPr>
          </a:lstStyle>
          <a:p xmlns:a="http://schemas.openxmlformats.org/drawingml/2006/main">
            <a:pPr algn="l">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Zhang et al., 2024</a:t>
            </a:r>
          </a:p>
        </p:txBody>
      </p:sp>
      <p:sp>
        <p:nvSpPr>
          <p:cNvPr id="13" name="">
            <a:extLst xmlns:a="http://schemas.openxmlformats.org/drawingml/2006/main">
              <a:ext uri="{FF2B5EF4-FFF2-40B4-BE49-F238E27FC236}">
                <a16:creationId xmlns:a16="http://schemas.microsoft.com/office/drawing/2014/main" id="{A3DE52D7-EB15-4D78-AF47-46A2E5CB7E21}"/>
              </a:ext>
            </a:extLst>
          </p:cNvPr>
          <p:cNvSpPr>
            <a:spLocks xmlns:a="http://schemas.openxmlformats.org/drawingml/2006/main" noGrp="1"/>
          </p:cNvSpPr>
          <p:nvPr/>
        </p:nvSpPr>
        <p:spPr>
          <a:xfrm xmlns:a="http://schemas.openxmlformats.org/drawingml/2006/main">
            <a:off x="3505200" y="1543050"/>
            <a:ext cx="2324100" cy="2171700"/>
          </a:xfrm>
          <a:prstGeom xmlns:a="http://schemas.openxmlformats.org/drawingml/2006/main" prst="roundRect">
            <a:avLst>
              <a:gd name="adj" fmla="val 3509"/>
            </a:avLst>
          </a:prstGeom>
          <a:solidFill xmlns:a="http://schemas.openxmlformats.org/drawingml/2006/main">
            <a:srgbClr val="FFFFFF"/>
          </a:solidFill>
          <a:ln xmlns:a="http://schemas.openxmlformats.org/drawingml/2006/main" w="9525">
            <a:solidFill>
              <a:srgbClr val="D6DEE8"/>
            </a:solidFill>
            <a:prstDash val="solid"/>
          </a:ln>
        </p:spPr>
      </p:sp>
      <p:sp>
        <p:nvSpPr>
          <p:cNvPr id="14" name="">
            <a:extLst xmlns:a="http://schemas.openxmlformats.org/drawingml/2006/main">
              <a:ext uri="{FF2B5EF4-FFF2-40B4-BE49-F238E27FC236}">
                <a16:creationId xmlns:a16="http://schemas.microsoft.com/office/drawing/2014/main" id="{E8D1211D-9993-4EAB-AAA3-12FF5C4D377F}"/>
              </a:ext>
            </a:extLst>
          </p:cNvPr>
          <p:cNvSpPr>
            <a:spLocks xmlns:a="http://schemas.openxmlformats.org/drawingml/2006/main" noGrp="1"/>
          </p:cNvSpPr>
          <p:nvPr/>
        </p:nvSpPr>
        <p:spPr>
          <a:xfrm xmlns:a="http://schemas.openxmlformats.org/drawingml/2006/main">
            <a:off x="3505200" y="1543050"/>
            <a:ext cx="2324100" cy="47625"/>
          </a:xfrm>
          <a:prstGeom xmlns:a="http://schemas.openxmlformats.org/drawingml/2006/main" prst="rect">
            <a:avLst/>
          </a:prstGeom>
          <a:solidFill xmlns:a="http://schemas.openxmlformats.org/drawingml/2006/main">
            <a:srgbClr val="148A8A"/>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2A827BC5-8B59-41F1-AA57-56420595DC0B}"/>
              </a:ext>
            </a:extLst>
          </p:cNvPr>
          <p:cNvSpPr>
            <a:spLocks xmlns:a="http://schemas.openxmlformats.org/drawingml/2006/main" noGrp="1"/>
          </p:cNvSpPr>
          <p:nvPr/>
        </p:nvSpPr>
        <p:spPr>
          <a:xfrm xmlns:a="http://schemas.openxmlformats.org/drawingml/2006/main">
            <a:off x="3676650" y="1762125"/>
            <a:ext cx="19812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DoLa</a:t>
            </a:r>
          </a:p>
        </p:txBody>
      </p:sp>
      <p:sp>
        <p:nvSpPr>
          <p:cNvPr id="16" name="">
            <a:extLst xmlns:a="http://schemas.openxmlformats.org/drawingml/2006/main">
              <a:ext uri="{FF2B5EF4-FFF2-40B4-BE49-F238E27FC236}">
                <a16:creationId xmlns:a16="http://schemas.microsoft.com/office/drawing/2014/main" id="{55400742-66F4-4373-BAD5-01E22977F24A}"/>
              </a:ext>
            </a:extLst>
          </p:cNvPr>
          <p:cNvSpPr>
            <a:spLocks xmlns:a="http://schemas.openxmlformats.org/drawingml/2006/main" noGrp="1"/>
          </p:cNvSpPr>
          <p:nvPr/>
        </p:nvSpPr>
        <p:spPr>
          <a:xfrm xmlns:a="http://schemas.openxmlformats.org/drawingml/2006/main">
            <a:off x="3676650" y="2114550"/>
            <a:ext cx="1981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148A8A"/>
                </a:solidFill>
                <a:latin typeface="Helvetica Neue"/>
                <a:ea typeface="Helvetica Neue"/>
                <a:cs typeface="Helvetica Neue"/>
              </a:defRPr>
            </a:defPPr>
          </a:lstStyle>
          <a:p xmlns:a="http://schemas.openxmlformats.org/drawingml/2006/main">
            <a:pPr algn="l">
              <a:lnSpc>
                <a:spcPct val="105000"/>
              </a:lnSpc>
              <a:buNone/>
              <a:defRPr sz="1050" b="1">
                <a:solidFill>
                  <a:srgbClr val="148A8A"/>
                </a:solidFill>
                <a:latin typeface="Helvetica Neue"/>
                <a:ea typeface="Helvetica Neue"/>
                <a:cs typeface="Helvetica Neue"/>
              </a:defRPr>
            </a:pPr>
            <a:r>
              <a:rPr sz="1050" b="1">
                <a:solidFill>
                  <a:srgbClr val="148A8A"/>
                </a:solidFill>
                <a:latin typeface="Helvetica Neue"/>
                <a:ea typeface="Helvetica Neue"/>
                <a:cs typeface="Helvetica Neue"/>
              </a:rPr>
              <a:t>Layer-level contrast</a:t>
            </a:r>
          </a:p>
        </p:txBody>
      </p:sp>
      <p:sp>
        <p:nvSpPr>
          <p:cNvPr id="17" name="">
            <a:extLst xmlns:a="http://schemas.openxmlformats.org/drawingml/2006/main">
              <a:ext uri="{FF2B5EF4-FFF2-40B4-BE49-F238E27FC236}">
                <a16:creationId xmlns:a16="http://schemas.microsoft.com/office/drawing/2014/main" id="{9DD2E629-E00B-49A7-94BF-A53E5078AC30}"/>
              </a:ext>
            </a:extLst>
          </p:cNvPr>
          <p:cNvSpPr>
            <a:spLocks xmlns:a="http://schemas.openxmlformats.org/drawingml/2006/main" noGrp="1"/>
          </p:cNvSpPr>
          <p:nvPr/>
        </p:nvSpPr>
        <p:spPr>
          <a:xfrm xmlns:a="http://schemas.openxmlformats.org/drawingml/2006/main">
            <a:off x="3676650" y="2476500"/>
            <a:ext cx="19812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536477"/>
                </a:solidFill>
                <a:latin typeface="Helvetica Neue"/>
                <a:ea typeface="Helvetica Neue"/>
                <a:cs typeface="Helvetica Neue"/>
              </a:defRPr>
            </a:defPPr>
          </a:lstStyle>
          <a:p xmlns:a="http://schemas.openxmlformats.org/drawingml/2006/main">
            <a:pPr algn="l">
              <a:lnSpc>
                <a:spcPct val="105000"/>
              </a:lnSpc>
              <a:buNone/>
              <a:defRPr sz="1125" b="0">
                <a:solidFill>
                  <a:srgbClr val="536477"/>
                </a:solidFill>
                <a:latin typeface="Helvetica Neue"/>
                <a:ea typeface="Helvetica Neue"/>
                <a:cs typeface="Helvetica Neue"/>
              </a:defRPr>
            </a:pPr>
            <a:r>
              <a:rPr sz="1125" b="0">
                <a:solidFill>
                  <a:srgbClr val="536477"/>
                </a:solidFill>
                <a:latin typeface="Helvetica Neue"/>
                <a:ea typeface="Helvetica Neue"/>
                <a:cs typeface="Helvetica Neue"/>
              </a:rPr>
              <a:t>Contrasts mature and premature layer distributions during decoding.</a:t>
            </a:r>
          </a:p>
        </p:txBody>
      </p:sp>
      <p:sp>
        <p:nvSpPr>
          <p:cNvPr id="18" name="">
            <a:extLst xmlns:a="http://schemas.openxmlformats.org/drawingml/2006/main">
              <a:ext uri="{FF2B5EF4-FFF2-40B4-BE49-F238E27FC236}">
                <a16:creationId xmlns:a16="http://schemas.microsoft.com/office/drawing/2014/main" id="{15B9021A-FFE3-4C90-8694-8D25779BC2B7}"/>
              </a:ext>
            </a:extLst>
          </p:cNvPr>
          <p:cNvSpPr>
            <a:spLocks xmlns:a="http://schemas.openxmlformats.org/drawingml/2006/main" noGrp="1"/>
          </p:cNvSpPr>
          <p:nvPr/>
        </p:nvSpPr>
        <p:spPr>
          <a:xfrm xmlns:a="http://schemas.openxmlformats.org/drawingml/2006/main">
            <a:off x="3676650" y="3390900"/>
            <a:ext cx="20193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536477"/>
                </a:solidFill>
                <a:latin typeface="Helvetica Neue"/>
                <a:ea typeface="Helvetica Neue"/>
                <a:cs typeface="Helvetica Neue"/>
              </a:defRPr>
            </a:defPPr>
          </a:lstStyle>
          <a:p xmlns:a="http://schemas.openxmlformats.org/drawingml/2006/main">
            <a:pPr algn="l">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Chuang et al., ICLR 2024</a:t>
            </a:r>
          </a:p>
        </p:txBody>
      </p:sp>
      <p:sp>
        <p:nvSpPr>
          <p:cNvPr id="19" name="">
            <a:extLst xmlns:a="http://schemas.openxmlformats.org/drawingml/2006/main">
              <a:ext uri="{FF2B5EF4-FFF2-40B4-BE49-F238E27FC236}">
                <a16:creationId xmlns:a16="http://schemas.microsoft.com/office/drawing/2014/main" id="{4F9375EA-CCAB-4565-92A3-0F89662AE2D9}"/>
              </a:ext>
            </a:extLst>
          </p:cNvPr>
          <p:cNvSpPr>
            <a:spLocks xmlns:a="http://schemas.openxmlformats.org/drawingml/2006/main" noGrp="1"/>
          </p:cNvSpPr>
          <p:nvPr/>
        </p:nvSpPr>
        <p:spPr>
          <a:xfrm xmlns:a="http://schemas.openxmlformats.org/drawingml/2006/main">
            <a:off x="6343650" y="1543050"/>
            <a:ext cx="2324100" cy="2171700"/>
          </a:xfrm>
          <a:prstGeom xmlns:a="http://schemas.openxmlformats.org/drawingml/2006/main" prst="roundRect">
            <a:avLst>
              <a:gd name="adj" fmla="val 3509"/>
            </a:avLst>
          </a:prstGeom>
          <a:solidFill xmlns:a="http://schemas.openxmlformats.org/drawingml/2006/main">
            <a:srgbClr val="FFFFFF"/>
          </a:solidFill>
          <a:ln xmlns:a="http://schemas.openxmlformats.org/drawingml/2006/main" w="9525">
            <a:solidFill>
              <a:srgbClr val="D6DEE8"/>
            </a:solidFill>
            <a:prstDash val="solid"/>
          </a:ln>
        </p:spPr>
      </p:sp>
      <p:sp>
        <p:nvSpPr>
          <p:cNvPr id="20" name="">
            <a:extLst xmlns:a="http://schemas.openxmlformats.org/drawingml/2006/main">
              <a:ext uri="{FF2B5EF4-FFF2-40B4-BE49-F238E27FC236}">
                <a16:creationId xmlns:a16="http://schemas.microsoft.com/office/drawing/2014/main" id="{7CFC1B9B-04C2-449E-A1F4-C328F2C475C3}"/>
              </a:ext>
            </a:extLst>
          </p:cNvPr>
          <p:cNvSpPr>
            <a:spLocks xmlns:a="http://schemas.openxmlformats.org/drawingml/2006/main" noGrp="1"/>
          </p:cNvSpPr>
          <p:nvPr/>
        </p:nvSpPr>
        <p:spPr>
          <a:xfrm xmlns:a="http://schemas.openxmlformats.org/drawingml/2006/main">
            <a:off x="6343650" y="1543050"/>
            <a:ext cx="2324100" cy="47625"/>
          </a:xfrm>
          <a:prstGeom xmlns:a="http://schemas.openxmlformats.org/drawingml/2006/main" prst="rect">
            <a:avLst/>
          </a:prstGeom>
          <a:solidFill xmlns:a="http://schemas.openxmlformats.org/drawingml/2006/main">
            <a:srgbClr val="C7782B"/>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ECE41CA0-C95F-4EF2-83D5-828BD1C3D456}"/>
              </a:ext>
            </a:extLst>
          </p:cNvPr>
          <p:cNvSpPr>
            <a:spLocks xmlns:a="http://schemas.openxmlformats.org/drawingml/2006/main" noGrp="1"/>
          </p:cNvSpPr>
          <p:nvPr/>
        </p:nvSpPr>
        <p:spPr>
          <a:xfrm xmlns:a="http://schemas.openxmlformats.org/drawingml/2006/main">
            <a:off x="6515100" y="1762125"/>
            <a:ext cx="19812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Epinet / ENN</a:t>
            </a:r>
          </a:p>
        </p:txBody>
      </p:sp>
      <p:sp>
        <p:nvSpPr>
          <p:cNvPr id="22" name="">
            <a:extLst xmlns:a="http://schemas.openxmlformats.org/drawingml/2006/main">
              <a:ext uri="{FF2B5EF4-FFF2-40B4-BE49-F238E27FC236}">
                <a16:creationId xmlns:a16="http://schemas.microsoft.com/office/drawing/2014/main" id="{C7BBB743-BDD2-4013-A841-75F2F8163186}"/>
              </a:ext>
            </a:extLst>
          </p:cNvPr>
          <p:cNvSpPr>
            <a:spLocks xmlns:a="http://schemas.openxmlformats.org/drawingml/2006/main" noGrp="1"/>
          </p:cNvSpPr>
          <p:nvPr/>
        </p:nvSpPr>
        <p:spPr>
          <a:xfrm xmlns:a="http://schemas.openxmlformats.org/drawingml/2006/main">
            <a:off x="6515100" y="2114550"/>
            <a:ext cx="1981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C7782B"/>
                </a:solidFill>
                <a:latin typeface="Helvetica Neue"/>
                <a:ea typeface="Helvetica Neue"/>
                <a:cs typeface="Helvetica Neue"/>
              </a:defRPr>
            </a:defPPr>
          </a:lstStyle>
          <a:p xmlns:a="http://schemas.openxmlformats.org/drawingml/2006/main">
            <a:pPr algn="l">
              <a:lnSpc>
                <a:spcPct val="105000"/>
              </a:lnSpc>
              <a:buNone/>
              <a:defRPr sz="1050" b="1">
                <a:solidFill>
                  <a:srgbClr val="C7782B"/>
                </a:solidFill>
                <a:latin typeface="Helvetica Neue"/>
                <a:ea typeface="Helvetica Neue"/>
                <a:cs typeface="Helvetica Neue"/>
              </a:defRPr>
            </a:pPr>
            <a:r>
              <a:rPr sz="1050" b="1">
                <a:solidFill>
                  <a:srgbClr val="C7782B"/>
                </a:solidFill>
                <a:latin typeface="Helvetica Neue"/>
                <a:ea typeface="Helvetica Neue"/>
                <a:cs typeface="Helvetica Neue"/>
              </a:rPr>
              <a:t>Epistemic signal</a:t>
            </a:r>
          </a:p>
        </p:txBody>
      </p:sp>
      <p:sp>
        <p:nvSpPr>
          <p:cNvPr id="23" name="">
            <a:extLst xmlns:a="http://schemas.openxmlformats.org/drawingml/2006/main">
              <a:ext uri="{FF2B5EF4-FFF2-40B4-BE49-F238E27FC236}">
                <a16:creationId xmlns:a16="http://schemas.microsoft.com/office/drawing/2014/main" id="{0D9C1888-1B04-47B9-BD5F-923597A01CE3}"/>
              </a:ext>
            </a:extLst>
          </p:cNvPr>
          <p:cNvSpPr>
            <a:spLocks xmlns:a="http://schemas.openxmlformats.org/drawingml/2006/main" noGrp="1"/>
          </p:cNvSpPr>
          <p:nvPr/>
        </p:nvSpPr>
        <p:spPr>
          <a:xfrm xmlns:a="http://schemas.openxmlformats.org/drawingml/2006/main">
            <a:off x="6515100" y="2476500"/>
            <a:ext cx="19812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536477"/>
                </a:solidFill>
                <a:latin typeface="Helvetica Neue"/>
                <a:ea typeface="Helvetica Neue"/>
                <a:cs typeface="Helvetica Neue"/>
              </a:defRPr>
            </a:defPPr>
          </a:lstStyle>
          <a:p xmlns:a="http://schemas.openxmlformats.org/drawingml/2006/main">
            <a:pPr algn="l">
              <a:lnSpc>
                <a:spcPct val="105000"/>
              </a:lnSpc>
              <a:buNone/>
              <a:defRPr sz="1125" b="0">
                <a:solidFill>
                  <a:srgbClr val="536477"/>
                </a:solidFill>
                <a:latin typeface="Helvetica Neue"/>
                <a:ea typeface="Helvetica Neue"/>
                <a:cs typeface="Helvetica Neue"/>
              </a:defRPr>
            </a:pPr>
            <a:r>
              <a:rPr sz="1125" b="0">
                <a:solidFill>
                  <a:srgbClr val="536477"/>
                </a:solidFill>
                <a:latin typeface="Helvetica Neue"/>
                <a:ea typeface="Helvetica Neue"/>
                <a:cs typeface="Helvetica Neue"/>
              </a:rPr>
              <a:t>Indexes predictions by a sampled epistemic variable to expose model uncertainty.</a:t>
            </a:r>
          </a:p>
        </p:txBody>
      </p:sp>
      <p:sp>
        <p:nvSpPr>
          <p:cNvPr id="24" name="">
            <a:extLst xmlns:a="http://schemas.openxmlformats.org/drawingml/2006/main">
              <a:ext uri="{FF2B5EF4-FFF2-40B4-BE49-F238E27FC236}">
                <a16:creationId xmlns:a16="http://schemas.microsoft.com/office/drawing/2014/main" id="{E9BDFD25-077D-49A2-803A-0F4D56CF4A14}"/>
              </a:ext>
            </a:extLst>
          </p:cNvPr>
          <p:cNvSpPr>
            <a:spLocks xmlns:a="http://schemas.openxmlformats.org/drawingml/2006/main" noGrp="1"/>
          </p:cNvSpPr>
          <p:nvPr/>
        </p:nvSpPr>
        <p:spPr>
          <a:xfrm xmlns:a="http://schemas.openxmlformats.org/drawingml/2006/main">
            <a:off x="6515100" y="3390900"/>
            <a:ext cx="20193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536477"/>
                </a:solidFill>
                <a:latin typeface="Helvetica Neue"/>
                <a:ea typeface="Helvetica Neue"/>
                <a:cs typeface="Helvetica Neue"/>
              </a:defRPr>
            </a:defPPr>
          </a:lstStyle>
          <a:p xmlns:a="http://schemas.openxmlformats.org/drawingml/2006/main">
            <a:pPr algn="l">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Osband et al., 2021</a:t>
            </a:r>
          </a:p>
        </p:txBody>
      </p:sp>
      <p:sp>
        <p:nvSpPr>
          <p:cNvPr id="25" name="">
            <a:extLst xmlns:a="http://schemas.openxmlformats.org/drawingml/2006/main">
              <a:ext uri="{FF2B5EF4-FFF2-40B4-BE49-F238E27FC236}">
                <a16:creationId xmlns:a16="http://schemas.microsoft.com/office/drawing/2014/main" id="{0EE6C36E-596C-4843-A4EA-47906ECAFE0B}"/>
              </a:ext>
            </a:extLst>
          </p:cNvPr>
          <p:cNvSpPr>
            <a:spLocks xmlns:a="http://schemas.openxmlformats.org/drawingml/2006/main" noGrp="1"/>
          </p:cNvSpPr>
          <p:nvPr/>
        </p:nvSpPr>
        <p:spPr>
          <a:xfrm xmlns:a="http://schemas.openxmlformats.org/drawingml/2006/main">
            <a:off x="9182100" y="1543050"/>
            <a:ext cx="2324100" cy="2171700"/>
          </a:xfrm>
          <a:prstGeom xmlns:a="http://schemas.openxmlformats.org/drawingml/2006/main" prst="roundRect">
            <a:avLst>
              <a:gd name="adj" fmla="val 3509"/>
            </a:avLst>
          </a:prstGeom>
          <a:solidFill xmlns:a="http://schemas.openxmlformats.org/drawingml/2006/main">
            <a:srgbClr val="FFFFFF"/>
          </a:solidFill>
          <a:ln xmlns:a="http://schemas.openxmlformats.org/drawingml/2006/main" w="9525">
            <a:solidFill>
              <a:srgbClr val="D6DEE8"/>
            </a:solidFill>
            <a:prstDash val="solid"/>
          </a:ln>
        </p:spPr>
      </p:sp>
      <p:sp>
        <p:nvSpPr>
          <p:cNvPr id="26" name="">
            <a:extLst xmlns:a="http://schemas.openxmlformats.org/drawingml/2006/main">
              <a:ext uri="{FF2B5EF4-FFF2-40B4-BE49-F238E27FC236}">
                <a16:creationId xmlns:a16="http://schemas.microsoft.com/office/drawing/2014/main" id="{7CAB6398-54DC-4829-A343-D4BD277986BA}"/>
              </a:ext>
            </a:extLst>
          </p:cNvPr>
          <p:cNvSpPr>
            <a:spLocks xmlns:a="http://schemas.openxmlformats.org/drawingml/2006/main" noGrp="1"/>
          </p:cNvSpPr>
          <p:nvPr/>
        </p:nvSpPr>
        <p:spPr>
          <a:xfrm xmlns:a="http://schemas.openxmlformats.org/drawingml/2006/main">
            <a:off x="9182100" y="1543050"/>
            <a:ext cx="2324100" cy="47625"/>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68F8EFC1-0E3D-4DC6-B973-5FFCCFE7B654}"/>
              </a:ext>
            </a:extLst>
          </p:cNvPr>
          <p:cNvSpPr>
            <a:spLocks xmlns:a="http://schemas.openxmlformats.org/drawingml/2006/main" noGrp="1"/>
          </p:cNvSpPr>
          <p:nvPr/>
        </p:nvSpPr>
        <p:spPr>
          <a:xfrm xmlns:a="http://schemas.openxmlformats.org/drawingml/2006/main">
            <a:off x="9353550" y="1762125"/>
            <a:ext cx="19812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Self-consistency</a:t>
            </a:r>
          </a:p>
        </p:txBody>
      </p:sp>
      <p:sp>
        <p:nvSpPr>
          <p:cNvPr id="28" name="">
            <a:extLst xmlns:a="http://schemas.openxmlformats.org/drawingml/2006/main">
              <a:ext uri="{FF2B5EF4-FFF2-40B4-BE49-F238E27FC236}">
                <a16:creationId xmlns:a16="http://schemas.microsoft.com/office/drawing/2014/main" id="{BECAF757-5B3C-43E0-BDDC-CDB5968630BC}"/>
              </a:ext>
            </a:extLst>
          </p:cNvPr>
          <p:cNvSpPr>
            <a:spLocks xmlns:a="http://schemas.openxmlformats.org/drawingml/2006/main" noGrp="1"/>
          </p:cNvSpPr>
          <p:nvPr/>
        </p:nvSpPr>
        <p:spPr>
          <a:xfrm xmlns:a="http://schemas.openxmlformats.org/drawingml/2006/main">
            <a:off x="9353550" y="2114550"/>
            <a:ext cx="1981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2864C5"/>
                </a:solidFill>
                <a:latin typeface="Helvetica Neue"/>
                <a:ea typeface="Helvetica Neue"/>
                <a:cs typeface="Helvetica Neue"/>
              </a:defRPr>
            </a:defPPr>
          </a:lstStyle>
          <a:p xmlns:a="http://schemas.openxmlformats.org/drawingml/2006/main">
            <a:pPr algn="l">
              <a:lnSpc>
                <a:spcPct val="105000"/>
              </a:lnSpc>
              <a:buNone/>
              <a:defRPr sz="1050" b="1">
                <a:solidFill>
                  <a:srgbClr val="2864C5"/>
                </a:solidFill>
                <a:latin typeface="Helvetica Neue"/>
                <a:ea typeface="Helvetica Neue"/>
                <a:cs typeface="Helvetica Neue"/>
              </a:defRPr>
            </a:pPr>
            <a:r>
              <a:rPr sz="1050" b="1">
                <a:solidFill>
                  <a:srgbClr val="2864C5"/>
                </a:solidFill>
                <a:latin typeface="Helvetica Neue"/>
                <a:ea typeface="Helvetica Neue"/>
                <a:cs typeface="Helvetica Neue"/>
              </a:rPr>
              <a:t>Answer aggregation</a:t>
            </a:r>
          </a:p>
        </p:txBody>
      </p:sp>
      <p:sp>
        <p:nvSpPr>
          <p:cNvPr id="29" name="">
            <a:extLst xmlns:a="http://schemas.openxmlformats.org/drawingml/2006/main">
              <a:ext uri="{FF2B5EF4-FFF2-40B4-BE49-F238E27FC236}">
                <a16:creationId xmlns:a16="http://schemas.microsoft.com/office/drawing/2014/main" id="{5DACCEF8-00FA-4639-A858-05A66ECEBB3E}"/>
              </a:ext>
            </a:extLst>
          </p:cNvPr>
          <p:cNvSpPr>
            <a:spLocks xmlns:a="http://schemas.openxmlformats.org/drawingml/2006/main" noGrp="1"/>
          </p:cNvSpPr>
          <p:nvPr/>
        </p:nvSpPr>
        <p:spPr>
          <a:xfrm xmlns:a="http://schemas.openxmlformats.org/drawingml/2006/main">
            <a:off x="9353550" y="2476500"/>
            <a:ext cx="19812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536477"/>
                </a:solidFill>
                <a:latin typeface="Helvetica Neue"/>
                <a:ea typeface="Helvetica Neue"/>
                <a:cs typeface="Helvetica Neue"/>
              </a:defRPr>
            </a:defPPr>
          </a:lstStyle>
          <a:p xmlns:a="http://schemas.openxmlformats.org/drawingml/2006/main">
            <a:pPr algn="l">
              <a:lnSpc>
                <a:spcPct val="105000"/>
              </a:lnSpc>
              <a:buNone/>
              <a:defRPr sz="1125" b="0">
                <a:solidFill>
                  <a:srgbClr val="536477"/>
                </a:solidFill>
                <a:latin typeface="Helvetica Neue"/>
                <a:ea typeface="Helvetica Neue"/>
                <a:cs typeface="Helvetica Neue"/>
              </a:defRPr>
            </a:pPr>
            <a:r>
              <a:rPr sz="1125" b="0">
                <a:solidFill>
                  <a:srgbClr val="536477"/>
                </a:solidFill>
                <a:latin typeface="Helvetica Neue"/>
                <a:ea typeface="Helvetica Neue"/>
                <a:cs typeface="Helvetica Neue"/>
              </a:rPr>
              <a:t>Samples several candidates and selects a normalized plurality answer.</a:t>
            </a:r>
          </a:p>
        </p:txBody>
      </p:sp>
      <p:sp>
        <p:nvSpPr>
          <p:cNvPr id="30" name="">
            <a:extLst xmlns:a="http://schemas.openxmlformats.org/drawingml/2006/main">
              <a:ext uri="{FF2B5EF4-FFF2-40B4-BE49-F238E27FC236}">
                <a16:creationId xmlns:a16="http://schemas.microsoft.com/office/drawing/2014/main" id="{DFB75BCD-599C-40A9-86EE-9B2CDA4CD6D0}"/>
              </a:ext>
            </a:extLst>
          </p:cNvPr>
          <p:cNvSpPr>
            <a:spLocks xmlns:a="http://schemas.openxmlformats.org/drawingml/2006/main" noGrp="1"/>
          </p:cNvSpPr>
          <p:nvPr/>
        </p:nvSpPr>
        <p:spPr>
          <a:xfrm xmlns:a="http://schemas.openxmlformats.org/drawingml/2006/main">
            <a:off x="9353550" y="3390900"/>
            <a:ext cx="20193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536477"/>
                </a:solidFill>
                <a:latin typeface="Helvetica Neue"/>
                <a:ea typeface="Helvetica Neue"/>
                <a:cs typeface="Helvetica Neue"/>
              </a:defRPr>
            </a:defPPr>
          </a:lstStyle>
          <a:p xmlns:a="http://schemas.openxmlformats.org/drawingml/2006/main">
            <a:pPr algn="l">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Wang et al., ICLR 2023</a:t>
            </a:r>
          </a:p>
        </p:txBody>
      </p:sp>
      <p:sp>
        <p:nvSpPr>
          <p:cNvPr id="31" name="">
            <a:extLst xmlns:a="http://schemas.openxmlformats.org/drawingml/2006/main">
              <a:ext uri="{FF2B5EF4-FFF2-40B4-BE49-F238E27FC236}">
                <a16:creationId xmlns:a16="http://schemas.microsoft.com/office/drawing/2014/main" id="{08F21594-AF38-455F-BD40-87FE0BED059B}"/>
              </a:ext>
            </a:extLst>
          </p:cNvPr>
          <p:cNvSpPr>
            <a:spLocks xmlns:a="http://schemas.openxmlformats.org/drawingml/2006/main" noGrp="1"/>
          </p:cNvSpPr>
          <p:nvPr/>
        </p:nvSpPr>
        <p:spPr>
          <a:xfrm xmlns:a="http://schemas.openxmlformats.org/drawingml/2006/main">
            <a:off x="685800" y="4114800"/>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864C5"/>
                </a:solidFill>
                <a:latin typeface="Helvetica Neue"/>
                <a:ea typeface="Helvetica Neue"/>
                <a:cs typeface="Helvetica Neue"/>
              </a:defRPr>
            </a:defPPr>
          </a:lstStyle>
          <a:p xmlns:a="http://schemas.openxmlformats.org/drawingml/2006/main">
            <a:pPr algn="l">
              <a:lnSpc>
                <a:spcPct val="105000"/>
              </a:lnSpc>
              <a:buNone/>
              <a:defRPr sz="975" b="1">
                <a:solidFill>
                  <a:srgbClr val="2864C5"/>
                </a:solidFill>
                <a:latin typeface="Helvetica Neue"/>
                <a:ea typeface="Helvetica Neue"/>
                <a:cs typeface="Helvetica Neue"/>
              </a:defRPr>
            </a:pPr>
            <a:r>
              <a:rPr sz="975" b="1">
                <a:solidFill>
                  <a:srgbClr val="2864C5"/>
                </a:solidFill>
                <a:latin typeface="Helvetica Neue"/>
                <a:ea typeface="Helvetica Neue"/>
                <a:cs typeface="Helvetica Neue"/>
              </a:rPr>
              <a:t>RESEARCH GAP IN THIS CAPSTONE</a:t>
            </a:r>
          </a:p>
        </p:txBody>
      </p:sp>
      <p:sp>
        <p:nvSpPr>
          <p:cNvPr id="32" name="">
            <a:extLst xmlns:a="http://schemas.openxmlformats.org/drawingml/2006/main">
              <a:ext uri="{FF2B5EF4-FFF2-40B4-BE49-F238E27FC236}">
                <a16:creationId xmlns:a16="http://schemas.microsoft.com/office/drawing/2014/main" id="{4A709366-7DDE-4033-8563-C7B6C5E9C48E}"/>
              </a:ext>
            </a:extLst>
          </p:cNvPr>
          <p:cNvSpPr>
            <a:spLocks xmlns:a="http://schemas.openxmlformats.org/drawingml/2006/main" noGrp="1"/>
          </p:cNvSpPr>
          <p:nvPr/>
        </p:nvSpPr>
        <p:spPr>
          <a:xfrm xmlns:a="http://schemas.openxmlformats.org/drawingml/2006/main">
            <a:off x="685800" y="4400550"/>
            <a:ext cx="106299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10253F"/>
                </a:solidFill>
                <a:latin typeface="Helvetica Neue"/>
                <a:ea typeface="Helvetica Neue"/>
                <a:cs typeface="Helvetica Neue"/>
              </a:defRPr>
            </a:defPPr>
          </a:lstStyle>
          <a:p xmlns:a="http://schemas.openxmlformats.org/drawingml/2006/main">
            <a:pPr algn="l">
              <a:lnSpc>
                <a:spcPct val="105000"/>
              </a:lnSpc>
              <a:buNone/>
              <a:defRPr sz="1650" b="1">
                <a:solidFill>
                  <a:srgbClr val="10253F"/>
                </a:solidFill>
                <a:latin typeface="Helvetica Neue"/>
                <a:ea typeface="Helvetica Neue"/>
                <a:cs typeface="Helvetica Neue"/>
              </a:defRPr>
            </a:pPr>
            <a:r>
              <a:rPr sz="1650" b="1">
                <a:solidFill>
                  <a:srgbClr val="10253F"/>
                </a:solidFill>
                <a:latin typeface="Helvetica Neue"/>
                <a:ea typeface="Helvetica Neue"/>
                <a:cs typeface="Helvetica Neue"/>
              </a:rPr>
              <a:t>The repository brings these components together. Small C4 and TruthfulQA runs are recorded, but they do not establish a general reliability gain.</a:t>
            </a:r>
          </a:p>
        </p:txBody>
      </p:sp>
      <p:sp>
        <p:nvSpPr>
          <p:cNvPr id="33" name="">
            <a:extLst xmlns:a="http://schemas.openxmlformats.org/drawingml/2006/main">
              <a:ext uri="{FF2B5EF4-FFF2-40B4-BE49-F238E27FC236}">
                <a16:creationId xmlns:a16="http://schemas.microsoft.com/office/drawing/2014/main" id="{4C167AF1-F727-41D7-B4C4-AFC158D68798}"/>
              </a:ext>
            </a:extLst>
          </p:cNvPr>
          <p:cNvSpPr>
            <a:spLocks xmlns:a="http://schemas.openxmlformats.org/drawingml/2006/main" noGrp="1"/>
          </p:cNvSpPr>
          <p:nvPr/>
        </p:nvSpPr>
        <p:spPr>
          <a:xfrm xmlns:a="http://schemas.openxmlformats.org/drawingml/2006/main" flipV="0">
            <a:off x="685800" y="5391150"/>
            <a:ext cx="10687050" cy="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34" name="">
            <a:extLst xmlns:a="http://schemas.openxmlformats.org/drawingml/2006/main">
              <a:ext uri="{FF2B5EF4-FFF2-40B4-BE49-F238E27FC236}">
                <a16:creationId xmlns:a16="http://schemas.microsoft.com/office/drawing/2014/main" id="{46544A78-EA01-43E0-8EDB-3B55C4FBA666}"/>
              </a:ext>
            </a:extLst>
          </p:cNvPr>
          <p:cNvSpPr>
            <a:spLocks xmlns:a="http://schemas.openxmlformats.org/drawingml/2006/main" noGrp="1"/>
          </p:cNvSpPr>
          <p:nvPr/>
        </p:nvSpPr>
        <p:spPr>
          <a:xfrm xmlns:a="http://schemas.openxmlformats.org/drawingml/2006/main">
            <a:off x="685800" y="5572125"/>
            <a:ext cx="10715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References: TinyLlama (Zhang et al., 2024)  ·  DoLa (Chuang et al., 2024)  ·  ENN (Osband et al., 2021)  ·  Self-consistency (Wang et al., 2023)</a:t>
            </a:r>
          </a:p>
        </p:txBody>
      </p:sp>
    </p:spTree>
    <p:extLst>
      <p:ext uri="{BB962C8B-B14F-4D97-AF65-F5344CB8AC3E}">
        <p14:creationId xmlns:p14="http://schemas.microsoft.com/office/powerpoint/2010/main" val="1145262393"/>
      </p:ext>
    </p:extLst>
  </p:cSld>
</p:sld>
</file>

<file path=ppt/slides/slide6.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57" name="">
            <a:extLst xmlns:a="http://schemas.openxmlformats.org/drawingml/2006/main">
              <a:ext uri="{FF2B5EF4-FFF2-40B4-BE49-F238E27FC236}">
                <a16:creationId xmlns:a16="http://schemas.microsoft.com/office/drawing/2014/main" id="{C8D9E0FF-53C2-450D-A187-0B46074EB6C2}"/>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B1FA1FA-8745-451D-84ED-A88493BAA842}"/>
              </a:ext>
            </a:extLst>
          </p:cNvPr>
          <p:cNvSpPr>
            <a:spLocks xmlns:a="http://schemas.openxmlformats.org/drawingml/2006/main" noGrp="1"/>
          </p:cNvSpPr>
          <p:nvPr/>
        </p:nvSpPr>
        <p:spPr>
          <a:xfrm xmlns:a="http://schemas.openxmlformats.org/drawingml/2006/main">
            <a:off x="552450" y="361950"/>
            <a:ext cx="1104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0253F"/>
                </a:solidFill>
                <a:latin typeface="Helvetica Neue"/>
                <a:ea typeface="Helvetica Neue"/>
                <a:cs typeface="Helvetica Neue"/>
              </a:defRPr>
            </a:defPPr>
          </a:lstStyle>
          <a:p xmlns:a="http://schemas.openxmlformats.org/drawingml/2006/main">
            <a:pPr algn="l">
              <a:lnSpc>
                <a:spcPct val="105000"/>
              </a:lnSpc>
              <a:buNone/>
              <a:defRPr sz="2550" b="1">
                <a:solidFill>
                  <a:srgbClr val="10253F"/>
                </a:solidFill>
                <a:latin typeface="Helvetica Neue"/>
                <a:ea typeface="Helvetica Neue"/>
                <a:cs typeface="Helvetica Neue"/>
              </a:defRPr>
            </a:pPr>
            <a:r>
              <a:rPr sz="2550" b="1">
                <a:solidFill>
                  <a:srgbClr val="10253F"/>
                </a:solidFill>
                <a:latin typeface="Helvetica Neue"/>
                <a:ea typeface="Helvetica Neue"/>
                <a:cs typeface="Helvetica Neue"/>
              </a:rPr>
              <a:t>Proposed System &amp; Methodology</a:t>
            </a:r>
          </a:p>
        </p:txBody>
      </p:sp>
      <p:sp>
        <p:nvSpPr>
          <p:cNvPr id="3" name="">
            <a:extLst xmlns:a="http://schemas.openxmlformats.org/drawingml/2006/main">
              <a:ext uri="{FF2B5EF4-FFF2-40B4-BE49-F238E27FC236}">
                <a16:creationId xmlns:a16="http://schemas.microsoft.com/office/drawing/2014/main" id="{B42036F1-D92E-4FCA-98BB-DD592DFBDEC9}"/>
              </a:ext>
            </a:extLst>
          </p:cNvPr>
          <p:cNvSpPr>
            <a:spLocks xmlns:a="http://schemas.openxmlformats.org/drawingml/2006/main" noGrp="1"/>
          </p:cNvSpPr>
          <p:nvPr/>
        </p:nvSpPr>
        <p:spPr>
          <a:xfrm xmlns:a="http://schemas.openxmlformats.org/drawingml/2006/main">
            <a:off x="571500" y="876300"/>
            <a:ext cx="10953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36477"/>
                </a:solidFill>
                <a:latin typeface="Helvetica Neue"/>
                <a:ea typeface="Helvetica Neue"/>
                <a:cs typeface="Helvetica Neue"/>
              </a:defRPr>
            </a:defPPr>
          </a:lstStyle>
          <a:p xmlns:a="http://schemas.openxmlformats.org/drawingml/2006/main">
            <a:pPr algn="l">
              <a:lnSpc>
                <a:spcPct val="105000"/>
              </a:lnSpc>
              <a:buNone/>
              <a:defRPr sz="1275" b="0">
                <a:solidFill>
                  <a:srgbClr val="536477"/>
                </a:solidFill>
                <a:latin typeface="Helvetica Neue"/>
                <a:ea typeface="Helvetica Neue"/>
                <a:cs typeface="Helvetica Neue"/>
              </a:defRPr>
            </a:pPr>
            <a:r>
              <a:rPr sz="1275" b="0">
                <a:solidFill>
                  <a:srgbClr val="536477"/>
                </a:solidFill>
                <a:latin typeface="Helvetica Neue"/>
                <a:ea typeface="Helvetica Neue"/>
                <a:cs typeface="Helvetica Neue"/>
              </a:rPr>
              <a:t>Two paths meet at evaluation: C4 trains the Epinet; questions exercise answer generation and voting.</a:t>
            </a:r>
          </a:p>
        </p:txBody>
      </p:sp>
      <p:sp>
        <p:nvSpPr>
          <p:cNvPr id="4" name="">
            <a:extLst xmlns:a="http://schemas.openxmlformats.org/drawingml/2006/main">
              <a:ext uri="{FF2B5EF4-FFF2-40B4-BE49-F238E27FC236}">
                <a16:creationId xmlns:a16="http://schemas.microsoft.com/office/drawing/2014/main" id="{9B12B0FA-CAE0-4EBC-8B58-F87F61A4B7D2}"/>
              </a:ext>
            </a:extLst>
          </p:cNvPr>
          <p:cNvSpPr>
            <a:spLocks xmlns:a="http://schemas.openxmlformats.org/drawingml/2006/main" noGrp="1"/>
          </p:cNvSpPr>
          <p:nvPr/>
        </p:nvSpPr>
        <p:spPr>
          <a:xfrm xmlns:a="http://schemas.openxmlformats.org/drawingml/2006/main" flipV="0">
            <a:off x="571500" y="6438900"/>
            <a:ext cx="11049000" cy="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5" name="">
            <a:extLst xmlns:a="http://schemas.openxmlformats.org/drawingml/2006/main">
              <a:ext uri="{FF2B5EF4-FFF2-40B4-BE49-F238E27FC236}">
                <a16:creationId xmlns:a16="http://schemas.microsoft.com/office/drawing/2014/main" id="{AE158505-B15D-46A4-AAD9-6DF7D57773FC}"/>
              </a:ext>
            </a:extLst>
          </p:cNvPr>
          <p:cNvSpPr>
            <a:spLocks xmlns:a="http://schemas.openxmlformats.org/drawingml/2006/main" noGrp="1"/>
          </p:cNvSpPr>
          <p:nvPr/>
        </p:nvSpPr>
        <p:spPr>
          <a:xfrm xmlns:a="http://schemas.openxmlformats.org/drawingml/2006/main">
            <a:off x="571500" y="6534150"/>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536477"/>
                </a:solidFill>
                <a:latin typeface="Helvetica Neue"/>
                <a:ea typeface="Helvetica Neue"/>
                <a:cs typeface="Helvetica Neue"/>
              </a:defRPr>
            </a:defPPr>
          </a:lstStyle>
          <a:p xmlns:a="http://schemas.openxmlformats.org/drawingml/2006/main">
            <a:pPr algn="l">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VIT-AP UNIVERSITY  /  SCOPE</a:t>
            </a:r>
          </a:p>
        </p:txBody>
      </p:sp>
      <p:sp>
        <p:nvSpPr>
          <p:cNvPr id="6" name="">
            <a:extLst xmlns:a="http://schemas.openxmlformats.org/drawingml/2006/main">
              <a:ext uri="{FF2B5EF4-FFF2-40B4-BE49-F238E27FC236}">
                <a16:creationId xmlns:a16="http://schemas.microsoft.com/office/drawing/2014/main" id="{68E84CEB-D583-496A-8A48-3255DE5F2162}"/>
              </a:ext>
            </a:extLst>
          </p:cNvPr>
          <p:cNvSpPr>
            <a:spLocks xmlns:a="http://schemas.openxmlformats.org/drawingml/2006/main" noGrp="1"/>
          </p:cNvSpPr>
          <p:nvPr/>
        </p:nvSpPr>
        <p:spPr>
          <a:xfrm xmlns:a="http://schemas.openxmlformats.org/drawingml/2006/main">
            <a:off x="11087100" y="65151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a:solidFill>
                  <a:srgbClr val="536477"/>
                </a:solidFill>
                <a:latin typeface="Helvetica Neue"/>
                <a:ea typeface="Helvetica Neue"/>
                <a:cs typeface="Helvetica Neue"/>
              </a:defRPr>
            </a:defPPr>
          </a:lstStyle>
          <a:p xmlns:a="http://schemas.openxmlformats.org/drawingml/2006/main">
            <a:pPr algn="r">
              <a:lnSpc>
                <a:spcPct val="105000"/>
              </a:lnSpc>
              <a:buNone/>
              <a:defRPr sz="975" b="1">
                <a:solidFill>
                  <a:srgbClr val="536477"/>
                </a:solidFill>
                <a:latin typeface="Helvetica Neue"/>
                <a:ea typeface="Helvetica Neue"/>
                <a:cs typeface="Helvetica Neue"/>
              </a:defRPr>
            </a:pPr>
            <a:r>
              <a:rPr sz="975" b="1">
                <a:solidFill>
                  <a:srgbClr val="536477"/>
                </a:solidFill>
                <a:latin typeface="Helvetica Neue"/>
                <a:ea typeface="Helvetica Neue"/>
                <a:cs typeface="Helvetica Neue"/>
              </a:rPr>
              <a:t>06</a:t>
            </a:r>
          </a:p>
        </p:txBody>
      </p:sp>
      <p:sp>
        <p:nvSpPr>
          <p:cNvPr id="7" name="">
            <a:extLst xmlns:a="http://schemas.openxmlformats.org/drawingml/2006/main">
              <a:ext uri="{FF2B5EF4-FFF2-40B4-BE49-F238E27FC236}">
                <a16:creationId xmlns:a16="http://schemas.microsoft.com/office/drawing/2014/main" id="{075F126C-B602-4B5F-A578-0D0EC1A9B6C7}"/>
              </a:ext>
            </a:extLst>
          </p:cNvPr>
          <p:cNvSpPr>
            <a:spLocks xmlns:a="http://schemas.openxmlformats.org/drawingml/2006/main" noGrp="1"/>
          </p:cNvSpPr>
          <p:nvPr/>
        </p:nvSpPr>
        <p:spPr>
          <a:xfrm xmlns:a="http://schemas.openxmlformats.org/drawingml/2006/main">
            <a:off x="666750" y="1390650"/>
            <a:ext cx="2571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148A8A"/>
                </a:solidFill>
                <a:latin typeface="Helvetica Neue"/>
                <a:ea typeface="Helvetica Neue"/>
                <a:cs typeface="Helvetica Neue"/>
              </a:defRPr>
            </a:defPPr>
          </a:lstStyle>
          <a:p xmlns:a="http://schemas.openxmlformats.org/drawingml/2006/main">
            <a:pPr algn="l">
              <a:lnSpc>
                <a:spcPct val="105000"/>
              </a:lnSpc>
              <a:buNone/>
              <a:defRPr sz="975" b="1">
                <a:solidFill>
                  <a:srgbClr val="148A8A"/>
                </a:solidFill>
                <a:latin typeface="Helvetica Neue"/>
                <a:ea typeface="Helvetica Neue"/>
                <a:cs typeface="Helvetica Neue"/>
              </a:defRPr>
            </a:pPr>
            <a:r>
              <a:rPr sz="975" b="1">
                <a:solidFill>
                  <a:srgbClr val="148A8A"/>
                </a:solidFill>
                <a:latin typeface="Helvetica Neue"/>
                <a:ea typeface="Helvetica Neue"/>
                <a:cs typeface="Helvetica Neue"/>
              </a:rPr>
              <a:t>FEATURE TRAINING PATH</a:t>
            </a:r>
          </a:p>
        </p:txBody>
      </p:sp>
      <p:sp>
        <p:nvSpPr>
          <p:cNvPr id="8" name="">
            <a:extLst xmlns:a="http://schemas.openxmlformats.org/drawingml/2006/main">
              <a:ext uri="{FF2B5EF4-FFF2-40B4-BE49-F238E27FC236}">
                <a16:creationId xmlns:a16="http://schemas.microsoft.com/office/drawing/2014/main" id="{49F3A66C-E3AA-48B2-941A-F1F613DC8AC9}"/>
              </a:ext>
            </a:extLst>
          </p:cNvPr>
          <p:cNvSpPr>
            <a:spLocks xmlns:a="http://schemas.openxmlformats.org/drawingml/2006/main" noGrp="1"/>
          </p:cNvSpPr>
          <p:nvPr/>
        </p:nvSpPr>
        <p:spPr>
          <a:xfrm xmlns:a="http://schemas.openxmlformats.org/drawingml/2006/main">
            <a:off x="666750" y="1676400"/>
            <a:ext cx="2343150" cy="990600"/>
          </a:xfrm>
          <a:prstGeom xmlns:a="http://schemas.openxmlformats.org/drawingml/2006/main" prst="roundRect">
            <a:avLst>
              <a:gd name="adj" fmla="val 7692"/>
            </a:avLst>
          </a:prstGeom>
          <a:solidFill xmlns:a="http://schemas.openxmlformats.org/drawingml/2006/main">
            <a:srgbClr val="FFFFFF"/>
          </a:solidFill>
          <a:ln xmlns:a="http://schemas.openxmlformats.org/drawingml/2006/main" w="9525">
            <a:solidFill>
              <a:srgbClr val="D6DEE8"/>
            </a:solidFill>
            <a:prstDash val="solid"/>
          </a:ln>
        </p:spPr>
      </p:sp>
      <p:sp>
        <p:nvSpPr>
          <p:cNvPr id="9" name="">
            <a:extLst xmlns:a="http://schemas.openxmlformats.org/drawingml/2006/main">
              <a:ext uri="{FF2B5EF4-FFF2-40B4-BE49-F238E27FC236}">
                <a16:creationId xmlns:a16="http://schemas.microsoft.com/office/drawing/2014/main" id="{34114BA8-1611-4766-821E-997A4C7628AB}"/>
              </a:ext>
            </a:extLst>
          </p:cNvPr>
          <p:cNvSpPr>
            <a:spLocks xmlns:a="http://schemas.openxmlformats.org/drawingml/2006/main" noGrp="1"/>
          </p:cNvSpPr>
          <p:nvPr/>
        </p:nvSpPr>
        <p:spPr>
          <a:xfrm xmlns:a="http://schemas.openxmlformats.org/drawingml/2006/main">
            <a:off x="666750" y="1676400"/>
            <a:ext cx="47625" cy="990600"/>
          </a:xfrm>
          <a:prstGeom xmlns:a="http://schemas.openxmlformats.org/drawingml/2006/main" prst="rect">
            <a:avLst/>
          </a:prstGeom>
          <a:solidFill xmlns:a="http://schemas.openxmlformats.org/drawingml/2006/main">
            <a:srgbClr val="148A8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616CA24-E2F7-4CE7-A182-8240D151D57E}"/>
              </a:ext>
            </a:extLst>
          </p:cNvPr>
          <p:cNvSpPr>
            <a:spLocks xmlns:a="http://schemas.openxmlformats.org/drawingml/2006/main" noGrp="1"/>
          </p:cNvSpPr>
          <p:nvPr/>
        </p:nvSpPr>
        <p:spPr>
          <a:xfrm xmlns:a="http://schemas.openxmlformats.org/drawingml/2006/main">
            <a:off x="838200" y="1819275"/>
            <a:ext cx="2019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English C4</a:t>
            </a:r>
          </a:p>
        </p:txBody>
      </p:sp>
      <p:sp>
        <p:nvSpPr>
          <p:cNvPr id="11" name="">
            <a:extLst xmlns:a="http://schemas.openxmlformats.org/drawingml/2006/main">
              <a:ext uri="{FF2B5EF4-FFF2-40B4-BE49-F238E27FC236}">
                <a16:creationId xmlns:a16="http://schemas.microsoft.com/office/drawing/2014/main" id="{58849EE0-96E3-4939-A358-8B3C7064AB61}"/>
              </a:ext>
            </a:extLst>
          </p:cNvPr>
          <p:cNvSpPr>
            <a:spLocks xmlns:a="http://schemas.openxmlformats.org/drawingml/2006/main" noGrp="1"/>
          </p:cNvSpPr>
          <p:nvPr/>
        </p:nvSpPr>
        <p:spPr>
          <a:xfrm xmlns:a="http://schemas.openxmlformats.org/drawingml/2006/main">
            <a:off x="838200" y="2133600"/>
            <a:ext cx="20193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Stream or local shard</a:t>
            </a:r>
          </a:p>
        </p:txBody>
      </p:sp>
      <p:sp>
        <p:nvSpPr>
          <p:cNvPr id="12" name="">
            <a:extLst xmlns:a="http://schemas.openxmlformats.org/drawingml/2006/main">
              <a:ext uri="{FF2B5EF4-FFF2-40B4-BE49-F238E27FC236}">
                <a16:creationId xmlns:a16="http://schemas.microsoft.com/office/drawing/2014/main" id="{76FF15A8-0552-4D8A-9E2B-A98F806B2F79}"/>
              </a:ext>
            </a:extLst>
          </p:cNvPr>
          <p:cNvSpPr>
            <a:spLocks xmlns:a="http://schemas.openxmlformats.org/drawingml/2006/main" noGrp="1"/>
          </p:cNvSpPr>
          <p:nvPr/>
        </p:nvSpPr>
        <p:spPr>
          <a:xfrm xmlns:a="http://schemas.openxmlformats.org/drawingml/2006/main">
            <a:off x="3486150" y="1676400"/>
            <a:ext cx="2343150" cy="990600"/>
          </a:xfrm>
          <a:prstGeom xmlns:a="http://schemas.openxmlformats.org/drawingml/2006/main" prst="roundRect">
            <a:avLst>
              <a:gd name="adj" fmla="val 7692"/>
            </a:avLst>
          </a:prstGeom>
          <a:solidFill xmlns:a="http://schemas.openxmlformats.org/drawingml/2006/main">
            <a:srgbClr val="FFFFFF"/>
          </a:solidFill>
          <a:ln xmlns:a="http://schemas.openxmlformats.org/drawingml/2006/main" w="9525">
            <a:solidFill>
              <a:srgbClr val="D6DEE8"/>
            </a:solidFill>
            <a:prstDash val="solid"/>
          </a:ln>
        </p:spPr>
      </p:sp>
      <p:sp>
        <p:nvSpPr>
          <p:cNvPr id="13" name="">
            <a:extLst xmlns:a="http://schemas.openxmlformats.org/drawingml/2006/main">
              <a:ext uri="{FF2B5EF4-FFF2-40B4-BE49-F238E27FC236}">
                <a16:creationId xmlns:a16="http://schemas.microsoft.com/office/drawing/2014/main" id="{51AEA545-43F6-4968-9501-8C058601769A}"/>
              </a:ext>
            </a:extLst>
          </p:cNvPr>
          <p:cNvSpPr>
            <a:spLocks xmlns:a="http://schemas.openxmlformats.org/drawingml/2006/main" noGrp="1"/>
          </p:cNvSpPr>
          <p:nvPr/>
        </p:nvSpPr>
        <p:spPr>
          <a:xfrm xmlns:a="http://schemas.openxmlformats.org/drawingml/2006/main">
            <a:off x="3486150" y="1676400"/>
            <a:ext cx="47625" cy="990600"/>
          </a:xfrm>
          <a:prstGeom xmlns:a="http://schemas.openxmlformats.org/drawingml/2006/main" prst="rect">
            <a:avLst/>
          </a:prstGeom>
          <a:solidFill xmlns:a="http://schemas.openxmlformats.org/drawingml/2006/main">
            <a:srgbClr val="148A8A"/>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97CA293-5731-4B31-BA0F-27A3FA1DE0DC}"/>
              </a:ext>
            </a:extLst>
          </p:cNvPr>
          <p:cNvSpPr>
            <a:spLocks xmlns:a="http://schemas.openxmlformats.org/drawingml/2006/main" noGrp="1"/>
          </p:cNvSpPr>
          <p:nvPr/>
        </p:nvSpPr>
        <p:spPr>
          <a:xfrm xmlns:a="http://schemas.openxmlformats.org/drawingml/2006/main">
            <a:off x="3657600" y="1819275"/>
            <a:ext cx="2019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Feature extraction</a:t>
            </a:r>
          </a:p>
        </p:txBody>
      </p:sp>
      <p:sp>
        <p:nvSpPr>
          <p:cNvPr id="15" name="">
            <a:extLst xmlns:a="http://schemas.openxmlformats.org/drawingml/2006/main">
              <a:ext uri="{FF2B5EF4-FFF2-40B4-BE49-F238E27FC236}">
                <a16:creationId xmlns:a16="http://schemas.microsoft.com/office/drawing/2014/main" id="{5FD4C19B-5DE8-4852-9186-2D243AD59B7C}"/>
              </a:ext>
            </a:extLst>
          </p:cNvPr>
          <p:cNvSpPr>
            <a:spLocks xmlns:a="http://schemas.openxmlformats.org/drawingml/2006/main" noGrp="1"/>
          </p:cNvSpPr>
          <p:nvPr/>
        </p:nvSpPr>
        <p:spPr>
          <a:xfrm xmlns:a="http://schemas.openxmlformats.org/drawingml/2006/main">
            <a:off x="3657600" y="2133600"/>
            <a:ext cx="20193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TinyLlama hidden states</a:t>
            </a:r>
          </a:p>
        </p:txBody>
      </p:sp>
      <p:sp>
        <p:nvSpPr>
          <p:cNvPr id="16" name="">
            <a:extLst xmlns:a="http://schemas.openxmlformats.org/drawingml/2006/main">
              <a:ext uri="{FF2B5EF4-FFF2-40B4-BE49-F238E27FC236}">
                <a16:creationId xmlns:a16="http://schemas.microsoft.com/office/drawing/2014/main" id="{9CF50450-5954-42C1-A9EE-F67D2EB6F1B8}"/>
              </a:ext>
            </a:extLst>
          </p:cNvPr>
          <p:cNvSpPr>
            <a:spLocks xmlns:a="http://schemas.openxmlformats.org/drawingml/2006/main" noGrp="1"/>
          </p:cNvSpPr>
          <p:nvPr/>
        </p:nvSpPr>
        <p:spPr>
          <a:xfrm xmlns:a="http://schemas.openxmlformats.org/drawingml/2006/main">
            <a:off x="6305550" y="1676400"/>
            <a:ext cx="2343150" cy="990600"/>
          </a:xfrm>
          <a:prstGeom xmlns:a="http://schemas.openxmlformats.org/drawingml/2006/main" prst="roundRect">
            <a:avLst>
              <a:gd name="adj" fmla="val 7692"/>
            </a:avLst>
          </a:prstGeom>
          <a:solidFill xmlns:a="http://schemas.openxmlformats.org/drawingml/2006/main">
            <a:srgbClr val="FFFFFF"/>
          </a:solidFill>
          <a:ln xmlns:a="http://schemas.openxmlformats.org/drawingml/2006/main" w="9525">
            <a:solidFill>
              <a:srgbClr val="D6DEE8"/>
            </a:solidFill>
            <a:prstDash val="solid"/>
          </a:ln>
        </p:spPr>
      </p:sp>
      <p:sp>
        <p:nvSpPr>
          <p:cNvPr id="17" name="">
            <a:extLst xmlns:a="http://schemas.openxmlformats.org/drawingml/2006/main">
              <a:ext uri="{FF2B5EF4-FFF2-40B4-BE49-F238E27FC236}">
                <a16:creationId xmlns:a16="http://schemas.microsoft.com/office/drawing/2014/main" id="{0783A9AC-C5E7-4729-A2AA-0B708F7534F2}"/>
              </a:ext>
            </a:extLst>
          </p:cNvPr>
          <p:cNvSpPr>
            <a:spLocks xmlns:a="http://schemas.openxmlformats.org/drawingml/2006/main" noGrp="1"/>
          </p:cNvSpPr>
          <p:nvPr/>
        </p:nvSpPr>
        <p:spPr>
          <a:xfrm xmlns:a="http://schemas.openxmlformats.org/drawingml/2006/main">
            <a:off x="6305550" y="1676400"/>
            <a:ext cx="47625" cy="990600"/>
          </a:xfrm>
          <a:prstGeom xmlns:a="http://schemas.openxmlformats.org/drawingml/2006/main" prst="rect">
            <a:avLst/>
          </a:prstGeom>
          <a:solidFill xmlns:a="http://schemas.openxmlformats.org/drawingml/2006/main">
            <a:srgbClr val="148A8A"/>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15BE4855-0674-44EE-9E08-7E76046169A8}"/>
              </a:ext>
            </a:extLst>
          </p:cNvPr>
          <p:cNvSpPr>
            <a:spLocks xmlns:a="http://schemas.openxmlformats.org/drawingml/2006/main" noGrp="1"/>
          </p:cNvSpPr>
          <p:nvPr/>
        </p:nvSpPr>
        <p:spPr>
          <a:xfrm xmlns:a="http://schemas.openxmlformats.org/drawingml/2006/main">
            <a:off x="6477000" y="1819275"/>
            <a:ext cx="2019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Document split</a:t>
            </a:r>
          </a:p>
        </p:txBody>
      </p:sp>
      <p:sp>
        <p:nvSpPr>
          <p:cNvPr id="19" name="">
            <a:extLst xmlns:a="http://schemas.openxmlformats.org/drawingml/2006/main">
              <a:ext uri="{FF2B5EF4-FFF2-40B4-BE49-F238E27FC236}">
                <a16:creationId xmlns:a16="http://schemas.microsoft.com/office/drawing/2014/main" id="{28363F31-3EFB-4B4F-B7E2-996B01FB16AC}"/>
              </a:ext>
            </a:extLst>
          </p:cNvPr>
          <p:cNvSpPr>
            <a:spLocks xmlns:a="http://schemas.openxmlformats.org/drawingml/2006/main" noGrp="1"/>
          </p:cNvSpPr>
          <p:nvPr/>
        </p:nvSpPr>
        <p:spPr>
          <a:xfrm xmlns:a="http://schemas.openxmlformats.org/drawingml/2006/main">
            <a:off x="6477000" y="2133600"/>
            <a:ext cx="20193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90/10 train/validation</a:t>
            </a:r>
          </a:p>
        </p:txBody>
      </p:sp>
      <p:sp>
        <p:nvSpPr>
          <p:cNvPr id="20" name="">
            <a:extLst xmlns:a="http://schemas.openxmlformats.org/drawingml/2006/main">
              <a:ext uri="{FF2B5EF4-FFF2-40B4-BE49-F238E27FC236}">
                <a16:creationId xmlns:a16="http://schemas.microsoft.com/office/drawing/2014/main" id="{CDEF02C5-BDBC-457E-A25C-0A0AC00CB3AE}"/>
              </a:ext>
            </a:extLst>
          </p:cNvPr>
          <p:cNvSpPr>
            <a:spLocks xmlns:a="http://schemas.openxmlformats.org/drawingml/2006/main" noGrp="1"/>
          </p:cNvSpPr>
          <p:nvPr/>
        </p:nvSpPr>
        <p:spPr>
          <a:xfrm xmlns:a="http://schemas.openxmlformats.org/drawingml/2006/main">
            <a:off x="9124950" y="1676400"/>
            <a:ext cx="2343150" cy="990600"/>
          </a:xfrm>
          <a:prstGeom xmlns:a="http://schemas.openxmlformats.org/drawingml/2006/main" prst="roundRect">
            <a:avLst>
              <a:gd name="adj" fmla="val 7692"/>
            </a:avLst>
          </a:prstGeom>
          <a:solidFill xmlns:a="http://schemas.openxmlformats.org/drawingml/2006/main">
            <a:srgbClr val="FFFFFF"/>
          </a:solidFill>
          <a:ln xmlns:a="http://schemas.openxmlformats.org/drawingml/2006/main" w="9525">
            <a:solidFill>
              <a:srgbClr val="D6DEE8"/>
            </a:solidFill>
            <a:prstDash val="solid"/>
          </a:ln>
        </p:spPr>
      </p:sp>
      <p:sp>
        <p:nvSpPr>
          <p:cNvPr id="21" name="">
            <a:extLst xmlns:a="http://schemas.openxmlformats.org/drawingml/2006/main">
              <a:ext uri="{FF2B5EF4-FFF2-40B4-BE49-F238E27FC236}">
                <a16:creationId xmlns:a16="http://schemas.microsoft.com/office/drawing/2014/main" id="{817001FF-80AF-471B-BBE3-9A33D2085380}"/>
              </a:ext>
            </a:extLst>
          </p:cNvPr>
          <p:cNvSpPr>
            <a:spLocks xmlns:a="http://schemas.openxmlformats.org/drawingml/2006/main" noGrp="1"/>
          </p:cNvSpPr>
          <p:nvPr/>
        </p:nvSpPr>
        <p:spPr>
          <a:xfrm xmlns:a="http://schemas.openxmlformats.org/drawingml/2006/main">
            <a:off x="9124950" y="1676400"/>
            <a:ext cx="47625" cy="990600"/>
          </a:xfrm>
          <a:prstGeom xmlns:a="http://schemas.openxmlformats.org/drawingml/2006/main" prst="rect">
            <a:avLst/>
          </a:prstGeom>
          <a:solidFill xmlns:a="http://schemas.openxmlformats.org/drawingml/2006/main">
            <a:srgbClr val="148A8A"/>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0FB6218A-1A7C-4527-BEC4-174E1AAEBC8C}"/>
              </a:ext>
            </a:extLst>
          </p:cNvPr>
          <p:cNvSpPr>
            <a:spLocks xmlns:a="http://schemas.openxmlformats.org/drawingml/2006/main" noGrp="1"/>
          </p:cNvSpPr>
          <p:nvPr/>
        </p:nvSpPr>
        <p:spPr>
          <a:xfrm xmlns:a="http://schemas.openxmlformats.org/drawingml/2006/main">
            <a:off x="9296400" y="1819275"/>
            <a:ext cx="2019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Train Epinet</a:t>
            </a:r>
          </a:p>
        </p:txBody>
      </p:sp>
      <p:sp>
        <p:nvSpPr>
          <p:cNvPr id="23" name="">
            <a:extLst xmlns:a="http://schemas.openxmlformats.org/drawingml/2006/main">
              <a:ext uri="{FF2B5EF4-FFF2-40B4-BE49-F238E27FC236}">
                <a16:creationId xmlns:a16="http://schemas.microsoft.com/office/drawing/2014/main" id="{E59EF177-C1B7-46F2-903A-5654326A91C9}"/>
              </a:ext>
            </a:extLst>
          </p:cNvPr>
          <p:cNvSpPr>
            <a:spLocks xmlns:a="http://schemas.openxmlformats.org/drawingml/2006/main" noGrp="1"/>
          </p:cNvSpPr>
          <p:nvPr/>
        </p:nvSpPr>
        <p:spPr>
          <a:xfrm xmlns:a="http://schemas.openxmlformats.org/drawingml/2006/main">
            <a:off x="9296400" y="2133600"/>
            <a:ext cx="20193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Next-token cross-entropy</a:t>
            </a:r>
          </a:p>
        </p:txBody>
      </p:sp>
      <p:sp>
        <p:nvSpPr>
          <p:cNvPr id="24" name="">
            <a:extLst xmlns:a="http://schemas.openxmlformats.org/drawingml/2006/main">
              <a:ext uri="{FF2B5EF4-FFF2-40B4-BE49-F238E27FC236}">
                <a16:creationId xmlns:a16="http://schemas.microsoft.com/office/drawing/2014/main" id="{A497F70E-317B-4F27-84C3-42D63D8BF7D2}"/>
              </a:ext>
            </a:extLst>
          </p:cNvPr>
          <p:cNvSpPr>
            <a:spLocks xmlns:a="http://schemas.openxmlformats.org/drawingml/2006/main" noGrp="1"/>
          </p:cNvSpPr>
          <p:nvPr/>
        </p:nvSpPr>
        <p:spPr>
          <a:xfrm xmlns:a="http://schemas.openxmlformats.org/drawingml/2006/main" flipV="0">
            <a:off x="3009900" y="2171700"/>
            <a:ext cx="333375" cy="0"/>
          </a:xfrm>
          <a:prstGeom xmlns:a="http://schemas.openxmlformats.org/drawingml/2006/main" prst="line">
            <a:avLst/>
          </a:prstGeom>
          <a:noFill xmlns:a="http://schemas.openxmlformats.org/drawingml/2006/main"/>
          <a:ln xmlns:a="http://schemas.openxmlformats.org/drawingml/2006/main" w="19050">
            <a:solidFill>
              <a:srgbClr val="148A8A"/>
            </a:solidFill>
            <a:prstDash val="solid"/>
          </a:ln>
        </p:spPr>
      </p:sp>
      <p:sp>
        <p:nvSpPr>
          <p:cNvPr id="25" name="">
            <a:extLst xmlns:a="http://schemas.openxmlformats.org/drawingml/2006/main">
              <a:ext uri="{FF2B5EF4-FFF2-40B4-BE49-F238E27FC236}">
                <a16:creationId xmlns:a16="http://schemas.microsoft.com/office/drawing/2014/main" id="{64EAB552-647C-4A15-88E7-6F66062EC7B6}"/>
              </a:ext>
            </a:extLst>
          </p:cNvPr>
          <p:cNvSpPr>
            <a:spLocks xmlns:a="http://schemas.openxmlformats.org/drawingml/2006/main" noGrp="1"/>
          </p:cNvSpPr>
          <p:nvPr/>
        </p:nvSpPr>
        <p:spPr>
          <a:xfrm xmlns:a="http://schemas.openxmlformats.org/drawingml/2006/main" rot="5400000">
            <a:off x="3295650" y="2114550"/>
            <a:ext cx="114300" cy="114300"/>
          </a:xfrm>
          <a:prstGeom xmlns:a="http://schemas.openxmlformats.org/drawingml/2006/main" prst="triangle">
            <a:avLst/>
          </a:prstGeom>
          <a:solidFill xmlns:a="http://schemas.openxmlformats.org/drawingml/2006/main">
            <a:srgbClr val="148A8A"/>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F36AE4F3-441C-4900-A5F5-228497DBD397}"/>
              </a:ext>
            </a:extLst>
          </p:cNvPr>
          <p:cNvSpPr>
            <a:spLocks xmlns:a="http://schemas.openxmlformats.org/drawingml/2006/main" noGrp="1"/>
          </p:cNvSpPr>
          <p:nvPr/>
        </p:nvSpPr>
        <p:spPr>
          <a:xfrm xmlns:a="http://schemas.openxmlformats.org/drawingml/2006/main" flipV="0">
            <a:off x="5829300" y="2171700"/>
            <a:ext cx="333375" cy="0"/>
          </a:xfrm>
          <a:prstGeom xmlns:a="http://schemas.openxmlformats.org/drawingml/2006/main" prst="line">
            <a:avLst/>
          </a:prstGeom>
          <a:noFill xmlns:a="http://schemas.openxmlformats.org/drawingml/2006/main"/>
          <a:ln xmlns:a="http://schemas.openxmlformats.org/drawingml/2006/main" w="19050">
            <a:solidFill>
              <a:srgbClr val="148A8A"/>
            </a:solidFill>
            <a:prstDash val="solid"/>
          </a:ln>
        </p:spPr>
      </p:sp>
      <p:sp>
        <p:nvSpPr>
          <p:cNvPr id="27" name="">
            <a:extLst xmlns:a="http://schemas.openxmlformats.org/drawingml/2006/main">
              <a:ext uri="{FF2B5EF4-FFF2-40B4-BE49-F238E27FC236}">
                <a16:creationId xmlns:a16="http://schemas.microsoft.com/office/drawing/2014/main" id="{35DE3C2D-D080-4001-AE70-BE306352C405}"/>
              </a:ext>
            </a:extLst>
          </p:cNvPr>
          <p:cNvSpPr>
            <a:spLocks xmlns:a="http://schemas.openxmlformats.org/drawingml/2006/main" noGrp="1"/>
          </p:cNvSpPr>
          <p:nvPr/>
        </p:nvSpPr>
        <p:spPr>
          <a:xfrm xmlns:a="http://schemas.openxmlformats.org/drawingml/2006/main" rot="5400000">
            <a:off x="6115050" y="2114550"/>
            <a:ext cx="114300" cy="114300"/>
          </a:xfrm>
          <a:prstGeom xmlns:a="http://schemas.openxmlformats.org/drawingml/2006/main" prst="triangle">
            <a:avLst/>
          </a:prstGeom>
          <a:solidFill xmlns:a="http://schemas.openxmlformats.org/drawingml/2006/main">
            <a:srgbClr val="148A8A"/>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3B760D82-5A90-426A-86F4-4E7510AF8A16}"/>
              </a:ext>
            </a:extLst>
          </p:cNvPr>
          <p:cNvSpPr>
            <a:spLocks xmlns:a="http://schemas.openxmlformats.org/drawingml/2006/main" noGrp="1"/>
          </p:cNvSpPr>
          <p:nvPr/>
        </p:nvSpPr>
        <p:spPr>
          <a:xfrm xmlns:a="http://schemas.openxmlformats.org/drawingml/2006/main" flipV="0">
            <a:off x="8648700" y="2171700"/>
            <a:ext cx="333375" cy="0"/>
          </a:xfrm>
          <a:prstGeom xmlns:a="http://schemas.openxmlformats.org/drawingml/2006/main" prst="line">
            <a:avLst/>
          </a:prstGeom>
          <a:noFill xmlns:a="http://schemas.openxmlformats.org/drawingml/2006/main"/>
          <a:ln xmlns:a="http://schemas.openxmlformats.org/drawingml/2006/main" w="19050">
            <a:solidFill>
              <a:srgbClr val="148A8A"/>
            </a:solidFill>
            <a:prstDash val="solid"/>
          </a:ln>
        </p:spPr>
      </p:sp>
      <p:sp>
        <p:nvSpPr>
          <p:cNvPr id="29" name="">
            <a:extLst xmlns:a="http://schemas.openxmlformats.org/drawingml/2006/main">
              <a:ext uri="{FF2B5EF4-FFF2-40B4-BE49-F238E27FC236}">
                <a16:creationId xmlns:a16="http://schemas.microsoft.com/office/drawing/2014/main" id="{AA883365-D3A9-423A-9580-C2C9131DC20F}"/>
              </a:ext>
            </a:extLst>
          </p:cNvPr>
          <p:cNvSpPr>
            <a:spLocks xmlns:a="http://schemas.openxmlformats.org/drawingml/2006/main" noGrp="1"/>
          </p:cNvSpPr>
          <p:nvPr/>
        </p:nvSpPr>
        <p:spPr>
          <a:xfrm xmlns:a="http://schemas.openxmlformats.org/drawingml/2006/main" rot="5400000">
            <a:off x="8934450" y="2114550"/>
            <a:ext cx="114300" cy="114300"/>
          </a:xfrm>
          <a:prstGeom xmlns:a="http://schemas.openxmlformats.org/drawingml/2006/main" prst="triangle">
            <a:avLst/>
          </a:prstGeom>
          <a:solidFill xmlns:a="http://schemas.openxmlformats.org/drawingml/2006/main">
            <a:srgbClr val="148A8A"/>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52A221A9-105B-4801-B5CC-BAEA20C91526}"/>
              </a:ext>
            </a:extLst>
          </p:cNvPr>
          <p:cNvSpPr>
            <a:spLocks xmlns:a="http://schemas.openxmlformats.org/drawingml/2006/main" noGrp="1"/>
          </p:cNvSpPr>
          <p:nvPr/>
        </p:nvSpPr>
        <p:spPr>
          <a:xfrm xmlns:a="http://schemas.openxmlformats.org/drawingml/2006/main" flipV="0">
            <a:off x="666750" y="3028950"/>
            <a:ext cx="10801350" cy="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31" name="">
            <a:extLst xmlns:a="http://schemas.openxmlformats.org/drawingml/2006/main">
              <a:ext uri="{FF2B5EF4-FFF2-40B4-BE49-F238E27FC236}">
                <a16:creationId xmlns:a16="http://schemas.microsoft.com/office/drawing/2014/main" id="{85074F3E-CE03-4B8D-8096-7C4864E0CA0D}"/>
              </a:ext>
            </a:extLst>
          </p:cNvPr>
          <p:cNvSpPr>
            <a:spLocks xmlns:a="http://schemas.openxmlformats.org/drawingml/2006/main" noGrp="1"/>
          </p:cNvSpPr>
          <p:nvPr/>
        </p:nvSpPr>
        <p:spPr>
          <a:xfrm xmlns:a="http://schemas.openxmlformats.org/drawingml/2006/main">
            <a:off x="666750" y="3314700"/>
            <a:ext cx="3143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864C5"/>
                </a:solidFill>
                <a:latin typeface="Helvetica Neue"/>
                <a:ea typeface="Helvetica Neue"/>
                <a:cs typeface="Helvetica Neue"/>
              </a:defRPr>
            </a:defPPr>
          </a:lstStyle>
          <a:p xmlns:a="http://schemas.openxmlformats.org/drawingml/2006/main">
            <a:pPr algn="l">
              <a:lnSpc>
                <a:spcPct val="105000"/>
              </a:lnSpc>
              <a:buNone/>
              <a:defRPr sz="975" b="1">
                <a:solidFill>
                  <a:srgbClr val="2864C5"/>
                </a:solidFill>
                <a:latin typeface="Helvetica Neue"/>
                <a:ea typeface="Helvetica Neue"/>
                <a:cs typeface="Helvetica Neue"/>
              </a:defRPr>
            </a:pPr>
            <a:r>
              <a:rPr sz="975" b="1">
                <a:solidFill>
                  <a:srgbClr val="2864C5"/>
                </a:solidFill>
                <a:latin typeface="Helvetica Neue"/>
                <a:ea typeface="Helvetica Neue"/>
                <a:cs typeface="Helvetica Neue"/>
              </a:rPr>
              <a:t>QUESTION-ANSWERING PATH</a:t>
            </a:r>
          </a:p>
        </p:txBody>
      </p:sp>
      <p:sp>
        <p:nvSpPr>
          <p:cNvPr id="32" name="">
            <a:extLst xmlns:a="http://schemas.openxmlformats.org/drawingml/2006/main">
              <a:ext uri="{FF2B5EF4-FFF2-40B4-BE49-F238E27FC236}">
                <a16:creationId xmlns:a16="http://schemas.microsoft.com/office/drawing/2014/main" id="{A0DD05B5-69DC-43BA-87ED-E39B57B46BF1}"/>
              </a:ext>
            </a:extLst>
          </p:cNvPr>
          <p:cNvSpPr>
            <a:spLocks xmlns:a="http://schemas.openxmlformats.org/drawingml/2006/main" noGrp="1"/>
          </p:cNvSpPr>
          <p:nvPr/>
        </p:nvSpPr>
        <p:spPr>
          <a:xfrm xmlns:a="http://schemas.openxmlformats.org/drawingml/2006/main">
            <a:off x="666750" y="3619500"/>
            <a:ext cx="2343150" cy="1047750"/>
          </a:xfrm>
          <a:prstGeom xmlns:a="http://schemas.openxmlformats.org/drawingml/2006/main" prst="roundRect">
            <a:avLst>
              <a:gd name="adj" fmla="val 7273"/>
            </a:avLst>
          </a:prstGeom>
          <a:solidFill xmlns:a="http://schemas.openxmlformats.org/drawingml/2006/main">
            <a:srgbClr val="FFFFFF"/>
          </a:solidFill>
          <a:ln xmlns:a="http://schemas.openxmlformats.org/drawingml/2006/main" w="9525">
            <a:solidFill>
              <a:srgbClr val="D6DEE8"/>
            </a:solidFill>
            <a:prstDash val="solid"/>
          </a:ln>
        </p:spPr>
      </p:sp>
      <p:sp>
        <p:nvSpPr>
          <p:cNvPr id="33" name="">
            <a:extLst xmlns:a="http://schemas.openxmlformats.org/drawingml/2006/main">
              <a:ext uri="{FF2B5EF4-FFF2-40B4-BE49-F238E27FC236}">
                <a16:creationId xmlns:a16="http://schemas.microsoft.com/office/drawing/2014/main" id="{E2521310-746C-4256-81E4-3D47D51BB5D2}"/>
              </a:ext>
            </a:extLst>
          </p:cNvPr>
          <p:cNvSpPr>
            <a:spLocks xmlns:a="http://schemas.openxmlformats.org/drawingml/2006/main" noGrp="1"/>
          </p:cNvSpPr>
          <p:nvPr/>
        </p:nvSpPr>
        <p:spPr>
          <a:xfrm xmlns:a="http://schemas.openxmlformats.org/drawingml/2006/main">
            <a:off x="666750" y="3619500"/>
            <a:ext cx="47625" cy="104775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5122B730-85C4-430A-8600-7D55255AA706}"/>
              </a:ext>
            </a:extLst>
          </p:cNvPr>
          <p:cNvSpPr>
            <a:spLocks xmlns:a="http://schemas.openxmlformats.org/drawingml/2006/main" noGrp="1"/>
          </p:cNvSpPr>
          <p:nvPr/>
        </p:nvSpPr>
        <p:spPr>
          <a:xfrm xmlns:a="http://schemas.openxmlformats.org/drawingml/2006/main">
            <a:off x="838200" y="3762375"/>
            <a:ext cx="2019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Question prompt</a:t>
            </a:r>
          </a:p>
        </p:txBody>
      </p:sp>
      <p:sp>
        <p:nvSpPr>
          <p:cNvPr id="35" name="">
            <a:extLst xmlns:a="http://schemas.openxmlformats.org/drawingml/2006/main">
              <a:ext uri="{FF2B5EF4-FFF2-40B4-BE49-F238E27FC236}">
                <a16:creationId xmlns:a16="http://schemas.microsoft.com/office/drawing/2014/main" id="{50A5AE13-75DB-410B-A973-2F099BF10CBA}"/>
              </a:ext>
            </a:extLst>
          </p:cNvPr>
          <p:cNvSpPr>
            <a:spLocks xmlns:a="http://schemas.openxmlformats.org/drawingml/2006/main" noGrp="1"/>
          </p:cNvSpPr>
          <p:nvPr/>
        </p:nvSpPr>
        <p:spPr>
          <a:xfrm xmlns:a="http://schemas.openxmlformats.org/drawingml/2006/main">
            <a:off x="838200" y="4076700"/>
            <a:ext cx="20193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Local QA set or TruthfulQA</a:t>
            </a:r>
          </a:p>
        </p:txBody>
      </p:sp>
      <p:sp>
        <p:nvSpPr>
          <p:cNvPr id="36" name="">
            <a:extLst xmlns:a="http://schemas.openxmlformats.org/drawingml/2006/main">
              <a:ext uri="{FF2B5EF4-FFF2-40B4-BE49-F238E27FC236}">
                <a16:creationId xmlns:a16="http://schemas.microsoft.com/office/drawing/2014/main" id="{D69E1CB2-BA4D-418F-8E2B-5DD746AEAF74}"/>
              </a:ext>
            </a:extLst>
          </p:cNvPr>
          <p:cNvSpPr>
            <a:spLocks xmlns:a="http://schemas.openxmlformats.org/drawingml/2006/main" noGrp="1"/>
          </p:cNvSpPr>
          <p:nvPr/>
        </p:nvSpPr>
        <p:spPr>
          <a:xfrm xmlns:a="http://schemas.openxmlformats.org/drawingml/2006/main">
            <a:off x="3486150" y="3619500"/>
            <a:ext cx="2343150" cy="1047750"/>
          </a:xfrm>
          <a:prstGeom xmlns:a="http://schemas.openxmlformats.org/drawingml/2006/main" prst="roundRect">
            <a:avLst>
              <a:gd name="adj" fmla="val 7273"/>
            </a:avLst>
          </a:prstGeom>
          <a:solidFill xmlns:a="http://schemas.openxmlformats.org/drawingml/2006/main">
            <a:srgbClr val="FFFFFF"/>
          </a:solidFill>
          <a:ln xmlns:a="http://schemas.openxmlformats.org/drawingml/2006/main" w="9525">
            <a:solidFill>
              <a:srgbClr val="D6DEE8"/>
            </a:solidFill>
            <a:prstDash val="solid"/>
          </a:ln>
        </p:spPr>
      </p:sp>
      <p:sp>
        <p:nvSpPr>
          <p:cNvPr id="37" name="">
            <a:extLst xmlns:a="http://schemas.openxmlformats.org/drawingml/2006/main">
              <a:ext uri="{FF2B5EF4-FFF2-40B4-BE49-F238E27FC236}">
                <a16:creationId xmlns:a16="http://schemas.microsoft.com/office/drawing/2014/main" id="{0EF45740-8879-4DC5-9F2B-F5FA9709DD6B}"/>
              </a:ext>
            </a:extLst>
          </p:cNvPr>
          <p:cNvSpPr>
            <a:spLocks xmlns:a="http://schemas.openxmlformats.org/drawingml/2006/main" noGrp="1"/>
          </p:cNvSpPr>
          <p:nvPr/>
        </p:nvSpPr>
        <p:spPr>
          <a:xfrm xmlns:a="http://schemas.openxmlformats.org/drawingml/2006/main">
            <a:off x="3486150" y="3619500"/>
            <a:ext cx="47625" cy="104775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4DA790A2-9FAA-4F1E-BEE6-3749237D1981}"/>
              </a:ext>
            </a:extLst>
          </p:cNvPr>
          <p:cNvSpPr>
            <a:spLocks xmlns:a="http://schemas.openxmlformats.org/drawingml/2006/main" noGrp="1"/>
          </p:cNvSpPr>
          <p:nvPr/>
        </p:nvSpPr>
        <p:spPr>
          <a:xfrm xmlns:a="http://schemas.openxmlformats.org/drawingml/2006/main">
            <a:off x="3657600" y="3762375"/>
            <a:ext cx="2019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Base / DoLa</a:t>
            </a:r>
          </a:p>
        </p:txBody>
      </p:sp>
      <p:sp>
        <p:nvSpPr>
          <p:cNvPr id="39" name="">
            <a:extLst xmlns:a="http://schemas.openxmlformats.org/drawingml/2006/main">
              <a:ext uri="{FF2B5EF4-FFF2-40B4-BE49-F238E27FC236}">
                <a16:creationId xmlns:a16="http://schemas.microsoft.com/office/drawing/2014/main" id="{0E0878E5-9F78-4871-A1B6-0AA0B273EEC3}"/>
              </a:ext>
            </a:extLst>
          </p:cNvPr>
          <p:cNvSpPr>
            <a:spLocks xmlns:a="http://schemas.openxmlformats.org/drawingml/2006/main" noGrp="1"/>
          </p:cNvSpPr>
          <p:nvPr/>
        </p:nvSpPr>
        <p:spPr>
          <a:xfrm xmlns:a="http://schemas.openxmlformats.org/drawingml/2006/main">
            <a:off x="3657600" y="4076700"/>
            <a:ext cx="20193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Generate candidate answer(s)</a:t>
            </a:r>
          </a:p>
        </p:txBody>
      </p:sp>
      <p:sp>
        <p:nvSpPr>
          <p:cNvPr id="40" name="">
            <a:extLst xmlns:a="http://schemas.openxmlformats.org/drawingml/2006/main">
              <a:ext uri="{FF2B5EF4-FFF2-40B4-BE49-F238E27FC236}">
                <a16:creationId xmlns:a16="http://schemas.microsoft.com/office/drawing/2014/main" id="{3C7DB7BF-0AAA-4EF5-A435-DF87FD3DDA78}"/>
              </a:ext>
            </a:extLst>
          </p:cNvPr>
          <p:cNvSpPr>
            <a:spLocks xmlns:a="http://schemas.openxmlformats.org/drawingml/2006/main" noGrp="1"/>
          </p:cNvSpPr>
          <p:nvPr/>
        </p:nvSpPr>
        <p:spPr>
          <a:xfrm xmlns:a="http://schemas.openxmlformats.org/drawingml/2006/main">
            <a:off x="6305550" y="3619500"/>
            <a:ext cx="2343150" cy="1047750"/>
          </a:xfrm>
          <a:prstGeom xmlns:a="http://schemas.openxmlformats.org/drawingml/2006/main" prst="roundRect">
            <a:avLst>
              <a:gd name="adj" fmla="val 7273"/>
            </a:avLst>
          </a:prstGeom>
          <a:solidFill xmlns:a="http://schemas.openxmlformats.org/drawingml/2006/main">
            <a:srgbClr val="FFFFFF"/>
          </a:solidFill>
          <a:ln xmlns:a="http://schemas.openxmlformats.org/drawingml/2006/main" w="9525">
            <a:solidFill>
              <a:srgbClr val="D6DEE8"/>
            </a:solidFill>
            <a:prstDash val="solid"/>
          </a:ln>
        </p:spPr>
      </p:sp>
      <p:sp>
        <p:nvSpPr>
          <p:cNvPr id="41" name="">
            <a:extLst xmlns:a="http://schemas.openxmlformats.org/drawingml/2006/main">
              <a:ext uri="{FF2B5EF4-FFF2-40B4-BE49-F238E27FC236}">
                <a16:creationId xmlns:a16="http://schemas.microsoft.com/office/drawing/2014/main" id="{A64CAAFD-2FB4-4D9B-8567-BCEC65A8CC42}"/>
              </a:ext>
            </a:extLst>
          </p:cNvPr>
          <p:cNvSpPr>
            <a:spLocks xmlns:a="http://schemas.openxmlformats.org/drawingml/2006/main" noGrp="1"/>
          </p:cNvSpPr>
          <p:nvPr/>
        </p:nvSpPr>
        <p:spPr>
          <a:xfrm xmlns:a="http://schemas.openxmlformats.org/drawingml/2006/main">
            <a:off x="6305550" y="3619500"/>
            <a:ext cx="47625" cy="1047750"/>
          </a:xfrm>
          <a:prstGeom xmlns:a="http://schemas.openxmlformats.org/drawingml/2006/main" prst="rect">
            <a:avLst/>
          </a:prstGeom>
          <a:solidFill xmlns:a="http://schemas.openxmlformats.org/drawingml/2006/main">
            <a:srgbClr val="C7782B"/>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19F17599-B2EC-4FE3-9DBE-7A20C4C342A2}"/>
              </a:ext>
            </a:extLst>
          </p:cNvPr>
          <p:cNvSpPr>
            <a:spLocks xmlns:a="http://schemas.openxmlformats.org/drawingml/2006/main" noGrp="1"/>
          </p:cNvSpPr>
          <p:nvPr/>
        </p:nvSpPr>
        <p:spPr>
          <a:xfrm xmlns:a="http://schemas.openxmlformats.org/drawingml/2006/main">
            <a:off x="6477000" y="3762375"/>
            <a:ext cx="2019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ENN scoring</a:t>
            </a:r>
          </a:p>
        </p:txBody>
      </p:sp>
      <p:sp>
        <p:nvSpPr>
          <p:cNvPr id="43" name="">
            <a:extLst xmlns:a="http://schemas.openxmlformats.org/drawingml/2006/main">
              <a:ext uri="{FF2B5EF4-FFF2-40B4-BE49-F238E27FC236}">
                <a16:creationId xmlns:a16="http://schemas.microsoft.com/office/drawing/2014/main" id="{3CA5951D-2A5E-410A-B85B-6FD6E0B57538}"/>
              </a:ext>
            </a:extLst>
          </p:cNvPr>
          <p:cNvSpPr>
            <a:spLocks xmlns:a="http://schemas.openxmlformats.org/drawingml/2006/main" noGrp="1"/>
          </p:cNvSpPr>
          <p:nvPr/>
        </p:nvSpPr>
        <p:spPr>
          <a:xfrm xmlns:a="http://schemas.openxmlformats.org/drawingml/2006/main">
            <a:off x="6477000" y="4076700"/>
            <a:ext cx="20193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Predictive entropy per answer</a:t>
            </a:r>
          </a:p>
        </p:txBody>
      </p:sp>
      <p:sp>
        <p:nvSpPr>
          <p:cNvPr id="44" name="">
            <a:extLst xmlns:a="http://schemas.openxmlformats.org/drawingml/2006/main">
              <a:ext uri="{FF2B5EF4-FFF2-40B4-BE49-F238E27FC236}">
                <a16:creationId xmlns:a16="http://schemas.microsoft.com/office/drawing/2014/main" id="{CC7BCD5E-99F3-4B9C-9857-AED1162153FD}"/>
              </a:ext>
            </a:extLst>
          </p:cNvPr>
          <p:cNvSpPr>
            <a:spLocks xmlns:a="http://schemas.openxmlformats.org/drawingml/2006/main" noGrp="1"/>
          </p:cNvSpPr>
          <p:nvPr/>
        </p:nvSpPr>
        <p:spPr>
          <a:xfrm xmlns:a="http://schemas.openxmlformats.org/drawingml/2006/main">
            <a:off x="9124950" y="3619500"/>
            <a:ext cx="2343150" cy="1047750"/>
          </a:xfrm>
          <a:prstGeom xmlns:a="http://schemas.openxmlformats.org/drawingml/2006/main" prst="roundRect">
            <a:avLst>
              <a:gd name="adj" fmla="val 7273"/>
            </a:avLst>
          </a:prstGeom>
          <a:solidFill xmlns:a="http://schemas.openxmlformats.org/drawingml/2006/main">
            <a:srgbClr val="FFFFFF"/>
          </a:solidFill>
          <a:ln xmlns:a="http://schemas.openxmlformats.org/drawingml/2006/main" w="9525">
            <a:solidFill>
              <a:srgbClr val="D6DEE8"/>
            </a:solidFill>
            <a:prstDash val="solid"/>
          </a:ln>
        </p:spPr>
      </p:sp>
      <p:sp>
        <p:nvSpPr>
          <p:cNvPr id="45" name="">
            <a:extLst xmlns:a="http://schemas.openxmlformats.org/drawingml/2006/main">
              <a:ext uri="{FF2B5EF4-FFF2-40B4-BE49-F238E27FC236}">
                <a16:creationId xmlns:a16="http://schemas.microsoft.com/office/drawing/2014/main" id="{7E99A4B7-9AA1-4DF3-9C2C-900DC5E23D43}"/>
              </a:ext>
            </a:extLst>
          </p:cNvPr>
          <p:cNvSpPr>
            <a:spLocks xmlns:a="http://schemas.openxmlformats.org/drawingml/2006/main" noGrp="1"/>
          </p:cNvSpPr>
          <p:nvPr/>
        </p:nvSpPr>
        <p:spPr>
          <a:xfrm xmlns:a="http://schemas.openxmlformats.org/drawingml/2006/main">
            <a:off x="9124950" y="3619500"/>
            <a:ext cx="47625" cy="104775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3E24473B-BBFC-4210-8E2E-E04174434BDA}"/>
              </a:ext>
            </a:extLst>
          </p:cNvPr>
          <p:cNvSpPr>
            <a:spLocks xmlns:a="http://schemas.openxmlformats.org/drawingml/2006/main" noGrp="1"/>
          </p:cNvSpPr>
          <p:nvPr/>
        </p:nvSpPr>
        <p:spPr>
          <a:xfrm xmlns:a="http://schemas.openxmlformats.org/drawingml/2006/main">
            <a:off x="9296400" y="3762375"/>
            <a:ext cx="2019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Voting + evaluation</a:t>
            </a:r>
          </a:p>
        </p:txBody>
      </p:sp>
      <p:sp>
        <p:nvSpPr>
          <p:cNvPr id="47" name="">
            <a:extLst xmlns:a="http://schemas.openxmlformats.org/drawingml/2006/main">
              <a:ext uri="{FF2B5EF4-FFF2-40B4-BE49-F238E27FC236}">
                <a16:creationId xmlns:a16="http://schemas.microsoft.com/office/drawing/2014/main" id="{B3C3AD28-DAF4-4657-A45A-7FBAA598117D}"/>
              </a:ext>
            </a:extLst>
          </p:cNvPr>
          <p:cNvSpPr>
            <a:spLocks xmlns:a="http://schemas.openxmlformats.org/drawingml/2006/main" noGrp="1"/>
          </p:cNvSpPr>
          <p:nvPr/>
        </p:nvSpPr>
        <p:spPr>
          <a:xfrm xmlns:a="http://schemas.openxmlformats.org/drawingml/2006/main">
            <a:off x="9296400" y="4076700"/>
            <a:ext cx="20193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Plurality / weighted vote</a:t>
            </a:r>
          </a:p>
        </p:txBody>
      </p:sp>
      <p:sp>
        <p:nvSpPr>
          <p:cNvPr id="48" name="">
            <a:extLst xmlns:a="http://schemas.openxmlformats.org/drawingml/2006/main">
              <a:ext uri="{FF2B5EF4-FFF2-40B4-BE49-F238E27FC236}">
                <a16:creationId xmlns:a16="http://schemas.microsoft.com/office/drawing/2014/main" id="{FE2FC5D2-4012-48E1-B0FA-B2791BFE2497}"/>
              </a:ext>
            </a:extLst>
          </p:cNvPr>
          <p:cNvSpPr>
            <a:spLocks xmlns:a="http://schemas.openxmlformats.org/drawingml/2006/main" noGrp="1"/>
          </p:cNvSpPr>
          <p:nvPr/>
        </p:nvSpPr>
        <p:spPr>
          <a:xfrm xmlns:a="http://schemas.openxmlformats.org/drawingml/2006/main" flipV="0">
            <a:off x="3009900" y="4133850"/>
            <a:ext cx="333375" cy="0"/>
          </a:xfrm>
          <a:prstGeom xmlns:a="http://schemas.openxmlformats.org/drawingml/2006/main" prst="line">
            <a:avLst/>
          </a:prstGeom>
          <a:noFill xmlns:a="http://schemas.openxmlformats.org/drawingml/2006/main"/>
          <a:ln xmlns:a="http://schemas.openxmlformats.org/drawingml/2006/main" w="19050">
            <a:solidFill>
              <a:srgbClr val="2864C5"/>
            </a:solidFill>
            <a:prstDash val="solid"/>
          </a:ln>
        </p:spPr>
      </p:sp>
      <p:sp>
        <p:nvSpPr>
          <p:cNvPr id="49" name="">
            <a:extLst xmlns:a="http://schemas.openxmlformats.org/drawingml/2006/main">
              <a:ext uri="{FF2B5EF4-FFF2-40B4-BE49-F238E27FC236}">
                <a16:creationId xmlns:a16="http://schemas.microsoft.com/office/drawing/2014/main" id="{D97FA3EA-BAB7-4D4D-806F-A77278B930C6}"/>
              </a:ext>
            </a:extLst>
          </p:cNvPr>
          <p:cNvSpPr>
            <a:spLocks xmlns:a="http://schemas.openxmlformats.org/drawingml/2006/main" noGrp="1"/>
          </p:cNvSpPr>
          <p:nvPr/>
        </p:nvSpPr>
        <p:spPr>
          <a:xfrm xmlns:a="http://schemas.openxmlformats.org/drawingml/2006/main" rot="5400000">
            <a:off x="3295650" y="4076700"/>
            <a:ext cx="114300" cy="114300"/>
          </a:xfrm>
          <a:prstGeom xmlns:a="http://schemas.openxmlformats.org/drawingml/2006/main" prst="triangle">
            <a:avLst/>
          </a:prstGeom>
          <a:solidFill xmlns:a="http://schemas.openxmlformats.org/drawingml/2006/main">
            <a:srgbClr val="2864C5"/>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09970486-CDEB-4CFC-99F9-34B73B7A51ED}"/>
              </a:ext>
            </a:extLst>
          </p:cNvPr>
          <p:cNvSpPr>
            <a:spLocks xmlns:a="http://schemas.openxmlformats.org/drawingml/2006/main" noGrp="1"/>
          </p:cNvSpPr>
          <p:nvPr/>
        </p:nvSpPr>
        <p:spPr>
          <a:xfrm xmlns:a="http://schemas.openxmlformats.org/drawingml/2006/main" flipV="0">
            <a:off x="5829300" y="4133850"/>
            <a:ext cx="333375" cy="0"/>
          </a:xfrm>
          <a:prstGeom xmlns:a="http://schemas.openxmlformats.org/drawingml/2006/main" prst="line">
            <a:avLst/>
          </a:prstGeom>
          <a:noFill xmlns:a="http://schemas.openxmlformats.org/drawingml/2006/main"/>
          <a:ln xmlns:a="http://schemas.openxmlformats.org/drawingml/2006/main" w="19050">
            <a:solidFill>
              <a:srgbClr val="2864C5"/>
            </a:solidFill>
            <a:prstDash val="solid"/>
          </a:ln>
        </p:spPr>
      </p:sp>
      <p:sp>
        <p:nvSpPr>
          <p:cNvPr id="51" name="">
            <a:extLst xmlns:a="http://schemas.openxmlformats.org/drawingml/2006/main">
              <a:ext uri="{FF2B5EF4-FFF2-40B4-BE49-F238E27FC236}">
                <a16:creationId xmlns:a16="http://schemas.microsoft.com/office/drawing/2014/main" id="{B64ABEDA-F3D4-43BC-9895-16820DC9A19C}"/>
              </a:ext>
            </a:extLst>
          </p:cNvPr>
          <p:cNvSpPr>
            <a:spLocks xmlns:a="http://schemas.openxmlformats.org/drawingml/2006/main" noGrp="1"/>
          </p:cNvSpPr>
          <p:nvPr/>
        </p:nvSpPr>
        <p:spPr>
          <a:xfrm xmlns:a="http://schemas.openxmlformats.org/drawingml/2006/main" rot="5400000">
            <a:off x="6115050" y="4076700"/>
            <a:ext cx="114300" cy="114300"/>
          </a:xfrm>
          <a:prstGeom xmlns:a="http://schemas.openxmlformats.org/drawingml/2006/main" prst="triangle">
            <a:avLst/>
          </a:prstGeom>
          <a:solidFill xmlns:a="http://schemas.openxmlformats.org/drawingml/2006/main">
            <a:srgbClr val="2864C5"/>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370AF3D9-1CE5-47FC-BFA5-4A6ADD341FB8}"/>
              </a:ext>
            </a:extLst>
          </p:cNvPr>
          <p:cNvSpPr>
            <a:spLocks xmlns:a="http://schemas.openxmlformats.org/drawingml/2006/main" noGrp="1"/>
          </p:cNvSpPr>
          <p:nvPr/>
        </p:nvSpPr>
        <p:spPr>
          <a:xfrm xmlns:a="http://schemas.openxmlformats.org/drawingml/2006/main" flipV="0">
            <a:off x="8648700" y="4133850"/>
            <a:ext cx="333375" cy="0"/>
          </a:xfrm>
          <a:prstGeom xmlns:a="http://schemas.openxmlformats.org/drawingml/2006/main" prst="line">
            <a:avLst/>
          </a:prstGeom>
          <a:noFill xmlns:a="http://schemas.openxmlformats.org/drawingml/2006/main"/>
          <a:ln xmlns:a="http://schemas.openxmlformats.org/drawingml/2006/main" w="19050">
            <a:solidFill>
              <a:srgbClr val="2864C5"/>
            </a:solidFill>
            <a:prstDash val="solid"/>
          </a:ln>
        </p:spPr>
      </p:sp>
      <p:sp>
        <p:nvSpPr>
          <p:cNvPr id="53" name="">
            <a:extLst xmlns:a="http://schemas.openxmlformats.org/drawingml/2006/main">
              <a:ext uri="{FF2B5EF4-FFF2-40B4-BE49-F238E27FC236}">
                <a16:creationId xmlns:a16="http://schemas.microsoft.com/office/drawing/2014/main" id="{760E054E-BB5D-4275-85BE-B4A0A57A21A5}"/>
              </a:ext>
            </a:extLst>
          </p:cNvPr>
          <p:cNvSpPr>
            <a:spLocks xmlns:a="http://schemas.openxmlformats.org/drawingml/2006/main" noGrp="1"/>
          </p:cNvSpPr>
          <p:nvPr/>
        </p:nvSpPr>
        <p:spPr>
          <a:xfrm xmlns:a="http://schemas.openxmlformats.org/drawingml/2006/main" rot="5400000">
            <a:off x="8934450" y="4076700"/>
            <a:ext cx="114300" cy="114300"/>
          </a:xfrm>
          <a:prstGeom xmlns:a="http://schemas.openxmlformats.org/drawingml/2006/main" prst="triangle">
            <a:avLst/>
          </a:prstGeom>
          <a:solidFill xmlns:a="http://schemas.openxmlformats.org/drawingml/2006/main">
            <a:srgbClr val="2864C5"/>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0D23AB7B-7DD7-4C64-B203-E1B276570DE8}"/>
              </a:ext>
            </a:extLst>
          </p:cNvPr>
          <p:cNvSpPr>
            <a:spLocks xmlns:a="http://schemas.openxmlformats.org/drawingml/2006/main" noGrp="1"/>
          </p:cNvSpPr>
          <p:nvPr/>
        </p:nvSpPr>
        <p:spPr>
          <a:xfrm xmlns:a="http://schemas.openxmlformats.org/drawingml/2006/main" flipV="0">
            <a:off x="10287000" y="2667000"/>
            <a:ext cx="0" cy="809625"/>
          </a:xfrm>
          <a:prstGeom xmlns:a="http://schemas.openxmlformats.org/drawingml/2006/main" prst="line">
            <a:avLst/>
          </a:prstGeom>
          <a:noFill xmlns:a="http://schemas.openxmlformats.org/drawingml/2006/main"/>
          <a:ln xmlns:a="http://schemas.openxmlformats.org/drawingml/2006/main" w="19050">
            <a:solidFill>
              <a:srgbClr val="148A8A"/>
            </a:solidFill>
            <a:prstDash val="solid"/>
          </a:ln>
        </p:spPr>
      </p:sp>
      <p:sp>
        <p:nvSpPr>
          <p:cNvPr id="55" name="">
            <a:extLst xmlns:a="http://schemas.openxmlformats.org/drawingml/2006/main">
              <a:ext uri="{FF2B5EF4-FFF2-40B4-BE49-F238E27FC236}">
                <a16:creationId xmlns:a16="http://schemas.microsoft.com/office/drawing/2014/main" id="{026485D1-3816-4C91-902B-9CA04407F98B}"/>
              </a:ext>
            </a:extLst>
          </p:cNvPr>
          <p:cNvSpPr>
            <a:spLocks xmlns:a="http://schemas.openxmlformats.org/drawingml/2006/main" noGrp="1"/>
          </p:cNvSpPr>
          <p:nvPr/>
        </p:nvSpPr>
        <p:spPr>
          <a:xfrm xmlns:a="http://schemas.openxmlformats.org/drawingml/2006/main" rot="10800000">
            <a:off x="10229850" y="3429000"/>
            <a:ext cx="114300" cy="114300"/>
          </a:xfrm>
          <a:prstGeom xmlns:a="http://schemas.openxmlformats.org/drawingml/2006/main" prst="triangle">
            <a:avLst/>
          </a:prstGeom>
          <a:solidFill xmlns:a="http://schemas.openxmlformats.org/drawingml/2006/main">
            <a:srgbClr val="148A8A"/>
          </a:solidFill>
          <a:ln xmlns:a="http://schemas.openxmlformats.org/drawingml/2006/main" w="0">
            <a:noFill/>
            <a:prstDash val="solid"/>
          </a:ln>
        </p:spPr>
      </p:sp>
      <p:sp>
        <p:nvSpPr>
          <p:cNvPr id="56" name="">
            <a:extLst xmlns:a="http://schemas.openxmlformats.org/drawingml/2006/main">
              <a:ext uri="{FF2B5EF4-FFF2-40B4-BE49-F238E27FC236}">
                <a16:creationId xmlns:a16="http://schemas.microsoft.com/office/drawing/2014/main" id="{11F2540B-CE2F-44B0-A15F-5C1FB9A25139}"/>
              </a:ext>
            </a:extLst>
          </p:cNvPr>
          <p:cNvSpPr>
            <a:spLocks xmlns:a="http://schemas.openxmlformats.org/drawingml/2006/main" noGrp="1"/>
          </p:cNvSpPr>
          <p:nvPr/>
        </p:nvSpPr>
        <p:spPr>
          <a:xfrm xmlns:a="http://schemas.openxmlformats.org/drawingml/2006/main">
            <a:off x="685800" y="5143500"/>
            <a:ext cx="10629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36477"/>
                </a:solidFill>
                <a:latin typeface="Helvetica Neue"/>
                <a:ea typeface="Helvetica Neue"/>
                <a:cs typeface="Helvetica Neue"/>
              </a:defRPr>
            </a:defPPr>
          </a:lstStyle>
          <a:p xmlns:a="http://schemas.openxmlformats.org/drawingml/2006/main">
            <a:pPr algn="l">
              <a:lnSpc>
                <a:spcPct val="105000"/>
              </a:lnSpc>
              <a:buNone/>
              <a:defRPr sz="1275" b="0">
                <a:solidFill>
                  <a:srgbClr val="536477"/>
                </a:solidFill>
                <a:latin typeface="Helvetica Neue"/>
                <a:ea typeface="Helvetica Neue"/>
                <a:cs typeface="Helvetica Neue"/>
              </a:defRPr>
            </a:pPr>
            <a:r>
              <a:rPr sz="1275" b="0">
                <a:solidFill>
                  <a:srgbClr val="536477"/>
                </a:solidFill>
                <a:latin typeface="Helvetica Neue"/>
                <a:ea typeface="Helvetica Neue"/>
                <a:cs typeface="Helvetica Neue"/>
              </a:rPr>
              <a:t>The ENN confidence weight is an entropy heuristic. Calibration against correctness must be measured.</a:t>
            </a:r>
          </a:p>
        </p:txBody>
      </p:sp>
    </p:spTree>
    <p:extLst>
      <p:ext uri="{BB962C8B-B14F-4D97-AF65-F5344CB8AC3E}">
        <p14:creationId xmlns:p14="http://schemas.microsoft.com/office/powerpoint/2010/main" val="1588120603"/>
      </p:ext>
    </p:extLst>
  </p:cSld>
</p:sld>
</file>

<file path=ppt/slides/slide7.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89" name="">
            <a:extLst xmlns:a="http://schemas.openxmlformats.org/drawingml/2006/main">
              <a:ext uri="{FF2B5EF4-FFF2-40B4-BE49-F238E27FC236}">
                <a16:creationId xmlns:a16="http://schemas.microsoft.com/office/drawing/2014/main" id="{67ABDB6C-4350-4780-A30B-45E4A3AC92B2}"/>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973864A-BA8D-426A-ABBC-D3A447E7CB67}"/>
              </a:ext>
            </a:extLst>
          </p:cNvPr>
          <p:cNvSpPr>
            <a:spLocks xmlns:a="http://schemas.openxmlformats.org/drawingml/2006/main" noGrp="1"/>
          </p:cNvSpPr>
          <p:nvPr/>
        </p:nvSpPr>
        <p:spPr>
          <a:xfrm xmlns:a="http://schemas.openxmlformats.org/drawingml/2006/main">
            <a:off x="552450" y="361950"/>
            <a:ext cx="1104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0253F"/>
                </a:solidFill>
                <a:latin typeface="Helvetica Neue"/>
                <a:ea typeface="Helvetica Neue"/>
                <a:cs typeface="Helvetica Neue"/>
              </a:defRPr>
            </a:defPPr>
          </a:lstStyle>
          <a:p xmlns:a="http://schemas.openxmlformats.org/drawingml/2006/main">
            <a:pPr algn="l">
              <a:lnSpc>
                <a:spcPct val="105000"/>
              </a:lnSpc>
              <a:buNone/>
              <a:defRPr sz="2550" b="1">
                <a:solidFill>
                  <a:srgbClr val="10253F"/>
                </a:solidFill>
                <a:latin typeface="Helvetica Neue"/>
                <a:ea typeface="Helvetica Neue"/>
                <a:cs typeface="Helvetica Neue"/>
              </a:defRPr>
            </a:pPr>
            <a:r>
              <a:rPr sz="2550" b="1">
                <a:solidFill>
                  <a:srgbClr val="10253F"/>
                </a:solidFill>
                <a:latin typeface="Helvetica Neue"/>
                <a:ea typeface="Helvetica Neue"/>
                <a:cs typeface="Helvetica Neue"/>
              </a:rPr>
              <a:t>Model &amp; System Architecture</a:t>
            </a:r>
          </a:p>
        </p:txBody>
      </p:sp>
      <p:sp>
        <p:nvSpPr>
          <p:cNvPr id="3" name="">
            <a:extLst xmlns:a="http://schemas.openxmlformats.org/drawingml/2006/main">
              <a:ext uri="{FF2B5EF4-FFF2-40B4-BE49-F238E27FC236}">
                <a16:creationId xmlns:a16="http://schemas.microsoft.com/office/drawing/2014/main" id="{369B6BAE-3E6B-4EA7-8817-9B2330C447BB}"/>
              </a:ext>
            </a:extLst>
          </p:cNvPr>
          <p:cNvSpPr>
            <a:spLocks xmlns:a="http://schemas.openxmlformats.org/drawingml/2006/main" noGrp="1"/>
          </p:cNvSpPr>
          <p:nvPr/>
        </p:nvSpPr>
        <p:spPr>
          <a:xfrm xmlns:a="http://schemas.openxmlformats.org/drawingml/2006/main">
            <a:off x="571500" y="876300"/>
            <a:ext cx="10953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36477"/>
                </a:solidFill>
                <a:latin typeface="Helvetica Neue"/>
                <a:ea typeface="Helvetica Neue"/>
                <a:cs typeface="Helvetica Neue"/>
              </a:defRPr>
            </a:defPPr>
          </a:lstStyle>
          <a:p xmlns:a="http://schemas.openxmlformats.org/drawingml/2006/main">
            <a:pPr algn="l">
              <a:lnSpc>
                <a:spcPct val="105000"/>
              </a:lnSpc>
              <a:buNone/>
              <a:defRPr sz="1275" b="0">
                <a:solidFill>
                  <a:srgbClr val="536477"/>
                </a:solidFill>
                <a:latin typeface="Helvetica Neue"/>
                <a:ea typeface="Helvetica Neue"/>
                <a:cs typeface="Helvetica Neue"/>
              </a:defRPr>
            </a:pPr>
            <a:r>
              <a:rPr sz="1275" b="0">
                <a:solidFill>
                  <a:srgbClr val="536477"/>
                </a:solidFill>
                <a:latin typeface="Helvetica Neue"/>
                <a:ea typeface="Helvetica Neue"/>
                <a:cs typeface="Helvetica Neue"/>
              </a:rPr>
              <a:t>DoLa changes token scores. The Epinet samples token distributions. Voting combines answer strings.</a:t>
            </a:r>
          </a:p>
        </p:txBody>
      </p:sp>
      <p:sp>
        <p:nvSpPr>
          <p:cNvPr id="4" name="">
            <a:extLst xmlns:a="http://schemas.openxmlformats.org/drawingml/2006/main">
              <a:ext uri="{FF2B5EF4-FFF2-40B4-BE49-F238E27FC236}">
                <a16:creationId xmlns:a16="http://schemas.microsoft.com/office/drawing/2014/main" id="{CAD04578-99D2-46CF-841D-BAE29DFA4DE2}"/>
              </a:ext>
            </a:extLst>
          </p:cNvPr>
          <p:cNvSpPr>
            <a:spLocks xmlns:a="http://schemas.openxmlformats.org/drawingml/2006/main" noGrp="1"/>
          </p:cNvSpPr>
          <p:nvPr/>
        </p:nvSpPr>
        <p:spPr>
          <a:xfrm xmlns:a="http://schemas.openxmlformats.org/drawingml/2006/main" flipV="0">
            <a:off x="571500" y="6438900"/>
            <a:ext cx="11049000" cy="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5" name="">
            <a:extLst xmlns:a="http://schemas.openxmlformats.org/drawingml/2006/main">
              <a:ext uri="{FF2B5EF4-FFF2-40B4-BE49-F238E27FC236}">
                <a16:creationId xmlns:a16="http://schemas.microsoft.com/office/drawing/2014/main" id="{9A5CD34E-1602-4C41-90DA-1EF2BCAC7B79}"/>
              </a:ext>
            </a:extLst>
          </p:cNvPr>
          <p:cNvSpPr>
            <a:spLocks xmlns:a="http://schemas.openxmlformats.org/drawingml/2006/main" noGrp="1"/>
          </p:cNvSpPr>
          <p:nvPr/>
        </p:nvSpPr>
        <p:spPr>
          <a:xfrm xmlns:a="http://schemas.openxmlformats.org/drawingml/2006/main">
            <a:off x="571500" y="6534150"/>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536477"/>
                </a:solidFill>
                <a:latin typeface="Helvetica Neue"/>
                <a:ea typeface="Helvetica Neue"/>
                <a:cs typeface="Helvetica Neue"/>
              </a:defRPr>
            </a:defPPr>
          </a:lstStyle>
          <a:p xmlns:a="http://schemas.openxmlformats.org/drawingml/2006/main">
            <a:pPr algn="l">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VIT-AP UNIVERSITY  /  SCOPE</a:t>
            </a:r>
          </a:p>
        </p:txBody>
      </p:sp>
      <p:sp>
        <p:nvSpPr>
          <p:cNvPr id="6" name="">
            <a:extLst xmlns:a="http://schemas.openxmlformats.org/drawingml/2006/main">
              <a:ext uri="{FF2B5EF4-FFF2-40B4-BE49-F238E27FC236}">
                <a16:creationId xmlns:a16="http://schemas.microsoft.com/office/drawing/2014/main" id="{A3F1AEF3-BA6D-41F7-9FCD-B12122D9E64B}"/>
              </a:ext>
            </a:extLst>
          </p:cNvPr>
          <p:cNvSpPr>
            <a:spLocks xmlns:a="http://schemas.openxmlformats.org/drawingml/2006/main" noGrp="1"/>
          </p:cNvSpPr>
          <p:nvPr/>
        </p:nvSpPr>
        <p:spPr>
          <a:xfrm xmlns:a="http://schemas.openxmlformats.org/drawingml/2006/main">
            <a:off x="11087100" y="65151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a:solidFill>
                  <a:srgbClr val="536477"/>
                </a:solidFill>
                <a:latin typeface="Helvetica Neue"/>
                <a:ea typeface="Helvetica Neue"/>
                <a:cs typeface="Helvetica Neue"/>
              </a:defRPr>
            </a:defPPr>
          </a:lstStyle>
          <a:p xmlns:a="http://schemas.openxmlformats.org/drawingml/2006/main">
            <a:pPr algn="r">
              <a:lnSpc>
                <a:spcPct val="105000"/>
              </a:lnSpc>
              <a:buNone/>
              <a:defRPr sz="975" b="1">
                <a:solidFill>
                  <a:srgbClr val="536477"/>
                </a:solidFill>
                <a:latin typeface="Helvetica Neue"/>
                <a:ea typeface="Helvetica Neue"/>
                <a:cs typeface="Helvetica Neue"/>
              </a:defRPr>
            </a:pPr>
            <a:r>
              <a:rPr sz="975" b="1">
                <a:solidFill>
                  <a:srgbClr val="536477"/>
                </a:solidFill>
                <a:latin typeface="Helvetica Neue"/>
                <a:ea typeface="Helvetica Neue"/>
                <a:cs typeface="Helvetica Neue"/>
              </a:rPr>
              <a:t>07</a:t>
            </a:r>
          </a:p>
        </p:txBody>
      </p:sp>
      <p:sp>
        <p:nvSpPr>
          <p:cNvPr id="7" name="">
            <a:extLst xmlns:a="http://schemas.openxmlformats.org/drawingml/2006/main">
              <a:ext uri="{FF2B5EF4-FFF2-40B4-BE49-F238E27FC236}">
                <a16:creationId xmlns:a16="http://schemas.microsoft.com/office/drawing/2014/main" id="{46C87729-948E-4E55-A478-8661BE7B8979}"/>
              </a:ext>
            </a:extLst>
          </p:cNvPr>
          <p:cNvSpPr>
            <a:spLocks xmlns:a="http://schemas.openxmlformats.org/drawingml/2006/main" noGrp="1"/>
          </p:cNvSpPr>
          <p:nvPr/>
        </p:nvSpPr>
        <p:spPr>
          <a:xfrm xmlns:a="http://schemas.openxmlformats.org/drawingml/2006/main">
            <a:off x="628650" y="1390650"/>
            <a:ext cx="409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864C5"/>
                </a:solidFill>
                <a:latin typeface="Helvetica Neue"/>
                <a:ea typeface="Helvetica Neue"/>
                <a:cs typeface="Helvetica Neue"/>
              </a:defRPr>
            </a:defPPr>
          </a:lstStyle>
          <a:p xmlns:a="http://schemas.openxmlformats.org/drawingml/2006/main">
            <a:pPr algn="l">
              <a:lnSpc>
                <a:spcPct val="105000"/>
              </a:lnSpc>
              <a:buNone/>
              <a:defRPr sz="975" b="1">
                <a:solidFill>
                  <a:srgbClr val="2864C5"/>
                </a:solidFill>
                <a:latin typeface="Helvetica Neue"/>
                <a:ea typeface="Helvetica Neue"/>
                <a:cs typeface="Helvetica Neue"/>
              </a:defRPr>
            </a:pPr>
            <a:r>
              <a:rPr sz="975" b="1">
                <a:solidFill>
                  <a:srgbClr val="2864C5"/>
                </a:solidFill>
                <a:latin typeface="Helvetica Neue"/>
                <a:ea typeface="Helvetica Neue"/>
                <a:cs typeface="Helvetica Neue"/>
              </a:rPr>
              <a:t>A  LAYER-CONTRASTIVE DECODING</a:t>
            </a:r>
          </a:p>
        </p:txBody>
      </p:sp>
      <p:sp>
        <p:nvSpPr>
          <p:cNvPr id="8" name="">
            <a:extLst xmlns:a="http://schemas.openxmlformats.org/drawingml/2006/main">
              <a:ext uri="{FF2B5EF4-FFF2-40B4-BE49-F238E27FC236}">
                <a16:creationId xmlns:a16="http://schemas.microsoft.com/office/drawing/2014/main" id="{36661E4F-8775-462A-99AA-C8B683E7FFF8}"/>
              </a:ext>
            </a:extLst>
          </p:cNvPr>
          <p:cNvSpPr>
            <a:spLocks xmlns:a="http://schemas.openxmlformats.org/drawingml/2006/main" noGrp="1"/>
          </p:cNvSpPr>
          <p:nvPr/>
        </p:nvSpPr>
        <p:spPr>
          <a:xfrm xmlns:a="http://schemas.openxmlformats.org/drawingml/2006/main">
            <a:off x="723900" y="1943100"/>
            <a:ext cx="2000250" cy="552450"/>
          </a:xfrm>
          <a:prstGeom xmlns:a="http://schemas.openxmlformats.org/drawingml/2006/main" prst="roundRect">
            <a:avLst>
              <a:gd name="adj" fmla="val 13793"/>
            </a:avLst>
          </a:prstGeom>
          <a:solidFill xmlns:a="http://schemas.openxmlformats.org/drawingml/2006/main">
            <a:srgbClr val="2864C5"/>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634C188B-4230-4196-98AD-A1EE5202D98D}"/>
              </a:ext>
            </a:extLst>
          </p:cNvPr>
          <p:cNvSpPr>
            <a:spLocks xmlns:a="http://schemas.openxmlformats.org/drawingml/2006/main" noGrp="1"/>
          </p:cNvSpPr>
          <p:nvPr/>
        </p:nvSpPr>
        <p:spPr>
          <a:xfrm xmlns:a="http://schemas.openxmlformats.org/drawingml/2006/main">
            <a:off x="876300" y="2019300"/>
            <a:ext cx="1733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FFFFFF"/>
                </a:solidFill>
                <a:latin typeface="Helvetica Neue"/>
                <a:ea typeface="Helvetica Neue"/>
                <a:cs typeface="Helvetica Neue"/>
              </a:defRPr>
            </a:defPPr>
          </a:lstStyle>
          <a:p xmlns:a="http://schemas.openxmlformats.org/drawingml/2006/main">
            <a:pPr algn="l">
              <a:lnSpc>
                <a:spcPct val="105000"/>
              </a:lnSpc>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Mature block 21</a:t>
            </a:r>
          </a:p>
        </p:txBody>
      </p:sp>
      <p:sp>
        <p:nvSpPr>
          <p:cNvPr id="10" name="">
            <a:extLst xmlns:a="http://schemas.openxmlformats.org/drawingml/2006/main">
              <a:ext uri="{FF2B5EF4-FFF2-40B4-BE49-F238E27FC236}">
                <a16:creationId xmlns:a16="http://schemas.microsoft.com/office/drawing/2014/main" id="{5A3BBA07-BB24-4F84-AE8E-C319794AB391}"/>
              </a:ext>
            </a:extLst>
          </p:cNvPr>
          <p:cNvSpPr>
            <a:spLocks xmlns:a="http://schemas.openxmlformats.org/drawingml/2006/main" noGrp="1"/>
          </p:cNvSpPr>
          <p:nvPr/>
        </p:nvSpPr>
        <p:spPr>
          <a:xfrm xmlns:a="http://schemas.openxmlformats.org/drawingml/2006/main">
            <a:off x="876300" y="2257425"/>
            <a:ext cx="1733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0">
                <a:solidFill>
                  <a:srgbClr val="FFFFFF"/>
                </a:solidFill>
                <a:latin typeface="Helvetica Neue"/>
                <a:ea typeface="Helvetica Neue"/>
                <a:cs typeface="Helvetica Neue"/>
              </a:defRPr>
            </a:defPPr>
          </a:lstStyle>
          <a:p xmlns:a="http://schemas.openxmlformats.org/drawingml/2006/main">
            <a:pPr algn="l">
              <a:lnSpc>
                <a:spcPct val="105000"/>
              </a:lnSpc>
              <a:buNone/>
              <a:defRPr sz="975" b="0">
                <a:solidFill>
                  <a:srgbClr val="FFFFFF"/>
                </a:solidFill>
                <a:latin typeface="Helvetica Neue"/>
                <a:ea typeface="Helvetica Neue"/>
                <a:cs typeface="Helvetica Neue"/>
              </a:defRPr>
            </a:pPr>
            <a:r>
              <a:rPr sz="975" b="0">
                <a:solidFill>
                  <a:srgbClr val="FFFFFF"/>
                </a:solidFill>
                <a:latin typeface="Helvetica Neue"/>
                <a:ea typeface="Helvetica Neue"/>
                <a:cs typeface="Helvetica Neue"/>
              </a:rPr>
              <a:t>Final-layer logits</a:t>
            </a:r>
          </a:p>
        </p:txBody>
      </p:sp>
      <p:sp>
        <p:nvSpPr>
          <p:cNvPr id="11" name="">
            <a:extLst xmlns:a="http://schemas.openxmlformats.org/drawingml/2006/main">
              <a:ext uri="{FF2B5EF4-FFF2-40B4-BE49-F238E27FC236}">
                <a16:creationId xmlns:a16="http://schemas.microsoft.com/office/drawing/2014/main" id="{CF3CBEC3-052B-4920-BEE9-8D76CEC11EEC}"/>
              </a:ext>
            </a:extLst>
          </p:cNvPr>
          <p:cNvSpPr>
            <a:spLocks xmlns:a="http://schemas.openxmlformats.org/drawingml/2006/main" noGrp="1"/>
          </p:cNvSpPr>
          <p:nvPr/>
        </p:nvSpPr>
        <p:spPr>
          <a:xfrm xmlns:a="http://schemas.openxmlformats.org/drawingml/2006/main">
            <a:off x="723900" y="2781300"/>
            <a:ext cx="2000250" cy="552450"/>
          </a:xfrm>
          <a:prstGeom xmlns:a="http://schemas.openxmlformats.org/drawingml/2006/main" prst="roundRect">
            <a:avLst>
              <a:gd name="adj" fmla="val 13793"/>
            </a:avLst>
          </a:prstGeom>
          <a:solidFill xmlns:a="http://schemas.openxmlformats.org/drawingml/2006/main">
            <a:srgbClr val="148A8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6199A773-30AF-477E-A0C3-7DBDA00F6FCC}"/>
              </a:ext>
            </a:extLst>
          </p:cNvPr>
          <p:cNvSpPr>
            <a:spLocks xmlns:a="http://schemas.openxmlformats.org/drawingml/2006/main" noGrp="1"/>
          </p:cNvSpPr>
          <p:nvPr/>
        </p:nvSpPr>
        <p:spPr>
          <a:xfrm xmlns:a="http://schemas.openxmlformats.org/drawingml/2006/main">
            <a:off x="876300" y="2857500"/>
            <a:ext cx="1733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FFFFFF"/>
                </a:solidFill>
                <a:latin typeface="Helvetica Neue"/>
                <a:ea typeface="Helvetica Neue"/>
                <a:cs typeface="Helvetica Neue"/>
              </a:defRPr>
            </a:defPPr>
          </a:lstStyle>
          <a:p xmlns:a="http://schemas.openxmlformats.org/drawingml/2006/main">
            <a:pPr algn="l">
              <a:lnSpc>
                <a:spcPct val="105000"/>
              </a:lnSpc>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Candidate blocks</a:t>
            </a:r>
          </a:p>
        </p:txBody>
      </p:sp>
      <p:sp>
        <p:nvSpPr>
          <p:cNvPr id="13" name="">
            <a:extLst xmlns:a="http://schemas.openxmlformats.org/drawingml/2006/main">
              <a:ext uri="{FF2B5EF4-FFF2-40B4-BE49-F238E27FC236}">
                <a16:creationId xmlns:a16="http://schemas.microsoft.com/office/drawing/2014/main" id="{66335AEC-F79D-49C4-898F-2291FB64D7F0}"/>
              </a:ext>
            </a:extLst>
          </p:cNvPr>
          <p:cNvSpPr>
            <a:spLocks xmlns:a="http://schemas.openxmlformats.org/drawingml/2006/main" noGrp="1"/>
          </p:cNvSpPr>
          <p:nvPr/>
        </p:nvSpPr>
        <p:spPr>
          <a:xfrm xmlns:a="http://schemas.openxmlformats.org/drawingml/2006/main">
            <a:off x="876300" y="3095625"/>
            <a:ext cx="1733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0">
                <a:solidFill>
                  <a:srgbClr val="FFFFFF"/>
                </a:solidFill>
                <a:latin typeface="Helvetica Neue"/>
                <a:ea typeface="Helvetica Neue"/>
                <a:cs typeface="Helvetica Neue"/>
              </a:defRPr>
            </a:defPPr>
          </a:lstStyle>
          <a:p xmlns:a="http://schemas.openxmlformats.org/drawingml/2006/main">
            <a:pPr algn="l">
              <a:lnSpc>
                <a:spcPct val="105000"/>
              </a:lnSpc>
              <a:buNone/>
              <a:defRPr sz="975" b="0">
                <a:solidFill>
                  <a:srgbClr val="FFFFFF"/>
                </a:solidFill>
                <a:latin typeface="Helvetica Neue"/>
                <a:ea typeface="Helvetica Neue"/>
                <a:cs typeface="Helvetica Neue"/>
              </a:defRPr>
            </a:pPr>
            <a:r>
              <a:rPr sz="975" b="0">
                <a:solidFill>
                  <a:srgbClr val="FFFFFF"/>
                </a:solidFill>
                <a:latin typeface="Helvetica Neue"/>
                <a:ea typeface="Helvetica Neue"/>
                <a:cs typeface="Helvetica Neue"/>
              </a:rPr>
              <a:t>0, 4, 8, 12, 16, 20</a:t>
            </a:r>
          </a:p>
        </p:txBody>
      </p:sp>
      <p:sp>
        <p:nvSpPr>
          <p:cNvPr id="14" name="">
            <a:extLst xmlns:a="http://schemas.openxmlformats.org/drawingml/2006/main">
              <a:ext uri="{FF2B5EF4-FFF2-40B4-BE49-F238E27FC236}">
                <a16:creationId xmlns:a16="http://schemas.microsoft.com/office/drawing/2014/main" id="{47950463-C0FF-4069-8A07-6531F821C23C}"/>
              </a:ext>
            </a:extLst>
          </p:cNvPr>
          <p:cNvSpPr>
            <a:spLocks xmlns:a="http://schemas.openxmlformats.org/drawingml/2006/main" noGrp="1"/>
          </p:cNvSpPr>
          <p:nvPr/>
        </p:nvSpPr>
        <p:spPr>
          <a:xfrm xmlns:a="http://schemas.openxmlformats.org/drawingml/2006/main">
            <a:off x="3238500" y="2305050"/>
            <a:ext cx="144780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9525">
            <a:solidFill>
              <a:srgbClr val="D6DEE8"/>
            </a:solidFill>
            <a:prstDash val="solid"/>
          </a:ln>
        </p:spPr>
      </p:sp>
      <p:sp>
        <p:nvSpPr>
          <p:cNvPr id="15" name="">
            <a:extLst xmlns:a="http://schemas.openxmlformats.org/drawingml/2006/main">
              <a:ext uri="{FF2B5EF4-FFF2-40B4-BE49-F238E27FC236}">
                <a16:creationId xmlns:a16="http://schemas.microsoft.com/office/drawing/2014/main" id="{C2EE8BAB-D081-4BDE-BBE9-73D8BD343D01}"/>
              </a:ext>
            </a:extLst>
          </p:cNvPr>
          <p:cNvSpPr>
            <a:spLocks xmlns:a="http://schemas.openxmlformats.org/drawingml/2006/main" noGrp="1"/>
          </p:cNvSpPr>
          <p:nvPr/>
        </p:nvSpPr>
        <p:spPr>
          <a:xfrm xmlns:a="http://schemas.openxmlformats.org/drawingml/2006/main">
            <a:off x="3238500" y="2305050"/>
            <a:ext cx="47625" cy="685800"/>
          </a:xfrm>
          <a:prstGeom xmlns:a="http://schemas.openxmlformats.org/drawingml/2006/main" prst="rect">
            <a:avLst/>
          </a:prstGeom>
          <a:solidFill xmlns:a="http://schemas.openxmlformats.org/drawingml/2006/main">
            <a:srgbClr val="148A8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B2A61026-A8B6-4A2D-97B0-CB35239F6EB9}"/>
              </a:ext>
            </a:extLst>
          </p:cNvPr>
          <p:cNvSpPr>
            <a:spLocks xmlns:a="http://schemas.openxmlformats.org/drawingml/2006/main" noGrp="1"/>
          </p:cNvSpPr>
          <p:nvPr/>
        </p:nvSpPr>
        <p:spPr>
          <a:xfrm xmlns:a="http://schemas.openxmlformats.org/drawingml/2006/main">
            <a:off x="3409950" y="2447925"/>
            <a:ext cx="1123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JSD selector</a:t>
            </a:r>
          </a:p>
        </p:txBody>
      </p:sp>
      <p:sp>
        <p:nvSpPr>
          <p:cNvPr id="17" name="">
            <a:extLst xmlns:a="http://schemas.openxmlformats.org/drawingml/2006/main">
              <a:ext uri="{FF2B5EF4-FFF2-40B4-BE49-F238E27FC236}">
                <a16:creationId xmlns:a16="http://schemas.microsoft.com/office/drawing/2014/main" id="{E08EA2CF-1884-46B5-8BD3-3695581CBA33}"/>
              </a:ext>
            </a:extLst>
          </p:cNvPr>
          <p:cNvSpPr>
            <a:spLocks xmlns:a="http://schemas.openxmlformats.org/drawingml/2006/main" noGrp="1"/>
          </p:cNvSpPr>
          <p:nvPr/>
        </p:nvSpPr>
        <p:spPr>
          <a:xfrm xmlns:a="http://schemas.openxmlformats.org/drawingml/2006/main">
            <a:off x="3409950" y="2762250"/>
            <a:ext cx="11239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8682"/>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Choose premature layer</a:t>
            </a:r>
          </a:p>
        </p:txBody>
      </p:sp>
      <p:sp>
        <p:nvSpPr>
          <p:cNvPr id="18" name="">
            <a:extLst xmlns:a="http://schemas.openxmlformats.org/drawingml/2006/main">
              <a:ext uri="{FF2B5EF4-FFF2-40B4-BE49-F238E27FC236}">
                <a16:creationId xmlns:a16="http://schemas.microsoft.com/office/drawing/2014/main" id="{EC7B677F-DEBE-4968-B07C-29BD79EC8ECA}"/>
              </a:ext>
            </a:extLst>
          </p:cNvPr>
          <p:cNvSpPr>
            <a:spLocks xmlns:a="http://schemas.openxmlformats.org/drawingml/2006/main" noGrp="1"/>
          </p:cNvSpPr>
          <p:nvPr/>
        </p:nvSpPr>
        <p:spPr>
          <a:xfrm xmlns:a="http://schemas.openxmlformats.org/drawingml/2006/main">
            <a:off x="4953000" y="2305050"/>
            <a:ext cx="156210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9525">
            <a:solidFill>
              <a:srgbClr val="D6DEE8"/>
            </a:solidFill>
            <a:prstDash val="solid"/>
          </a:ln>
        </p:spPr>
      </p:sp>
      <p:sp>
        <p:nvSpPr>
          <p:cNvPr id="19" name="">
            <a:extLst xmlns:a="http://schemas.openxmlformats.org/drawingml/2006/main">
              <a:ext uri="{FF2B5EF4-FFF2-40B4-BE49-F238E27FC236}">
                <a16:creationId xmlns:a16="http://schemas.microsoft.com/office/drawing/2014/main" id="{5E4D417F-53E8-498F-9B77-CBA260F0C56B}"/>
              </a:ext>
            </a:extLst>
          </p:cNvPr>
          <p:cNvSpPr>
            <a:spLocks xmlns:a="http://schemas.openxmlformats.org/drawingml/2006/main" noGrp="1"/>
          </p:cNvSpPr>
          <p:nvPr/>
        </p:nvSpPr>
        <p:spPr>
          <a:xfrm xmlns:a="http://schemas.openxmlformats.org/drawingml/2006/main">
            <a:off x="4953000" y="2305050"/>
            <a:ext cx="47625" cy="68580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82E7D741-C176-4237-898C-05F1CB3ED6D1}"/>
              </a:ext>
            </a:extLst>
          </p:cNvPr>
          <p:cNvSpPr>
            <a:spLocks xmlns:a="http://schemas.openxmlformats.org/drawingml/2006/main" noGrp="1"/>
          </p:cNvSpPr>
          <p:nvPr/>
        </p:nvSpPr>
        <p:spPr>
          <a:xfrm xmlns:a="http://schemas.openxmlformats.org/drawingml/2006/main">
            <a:off x="5124450" y="2457450"/>
            <a:ext cx="12954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10253F"/>
                </a:solidFill>
                <a:latin typeface="Helvetica Neue"/>
                <a:ea typeface="Helvetica Neue"/>
                <a:cs typeface="Helvetica Neue"/>
              </a:defRPr>
            </a:defPPr>
          </a:lstStyle>
          <a:p xmlns:a="http://schemas.openxmlformats.org/drawingml/2006/main">
            <a:pPr algn="l">
              <a:lnSpc>
                <a:spcPct val="105000"/>
              </a:lnSpc>
              <a:buNone/>
              <a:defRPr sz="1200" b="1">
                <a:solidFill>
                  <a:srgbClr val="10253F"/>
                </a:solidFill>
                <a:latin typeface="Helvetica Neue"/>
                <a:ea typeface="Helvetica Neue"/>
                <a:cs typeface="Helvetica Neue"/>
              </a:defRPr>
            </a:pPr>
            <a:r>
              <a:rPr sz="1200" b="1">
                <a:solidFill>
                  <a:srgbClr val="10253F"/>
                </a:solidFill>
                <a:latin typeface="Helvetica Neue"/>
                <a:ea typeface="Helvetica Neue"/>
                <a:cs typeface="Helvetica Neue"/>
              </a:rPr>
              <a:t>DoLa contrast</a:t>
            </a:r>
          </a:p>
        </p:txBody>
      </p:sp>
      <p:sp>
        <p:nvSpPr>
          <p:cNvPr id="21" name="">
            <a:extLst xmlns:a="http://schemas.openxmlformats.org/drawingml/2006/main">
              <a:ext uri="{FF2B5EF4-FFF2-40B4-BE49-F238E27FC236}">
                <a16:creationId xmlns:a16="http://schemas.microsoft.com/office/drawing/2014/main" id="{2B321F8C-B80E-4BDB-A3BF-C63F971C8395}"/>
              </a:ext>
            </a:extLst>
          </p:cNvPr>
          <p:cNvSpPr>
            <a:spLocks xmlns:a="http://schemas.openxmlformats.org/drawingml/2006/main" noGrp="1"/>
          </p:cNvSpPr>
          <p:nvPr/>
        </p:nvSpPr>
        <p:spPr>
          <a:xfrm xmlns:a="http://schemas.openxmlformats.org/drawingml/2006/main">
            <a:off x="5124450" y="2714625"/>
            <a:ext cx="1295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0">
                <a:solidFill>
                  <a:srgbClr val="536477"/>
                </a:solidFill>
                <a:latin typeface="Helvetica Neue"/>
                <a:ea typeface="Helvetica Neue"/>
                <a:cs typeface="Helvetica Neue"/>
              </a:defRPr>
            </a:defPPr>
          </a:lstStyle>
          <a:p xmlns:a="http://schemas.openxmlformats.org/drawingml/2006/main">
            <a:pPr algn="l">
              <a:lnSpc>
                <a:spcPct val="105000"/>
              </a:lnSpc>
              <a:buNone/>
              <a:defRPr sz="825" b="0">
                <a:solidFill>
                  <a:srgbClr val="536477"/>
                </a:solidFill>
                <a:latin typeface="Helvetica Neue"/>
                <a:ea typeface="Helvetica Neue"/>
                <a:cs typeface="Helvetica Neue"/>
              </a:defRPr>
            </a:pPr>
            <a:r>
              <a:rPr sz="825" b="0">
                <a:solidFill>
                  <a:srgbClr val="536477"/>
                </a:solidFill>
                <a:latin typeface="Helvetica Neue"/>
                <a:ea typeface="Helvetica Neue"/>
                <a:cs typeface="Helvetica Neue"/>
              </a:rPr>
              <a:t>mature − α · premature</a:t>
            </a:r>
          </a:p>
        </p:txBody>
      </p:sp>
      <p:sp>
        <p:nvSpPr>
          <p:cNvPr id="22" name="">
            <a:extLst xmlns:a="http://schemas.openxmlformats.org/drawingml/2006/main">
              <a:ext uri="{FF2B5EF4-FFF2-40B4-BE49-F238E27FC236}">
                <a16:creationId xmlns:a16="http://schemas.microsoft.com/office/drawing/2014/main" id="{B24900C2-BB13-4F3D-8A5D-B6000C33D1B7}"/>
              </a:ext>
            </a:extLst>
          </p:cNvPr>
          <p:cNvSpPr>
            <a:spLocks xmlns:a="http://schemas.openxmlformats.org/drawingml/2006/main" noGrp="1"/>
          </p:cNvSpPr>
          <p:nvPr/>
        </p:nvSpPr>
        <p:spPr>
          <a:xfrm xmlns:a="http://schemas.openxmlformats.org/drawingml/2006/main" flipV="0">
            <a:off x="2724150" y="2219325"/>
            <a:ext cx="323850" cy="304800"/>
          </a:xfrm>
          <a:prstGeom xmlns:a="http://schemas.openxmlformats.org/drawingml/2006/main" prst="line">
            <a:avLst/>
          </a:prstGeom>
          <a:noFill xmlns:a="http://schemas.openxmlformats.org/drawingml/2006/main"/>
          <a:ln xmlns:a="http://schemas.openxmlformats.org/drawingml/2006/main" w="19050">
            <a:solidFill>
              <a:srgbClr val="2864C5"/>
            </a:solidFill>
            <a:prstDash val="solid"/>
          </a:ln>
        </p:spPr>
      </p:sp>
      <p:sp>
        <p:nvSpPr>
          <p:cNvPr id="23" name="">
            <a:extLst xmlns:a="http://schemas.openxmlformats.org/drawingml/2006/main">
              <a:ext uri="{FF2B5EF4-FFF2-40B4-BE49-F238E27FC236}">
                <a16:creationId xmlns:a16="http://schemas.microsoft.com/office/drawing/2014/main" id="{F90A4010-E5C4-4770-A38E-77B385C5B2A7}"/>
              </a:ext>
            </a:extLst>
          </p:cNvPr>
          <p:cNvSpPr>
            <a:spLocks xmlns:a="http://schemas.openxmlformats.org/drawingml/2006/main" noGrp="1"/>
          </p:cNvSpPr>
          <p:nvPr/>
        </p:nvSpPr>
        <p:spPr>
          <a:xfrm xmlns:a="http://schemas.openxmlformats.org/drawingml/2006/main" rot="5400000">
            <a:off x="3000375" y="2466975"/>
            <a:ext cx="114300" cy="114300"/>
          </a:xfrm>
          <a:prstGeom xmlns:a="http://schemas.openxmlformats.org/drawingml/2006/main" prst="triangle">
            <a:avLst/>
          </a:prstGeom>
          <a:solidFill xmlns:a="http://schemas.openxmlformats.org/drawingml/2006/main">
            <a:srgbClr val="2864C5"/>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F2D50D6A-AEAD-4EDA-9BF6-D21B60ACED10}"/>
              </a:ext>
            </a:extLst>
          </p:cNvPr>
          <p:cNvSpPr>
            <a:spLocks xmlns:a="http://schemas.openxmlformats.org/drawingml/2006/main" noGrp="1"/>
          </p:cNvSpPr>
          <p:nvPr/>
        </p:nvSpPr>
        <p:spPr>
          <a:xfrm xmlns:a="http://schemas.openxmlformats.org/drawingml/2006/main" flipV="1">
            <a:off x="2724150" y="2771775"/>
            <a:ext cx="323850" cy="285750"/>
          </a:xfrm>
          <a:prstGeom xmlns:a="http://schemas.openxmlformats.org/drawingml/2006/main" prst="line">
            <a:avLst/>
          </a:prstGeom>
          <a:noFill xmlns:a="http://schemas.openxmlformats.org/drawingml/2006/main"/>
          <a:ln xmlns:a="http://schemas.openxmlformats.org/drawingml/2006/main" w="19050">
            <a:solidFill>
              <a:srgbClr val="148A8A"/>
            </a:solidFill>
            <a:prstDash val="solid"/>
          </a:ln>
        </p:spPr>
      </p:sp>
      <p:sp>
        <p:nvSpPr>
          <p:cNvPr id="25" name="">
            <a:extLst xmlns:a="http://schemas.openxmlformats.org/drawingml/2006/main">
              <a:ext uri="{FF2B5EF4-FFF2-40B4-BE49-F238E27FC236}">
                <a16:creationId xmlns:a16="http://schemas.microsoft.com/office/drawing/2014/main" id="{EFFDE765-DC5A-42D2-BF3E-F436325F4530}"/>
              </a:ext>
            </a:extLst>
          </p:cNvPr>
          <p:cNvSpPr>
            <a:spLocks xmlns:a="http://schemas.openxmlformats.org/drawingml/2006/main" noGrp="1"/>
          </p:cNvSpPr>
          <p:nvPr/>
        </p:nvSpPr>
        <p:spPr>
          <a:xfrm xmlns:a="http://schemas.openxmlformats.org/drawingml/2006/main" rot="5400000">
            <a:off x="3000375" y="2714625"/>
            <a:ext cx="114300" cy="114300"/>
          </a:xfrm>
          <a:prstGeom xmlns:a="http://schemas.openxmlformats.org/drawingml/2006/main" prst="triangle">
            <a:avLst/>
          </a:prstGeom>
          <a:solidFill xmlns:a="http://schemas.openxmlformats.org/drawingml/2006/main">
            <a:srgbClr val="148A8A"/>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6EFE1AF8-ED89-4E67-B8AA-FB40B931B21A}"/>
              </a:ext>
            </a:extLst>
          </p:cNvPr>
          <p:cNvSpPr>
            <a:spLocks xmlns:a="http://schemas.openxmlformats.org/drawingml/2006/main" noGrp="1"/>
          </p:cNvSpPr>
          <p:nvPr/>
        </p:nvSpPr>
        <p:spPr>
          <a:xfrm xmlns:a="http://schemas.openxmlformats.org/drawingml/2006/main" flipV="0">
            <a:off x="4686300" y="2647950"/>
            <a:ext cx="123825" cy="0"/>
          </a:xfrm>
          <a:prstGeom xmlns:a="http://schemas.openxmlformats.org/drawingml/2006/main" prst="line">
            <a:avLst/>
          </a:prstGeom>
          <a:noFill xmlns:a="http://schemas.openxmlformats.org/drawingml/2006/main"/>
          <a:ln xmlns:a="http://schemas.openxmlformats.org/drawingml/2006/main" w="19050">
            <a:solidFill>
              <a:srgbClr val="2864C5"/>
            </a:solidFill>
            <a:prstDash val="solid"/>
          </a:ln>
        </p:spPr>
      </p:sp>
      <p:sp>
        <p:nvSpPr>
          <p:cNvPr id="27" name="">
            <a:extLst xmlns:a="http://schemas.openxmlformats.org/drawingml/2006/main">
              <a:ext uri="{FF2B5EF4-FFF2-40B4-BE49-F238E27FC236}">
                <a16:creationId xmlns:a16="http://schemas.microsoft.com/office/drawing/2014/main" id="{F76C8388-367A-4CDD-ACE6-2057C5F36A03}"/>
              </a:ext>
            </a:extLst>
          </p:cNvPr>
          <p:cNvSpPr>
            <a:spLocks xmlns:a="http://schemas.openxmlformats.org/drawingml/2006/main" noGrp="1"/>
          </p:cNvSpPr>
          <p:nvPr/>
        </p:nvSpPr>
        <p:spPr>
          <a:xfrm xmlns:a="http://schemas.openxmlformats.org/drawingml/2006/main" rot="5400000">
            <a:off x="4762500" y="2590800"/>
            <a:ext cx="114300" cy="114300"/>
          </a:xfrm>
          <a:prstGeom xmlns:a="http://schemas.openxmlformats.org/drawingml/2006/main" prst="triangle">
            <a:avLst/>
          </a:prstGeom>
          <a:solidFill xmlns:a="http://schemas.openxmlformats.org/drawingml/2006/main">
            <a:srgbClr val="2864C5"/>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944FD4B8-4229-46A6-9F89-D713EB292B5A}"/>
              </a:ext>
            </a:extLst>
          </p:cNvPr>
          <p:cNvSpPr>
            <a:spLocks xmlns:a="http://schemas.openxmlformats.org/drawingml/2006/main" noGrp="1"/>
          </p:cNvSpPr>
          <p:nvPr/>
        </p:nvSpPr>
        <p:spPr>
          <a:xfrm xmlns:a="http://schemas.openxmlformats.org/drawingml/2006/main">
            <a:off x="1562100" y="3638550"/>
            <a:ext cx="4343400" cy="609600"/>
          </a:xfrm>
          <a:prstGeom xmlns:a="http://schemas.openxmlformats.org/drawingml/2006/main" prst="roundRect">
            <a:avLst>
              <a:gd name="adj" fmla="val 12500"/>
            </a:avLst>
          </a:prstGeom>
          <a:solidFill xmlns:a="http://schemas.openxmlformats.org/drawingml/2006/main">
            <a:srgbClr val="E8F0FC"/>
          </a:solidFill>
          <a:ln xmlns:a="http://schemas.openxmlformats.org/drawingml/2006/main" w="9525">
            <a:solidFill>
              <a:srgbClr val="D6DEE8"/>
            </a:solidFill>
            <a:prstDash val="solid"/>
          </a:ln>
        </p:spPr>
      </p:sp>
      <p:sp>
        <p:nvSpPr>
          <p:cNvPr id="29" name="">
            <a:extLst xmlns:a="http://schemas.openxmlformats.org/drawingml/2006/main">
              <a:ext uri="{FF2B5EF4-FFF2-40B4-BE49-F238E27FC236}">
                <a16:creationId xmlns:a16="http://schemas.microsoft.com/office/drawing/2014/main" id="{8F8221B0-EBB9-4BEA-A185-22CEBD16E9EF}"/>
              </a:ext>
            </a:extLst>
          </p:cNvPr>
          <p:cNvSpPr>
            <a:spLocks xmlns:a="http://schemas.openxmlformats.org/drawingml/2006/main" noGrp="1"/>
          </p:cNvSpPr>
          <p:nvPr/>
        </p:nvSpPr>
        <p:spPr>
          <a:xfrm xmlns:a="http://schemas.openxmlformats.org/drawingml/2006/main">
            <a:off x="1562100" y="3638550"/>
            <a:ext cx="47625" cy="60960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DAD06FA4-5680-4F89-90EC-683CDB3364CF}"/>
              </a:ext>
            </a:extLst>
          </p:cNvPr>
          <p:cNvSpPr>
            <a:spLocks xmlns:a="http://schemas.openxmlformats.org/drawingml/2006/main" noGrp="1"/>
          </p:cNvSpPr>
          <p:nvPr/>
        </p:nvSpPr>
        <p:spPr>
          <a:xfrm xmlns:a="http://schemas.openxmlformats.org/drawingml/2006/main">
            <a:off x="1733550" y="3781425"/>
            <a:ext cx="4019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Next-token distribution</a:t>
            </a:r>
          </a:p>
        </p:txBody>
      </p:sp>
      <p:sp>
        <p:nvSpPr>
          <p:cNvPr id="31" name="">
            <a:extLst xmlns:a="http://schemas.openxmlformats.org/drawingml/2006/main">
              <a:ext uri="{FF2B5EF4-FFF2-40B4-BE49-F238E27FC236}">
                <a16:creationId xmlns:a16="http://schemas.microsoft.com/office/drawing/2014/main" id="{9EDA8DBD-99E1-4ED0-968C-42BAFD047CDC}"/>
              </a:ext>
            </a:extLst>
          </p:cNvPr>
          <p:cNvSpPr>
            <a:spLocks xmlns:a="http://schemas.openxmlformats.org/drawingml/2006/main" noGrp="1"/>
          </p:cNvSpPr>
          <p:nvPr/>
        </p:nvSpPr>
        <p:spPr>
          <a:xfrm xmlns:a="http://schemas.openxmlformats.org/drawingml/2006/main">
            <a:off x="1733550" y="4095750"/>
            <a:ext cx="4019550" cy="66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39682"/>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softmax(contrastive logits)</a:t>
            </a:r>
          </a:p>
        </p:txBody>
      </p:sp>
      <p:sp>
        <p:nvSpPr>
          <p:cNvPr id="32" name="">
            <a:extLst xmlns:a="http://schemas.openxmlformats.org/drawingml/2006/main">
              <a:ext uri="{FF2B5EF4-FFF2-40B4-BE49-F238E27FC236}">
                <a16:creationId xmlns:a16="http://schemas.microsoft.com/office/drawing/2014/main" id="{D06FDF9D-F086-4FB3-A6EE-8D699B0AB18D}"/>
              </a:ext>
            </a:extLst>
          </p:cNvPr>
          <p:cNvSpPr>
            <a:spLocks xmlns:a="http://schemas.openxmlformats.org/drawingml/2006/main" noGrp="1"/>
          </p:cNvSpPr>
          <p:nvPr/>
        </p:nvSpPr>
        <p:spPr>
          <a:xfrm xmlns:a="http://schemas.openxmlformats.org/drawingml/2006/main" flipV="0">
            <a:off x="5734050" y="2990850"/>
            <a:ext cx="0" cy="495300"/>
          </a:xfrm>
          <a:prstGeom xmlns:a="http://schemas.openxmlformats.org/drawingml/2006/main" prst="line">
            <a:avLst/>
          </a:prstGeom>
          <a:noFill xmlns:a="http://schemas.openxmlformats.org/drawingml/2006/main"/>
          <a:ln xmlns:a="http://schemas.openxmlformats.org/drawingml/2006/main" w="19050">
            <a:solidFill>
              <a:srgbClr val="2864C5"/>
            </a:solidFill>
            <a:prstDash val="solid"/>
          </a:ln>
        </p:spPr>
      </p:sp>
      <p:sp>
        <p:nvSpPr>
          <p:cNvPr id="33" name="">
            <a:extLst xmlns:a="http://schemas.openxmlformats.org/drawingml/2006/main">
              <a:ext uri="{FF2B5EF4-FFF2-40B4-BE49-F238E27FC236}">
                <a16:creationId xmlns:a16="http://schemas.microsoft.com/office/drawing/2014/main" id="{F6695253-D40C-46E1-B148-84ABE6F348C5}"/>
              </a:ext>
            </a:extLst>
          </p:cNvPr>
          <p:cNvSpPr>
            <a:spLocks xmlns:a="http://schemas.openxmlformats.org/drawingml/2006/main" noGrp="1"/>
          </p:cNvSpPr>
          <p:nvPr/>
        </p:nvSpPr>
        <p:spPr>
          <a:xfrm xmlns:a="http://schemas.openxmlformats.org/drawingml/2006/main" rot="10800000">
            <a:off x="5676900" y="3438525"/>
            <a:ext cx="114300" cy="114300"/>
          </a:xfrm>
          <a:prstGeom xmlns:a="http://schemas.openxmlformats.org/drawingml/2006/main" prst="triangle">
            <a:avLst/>
          </a:prstGeom>
          <a:solidFill xmlns:a="http://schemas.openxmlformats.org/drawingml/2006/main">
            <a:srgbClr val="2864C5"/>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93FCDADE-C0DC-4B4F-82B2-A902C11B9119}"/>
              </a:ext>
            </a:extLst>
          </p:cNvPr>
          <p:cNvSpPr>
            <a:spLocks xmlns:a="http://schemas.openxmlformats.org/drawingml/2006/main" noGrp="1"/>
          </p:cNvSpPr>
          <p:nvPr/>
        </p:nvSpPr>
        <p:spPr>
          <a:xfrm xmlns:a="http://schemas.openxmlformats.org/drawingml/2006/main" flipV="0">
            <a:off x="6781800" y="1390650"/>
            <a:ext cx="0" cy="306705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35" name="">
            <a:extLst xmlns:a="http://schemas.openxmlformats.org/drawingml/2006/main">
              <a:ext uri="{FF2B5EF4-FFF2-40B4-BE49-F238E27FC236}">
                <a16:creationId xmlns:a16="http://schemas.microsoft.com/office/drawing/2014/main" id="{E3C6D242-B137-44CD-A737-59A3BB3D1AB6}"/>
              </a:ext>
            </a:extLst>
          </p:cNvPr>
          <p:cNvSpPr>
            <a:spLocks xmlns:a="http://schemas.openxmlformats.org/drawingml/2006/main" noGrp="1"/>
          </p:cNvSpPr>
          <p:nvPr/>
        </p:nvSpPr>
        <p:spPr>
          <a:xfrm xmlns:a="http://schemas.openxmlformats.org/drawingml/2006/main">
            <a:off x="7124700" y="139065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148A8A"/>
                </a:solidFill>
                <a:latin typeface="Helvetica Neue"/>
                <a:ea typeface="Helvetica Neue"/>
                <a:cs typeface="Helvetica Neue"/>
              </a:defRPr>
            </a:defPPr>
          </a:lstStyle>
          <a:p xmlns:a="http://schemas.openxmlformats.org/drawingml/2006/main">
            <a:pPr algn="l">
              <a:lnSpc>
                <a:spcPct val="105000"/>
              </a:lnSpc>
              <a:buNone/>
              <a:defRPr sz="975" b="1">
                <a:solidFill>
                  <a:srgbClr val="148A8A"/>
                </a:solidFill>
                <a:latin typeface="Helvetica Neue"/>
                <a:ea typeface="Helvetica Neue"/>
                <a:cs typeface="Helvetica Neue"/>
              </a:defRPr>
            </a:pPr>
            <a:r>
              <a:rPr sz="975" b="1">
                <a:solidFill>
                  <a:srgbClr val="148A8A"/>
                </a:solidFill>
                <a:latin typeface="Helvetica Neue"/>
                <a:ea typeface="Helvetica Neue"/>
                <a:cs typeface="Helvetica Neue"/>
              </a:rPr>
              <a:t>B  EPISTEMIC NEURAL NETWORK</a:t>
            </a:r>
          </a:p>
        </p:txBody>
      </p:sp>
      <p:sp>
        <p:nvSpPr>
          <p:cNvPr id="36" name="">
            <a:extLst xmlns:a="http://schemas.openxmlformats.org/drawingml/2006/main">
              <a:ext uri="{FF2B5EF4-FFF2-40B4-BE49-F238E27FC236}">
                <a16:creationId xmlns:a16="http://schemas.microsoft.com/office/drawing/2014/main" id="{2868AD4A-DF77-4372-B514-1D61AF3DED75}"/>
              </a:ext>
            </a:extLst>
          </p:cNvPr>
          <p:cNvSpPr>
            <a:spLocks xmlns:a="http://schemas.openxmlformats.org/drawingml/2006/main" noGrp="1"/>
          </p:cNvSpPr>
          <p:nvPr/>
        </p:nvSpPr>
        <p:spPr>
          <a:xfrm xmlns:a="http://schemas.openxmlformats.org/drawingml/2006/main">
            <a:off x="7143750" y="1809750"/>
            <a:ext cx="3905250" cy="638175"/>
          </a:xfrm>
          <a:prstGeom xmlns:a="http://schemas.openxmlformats.org/drawingml/2006/main" prst="roundRect">
            <a:avLst>
              <a:gd name="adj" fmla="val 11940"/>
            </a:avLst>
          </a:prstGeom>
          <a:solidFill xmlns:a="http://schemas.openxmlformats.org/drawingml/2006/main">
            <a:srgbClr val="FFFFFF"/>
          </a:solidFill>
          <a:ln xmlns:a="http://schemas.openxmlformats.org/drawingml/2006/main" w="9525">
            <a:solidFill>
              <a:srgbClr val="D6DEE8"/>
            </a:solidFill>
            <a:prstDash val="solid"/>
          </a:ln>
        </p:spPr>
      </p:sp>
      <p:sp>
        <p:nvSpPr>
          <p:cNvPr id="37" name="">
            <a:extLst xmlns:a="http://schemas.openxmlformats.org/drawingml/2006/main">
              <a:ext uri="{FF2B5EF4-FFF2-40B4-BE49-F238E27FC236}">
                <a16:creationId xmlns:a16="http://schemas.microsoft.com/office/drawing/2014/main" id="{C60EC36C-49A9-40EC-8941-CA8C377A1A45}"/>
              </a:ext>
            </a:extLst>
          </p:cNvPr>
          <p:cNvSpPr>
            <a:spLocks xmlns:a="http://schemas.openxmlformats.org/drawingml/2006/main" noGrp="1"/>
          </p:cNvSpPr>
          <p:nvPr/>
        </p:nvSpPr>
        <p:spPr>
          <a:xfrm xmlns:a="http://schemas.openxmlformats.org/drawingml/2006/main">
            <a:off x="7143750" y="1809750"/>
            <a:ext cx="47625" cy="638175"/>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947F3BAE-EBCD-43DB-8F04-EFF59B4F7506}"/>
              </a:ext>
            </a:extLst>
          </p:cNvPr>
          <p:cNvSpPr>
            <a:spLocks xmlns:a="http://schemas.openxmlformats.org/drawingml/2006/main" noGrp="1"/>
          </p:cNvSpPr>
          <p:nvPr/>
        </p:nvSpPr>
        <p:spPr>
          <a:xfrm xmlns:a="http://schemas.openxmlformats.org/drawingml/2006/main">
            <a:off x="7315200" y="1952625"/>
            <a:ext cx="3581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Input feature x</a:t>
            </a:r>
          </a:p>
        </p:txBody>
      </p:sp>
      <p:sp>
        <p:nvSpPr>
          <p:cNvPr id="39" name="">
            <a:extLst xmlns:a="http://schemas.openxmlformats.org/drawingml/2006/main">
              <a:ext uri="{FF2B5EF4-FFF2-40B4-BE49-F238E27FC236}">
                <a16:creationId xmlns:a16="http://schemas.microsoft.com/office/drawing/2014/main" id="{CC14ED76-B9D8-43AF-8005-89AD962C83D8}"/>
              </a:ext>
            </a:extLst>
          </p:cNvPr>
          <p:cNvSpPr>
            <a:spLocks xmlns:a="http://schemas.openxmlformats.org/drawingml/2006/main" noGrp="1"/>
          </p:cNvSpPr>
          <p:nvPr/>
        </p:nvSpPr>
        <p:spPr>
          <a:xfrm xmlns:a="http://schemas.openxmlformats.org/drawingml/2006/main">
            <a:off x="7315200" y="2266950"/>
            <a:ext cx="3581400" cy="95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56689"/>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Concatenate mature + premature (2 × 2,048)</a:t>
            </a:r>
          </a:p>
        </p:txBody>
      </p:sp>
      <p:sp>
        <p:nvSpPr>
          <p:cNvPr id="40" name="">
            <a:extLst xmlns:a="http://schemas.openxmlformats.org/drawingml/2006/main">
              <a:ext uri="{FF2B5EF4-FFF2-40B4-BE49-F238E27FC236}">
                <a16:creationId xmlns:a16="http://schemas.microsoft.com/office/drawing/2014/main" id="{32151CAD-D10D-42E7-A3BC-5E0C48652D86}"/>
              </a:ext>
            </a:extLst>
          </p:cNvPr>
          <p:cNvSpPr>
            <a:spLocks xmlns:a="http://schemas.openxmlformats.org/drawingml/2006/main" noGrp="1"/>
          </p:cNvSpPr>
          <p:nvPr/>
        </p:nvSpPr>
        <p:spPr>
          <a:xfrm xmlns:a="http://schemas.openxmlformats.org/drawingml/2006/main" flipV="0">
            <a:off x="9096375" y="2447925"/>
            <a:ext cx="0" cy="123825"/>
          </a:xfrm>
          <a:prstGeom xmlns:a="http://schemas.openxmlformats.org/drawingml/2006/main" prst="line">
            <a:avLst/>
          </a:prstGeom>
          <a:noFill xmlns:a="http://schemas.openxmlformats.org/drawingml/2006/main"/>
          <a:ln xmlns:a="http://schemas.openxmlformats.org/drawingml/2006/main" w="19050">
            <a:solidFill>
              <a:srgbClr val="2864C5"/>
            </a:solidFill>
            <a:prstDash val="solid"/>
          </a:ln>
        </p:spPr>
      </p:sp>
      <p:sp>
        <p:nvSpPr>
          <p:cNvPr id="41" name="">
            <a:extLst xmlns:a="http://schemas.openxmlformats.org/drawingml/2006/main">
              <a:ext uri="{FF2B5EF4-FFF2-40B4-BE49-F238E27FC236}">
                <a16:creationId xmlns:a16="http://schemas.microsoft.com/office/drawing/2014/main" id="{F6BA4D2A-8C9C-4A48-A257-FB9E138F059D}"/>
              </a:ext>
            </a:extLst>
          </p:cNvPr>
          <p:cNvSpPr>
            <a:spLocks xmlns:a="http://schemas.openxmlformats.org/drawingml/2006/main" noGrp="1"/>
          </p:cNvSpPr>
          <p:nvPr/>
        </p:nvSpPr>
        <p:spPr>
          <a:xfrm xmlns:a="http://schemas.openxmlformats.org/drawingml/2006/main" rot="10800000">
            <a:off x="9039225" y="2524125"/>
            <a:ext cx="114300" cy="114300"/>
          </a:xfrm>
          <a:prstGeom xmlns:a="http://schemas.openxmlformats.org/drawingml/2006/main" prst="triangle">
            <a:avLst/>
          </a:prstGeom>
          <a:solidFill xmlns:a="http://schemas.openxmlformats.org/drawingml/2006/main">
            <a:srgbClr val="2864C5"/>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53F5E09F-E5DF-4CC3-9FDF-A9276FB6CC6E}"/>
              </a:ext>
            </a:extLst>
          </p:cNvPr>
          <p:cNvSpPr>
            <a:spLocks xmlns:a="http://schemas.openxmlformats.org/drawingml/2006/main" noGrp="1"/>
          </p:cNvSpPr>
          <p:nvPr/>
        </p:nvSpPr>
        <p:spPr>
          <a:xfrm xmlns:a="http://schemas.openxmlformats.org/drawingml/2006/main">
            <a:off x="7143750" y="2714625"/>
            <a:ext cx="1866900" cy="895350"/>
          </a:xfrm>
          <a:prstGeom xmlns:a="http://schemas.openxmlformats.org/drawingml/2006/main" prst="roundRect">
            <a:avLst>
              <a:gd name="adj" fmla="val 8511"/>
            </a:avLst>
          </a:prstGeom>
          <a:solidFill xmlns:a="http://schemas.openxmlformats.org/drawingml/2006/main">
            <a:srgbClr val="FFFFFF"/>
          </a:solidFill>
          <a:ln xmlns:a="http://schemas.openxmlformats.org/drawingml/2006/main" w="9525">
            <a:solidFill>
              <a:srgbClr val="D6DEE8"/>
            </a:solidFill>
            <a:prstDash val="solid"/>
          </a:ln>
        </p:spPr>
      </p:sp>
      <p:sp>
        <p:nvSpPr>
          <p:cNvPr id="43" name="">
            <a:extLst xmlns:a="http://schemas.openxmlformats.org/drawingml/2006/main">
              <a:ext uri="{FF2B5EF4-FFF2-40B4-BE49-F238E27FC236}">
                <a16:creationId xmlns:a16="http://schemas.microsoft.com/office/drawing/2014/main" id="{75F55EE2-714B-463B-AB17-CE846D515836}"/>
              </a:ext>
            </a:extLst>
          </p:cNvPr>
          <p:cNvSpPr>
            <a:spLocks xmlns:a="http://schemas.openxmlformats.org/drawingml/2006/main" noGrp="1"/>
          </p:cNvSpPr>
          <p:nvPr/>
        </p:nvSpPr>
        <p:spPr>
          <a:xfrm xmlns:a="http://schemas.openxmlformats.org/drawingml/2006/main">
            <a:off x="7143750" y="2714625"/>
            <a:ext cx="47625" cy="895350"/>
          </a:xfrm>
          <a:prstGeom xmlns:a="http://schemas.openxmlformats.org/drawingml/2006/main" prst="rect">
            <a:avLst/>
          </a:prstGeom>
          <a:solidFill xmlns:a="http://schemas.openxmlformats.org/drawingml/2006/main">
            <a:srgbClr val="536477"/>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C39403AA-6C19-492B-A103-8B0827CA5FFE}"/>
              </a:ext>
            </a:extLst>
          </p:cNvPr>
          <p:cNvSpPr>
            <a:spLocks xmlns:a="http://schemas.openxmlformats.org/drawingml/2006/main" noGrp="1"/>
          </p:cNvSpPr>
          <p:nvPr/>
        </p:nvSpPr>
        <p:spPr>
          <a:xfrm xmlns:a="http://schemas.openxmlformats.org/drawingml/2006/main">
            <a:off x="7315200" y="2857500"/>
            <a:ext cx="1543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Frozen prior</a:t>
            </a:r>
          </a:p>
        </p:txBody>
      </p:sp>
      <p:sp>
        <p:nvSpPr>
          <p:cNvPr id="45" name="">
            <a:extLst xmlns:a="http://schemas.openxmlformats.org/drawingml/2006/main">
              <a:ext uri="{FF2B5EF4-FFF2-40B4-BE49-F238E27FC236}">
                <a16:creationId xmlns:a16="http://schemas.microsoft.com/office/drawing/2014/main" id="{9F11C916-507A-41FA-9AF4-1BC9B9DAC73E}"/>
              </a:ext>
            </a:extLst>
          </p:cNvPr>
          <p:cNvSpPr>
            <a:spLocks xmlns:a="http://schemas.openxmlformats.org/drawingml/2006/main" noGrp="1"/>
          </p:cNvSpPr>
          <p:nvPr/>
        </p:nvSpPr>
        <p:spPr>
          <a:xfrm xmlns:a="http://schemas.openxmlformats.org/drawingml/2006/main">
            <a:off x="7315200" y="3171825"/>
            <a:ext cx="15430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Random indexed MLP</a:t>
            </a:r>
          </a:p>
        </p:txBody>
      </p:sp>
      <p:sp>
        <p:nvSpPr>
          <p:cNvPr id="46" name="">
            <a:extLst xmlns:a="http://schemas.openxmlformats.org/drawingml/2006/main">
              <a:ext uri="{FF2B5EF4-FFF2-40B4-BE49-F238E27FC236}">
                <a16:creationId xmlns:a16="http://schemas.microsoft.com/office/drawing/2014/main" id="{EE38C396-36E2-4717-B9C3-2FE907FF7F28}"/>
              </a:ext>
            </a:extLst>
          </p:cNvPr>
          <p:cNvSpPr>
            <a:spLocks xmlns:a="http://schemas.openxmlformats.org/drawingml/2006/main" noGrp="1"/>
          </p:cNvSpPr>
          <p:nvPr/>
        </p:nvSpPr>
        <p:spPr>
          <a:xfrm xmlns:a="http://schemas.openxmlformats.org/drawingml/2006/main">
            <a:off x="9182100" y="2714625"/>
            <a:ext cx="1866900" cy="895350"/>
          </a:xfrm>
          <a:prstGeom xmlns:a="http://schemas.openxmlformats.org/drawingml/2006/main" prst="roundRect">
            <a:avLst>
              <a:gd name="adj" fmla="val 8511"/>
            </a:avLst>
          </a:prstGeom>
          <a:solidFill xmlns:a="http://schemas.openxmlformats.org/drawingml/2006/main">
            <a:srgbClr val="FFFFFF"/>
          </a:solidFill>
          <a:ln xmlns:a="http://schemas.openxmlformats.org/drawingml/2006/main" w="9525">
            <a:solidFill>
              <a:srgbClr val="D6DEE8"/>
            </a:solidFill>
            <a:prstDash val="solid"/>
          </a:ln>
        </p:spPr>
      </p:sp>
      <p:sp>
        <p:nvSpPr>
          <p:cNvPr id="47" name="">
            <a:extLst xmlns:a="http://schemas.openxmlformats.org/drawingml/2006/main">
              <a:ext uri="{FF2B5EF4-FFF2-40B4-BE49-F238E27FC236}">
                <a16:creationId xmlns:a16="http://schemas.microsoft.com/office/drawing/2014/main" id="{12F2B8AD-42B4-4FCF-97C5-92BE6A1F08A9}"/>
              </a:ext>
            </a:extLst>
          </p:cNvPr>
          <p:cNvSpPr>
            <a:spLocks xmlns:a="http://schemas.openxmlformats.org/drawingml/2006/main" noGrp="1"/>
          </p:cNvSpPr>
          <p:nvPr/>
        </p:nvSpPr>
        <p:spPr>
          <a:xfrm xmlns:a="http://schemas.openxmlformats.org/drawingml/2006/main">
            <a:off x="9182100" y="2714625"/>
            <a:ext cx="47625" cy="895350"/>
          </a:xfrm>
          <a:prstGeom xmlns:a="http://schemas.openxmlformats.org/drawingml/2006/main" prst="rect">
            <a:avLst/>
          </a:prstGeom>
          <a:solidFill xmlns:a="http://schemas.openxmlformats.org/drawingml/2006/main">
            <a:srgbClr val="148A8A"/>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FA29455A-9CDB-4639-8555-69AE3BC0027D}"/>
              </a:ext>
            </a:extLst>
          </p:cNvPr>
          <p:cNvSpPr>
            <a:spLocks xmlns:a="http://schemas.openxmlformats.org/drawingml/2006/main" noGrp="1"/>
          </p:cNvSpPr>
          <p:nvPr/>
        </p:nvSpPr>
        <p:spPr>
          <a:xfrm xmlns:a="http://schemas.openxmlformats.org/drawingml/2006/main">
            <a:off x="9353550" y="2857500"/>
            <a:ext cx="1543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Learnable branch</a:t>
            </a:r>
          </a:p>
        </p:txBody>
      </p:sp>
      <p:sp>
        <p:nvSpPr>
          <p:cNvPr id="49" name="">
            <a:extLst xmlns:a="http://schemas.openxmlformats.org/drawingml/2006/main">
              <a:ext uri="{FF2B5EF4-FFF2-40B4-BE49-F238E27FC236}">
                <a16:creationId xmlns:a16="http://schemas.microsoft.com/office/drawing/2014/main" id="{81F68422-433C-4170-90DD-69EA14C63B43}"/>
              </a:ext>
            </a:extLst>
          </p:cNvPr>
          <p:cNvSpPr>
            <a:spLocks xmlns:a="http://schemas.openxmlformats.org/drawingml/2006/main" noGrp="1"/>
          </p:cNvSpPr>
          <p:nvPr/>
        </p:nvSpPr>
        <p:spPr>
          <a:xfrm xmlns:a="http://schemas.openxmlformats.org/drawingml/2006/main">
            <a:off x="9353550" y="3171825"/>
            <a:ext cx="15430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Indexed MLP, width 512</a:t>
            </a:r>
          </a:p>
        </p:txBody>
      </p:sp>
      <p:sp>
        <p:nvSpPr>
          <p:cNvPr id="50" name="">
            <a:extLst xmlns:a="http://schemas.openxmlformats.org/drawingml/2006/main">
              <a:ext uri="{FF2B5EF4-FFF2-40B4-BE49-F238E27FC236}">
                <a16:creationId xmlns:a16="http://schemas.microsoft.com/office/drawing/2014/main" id="{CCBF8619-152B-4960-A9EA-59CDDA65C6DC}"/>
              </a:ext>
            </a:extLst>
          </p:cNvPr>
          <p:cNvSpPr>
            <a:spLocks xmlns:a="http://schemas.openxmlformats.org/drawingml/2006/main" noGrp="1"/>
          </p:cNvSpPr>
          <p:nvPr/>
        </p:nvSpPr>
        <p:spPr>
          <a:xfrm xmlns:a="http://schemas.openxmlformats.org/drawingml/2006/main">
            <a:off x="7143750" y="3867150"/>
            <a:ext cx="390525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D6DEE8"/>
            </a:solidFill>
            <a:prstDash val="solid"/>
          </a:ln>
        </p:spPr>
      </p:sp>
      <p:sp>
        <p:nvSpPr>
          <p:cNvPr id="51" name="">
            <a:extLst xmlns:a="http://schemas.openxmlformats.org/drawingml/2006/main">
              <a:ext uri="{FF2B5EF4-FFF2-40B4-BE49-F238E27FC236}">
                <a16:creationId xmlns:a16="http://schemas.microsoft.com/office/drawing/2014/main" id="{8B9C87A6-6807-4D1A-89AE-7DEC72E939AB}"/>
              </a:ext>
            </a:extLst>
          </p:cNvPr>
          <p:cNvSpPr>
            <a:spLocks xmlns:a="http://schemas.openxmlformats.org/drawingml/2006/main" noGrp="1"/>
          </p:cNvSpPr>
          <p:nvPr/>
        </p:nvSpPr>
        <p:spPr>
          <a:xfrm xmlns:a="http://schemas.openxmlformats.org/drawingml/2006/main">
            <a:off x="7143750" y="3867150"/>
            <a:ext cx="47625" cy="590550"/>
          </a:xfrm>
          <a:prstGeom xmlns:a="http://schemas.openxmlformats.org/drawingml/2006/main" prst="rect">
            <a:avLst/>
          </a:prstGeom>
          <a:solidFill xmlns:a="http://schemas.openxmlformats.org/drawingml/2006/main">
            <a:srgbClr val="C7782B"/>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5177CBAE-2A03-466B-948F-3D6D0FCBDAD8}"/>
              </a:ext>
            </a:extLst>
          </p:cNvPr>
          <p:cNvSpPr>
            <a:spLocks xmlns:a="http://schemas.openxmlformats.org/drawingml/2006/main" noGrp="1"/>
          </p:cNvSpPr>
          <p:nvPr/>
        </p:nvSpPr>
        <p:spPr>
          <a:xfrm xmlns:a="http://schemas.openxmlformats.org/drawingml/2006/main">
            <a:off x="7315200" y="3962400"/>
            <a:ext cx="3562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10253F"/>
                </a:solidFill>
                <a:latin typeface="Helvetica Neue"/>
                <a:ea typeface="Helvetica Neue"/>
                <a:cs typeface="Helvetica Neue"/>
              </a:defRPr>
            </a:defPPr>
          </a:lstStyle>
          <a:p xmlns:a="http://schemas.openxmlformats.org/drawingml/2006/main">
            <a:pPr algn="l">
              <a:lnSpc>
                <a:spcPct val="105000"/>
              </a:lnSpc>
              <a:buNone/>
              <a:defRPr sz="1200" b="1">
                <a:solidFill>
                  <a:srgbClr val="10253F"/>
                </a:solidFill>
                <a:latin typeface="Helvetica Neue"/>
                <a:ea typeface="Helvetica Neue"/>
                <a:cs typeface="Helvetica Neue"/>
              </a:defRPr>
            </a:pPr>
            <a:r>
              <a:rPr sz="1200" b="1">
                <a:solidFill>
                  <a:srgbClr val="10253F"/>
                </a:solidFill>
                <a:latin typeface="Helvetica Neue"/>
                <a:ea typeface="Helvetica Neue"/>
                <a:cs typeface="Helvetica Neue"/>
              </a:rPr>
              <a:t>Combined correction → vocabulary logits</a:t>
            </a:r>
          </a:p>
        </p:txBody>
      </p:sp>
      <p:sp>
        <p:nvSpPr>
          <p:cNvPr id="53" name="">
            <a:extLst xmlns:a="http://schemas.openxmlformats.org/drawingml/2006/main">
              <a:ext uri="{FF2B5EF4-FFF2-40B4-BE49-F238E27FC236}">
                <a16:creationId xmlns:a16="http://schemas.microsoft.com/office/drawing/2014/main" id="{ACA5C9E4-A27C-4500-89AE-39A389140C3C}"/>
              </a:ext>
            </a:extLst>
          </p:cNvPr>
          <p:cNvSpPr>
            <a:spLocks xmlns:a="http://schemas.openxmlformats.org/drawingml/2006/main" noGrp="1"/>
          </p:cNvSpPr>
          <p:nvPr/>
        </p:nvSpPr>
        <p:spPr>
          <a:xfrm xmlns:a="http://schemas.openxmlformats.org/drawingml/2006/main">
            <a:off x="7315200" y="4210050"/>
            <a:ext cx="35623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0">
                <a:solidFill>
                  <a:srgbClr val="536477"/>
                </a:solidFill>
                <a:latin typeface="Helvetica Neue"/>
                <a:ea typeface="Helvetica Neue"/>
                <a:cs typeface="Helvetica Neue"/>
              </a:defRPr>
            </a:defPPr>
          </a:lstStyle>
          <a:p xmlns:a="http://schemas.openxmlformats.org/drawingml/2006/main">
            <a:pPr algn="l">
              <a:lnSpc>
                <a:spcPct val="105000"/>
              </a:lnSpc>
              <a:buNone/>
              <a:defRPr sz="825" b="0">
                <a:solidFill>
                  <a:srgbClr val="536477"/>
                </a:solidFill>
                <a:latin typeface="Helvetica Neue"/>
                <a:ea typeface="Helvetica Neue"/>
                <a:cs typeface="Helvetica Neue"/>
              </a:defRPr>
            </a:pPr>
            <a:r>
              <a:rPr sz="825" b="0">
                <a:solidFill>
                  <a:srgbClr val="536477"/>
                </a:solidFill>
                <a:latin typeface="Helvetica Neue"/>
                <a:ea typeface="Helvetica Neue"/>
                <a:cs typeface="Helvetica Neue"/>
              </a:rPr>
              <a:t>Shared z; K = 3 epistemic samples by default</a:t>
            </a:r>
          </a:p>
        </p:txBody>
      </p:sp>
      <p:sp>
        <p:nvSpPr>
          <p:cNvPr id="54" name="">
            <a:extLst xmlns:a="http://schemas.openxmlformats.org/drawingml/2006/main">
              <a:ext uri="{FF2B5EF4-FFF2-40B4-BE49-F238E27FC236}">
                <a16:creationId xmlns:a16="http://schemas.microsoft.com/office/drawing/2014/main" id="{72FA6DB7-D66B-4B7C-B2F5-677F3D83BB2F}"/>
              </a:ext>
            </a:extLst>
          </p:cNvPr>
          <p:cNvSpPr>
            <a:spLocks xmlns:a="http://schemas.openxmlformats.org/drawingml/2006/main" noGrp="1"/>
          </p:cNvSpPr>
          <p:nvPr/>
        </p:nvSpPr>
        <p:spPr>
          <a:xfrm xmlns:a="http://schemas.openxmlformats.org/drawingml/2006/main" flipV="0">
            <a:off x="8115300" y="3609975"/>
            <a:ext cx="0" cy="104775"/>
          </a:xfrm>
          <a:prstGeom xmlns:a="http://schemas.openxmlformats.org/drawingml/2006/main" prst="line">
            <a:avLst/>
          </a:prstGeom>
          <a:noFill xmlns:a="http://schemas.openxmlformats.org/drawingml/2006/main"/>
          <a:ln xmlns:a="http://schemas.openxmlformats.org/drawingml/2006/main" w="19050">
            <a:solidFill>
              <a:srgbClr val="536477"/>
            </a:solidFill>
            <a:prstDash val="solid"/>
          </a:ln>
        </p:spPr>
      </p:sp>
      <p:sp>
        <p:nvSpPr>
          <p:cNvPr id="55" name="">
            <a:extLst xmlns:a="http://schemas.openxmlformats.org/drawingml/2006/main">
              <a:ext uri="{FF2B5EF4-FFF2-40B4-BE49-F238E27FC236}">
                <a16:creationId xmlns:a16="http://schemas.microsoft.com/office/drawing/2014/main" id="{BD657E8A-4F59-472A-9074-554711B6B949}"/>
              </a:ext>
            </a:extLst>
          </p:cNvPr>
          <p:cNvSpPr>
            <a:spLocks xmlns:a="http://schemas.openxmlformats.org/drawingml/2006/main" noGrp="1"/>
          </p:cNvSpPr>
          <p:nvPr/>
        </p:nvSpPr>
        <p:spPr>
          <a:xfrm xmlns:a="http://schemas.openxmlformats.org/drawingml/2006/main" rot="10800000">
            <a:off x="8058150" y="3667125"/>
            <a:ext cx="114300" cy="114300"/>
          </a:xfrm>
          <a:prstGeom xmlns:a="http://schemas.openxmlformats.org/drawingml/2006/main" prst="triangle">
            <a:avLst/>
          </a:prstGeom>
          <a:solidFill xmlns:a="http://schemas.openxmlformats.org/drawingml/2006/main">
            <a:srgbClr val="536477"/>
          </a:solidFill>
          <a:ln xmlns:a="http://schemas.openxmlformats.org/drawingml/2006/main" w="0">
            <a:noFill/>
            <a:prstDash val="solid"/>
          </a:ln>
        </p:spPr>
      </p:sp>
      <p:sp>
        <p:nvSpPr>
          <p:cNvPr id="56" name="">
            <a:extLst xmlns:a="http://schemas.openxmlformats.org/drawingml/2006/main">
              <a:ext uri="{FF2B5EF4-FFF2-40B4-BE49-F238E27FC236}">
                <a16:creationId xmlns:a16="http://schemas.microsoft.com/office/drawing/2014/main" id="{22294AA2-CF7A-4396-8EAE-A23F83E347A9}"/>
              </a:ext>
            </a:extLst>
          </p:cNvPr>
          <p:cNvSpPr>
            <a:spLocks xmlns:a="http://schemas.openxmlformats.org/drawingml/2006/main" noGrp="1"/>
          </p:cNvSpPr>
          <p:nvPr/>
        </p:nvSpPr>
        <p:spPr>
          <a:xfrm xmlns:a="http://schemas.openxmlformats.org/drawingml/2006/main" flipV="0">
            <a:off x="10096500" y="3609975"/>
            <a:ext cx="0" cy="104775"/>
          </a:xfrm>
          <a:prstGeom xmlns:a="http://schemas.openxmlformats.org/drawingml/2006/main" prst="line">
            <a:avLst/>
          </a:prstGeom>
          <a:noFill xmlns:a="http://schemas.openxmlformats.org/drawingml/2006/main"/>
          <a:ln xmlns:a="http://schemas.openxmlformats.org/drawingml/2006/main" w="19050">
            <a:solidFill>
              <a:srgbClr val="148A8A"/>
            </a:solidFill>
            <a:prstDash val="solid"/>
          </a:ln>
        </p:spPr>
      </p:sp>
      <p:sp>
        <p:nvSpPr>
          <p:cNvPr id="57" name="">
            <a:extLst xmlns:a="http://schemas.openxmlformats.org/drawingml/2006/main">
              <a:ext uri="{FF2B5EF4-FFF2-40B4-BE49-F238E27FC236}">
                <a16:creationId xmlns:a16="http://schemas.microsoft.com/office/drawing/2014/main" id="{7F03AD22-844B-4318-AF60-A4E6C5CBC2FE}"/>
              </a:ext>
            </a:extLst>
          </p:cNvPr>
          <p:cNvSpPr>
            <a:spLocks xmlns:a="http://schemas.openxmlformats.org/drawingml/2006/main" noGrp="1"/>
          </p:cNvSpPr>
          <p:nvPr/>
        </p:nvSpPr>
        <p:spPr>
          <a:xfrm xmlns:a="http://schemas.openxmlformats.org/drawingml/2006/main" rot="10800000">
            <a:off x="10039350" y="3667125"/>
            <a:ext cx="114300" cy="114300"/>
          </a:xfrm>
          <a:prstGeom xmlns:a="http://schemas.openxmlformats.org/drawingml/2006/main" prst="triangle">
            <a:avLst/>
          </a:prstGeom>
          <a:solidFill xmlns:a="http://schemas.openxmlformats.org/drawingml/2006/main">
            <a:srgbClr val="148A8A"/>
          </a:solidFill>
          <a:ln xmlns:a="http://schemas.openxmlformats.org/drawingml/2006/main" w="0">
            <a:noFill/>
            <a:prstDash val="solid"/>
          </a:ln>
        </p:spPr>
      </p:sp>
      <p:sp>
        <p:nvSpPr>
          <p:cNvPr id="58" name="">
            <a:extLst xmlns:a="http://schemas.openxmlformats.org/drawingml/2006/main">
              <a:ext uri="{FF2B5EF4-FFF2-40B4-BE49-F238E27FC236}">
                <a16:creationId xmlns:a16="http://schemas.microsoft.com/office/drawing/2014/main" id="{4AE24D8D-6235-4444-B353-F3A85C801885}"/>
              </a:ext>
            </a:extLst>
          </p:cNvPr>
          <p:cNvSpPr>
            <a:spLocks xmlns:a="http://schemas.openxmlformats.org/drawingml/2006/main" noGrp="1"/>
          </p:cNvSpPr>
          <p:nvPr/>
        </p:nvSpPr>
        <p:spPr>
          <a:xfrm xmlns:a="http://schemas.openxmlformats.org/drawingml/2006/main">
            <a:off x="7143750" y="4533900"/>
            <a:ext cx="4095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0">
                <a:solidFill>
                  <a:srgbClr val="536477"/>
                </a:solidFill>
                <a:latin typeface="Helvetica Neue"/>
                <a:ea typeface="Helvetica Neue"/>
                <a:cs typeface="Helvetica Neue"/>
              </a:defRPr>
            </a:defPPr>
          </a:lstStyle>
          <a:p xmlns:a="http://schemas.openxmlformats.org/drawingml/2006/main">
            <a:pPr algn="l">
              <a:lnSpc>
                <a:spcPct val="105000"/>
              </a:lnSpc>
              <a:buNone/>
              <a:defRPr sz="975" b="0">
                <a:solidFill>
                  <a:srgbClr val="536477"/>
                </a:solidFill>
                <a:latin typeface="Helvetica Neue"/>
                <a:ea typeface="Helvetica Neue"/>
                <a:cs typeface="Helvetica Neue"/>
              </a:defRPr>
            </a:pPr>
            <a:r>
              <a:rPr sz="975" b="0">
                <a:solidFill>
                  <a:srgbClr val="536477"/>
                </a:solidFill>
                <a:latin typeface="Helvetica Neue"/>
                <a:ea typeface="Helvetica Neue"/>
                <a:cs typeface="Helvetica Neue"/>
              </a:rPr>
              <a:t>Epinet outputs token entropy / an epistemic proxy; neither directly measures answer correctness. Audit: 8.66M trainable parameters.</a:t>
            </a:r>
          </a:p>
        </p:txBody>
      </p:sp>
      <p:sp>
        <p:nvSpPr>
          <p:cNvPr id="59" name="">
            <a:extLst xmlns:a="http://schemas.openxmlformats.org/drawingml/2006/main">
              <a:ext uri="{FF2B5EF4-FFF2-40B4-BE49-F238E27FC236}">
                <a16:creationId xmlns:a16="http://schemas.microsoft.com/office/drawing/2014/main" id="{8B604F7B-7BEE-4AAE-8BB3-69BBB66F4E15}"/>
              </a:ext>
            </a:extLst>
          </p:cNvPr>
          <p:cNvSpPr>
            <a:spLocks xmlns:a="http://schemas.openxmlformats.org/drawingml/2006/main" noGrp="1"/>
          </p:cNvSpPr>
          <p:nvPr/>
        </p:nvSpPr>
        <p:spPr>
          <a:xfrm xmlns:a="http://schemas.openxmlformats.org/drawingml/2006/main">
            <a:off x="666750" y="4819650"/>
            <a:ext cx="342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864C5"/>
                </a:solidFill>
                <a:latin typeface="Helvetica Neue"/>
                <a:ea typeface="Helvetica Neue"/>
                <a:cs typeface="Helvetica Neue"/>
              </a:defRPr>
            </a:defPPr>
          </a:lstStyle>
          <a:p xmlns:a="http://schemas.openxmlformats.org/drawingml/2006/main">
            <a:pPr algn="l">
              <a:lnSpc>
                <a:spcPct val="105000"/>
              </a:lnSpc>
              <a:buNone/>
              <a:defRPr sz="975" b="1">
                <a:solidFill>
                  <a:srgbClr val="2864C5"/>
                </a:solidFill>
                <a:latin typeface="Helvetica Neue"/>
                <a:ea typeface="Helvetica Neue"/>
                <a:cs typeface="Helvetica Neue"/>
              </a:defRPr>
            </a:pPr>
            <a:r>
              <a:rPr sz="975" b="1">
                <a:solidFill>
                  <a:srgbClr val="2864C5"/>
                </a:solidFill>
                <a:latin typeface="Helvetica Neue"/>
                <a:ea typeface="Helvetica Neue"/>
                <a:cs typeface="Helvetica Neue"/>
              </a:rPr>
              <a:t>ANSWER-LEVEL DECISION PATH</a:t>
            </a:r>
          </a:p>
        </p:txBody>
      </p:sp>
      <p:sp>
        <p:nvSpPr>
          <p:cNvPr id="60" name="">
            <a:extLst xmlns:a="http://schemas.openxmlformats.org/drawingml/2006/main">
              <a:ext uri="{FF2B5EF4-FFF2-40B4-BE49-F238E27FC236}">
                <a16:creationId xmlns:a16="http://schemas.microsoft.com/office/drawing/2014/main" id="{DCEDC96A-3389-48C5-BC06-7C363E50455B}"/>
              </a:ext>
            </a:extLst>
          </p:cNvPr>
          <p:cNvSpPr>
            <a:spLocks xmlns:a="http://schemas.openxmlformats.org/drawingml/2006/main" noGrp="1"/>
          </p:cNvSpPr>
          <p:nvPr/>
        </p:nvSpPr>
        <p:spPr>
          <a:xfrm xmlns:a="http://schemas.openxmlformats.org/drawingml/2006/main">
            <a:off x="666750" y="5124450"/>
            <a:ext cx="184785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D6DEE8"/>
            </a:solidFill>
            <a:prstDash val="solid"/>
          </a:ln>
        </p:spPr>
      </p:sp>
      <p:sp>
        <p:nvSpPr>
          <p:cNvPr id="61" name="">
            <a:extLst xmlns:a="http://schemas.openxmlformats.org/drawingml/2006/main">
              <a:ext uri="{FF2B5EF4-FFF2-40B4-BE49-F238E27FC236}">
                <a16:creationId xmlns:a16="http://schemas.microsoft.com/office/drawing/2014/main" id="{9E58408C-5561-4D8D-A1DA-195AB5A275B8}"/>
              </a:ext>
            </a:extLst>
          </p:cNvPr>
          <p:cNvSpPr>
            <a:spLocks xmlns:a="http://schemas.openxmlformats.org/drawingml/2006/main" noGrp="1"/>
          </p:cNvSpPr>
          <p:nvPr/>
        </p:nvSpPr>
        <p:spPr>
          <a:xfrm xmlns:a="http://schemas.openxmlformats.org/drawingml/2006/main">
            <a:off x="666750" y="5124450"/>
            <a:ext cx="47625" cy="55245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62" name="">
            <a:extLst xmlns:a="http://schemas.openxmlformats.org/drawingml/2006/main">
              <a:ext uri="{FF2B5EF4-FFF2-40B4-BE49-F238E27FC236}">
                <a16:creationId xmlns:a16="http://schemas.microsoft.com/office/drawing/2014/main" id="{92DD284A-F10A-4979-B018-E875EDAEA41C}"/>
              </a:ext>
            </a:extLst>
          </p:cNvPr>
          <p:cNvSpPr>
            <a:spLocks xmlns:a="http://schemas.openxmlformats.org/drawingml/2006/main" noGrp="1"/>
          </p:cNvSpPr>
          <p:nvPr/>
        </p:nvSpPr>
        <p:spPr>
          <a:xfrm xmlns:a="http://schemas.openxmlformats.org/drawingml/2006/main">
            <a:off x="800100" y="5210175"/>
            <a:ext cx="1619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10253F"/>
                </a:solidFill>
                <a:latin typeface="Helvetica Neue"/>
                <a:ea typeface="Helvetica Neue"/>
                <a:cs typeface="Helvetica Neue"/>
              </a:defRPr>
            </a:defPPr>
          </a:lstStyle>
          <a:p xmlns:a="http://schemas.openxmlformats.org/drawingml/2006/main">
            <a:pPr algn="l">
              <a:lnSpc>
                <a:spcPct val="105000"/>
              </a:lnSpc>
              <a:buNone/>
              <a:defRPr sz="1125" b="1">
                <a:solidFill>
                  <a:srgbClr val="10253F"/>
                </a:solidFill>
                <a:latin typeface="Helvetica Neue"/>
                <a:ea typeface="Helvetica Neue"/>
                <a:cs typeface="Helvetica Neue"/>
              </a:defRPr>
            </a:pPr>
            <a:r>
              <a:rPr sz="1125" b="1">
                <a:solidFill>
                  <a:srgbClr val="10253F"/>
                </a:solidFill>
                <a:latin typeface="Helvetica Neue"/>
                <a:ea typeface="Helvetica Neue"/>
                <a:cs typeface="Helvetica Neue"/>
              </a:rPr>
              <a:t>DoLa distribution</a:t>
            </a:r>
          </a:p>
        </p:txBody>
      </p:sp>
      <p:sp>
        <p:nvSpPr>
          <p:cNvPr id="63" name="">
            <a:extLst xmlns:a="http://schemas.openxmlformats.org/drawingml/2006/main">
              <a:ext uri="{FF2B5EF4-FFF2-40B4-BE49-F238E27FC236}">
                <a16:creationId xmlns:a16="http://schemas.microsoft.com/office/drawing/2014/main" id="{3FC8ECB4-ACCA-42EF-9E13-578FB2B65962}"/>
              </a:ext>
            </a:extLst>
          </p:cNvPr>
          <p:cNvSpPr>
            <a:spLocks xmlns:a="http://schemas.openxmlformats.org/drawingml/2006/main" noGrp="1"/>
          </p:cNvSpPr>
          <p:nvPr/>
        </p:nvSpPr>
        <p:spPr>
          <a:xfrm xmlns:a="http://schemas.openxmlformats.org/drawingml/2006/main">
            <a:off x="800100" y="5438775"/>
            <a:ext cx="1619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36477"/>
                </a:solidFill>
                <a:latin typeface="Helvetica Neue"/>
                <a:ea typeface="Helvetica Neue"/>
                <a:cs typeface="Helvetica Neue"/>
              </a:defRPr>
            </a:defPPr>
          </a:lstStyle>
          <a:p xmlns:a="http://schemas.openxmlformats.org/drawingml/2006/main">
            <a:pPr algn="l">
              <a:lnSpc>
                <a:spcPct val="105000"/>
              </a:lnSpc>
              <a:buNone/>
              <a:defRPr sz="900" b="0">
                <a:solidFill>
                  <a:srgbClr val="536477"/>
                </a:solidFill>
                <a:latin typeface="Helvetica Neue"/>
                <a:ea typeface="Helvetica Neue"/>
                <a:cs typeface="Helvetica Neue"/>
              </a:defRPr>
            </a:pPr>
            <a:r>
              <a:rPr sz="900" b="0">
                <a:solidFill>
                  <a:srgbClr val="536477"/>
                </a:solidFill>
                <a:latin typeface="Helvetica Neue"/>
                <a:ea typeface="Helvetica Neue"/>
                <a:cs typeface="Helvetica Neue"/>
              </a:rPr>
              <a:t>token probabilities</a:t>
            </a:r>
          </a:p>
        </p:txBody>
      </p:sp>
      <p:sp>
        <p:nvSpPr>
          <p:cNvPr id="64" name="">
            <a:extLst xmlns:a="http://schemas.openxmlformats.org/drawingml/2006/main">
              <a:ext uri="{FF2B5EF4-FFF2-40B4-BE49-F238E27FC236}">
                <a16:creationId xmlns:a16="http://schemas.microsoft.com/office/drawing/2014/main" id="{9E78672A-24F7-4F9B-AFC8-9EEF43516136}"/>
              </a:ext>
            </a:extLst>
          </p:cNvPr>
          <p:cNvSpPr>
            <a:spLocks xmlns:a="http://schemas.openxmlformats.org/drawingml/2006/main" noGrp="1"/>
          </p:cNvSpPr>
          <p:nvPr/>
        </p:nvSpPr>
        <p:spPr>
          <a:xfrm xmlns:a="http://schemas.openxmlformats.org/drawingml/2006/main">
            <a:off x="2914650" y="5124450"/>
            <a:ext cx="184785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D6DEE8"/>
            </a:solidFill>
            <a:prstDash val="solid"/>
          </a:ln>
        </p:spPr>
      </p:sp>
      <p:sp>
        <p:nvSpPr>
          <p:cNvPr id="65" name="">
            <a:extLst xmlns:a="http://schemas.openxmlformats.org/drawingml/2006/main">
              <a:ext uri="{FF2B5EF4-FFF2-40B4-BE49-F238E27FC236}">
                <a16:creationId xmlns:a16="http://schemas.microsoft.com/office/drawing/2014/main" id="{56086F3F-4E70-4EA9-8BDC-2F11810E61AE}"/>
              </a:ext>
            </a:extLst>
          </p:cNvPr>
          <p:cNvSpPr>
            <a:spLocks xmlns:a="http://schemas.openxmlformats.org/drawingml/2006/main" noGrp="1"/>
          </p:cNvSpPr>
          <p:nvPr/>
        </p:nvSpPr>
        <p:spPr>
          <a:xfrm xmlns:a="http://schemas.openxmlformats.org/drawingml/2006/main">
            <a:off x="2914650" y="5124450"/>
            <a:ext cx="47625" cy="552450"/>
          </a:xfrm>
          <a:prstGeom xmlns:a="http://schemas.openxmlformats.org/drawingml/2006/main" prst="rect">
            <a:avLst/>
          </a:prstGeom>
          <a:solidFill xmlns:a="http://schemas.openxmlformats.org/drawingml/2006/main">
            <a:srgbClr val="148A8A"/>
          </a:solidFill>
          <a:ln xmlns:a="http://schemas.openxmlformats.org/drawingml/2006/main" w="0">
            <a:noFill/>
            <a:prstDash val="solid"/>
          </a:ln>
        </p:spPr>
      </p:sp>
      <p:sp>
        <p:nvSpPr>
          <p:cNvPr id="66" name="">
            <a:extLst xmlns:a="http://schemas.openxmlformats.org/drawingml/2006/main">
              <a:ext uri="{FF2B5EF4-FFF2-40B4-BE49-F238E27FC236}">
                <a16:creationId xmlns:a16="http://schemas.microsoft.com/office/drawing/2014/main" id="{B03DE3F5-3BDF-4D00-B04D-CED74FCCAFF1}"/>
              </a:ext>
            </a:extLst>
          </p:cNvPr>
          <p:cNvSpPr>
            <a:spLocks xmlns:a="http://schemas.openxmlformats.org/drawingml/2006/main" noGrp="1"/>
          </p:cNvSpPr>
          <p:nvPr/>
        </p:nvSpPr>
        <p:spPr>
          <a:xfrm xmlns:a="http://schemas.openxmlformats.org/drawingml/2006/main">
            <a:off x="3048000" y="5210175"/>
            <a:ext cx="1619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10253F"/>
                </a:solidFill>
                <a:latin typeface="Helvetica Neue"/>
                <a:ea typeface="Helvetica Neue"/>
                <a:cs typeface="Helvetica Neue"/>
              </a:defRPr>
            </a:defPPr>
          </a:lstStyle>
          <a:p xmlns:a="http://schemas.openxmlformats.org/drawingml/2006/main">
            <a:pPr algn="l">
              <a:lnSpc>
                <a:spcPct val="105000"/>
              </a:lnSpc>
              <a:buNone/>
              <a:defRPr sz="1125" b="1">
                <a:solidFill>
                  <a:srgbClr val="10253F"/>
                </a:solidFill>
                <a:latin typeface="Helvetica Neue"/>
                <a:ea typeface="Helvetica Neue"/>
                <a:cs typeface="Helvetica Neue"/>
              </a:defRPr>
            </a:pPr>
            <a:r>
              <a:rPr sz="1125" b="1">
                <a:solidFill>
                  <a:srgbClr val="10253F"/>
                </a:solidFill>
                <a:latin typeface="Helvetica Neue"/>
                <a:ea typeface="Helvetica Neue"/>
                <a:cs typeface="Helvetica Neue"/>
              </a:rPr>
              <a:t>Sample N answers</a:t>
            </a:r>
          </a:p>
        </p:txBody>
      </p:sp>
      <p:sp>
        <p:nvSpPr>
          <p:cNvPr id="67" name="">
            <a:extLst xmlns:a="http://schemas.openxmlformats.org/drawingml/2006/main">
              <a:ext uri="{FF2B5EF4-FFF2-40B4-BE49-F238E27FC236}">
                <a16:creationId xmlns:a16="http://schemas.microsoft.com/office/drawing/2014/main" id="{A40915E4-082F-4418-A7CA-B753B27C244C}"/>
              </a:ext>
            </a:extLst>
          </p:cNvPr>
          <p:cNvSpPr>
            <a:spLocks xmlns:a="http://schemas.openxmlformats.org/drawingml/2006/main" noGrp="1"/>
          </p:cNvSpPr>
          <p:nvPr/>
        </p:nvSpPr>
        <p:spPr>
          <a:xfrm xmlns:a="http://schemas.openxmlformats.org/drawingml/2006/main">
            <a:off x="3048000" y="5438775"/>
            <a:ext cx="1619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36477"/>
                </a:solidFill>
                <a:latin typeface="Helvetica Neue"/>
                <a:ea typeface="Helvetica Neue"/>
                <a:cs typeface="Helvetica Neue"/>
              </a:defRPr>
            </a:defPPr>
          </a:lstStyle>
          <a:p xmlns:a="http://schemas.openxmlformats.org/drawingml/2006/main">
            <a:pPr algn="l">
              <a:lnSpc>
                <a:spcPct val="105000"/>
              </a:lnSpc>
              <a:buNone/>
              <a:defRPr sz="900" b="0">
                <a:solidFill>
                  <a:srgbClr val="536477"/>
                </a:solidFill>
                <a:latin typeface="Helvetica Neue"/>
                <a:ea typeface="Helvetica Neue"/>
                <a:cs typeface="Helvetica Neue"/>
              </a:defRPr>
            </a:pPr>
            <a:r>
              <a:rPr sz="900" b="0">
                <a:solidFill>
                  <a:srgbClr val="536477"/>
                </a:solidFill>
                <a:latin typeface="Helvetica Neue"/>
                <a:ea typeface="Helvetica Neue"/>
                <a:cs typeface="Helvetica Neue"/>
              </a:rPr>
              <a:t>candidate strings</a:t>
            </a:r>
          </a:p>
        </p:txBody>
      </p:sp>
      <p:sp>
        <p:nvSpPr>
          <p:cNvPr id="68" name="">
            <a:extLst xmlns:a="http://schemas.openxmlformats.org/drawingml/2006/main">
              <a:ext uri="{FF2B5EF4-FFF2-40B4-BE49-F238E27FC236}">
                <a16:creationId xmlns:a16="http://schemas.microsoft.com/office/drawing/2014/main" id="{7905310E-1AB9-45CB-97FE-0B129EF88EA6}"/>
              </a:ext>
            </a:extLst>
          </p:cNvPr>
          <p:cNvSpPr>
            <a:spLocks xmlns:a="http://schemas.openxmlformats.org/drawingml/2006/main" noGrp="1"/>
          </p:cNvSpPr>
          <p:nvPr/>
        </p:nvSpPr>
        <p:spPr>
          <a:xfrm xmlns:a="http://schemas.openxmlformats.org/drawingml/2006/main">
            <a:off x="5162550" y="5124450"/>
            <a:ext cx="184785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D6DEE8"/>
            </a:solidFill>
            <a:prstDash val="solid"/>
          </a:ln>
        </p:spPr>
      </p:sp>
      <p:sp>
        <p:nvSpPr>
          <p:cNvPr id="69" name="">
            <a:extLst xmlns:a="http://schemas.openxmlformats.org/drawingml/2006/main">
              <a:ext uri="{FF2B5EF4-FFF2-40B4-BE49-F238E27FC236}">
                <a16:creationId xmlns:a16="http://schemas.microsoft.com/office/drawing/2014/main" id="{7346E2EB-18DB-43CC-B654-FB5B5E65E5DC}"/>
              </a:ext>
            </a:extLst>
          </p:cNvPr>
          <p:cNvSpPr>
            <a:spLocks xmlns:a="http://schemas.openxmlformats.org/drawingml/2006/main" noGrp="1"/>
          </p:cNvSpPr>
          <p:nvPr/>
        </p:nvSpPr>
        <p:spPr>
          <a:xfrm xmlns:a="http://schemas.openxmlformats.org/drawingml/2006/main">
            <a:off x="5162550" y="5124450"/>
            <a:ext cx="47625" cy="552450"/>
          </a:xfrm>
          <a:prstGeom xmlns:a="http://schemas.openxmlformats.org/drawingml/2006/main" prst="rect">
            <a:avLst/>
          </a:prstGeom>
          <a:solidFill xmlns:a="http://schemas.openxmlformats.org/drawingml/2006/main">
            <a:srgbClr val="C7782B"/>
          </a:solidFill>
          <a:ln xmlns:a="http://schemas.openxmlformats.org/drawingml/2006/main" w="0">
            <a:noFill/>
            <a:prstDash val="solid"/>
          </a:ln>
        </p:spPr>
      </p:sp>
      <p:sp>
        <p:nvSpPr>
          <p:cNvPr id="70" name="">
            <a:extLst xmlns:a="http://schemas.openxmlformats.org/drawingml/2006/main">
              <a:ext uri="{FF2B5EF4-FFF2-40B4-BE49-F238E27FC236}">
                <a16:creationId xmlns:a16="http://schemas.microsoft.com/office/drawing/2014/main" id="{82554AF6-9BDC-47E9-B3FA-AF011B63FD7C}"/>
              </a:ext>
            </a:extLst>
          </p:cNvPr>
          <p:cNvSpPr>
            <a:spLocks xmlns:a="http://schemas.openxmlformats.org/drawingml/2006/main" noGrp="1"/>
          </p:cNvSpPr>
          <p:nvPr/>
        </p:nvSpPr>
        <p:spPr>
          <a:xfrm xmlns:a="http://schemas.openxmlformats.org/drawingml/2006/main">
            <a:off x="5295900" y="5210175"/>
            <a:ext cx="1619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10253F"/>
                </a:solidFill>
                <a:latin typeface="Helvetica Neue"/>
                <a:ea typeface="Helvetica Neue"/>
                <a:cs typeface="Helvetica Neue"/>
              </a:defRPr>
            </a:defPPr>
          </a:lstStyle>
          <a:p xmlns:a="http://schemas.openxmlformats.org/drawingml/2006/main">
            <a:pPr algn="l">
              <a:lnSpc>
                <a:spcPct val="105000"/>
              </a:lnSpc>
              <a:buNone/>
              <a:defRPr sz="1125" b="1">
                <a:solidFill>
                  <a:srgbClr val="10253F"/>
                </a:solidFill>
                <a:latin typeface="Helvetica Neue"/>
                <a:ea typeface="Helvetica Neue"/>
                <a:cs typeface="Helvetica Neue"/>
              </a:defRPr>
            </a:pPr>
            <a:r>
              <a:rPr sz="1125" b="1">
                <a:solidFill>
                  <a:srgbClr val="10253F"/>
                </a:solidFill>
                <a:latin typeface="Helvetica Neue"/>
                <a:ea typeface="Helvetica Neue"/>
                <a:cs typeface="Helvetica Neue"/>
              </a:rPr>
              <a:t>ENN scores</a:t>
            </a:r>
          </a:p>
        </p:txBody>
      </p:sp>
      <p:sp>
        <p:nvSpPr>
          <p:cNvPr id="71" name="">
            <a:extLst xmlns:a="http://schemas.openxmlformats.org/drawingml/2006/main">
              <a:ext uri="{FF2B5EF4-FFF2-40B4-BE49-F238E27FC236}">
                <a16:creationId xmlns:a16="http://schemas.microsoft.com/office/drawing/2014/main" id="{1BBEA12F-774C-466E-BC84-699F66EE751A}"/>
              </a:ext>
            </a:extLst>
          </p:cNvPr>
          <p:cNvSpPr>
            <a:spLocks xmlns:a="http://schemas.openxmlformats.org/drawingml/2006/main" noGrp="1"/>
          </p:cNvSpPr>
          <p:nvPr/>
        </p:nvSpPr>
        <p:spPr>
          <a:xfrm xmlns:a="http://schemas.openxmlformats.org/drawingml/2006/main">
            <a:off x="5295900" y="5438775"/>
            <a:ext cx="1619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36477"/>
                </a:solidFill>
                <a:latin typeface="Helvetica Neue"/>
                <a:ea typeface="Helvetica Neue"/>
                <a:cs typeface="Helvetica Neue"/>
              </a:defRPr>
            </a:defPPr>
          </a:lstStyle>
          <a:p xmlns:a="http://schemas.openxmlformats.org/drawingml/2006/main">
            <a:pPr algn="l">
              <a:lnSpc>
                <a:spcPct val="105000"/>
              </a:lnSpc>
              <a:buNone/>
              <a:defRPr sz="900" b="0">
                <a:solidFill>
                  <a:srgbClr val="536477"/>
                </a:solidFill>
                <a:latin typeface="Helvetica Neue"/>
                <a:ea typeface="Helvetica Neue"/>
                <a:cs typeface="Helvetica Neue"/>
              </a:defRPr>
            </a:pPr>
            <a:r>
              <a:rPr sz="900" b="0">
                <a:solidFill>
                  <a:srgbClr val="536477"/>
                </a:solidFill>
                <a:latin typeface="Helvetica Neue"/>
                <a:ea typeface="Helvetica Neue"/>
                <a:cs typeface="Helvetica Neue"/>
              </a:rPr>
              <a:t>entropy heuristic</a:t>
            </a:r>
          </a:p>
        </p:txBody>
      </p:sp>
      <p:sp>
        <p:nvSpPr>
          <p:cNvPr id="72" name="">
            <a:extLst xmlns:a="http://schemas.openxmlformats.org/drawingml/2006/main">
              <a:ext uri="{FF2B5EF4-FFF2-40B4-BE49-F238E27FC236}">
                <a16:creationId xmlns:a16="http://schemas.microsoft.com/office/drawing/2014/main" id="{611E9628-8866-4B80-AD52-9E4C8676D076}"/>
              </a:ext>
            </a:extLst>
          </p:cNvPr>
          <p:cNvSpPr>
            <a:spLocks xmlns:a="http://schemas.openxmlformats.org/drawingml/2006/main" noGrp="1"/>
          </p:cNvSpPr>
          <p:nvPr/>
        </p:nvSpPr>
        <p:spPr>
          <a:xfrm xmlns:a="http://schemas.openxmlformats.org/drawingml/2006/main">
            <a:off x="7410450" y="5124450"/>
            <a:ext cx="184785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D6DEE8"/>
            </a:solidFill>
            <a:prstDash val="solid"/>
          </a:ln>
        </p:spPr>
      </p:sp>
      <p:sp>
        <p:nvSpPr>
          <p:cNvPr id="73" name="">
            <a:extLst xmlns:a="http://schemas.openxmlformats.org/drawingml/2006/main">
              <a:ext uri="{FF2B5EF4-FFF2-40B4-BE49-F238E27FC236}">
                <a16:creationId xmlns:a16="http://schemas.microsoft.com/office/drawing/2014/main" id="{C81927C3-F101-4105-B97A-5ED1A2A56E54}"/>
              </a:ext>
            </a:extLst>
          </p:cNvPr>
          <p:cNvSpPr>
            <a:spLocks xmlns:a="http://schemas.openxmlformats.org/drawingml/2006/main" noGrp="1"/>
          </p:cNvSpPr>
          <p:nvPr/>
        </p:nvSpPr>
        <p:spPr>
          <a:xfrm xmlns:a="http://schemas.openxmlformats.org/drawingml/2006/main">
            <a:off x="7410450" y="5124450"/>
            <a:ext cx="47625" cy="55245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74" name="">
            <a:extLst xmlns:a="http://schemas.openxmlformats.org/drawingml/2006/main">
              <a:ext uri="{FF2B5EF4-FFF2-40B4-BE49-F238E27FC236}">
                <a16:creationId xmlns:a16="http://schemas.microsoft.com/office/drawing/2014/main" id="{B94A385F-20EB-43E6-A277-2F40B4953D96}"/>
              </a:ext>
            </a:extLst>
          </p:cNvPr>
          <p:cNvSpPr>
            <a:spLocks xmlns:a="http://schemas.openxmlformats.org/drawingml/2006/main" noGrp="1"/>
          </p:cNvSpPr>
          <p:nvPr/>
        </p:nvSpPr>
        <p:spPr>
          <a:xfrm xmlns:a="http://schemas.openxmlformats.org/drawingml/2006/main">
            <a:off x="7543800" y="5210175"/>
            <a:ext cx="1619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10253F"/>
                </a:solidFill>
                <a:latin typeface="Helvetica Neue"/>
                <a:ea typeface="Helvetica Neue"/>
                <a:cs typeface="Helvetica Neue"/>
              </a:defRPr>
            </a:defPPr>
          </a:lstStyle>
          <a:p xmlns:a="http://schemas.openxmlformats.org/drawingml/2006/main">
            <a:pPr algn="l">
              <a:lnSpc>
                <a:spcPct val="105000"/>
              </a:lnSpc>
              <a:buNone/>
              <a:defRPr sz="1125" b="1">
                <a:solidFill>
                  <a:srgbClr val="10253F"/>
                </a:solidFill>
                <a:latin typeface="Helvetica Neue"/>
                <a:ea typeface="Helvetica Neue"/>
                <a:cs typeface="Helvetica Neue"/>
              </a:defRPr>
            </a:pPr>
            <a:r>
              <a:rPr sz="1125" b="1">
                <a:solidFill>
                  <a:srgbClr val="10253F"/>
                </a:solidFill>
                <a:latin typeface="Helvetica Neue"/>
                <a:ea typeface="Helvetica Neue"/>
                <a:cs typeface="Helvetica Neue"/>
              </a:rPr>
              <a:t>Aggregate votes</a:t>
            </a:r>
          </a:p>
        </p:txBody>
      </p:sp>
      <p:sp>
        <p:nvSpPr>
          <p:cNvPr id="75" name="">
            <a:extLst xmlns:a="http://schemas.openxmlformats.org/drawingml/2006/main">
              <a:ext uri="{FF2B5EF4-FFF2-40B4-BE49-F238E27FC236}">
                <a16:creationId xmlns:a16="http://schemas.microsoft.com/office/drawing/2014/main" id="{3E7157F6-711A-4D0A-8957-26D03764D7C3}"/>
              </a:ext>
            </a:extLst>
          </p:cNvPr>
          <p:cNvSpPr>
            <a:spLocks xmlns:a="http://schemas.openxmlformats.org/drawingml/2006/main" noGrp="1"/>
          </p:cNvSpPr>
          <p:nvPr/>
        </p:nvSpPr>
        <p:spPr>
          <a:xfrm xmlns:a="http://schemas.openxmlformats.org/drawingml/2006/main">
            <a:off x="7543800" y="5438775"/>
            <a:ext cx="1619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36477"/>
                </a:solidFill>
                <a:latin typeface="Helvetica Neue"/>
                <a:ea typeface="Helvetica Neue"/>
                <a:cs typeface="Helvetica Neue"/>
              </a:defRPr>
            </a:defPPr>
          </a:lstStyle>
          <a:p xmlns:a="http://schemas.openxmlformats.org/drawingml/2006/main">
            <a:pPr algn="l">
              <a:lnSpc>
                <a:spcPct val="105000"/>
              </a:lnSpc>
              <a:buNone/>
              <a:defRPr sz="900" b="0">
                <a:solidFill>
                  <a:srgbClr val="536477"/>
                </a:solidFill>
                <a:latin typeface="Helvetica Neue"/>
                <a:ea typeface="Helvetica Neue"/>
                <a:cs typeface="Helvetica Neue"/>
              </a:defRPr>
            </a:pPr>
            <a:r>
              <a:rPr sz="900" b="0">
                <a:solidFill>
                  <a:srgbClr val="536477"/>
                </a:solidFill>
                <a:latin typeface="Helvetica Neue"/>
                <a:ea typeface="Helvetica Neue"/>
                <a:cs typeface="Helvetica Neue"/>
              </a:rPr>
              <a:t>plurality / weighted</a:t>
            </a:r>
          </a:p>
        </p:txBody>
      </p:sp>
      <p:sp>
        <p:nvSpPr>
          <p:cNvPr id="76" name="">
            <a:extLst xmlns:a="http://schemas.openxmlformats.org/drawingml/2006/main">
              <a:ext uri="{FF2B5EF4-FFF2-40B4-BE49-F238E27FC236}">
                <a16:creationId xmlns:a16="http://schemas.microsoft.com/office/drawing/2014/main" id="{16434AA7-0E20-45FE-A849-EEF7688C043A}"/>
              </a:ext>
            </a:extLst>
          </p:cNvPr>
          <p:cNvSpPr>
            <a:spLocks xmlns:a="http://schemas.openxmlformats.org/drawingml/2006/main" noGrp="1"/>
          </p:cNvSpPr>
          <p:nvPr/>
        </p:nvSpPr>
        <p:spPr>
          <a:xfrm xmlns:a="http://schemas.openxmlformats.org/drawingml/2006/main">
            <a:off x="9658350" y="5124450"/>
            <a:ext cx="184785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D6DEE8"/>
            </a:solidFill>
            <a:prstDash val="solid"/>
          </a:ln>
        </p:spPr>
      </p:sp>
      <p:sp>
        <p:nvSpPr>
          <p:cNvPr id="77" name="">
            <a:extLst xmlns:a="http://schemas.openxmlformats.org/drawingml/2006/main">
              <a:ext uri="{FF2B5EF4-FFF2-40B4-BE49-F238E27FC236}">
                <a16:creationId xmlns:a16="http://schemas.microsoft.com/office/drawing/2014/main" id="{7348EED3-9631-4FB1-9E55-8ED101F4B1EA}"/>
              </a:ext>
            </a:extLst>
          </p:cNvPr>
          <p:cNvSpPr>
            <a:spLocks xmlns:a="http://schemas.openxmlformats.org/drawingml/2006/main" noGrp="1"/>
          </p:cNvSpPr>
          <p:nvPr/>
        </p:nvSpPr>
        <p:spPr>
          <a:xfrm xmlns:a="http://schemas.openxmlformats.org/drawingml/2006/main">
            <a:off x="9658350" y="5124450"/>
            <a:ext cx="47625" cy="552450"/>
          </a:xfrm>
          <a:prstGeom xmlns:a="http://schemas.openxmlformats.org/drawingml/2006/main" prst="rect">
            <a:avLst/>
          </a:prstGeom>
          <a:solidFill xmlns:a="http://schemas.openxmlformats.org/drawingml/2006/main">
            <a:srgbClr val="148A8A"/>
          </a:solidFill>
          <a:ln xmlns:a="http://schemas.openxmlformats.org/drawingml/2006/main" w="0">
            <a:noFill/>
            <a:prstDash val="solid"/>
          </a:ln>
        </p:spPr>
      </p:sp>
      <p:sp>
        <p:nvSpPr>
          <p:cNvPr id="78" name="">
            <a:extLst xmlns:a="http://schemas.openxmlformats.org/drawingml/2006/main">
              <a:ext uri="{FF2B5EF4-FFF2-40B4-BE49-F238E27FC236}">
                <a16:creationId xmlns:a16="http://schemas.microsoft.com/office/drawing/2014/main" id="{EE843367-287B-4EC6-817E-97D73EC7D213}"/>
              </a:ext>
            </a:extLst>
          </p:cNvPr>
          <p:cNvSpPr>
            <a:spLocks xmlns:a="http://schemas.openxmlformats.org/drawingml/2006/main" noGrp="1"/>
          </p:cNvSpPr>
          <p:nvPr/>
        </p:nvSpPr>
        <p:spPr>
          <a:xfrm xmlns:a="http://schemas.openxmlformats.org/drawingml/2006/main">
            <a:off x="9791700" y="5210175"/>
            <a:ext cx="1619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10253F"/>
                </a:solidFill>
                <a:latin typeface="Helvetica Neue"/>
                <a:ea typeface="Helvetica Neue"/>
                <a:cs typeface="Helvetica Neue"/>
              </a:defRPr>
            </a:defPPr>
          </a:lstStyle>
          <a:p xmlns:a="http://schemas.openxmlformats.org/drawingml/2006/main">
            <a:pPr algn="l">
              <a:lnSpc>
                <a:spcPct val="105000"/>
              </a:lnSpc>
              <a:buNone/>
              <a:defRPr sz="1125" b="1">
                <a:solidFill>
                  <a:srgbClr val="10253F"/>
                </a:solidFill>
                <a:latin typeface="Helvetica Neue"/>
                <a:ea typeface="Helvetica Neue"/>
                <a:cs typeface="Helvetica Neue"/>
              </a:defRPr>
            </a:pPr>
            <a:r>
              <a:rPr sz="1125" b="1">
                <a:solidFill>
                  <a:srgbClr val="10253F"/>
                </a:solidFill>
                <a:latin typeface="Helvetica Neue"/>
                <a:ea typeface="Helvetica Neue"/>
                <a:cs typeface="Helvetica Neue"/>
              </a:rPr>
              <a:t>Final answer</a:t>
            </a:r>
          </a:p>
        </p:txBody>
      </p:sp>
      <p:sp>
        <p:nvSpPr>
          <p:cNvPr id="79" name="">
            <a:extLst xmlns:a="http://schemas.openxmlformats.org/drawingml/2006/main">
              <a:ext uri="{FF2B5EF4-FFF2-40B4-BE49-F238E27FC236}">
                <a16:creationId xmlns:a16="http://schemas.microsoft.com/office/drawing/2014/main" id="{83D85137-0B50-45AF-B421-6E21F1E3D502}"/>
              </a:ext>
            </a:extLst>
          </p:cNvPr>
          <p:cNvSpPr>
            <a:spLocks xmlns:a="http://schemas.openxmlformats.org/drawingml/2006/main" noGrp="1"/>
          </p:cNvSpPr>
          <p:nvPr/>
        </p:nvSpPr>
        <p:spPr>
          <a:xfrm xmlns:a="http://schemas.openxmlformats.org/drawingml/2006/main">
            <a:off x="9791700" y="5438775"/>
            <a:ext cx="1619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36477"/>
                </a:solidFill>
                <a:latin typeface="Helvetica Neue"/>
                <a:ea typeface="Helvetica Neue"/>
                <a:cs typeface="Helvetica Neue"/>
              </a:defRPr>
            </a:defPPr>
          </a:lstStyle>
          <a:p xmlns:a="http://schemas.openxmlformats.org/drawingml/2006/main">
            <a:pPr algn="l">
              <a:lnSpc>
                <a:spcPct val="105000"/>
              </a:lnSpc>
              <a:buNone/>
              <a:defRPr sz="900" b="0">
                <a:solidFill>
                  <a:srgbClr val="536477"/>
                </a:solidFill>
                <a:latin typeface="Helvetica Neue"/>
                <a:ea typeface="Helvetica Neue"/>
                <a:cs typeface="Helvetica Neue"/>
              </a:defRPr>
            </a:pPr>
            <a:r>
              <a:rPr sz="900" b="0">
                <a:solidFill>
                  <a:srgbClr val="536477"/>
                </a:solidFill>
                <a:latin typeface="Helvetica Neue"/>
                <a:ea typeface="Helvetica Neue"/>
                <a:cs typeface="Helvetica Neue"/>
              </a:rPr>
              <a:t>selected response</a:t>
            </a:r>
          </a:p>
        </p:txBody>
      </p:sp>
      <p:sp>
        <p:nvSpPr>
          <p:cNvPr id="80" name="">
            <a:extLst xmlns:a="http://schemas.openxmlformats.org/drawingml/2006/main">
              <a:ext uri="{FF2B5EF4-FFF2-40B4-BE49-F238E27FC236}">
                <a16:creationId xmlns:a16="http://schemas.microsoft.com/office/drawing/2014/main" id="{43BD0EB9-DE69-46F6-98C3-5B3697A728ED}"/>
              </a:ext>
            </a:extLst>
          </p:cNvPr>
          <p:cNvSpPr>
            <a:spLocks xmlns:a="http://schemas.openxmlformats.org/drawingml/2006/main" noGrp="1"/>
          </p:cNvSpPr>
          <p:nvPr/>
        </p:nvSpPr>
        <p:spPr>
          <a:xfrm xmlns:a="http://schemas.openxmlformats.org/drawingml/2006/main" flipV="0">
            <a:off x="2514600" y="5400675"/>
            <a:ext cx="266700" cy="0"/>
          </a:xfrm>
          <a:prstGeom xmlns:a="http://schemas.openxmlformats.org/drawingml/2006/main" prst="line">
            <a:avLst/>
          </a:prstGeom>
          <a:noFill xmlns:a="http://schemas.openxmlformats.org/drawingml/2006/main"/>
          <a:ln xmlns:a="http://schemas.openxmlformats.org/drawingml/2006/main" w="19050">
            <a:solidFill>
              <a:srgbClr val="A8B6C4"/>
            </a:solidFill>
            <a:prstDash val="solid"/>
          </a:ln>
        </p:spPr>
      </p:sp>
      <p:sp>
        <p:nvSpPr>
          <p:cNvPr id="81" name="">
            <a:extLst xmlns:a="http://schemas.openxmlformats.org/drawingml/2006/main">
              <a:ext uri="{FF2B5EF4-FFF2-40B4-BE49-F238E27FC236}">
                <a16:creationId xmlns:a16="http://schemas.microsoft.com/office/drawing/2014/main" id="{558BBBCC-4CAB-4A92-95FC-84E6AF65445B}"/>
              </a:ext>
            </a:extLst>
          </p:cNvPr>
          <p:cNvSpPr>
            <a:spLocks xmlns:a="http://schemas.openxmlformats.org/drawingml/2006/main" noGrp="1"/>
          </p:cNvSpPr>
          <p:nvPr/>
        </p:nvSpPr>
        <p:spPr>
          <a:xfrm xmlns:a="http://schemas.openxmlformats.org/drawingml/2006/main" rot="5400000">
            <a:off x="2733675" y="5343525"/>
            <a:ext cx="114300" cy="114300"/>
          </a:xfrm>
          <a:prstGeom xmlns:a="http://schemas.openxmlformats.org/drawingml/2006/main" prst="triangle">
            <a:avLst/>
          </a:prstGeom>
          <a:solidFill xmlns:a="http://schemas.openxmlformats.org/drawingml/2006/main">
            <a:srgbClr val="A8B6C4"/>
          </a:solidFill>
          <a:ln xmlns:a="http://schemas.openxmlformats.org/drawingml/2006/main" w="0">
            <a:noFill/>
            <a:prstDash val="solid"/>
          </a:ln>
        </p:spPr>
      </p:sp>
      <p:sp>
        <p:nvSpPr>
          <p:cNvPr id="82" name="">
            <a:extLst xmlns:a="http://schemas.openxmlformats.org/drawingml/2006/main">
              <a:ext uri="{FF2B5EF4-FFF2-40B4-BE49-F238E27FC236}">
                <a16:creationId xmlns:a16="http://schemas.microsoft.com/office/drawing/2014/main" id="{10FB2459-27D0-4346-AB2F-68225CC5FB39}"/>
              </a:ext>
            </a:extLst>
          </p:cNvPr>
          <p:cNvSpPr>
            <a:spLocks xmlns:a="http://schemas.openxmlformats.org/drawingml/2006/main" noGrp="1"/>
          </p:cNvSpPr>
          <p:nvPr/>
        </p:nvSpPr>
        <p:spPr>
          <a:xfrm xmlns:a="http://schemas.openxmlformats.org/drawingml/2006/main" flipV="0">
            <a:off x="4762500" y="5400675"/>
            <a:ext cx="266700" cy="0"/>
          </a:xfrm>
          <a:prstGeom xmlns:a="http://schemas.openxmlformats.org/drawingml/2006/main" prst="line">
            <a:avLst/>
          </a:prstGeom>
          <a:noFill xmlns:a="http://schemas.openxmlformats.org/drawingml/2006/main"/>
          <a:ln xmlns:a="http://schemas.openxmlformats.org/drawingml/2006/main" w="19050">
            <a:solidFill>
              <a:srgbClr val="A8B6C4"/>
            </a:solidFill>
            <a:prstDash val="solid"/>
          </a:ln>
        </p:spPr>
      </p:sp>
      <p:sp>
        <p:nvSpPr>
          <p:cNvPr id="83" name="">
            <a:extLst xmlns:a="http://schemas.openxmlformats.org/drawingml/2006/main">
              <a:ext uri="{FF2B5EF4-FFF2-40B4-BE49-F238E27FC236}">
                <a16:creationId xmlns:a16="http://schemas.microsoft.com/office/drawing/2014/main" id="{253E81D2-E69F-4134-BBF8-04F9BAEEC65E}"/>
              </a:ext>
            </a:extLst>
          </p:cNvPr>
          <p:cNvSpPr>
            <a:spLocks xmlns:a="http://schemas.openxmlformats.org/drawingml/2006/main" noGrp="1"/>
          </p:cNvSpPr>
          <p:nvPr/>
        </p:nvSpPr>
        <p:spPr>
          <a:xfrm xmlns:a="http://schemas.openxmlformats.org/drawingml/2006/main" rot="5400000">
            <a:off x="4981575" y="5343525"/>
            <a:ext cx="114300" cy="114300"/>
          </a:xfrm>
          <a:prstGeom xmlns:a="http://schemas.openxmlformats.org/drawingml/2006/main" prst="triangle">
            <a:avLst/>
          </a:prstGeom>
          <a:solidFill xmlns:a="http://schemas.openxmlformats.org/drawingml/2006/main">
            <a:srgbClr val="A8B6C4"/>
          </a:solidFill>
          <a:ln xmlns:a="http://schemas.openxmlformats.org/drawingml/2006/main" w="0">
            <a:noFill/>
            <a:prstDash val="solid"/>
          </a:ln>
        </p:spPr>
      </p:sp>
      <p:sp>
        <p:nvSpPr>
          <p:cNvPr id="84" name="">
            <a:extLst xmlns:a="http://schemas.openxmlformats.org/drawingml/2006/main">
              <a:ext uri="{FF2B5EF4-FFF2-40B4-BE49-F238E27FC236}">
                <a16:creationId xmlns:a16="http://schemas.microsoft.com/office/drawing/2014/main" id="{7C5F3DAC-E5E7-48ED-B706-46A22829917C}"/>
              </a:ext>
            </a:extLst>
          </p:cNvPr>
          <p:cNvSpPr>
            <a:spLocks xmlns:a="http://schemas.openxmlformats.org/drawingml/2006/main" noGrp="1"/>
          </p:cNvSpPr>
          <p:nvPr/>
        </p:nvSpPr>
        <p:spPr>
          <a:xfrm xmlns:a="http://schemas.openxmlformats.org/drawingml/2006/main" flipV="0">
            <a:off x="7010400" y="5400675"/>
            <a:ext cx="266700" cy="0"/>
          </a:xfrm>
          <a:prstGeom xmlns:a="http://schemas.openxmlformats.org/drawingml/2006/main" prst="line">
            <a:avLst/>
          </a:prstGeom>
          <a:noFill xmlns:a="http://schemas.openxmlformats.org/drawingml/2006/main"/>
          <a:ln xmlns:a="http://schemas.openxmlformats.org/drawingml/2006/main" w="19050">
            <a:solidFill>
              <a:srgbClr val="A8B6C4"/>
            </a:solidFill>
            <a:prstDash val="solid"/>
          </a:ln>
        </p:spPr>
      </p:sp>
      <p:sp>
        <p:nvSpPr>
          <p:cNvPr id="85" name="">
            <a:extLst xmlns:a="http://schemas.openxmlformats.org/drawingml/2006/main">
              <a:ext uri="{FF2B5EF4-FFF2-40B4-BE49-F238E27FC236}">
                <a16:creationId xmlns:a16="http://schemas.microsoft.com/office/drawing/2014/main" id="{15876576-DA67-4098-B4AF-5627C9896BD2}"/>
              </a:ext>
            </a:extLst>
          </p:cNvPr>
          <p:cNvSpPr>
            <a:spLocks xmlns:a="http://schemas.openxmlformats.org/drawingml/2006/main" noGrp="1"/>
          </p:cNvSpPr>
          <p:nvPr/>
        </p:nvSpPr>
        <p:spPr>
          <a:xfrm xmlns:a="http://schemas.openxmlformats.org/drawingml/2006/main" rot="5400000">
            <a:off x="7229475" y="5343525"/>
            <a:ext cx="114300" cy="114300"/>
          </a:xfrm>
          <a:prstGeom xmlns:a="http://schemas.openxmlformats.org/drawingml/2006/main" prst="triangle">
            <a:avLst/>
          </a:prstGeom>
          <a:solidFill xmlns:a="http://schemas.openxmlformats.org/drawingml/2006/main">
            <a:srgbClr val="A8B6C4"/>
          </a:solidFill>
          <a:ln xmlns:a="http://schemas.openxmlformats.org/drawingml/2006/main" w="0">
            <a:noFill/>
            <a:prstDash val="solid"/>
          </a:ln>
        </p:spPr>
      </p:sp>
      <p:sp>
        <p:nvSpPr>
          <p:cNvPr id="86" name="">
            <a:extLst xmlns:a="http://schemas.openxmlformats.org/drawingml/2006/main">
              <a:ext uri="{FF2B5EF4-FFF2-40B4-BE49-F238E27FC236}">
                <a16:creationId xmlns:a16="http://schemas.microsoft.com/office/drawing/2014/main" id="{92A8EC85-B6C2-46C6-96E2-F6CBBA48FC35}"/>
              </a:ext>
            </a:extLst>
          </p:cNvPr>
          <p:cNvSpPr>
            <a:spLocks xmlns:a="http://schemas.openxmlformats.org/drawingml/2006/main" noGrp="1"/>
          </p:cNvSpPr>
          <p:nvPr/>
        </p:nvSpPr>
        <p:spPr>
          <a:xfrm xmlns:a="http://schemas.openxmlformats.org/drawingml/2006/main" flipV="0">
            <a:off x="9258300" y="5400675"/>
            <a:ext cx="266700" cy="0"/>
          </a:xfrm>
          <a:prstGeom xmlns:a="http://schemas.openxmlformats.org/drawingml/2006/main" prst="line">
            <a:avLst/>
          </a:prstGeom>
          <a:noFill xmlns:a="http://schemas.openxmlformats.org/drawingml/2006/main"/>
          <a:ln xmlns:a="http://schemas.openxmlformats.org/drawingml/2006/main" w="19050">
            <a:solidFill>
              <a:srgbClr val="A8B6C4"/>
            </a:solidFill>
            <a:prstDash val="solid"/>
          </a:ln>
        </p:spPr>
      </p:sp>
      <p:sp>
        <p:nvSpPr>
          <p:cNvPr id="87" name="">
            <a:extLst xmlns:a="http://schemas.openxmlformats.org/drawingml/2006/main">
              <a:ext uri="{FF2B5EF4-FFF2-40B4-BE49-F238E27FC236}">
                <a16:creationId xmlns:a16="http://schemas.microsoft.com/office/drawing/2014/main" id="{73726E75-7E33-43FE-9EBA-C0EF2C413E72}"/>
              </a:ext>
            </a:extLst>
          </p:cNvPr>
          <p:cNvSpPr>
            <a:spLocks xmlns:a="http://schemas.openxmlformats.org/drawingml/2006/main" noGrp="1"/>
          </p:cNvSpPr>
          <p:nvPr/>
        </p:nvSpPr>
        <p:spPr>
          <a:xfrm xmlns:a="http://schemas.openxmlformats.org/drawingml/2006/main" rot="5400000">
            <a:off x="9477375" y="5343525"/>
            <a:ext cx="114300" cy="114300"/>
          </a:xfrm>
          <a:prstGeom xmlns:a="http://schemas.openxmlformats.org/drawingml/2006/main" prst="triangle">
            <a:avLst/>
          </a:prstGeom>
          <a:solidFill xmlns:a="http://schemas.openxmlformats.org/drawingml/2006/main">
            <a:srgbClr val="A8B6C4"/>
          </a:solidFill>
          <a:ln xmlns:a="http://schemas.openxmlformats.org/drawingml/2006/main" w="0">
            <a:noFill/>
            <a:prstDash val="solid"/>
          </a:ln>
        </p:spPr>
      </p:sp>
      <p:sp>
        <p:nvSpPr>
          <p:cNvPr id="88" name="">
            <a:extLst xmlns:a="http://schemas.openxmlformats.org/drawingml/2006/main">
              <a:ext uri="{FF2B5EF4-FFF2-40B4-BE49-F238E27FC236}">
                <a16:creationId xmlns:a16="http://schemas.microsoft.com/office/drawing/2014/main" id="{06C02B34-3D7D-4E83-B5AE-8BBCA3CDAC6E}"/>
              </a:ext>
            </a:extLst>
          </p:cNvPr>
          <p:cNvSpPr>
            <a:spLocks xmlns:a="http://schemas.openxmlformats.org/drawingml/2006/main" noGrp="1"/>
          </p:cNvSpPr>
          <p:nvPr/>
        </p:nvSpPr>
        <p:spPr>
          <a:xfrm xmlns:a="http://schemas.openxmlformats.org/drawingml/2006/main">
            <a:off x="685800" y="5829300"/>
            <a:ext cx="1057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Plurality uses answer counts; weighted voting uses entropy-derived scores.</a:t>
            </a:r>
          </a:p>
        </p:txBody>
      </p:sp>
    </p:spTree>
    <p:extLst>
      <p:ext uri="{BB962C8B-B14F-4D97-AF65-F5344CB8AC3E}">
        <p14:creationId xmlns:p14="http://schemas.microsoft.com/office/powerpoint/2010/main" val="542454901"/>
      </p:ext>
    </p:extLst>
  </p:cSld>
</p:sld>
</file>

<file path=ppt/slides/slide8.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DF02C9F0-AA02-45E4-94DE-2CB8D187D857}"/>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C26FD50-3343-4893-ACD9-58E21F85ADFF}"/>
              </a:ext>
            </a:extLst>
          </p:cNvPr>
          <p:cNvSpPr>
            <a:spLocks xmlns:a="http://schemas.openxmlformats.org/drawingml/2006/main" noGrp="1"/>
          </p:cNvSpPr>
          <p:nvPr/>
        </p:nvSpPr>
        <p:spPr>
          <a:xfrm xmlns:a="http://schemas.openxmlformats.org/drawingml/2006/main">
            <a:off x="552450" y="361950"/>
            <a:ext cx="1104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0253F"/>
                </a:solidFill>
                <a:latin typeface="Helvetica Neue"/>
                <a:ea typeface="Helvetica Neue"/>
                <a:cs typeface="Helvetica Neue"/>
              </a:defRPr>
            </a:defPPr>
          </a:lstStyle>
          <a:p xmlns:a="http://schemas.openxmlformats.org/drawingml/2006/main">
            <a:pPr algn="l">
              <a:lnSpc>
                <a:spcPct val="105000"/>
              </a:lnSpc>
              <a:buNone/>
              <a:defRPr sz="2550" b="1">
                <a:solidFill>
                  <a:srgbClr val="10253F"/>
                </a:solidFill>
                <a:latin typeface="Helvetica Neue"/>
                <a:ea typeface="Helvetica Neue"/>
                <a:cs typeface="Helvetica Neue"/>
              </a:defRPr>
            </a:pPr>
            <a:r>
              <a:rPr sz="2550" b="1">
                <a:solidFill>
                  <a:srgbClr val="10253F"/>
                </a:solidFill>
                <a:latin typeface="Helvetica Neue"/>
                <a:ea typeface="Helvetica Neue"/>
                <a:cs typeface="Helvetica Neue"/>
              </a:rPr>
              <a:t>Implementation &amp; Experimental Setup</a:t>
            </a:r>
          </a:p>
        </p:txBody>
      </p:sp>
      <p:sp>
        <p:nvSpPr>
          <p:cNvPr id="3" name="">
            <a:extLst xmlns:a="http://schemas.openxmlformats.org/drawingml/2006/main">
              <a:ext uri="{FF2B5EF4-FFF2-40B4-BE49-F238E27FC236}">
                <a16:creationId xmlns:a16="http://schemas.microsoft.com/office/drawing/2014/main" id="{36A245DA-F9D7-4D7F-92EA-4227697B94D4}"/>
              </a:ext>
            </a:extLst>
          </p:cNvPr>
          <p:cNvSpPr>
            <a:spLocks xmlns:a="http://schemas.openxmlformats.org/drawingml/2006/main" noGrp="1"/>
          </p:cNvSpPr>
          <p:nvPr/>
        </p:nvSpPr>
        <p:spPr>
          <a:xfrm xmlns:a="http://schemas.openxmlformats.org/drawingml/2006/main">
            <a:off x="571500" y="876300"/>
            <a:ext cx="10953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36477"/>
                </a:solidFill>
                <a:latin typeface="Helvetica Neue"/>
                <a:ea typeface="Helvetica Neue"/>
                <a:cs typeface="Helvetica Neue"/>
              </a:defRPr>
            </a:defPPr>
          </a:lstStyle>
          <a:p xmlns:a="http://schemas.openxmlformats.org/drawingml/2006/main">
            <a:pPr algn="l">
              <a:lnSpc>
                <a:spcPct val="105000"/>
              </a:lnSpc>
              <a:buNone/>
              <a:defRPr sz="1275" b="0">
                <a:solidFill>
                  <a:srgbClr val="536477"/>
                </a:solidFill>
                <a:latin typeface="Helvetica Neue"/>
                <a:ea typeface="Helvetica Neue"/>
                <a:cs typeface="Helvetica Neue"/>
              </a:defRPr>
            </a:pPr>
            <a:r>
              <a:rPr sz="1275" b="0">
                <a:solidFill>
                  <a:srgbClr val="536477"/>
                </a:solidFill>
                <a:latin typeface="Helvetica Neue"/>
                <a:ea typeface="Helvetica Neue"/>
                <a:cs typeface="Helvetica Neue"/>
              </a:rPr>
              <a:t>Configured defaults and available artifacts are separated from completed experimental evidence.</a:t>
            </a:r>
          </a:p>
        </p:txBody>
      </p:sp>
      <p:sp>
        <p:nvSpPr>
          <p:cNvPr id="4" name="">
            <a:extLst xmlns:a="http://schemas.openxmlformats.org/drawingml/2006/main">
              <a:ext uri="{FF2B5EF4-FFF2-40B4-BE49-F238E27FC236}">
                <a16:creationId xmlns:a16="http://schemas.microsoft.com/office/drawing/2014/main" id="{CBA7C551-3ED5-41DC-85EB-349552574735}"/>
              </a:ext>
            </a:extLst>
          </p:cNvPr>
          <p:cNvSpPr>
            <a:spLocks xmlns:a="http://schemas.openxmlformats.org/drawingml/2006/main" noGrp="1"/>
          </p:cNvSpPr>
          <p:nvPr/>
        </p:nvSpPr>
        <p:spPr>
          <a:xfrm xmlns:a="http://schemas.openxmlformats.org/drawingml/2006/main" flipV="0">
            <a:off x="571500" y="6438900"/>
            <a:ext cx="11049000" cy="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5" name="">
            <a:extLst xmlns:a="http://schemas.openxmlformats.org/drawingml/2006/main">
              <a:ext uri="{FF2B5EF4-FFF2-40B4-BE49-F238E27FC236}">
                <a16:creationId xmlns:a16="http://schemas.microsoft.com/office/drawing/2014/main" id="{3A4AD77D-C41D-4BC6-A62E-7904FF12F10C}"/>
              </a:ext>
            </a:extLst>
          </p:cNvPr>
          <p:cNvSpPr>
            <a:spLocks xmlns:a="http://schemas.openxmlformats.org/drawingml/2006/main" noGrp="1"/>
          </p:cNvSpPr>
          <p:nvPr/>
        </p:nvSpPr>
        <p:spPr>
          <a:xfrm xmlns:a="http://schemas.openxmlformats.org/drawingml/2006/main">
            <a:off x="571500" y="6534150"/>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536477"/>
                </a:solidFill>
                <a:latin typeface="Helvetica Neue"/>
                <a:ea typeface="Helvetica Neue"/>
                <a:cs typeface="Helvetica Neue"/>
              </a:defRPr>
            </a:defPPr>
          </a:lstStyle>
          <a:p xmlns:a="http://schemas.openxmlformats.org/drawingml/2006/main">
            <a:pPr algn="l">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VIT-AP UNIVERSITY  /  SCOPE</a:t>
            </a:r>
          </a:p>
        </p:txBody>
      </p:sp>
      <p:sp>
        <p:nvSpPr>
          <p:cNvPr id="6" name="">
            <a:extLst xmlns:a="http://schemas.openxmlformats.org/drawingml/2006/main">
              <a:ext uri="{FF2B5EF4-FFF2-40B4-BE49-F238E27FC236}">
                <a16:creationId xmlns:a16="http://schemas.microsoft.com/office/drawing/2014/main" id="{4BB3448B-057A-450E-B15A-58645249DB3F}"/>
              </a:ext>
            </a:extLst>
          </p:cNvPr>
          <p:cNvSpPr>
            <a:spLocks xmlns:a="http://schemas.openxmlformats.org/drawingml/2006/main" noGrp="1"/>
          </p:cNvSpPr>
          <p:nvPr/>
        </p:nvSpPr>
        <p:spPr>
          <a:xfrm xmlns:a="http://schemas.openxmlformats.org/drawingml/2006/main">
            <a:off x="11087100" y="65151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a:solidFill>
                  <a:srgbClr val="536477"/>
                </a:solidFill>
                <a:latin typeface="Helvetica Neue"/>
                <a:ea typeface="Helvetica Neue"/>
                <a:cs typeface="Helvetica Neue"/>
              </a:defRPr>
            </a:defPPr>
          </a:lstStyle>
          <a:p xmlns:a="http://schemas.openxmlformats.org/drawingml/2006/main">
            <a:pPr algn="r">
              <a:lnSpc>
                <a:spcPct val="105000"/>
              </a:lnSpc>
              <a:buNone/>
              <a:defRPr sz="975" b="1">
                <a:solidFill>
                  <a:srgbClr val="536477"/>
                </a:solidFill>
                <a:latin typeface="Helvetica Neue"/>
                <a:ea typeface="Helvetica Neue"/>
                <a:cs typeface="Helvetica Neue"/>
              </a:defRPr>
            </a:pPr>
            <a:r>
              <a:rPr sz="975" b="1">
                <a:solidFill>
                  <a:srgbClr val="536477"/>
                </a:solidFill>
                <a:latin typeface="Helvetica Neue"/>
                <a:ea typeface="Helvetica Neue"/>
                <a:cs typeface="Helvetica Neue"/>
              </a:rPr>
              <a:t>08</a:t>
            </a:r>
          </a:p>
        </p:txBody>
      </p:sp>
      <p:sp>
        <p:nvSpPr>
          <p:cNvPr id="7" name="">
            <a:extLst xmlns:a="http://schemas.openxmlformats.org/drawingml/2006/main">
              <a:ext uri="{FF2B5EF4-FFF2-40B4-BE49-F238E27FC236}">
                <a16:creationId xmlns:a16="http://schemas.microsoft.com/office/drawing/2014/main" id="{0932AB7F-AE4A-4BBD-B603-AA78A77C9FBD}"/>
              </a:ext>
            </a:extLst>
          </p:cNvPr>
          <p:cNvSpPr>
            <a:spLocks xmlns:a="http://schemas.openxmlformats.org/drawingml/2006/main" noGrp="1"/>
          </p:cNvSpPr>
          <p:nvPr/>
        </p:nvSpPr>
        <p:spPr>
          <a:xfrm xmlns:a="http://schemas.openxmlformats.org/drawingml/2006/main">
            <a:off x="685800" y="1428750"/>
            <a:ext cx="266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864C5"/>
                </a:solidFill>
                <a:latin typeface="Helvetica Neue"/>
                <a:ea typeface="Helvetica Neue"/>
                <a:cs typeface="Helvetica Neue"/>
              </a:defRPr>
            </a:defPPr>
          </a:lstStyle>
          <a:p xmlns:a="http://schemas.openxmlformats.org/drawingml/2006/main">
            <a:pPr algn="l">
              <a:lnSpc>
                <a:spcPct val="105000"/>
              </a:lnSpc>
              <a:buNone/>
              <a:defRPr sz="975" b="1">
                <a:solidFill>
                  <a:srgbClr val="2864C5"/>
                </a:solidFill>
                <a:latin typeface="Helvetica Neue"/>
                <a:ea typeface="Helvetica Neue"/>
                <a:cs typeface="Helvetica Neue"/>
              </a:defRPr>
            </a:pPr>
            <a:r>
              <a:rPr sz="975" b="1">
                <a:solidFill>
                  <a:srgbClr val="2864C5"/>
                </a:solidFill>
                <a:latin typeface="Helvetica Neue"/>
                <a:ea typeface="Helvetica Neue"/>
                <a:cs typeface="Helvetica Neue"/>
              </a:rPr>
              <a:t>SOFTWARE STACK</a:t>
            </a:r>
          </a:p>
        </p:txBody>
      </p:sp>
      <p:sp>
        <p:nvSpPr>
          <p:cNvPr id="8" name="">
            <a:extLst xmlns:a="http://schemas.openxmlformats.org/drawingml/2006/main">
              <a:ext uri="{FF2B5EF4-FFF2-40B4-BE49-F238E27FC236}">
                <a16:creationId xmlns:a16="http://schemas.microsoft.com/office/drawing/2014/main" id="{8599995C-F96E-4D90-B26F-FE96D5DB77FB}"/>
              </a:ext>
            </a:extLst>
          </p:cNvPr>
          <p:cNvSpPr>
            <a:spLocks xmlns:a="http://schemas.openxmlformats.org/drawingml/2006/main" noGrp="1"/>
          </p:cNvSpPr>
          <p:nvPr/>
        </p:nvSpPr>
        <p:spPr>
          <a:xfrm xmlns:a="http://schemas.openxmlformats.org/drawingml/2006/main">
            <a:off x="685800" y="1714500"/>
            <a:ext cx="4762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Python  ·  PyTorch  ·  Transformers</a:t>
            </a:r>
          </a:p>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Datasets  ·  NumPy</a:t>
            </a:r>
          </a:p>
        </p:txBody>
      </p:sp>
      <p:sp>
        <p:nvSpPr>
          <p:cNvPr id="9" name="">
            <a:extLst xmlns:a="http://schemas.openxmlformats.org/drawingml/2006/main">
              <a:ext uri="{FF2B5EF4-FFF2-40B4-BE49-F238E27FC236}">
                <a16:creationId xmlns:a16="http://schemas.microsoft.com/office/drawing/2014/main" id="{C4616DA4-DB2E-4952-B297-403E92824B8B}"/>
              </a:ext>
            </a:extLst>
          </p:cNvPr>
          <p:cNvSpPr>
            <a:spLocks xmlns:a="http://schemas.openxmlformats.org/drawingml/2006/main" noGrp="1"/>
          </p:cNvSpPr>
          <p:nvPr/>
        </p:nvSpPr>
        <p:spPr>
          <a:xfrm xmlns:a="http://schemas.openxmlformats.org/drawingml/2006/main">
            <a:off x="685800" y="272415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148A8A"/>
                </a:solidFill>
                <a:latin typeface="Helvetica Neue"/>
                <a:ea typeface="Helvetica Neue"/>
                <a:cs typeface="Helvetica Neue"/>
              </a:defRPr>
            </a:defPPr>
          </a:lstStyle>
          <a:p xmlns:a="http://schemas.openxmlformats.org/drawingml/2006/main">
            <a:pPr algn="l">
              <a:lnSpc>
                <a:spcPct val="105000"/>
              </a:lnSpc>
              <a:buNone/>
              <a:defRPr sz="975" b="1">
                <a:solidFill>
                  <a:srgbClr val="148A8A"/>
                </a:solidFill>
                <a:latin typeface="Helvetica Neue"/>
                <a:ea typeface="Helvetica Neue"/>
                <a:cs typeface="Helvetica Neue"/>
              </a:defRPr>
            </a:pPr>
            <a:r>
              <a:rPr sz="975" b="1">
                <a:solidFill>
                  <a:srgbClr val="148A8A"/>
                </a:solidFill>
                <a:latin typeface="Helvetica Neue"/>
                <a:ea typeface="Helvetica Neue"/>
                <a:cs typeface="Helvetica Neue"/>
              </a:rPr>
              <a:t>DATA ARTIFACTS</a:t>
            </a:r>
          </a:p>
        </p:txBody>
      </p:sp>
      <p:sp>
        <p:nvSpPr>
          <p:cNvPr id="10" name="">
            <a:extLst xmlns:a="http://schemas.openxmlformats.org/drawingml/2006/main">
              <a:ext uri="{FF2B5EF4-FFF2-40B4-BE49-F238E27FC236}">
                <a16:creationId xmlns:a16="http://schemas.microsoft.com/office/drawing/2014/main" id="{127C205B-6BBD-49FC-8C7B-F6032CAEF398}"/>
              </a:ext>
            </a:extLst>
          </p:cNvPr>
          <p:cNvSpPr>
            <a:spLocks xmlns:a="http://schemas.openxmlformats.org/drawingml/2006/main" noGrp="1"/>
          </p:cNvSpPr>
          <p:nvPr/>
        </p:nvSpPr>
        <p:spPr>
          <a:xfrm xmlns:a="http://schemas.openxmlformats.org/drawingml/2006/main">
            <a:off x="685800" y="3028950"/>
            <a:ext cx="4953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13283F"/>
                </a:solidFill>
                <a:latin typeface="Helvetica Neue"/>
                <a:ea typeface="Helvetica Neue"/>
                <a:cs typeface="Helvetica Neue"/>
              </a:defRPr>
            </a:defPPr>
          </a:lstStyle>
          <a:p xmlns:a="http://schemas.openxmlformats.org/drawingml/2006/main">
            <a:pPr algn="l">
              <a:lnSpc>
                <a:spcPct val="105000"/>
              </a:lnSpc>
              <a:buNone/>
              <a:defRPr sz="1275" b="0">
                <a:solidFill>
                  <a:srgbClr val="13283F"/>
                </a:solidFill>
                <a:latin typeface="Helvetica Neue"/>
                <a:ea typeface="Helvetica Neue"/>
                <a:cs typeface="Helvetica Neue"/>
              </a:defRPr>
            </a:pPr>
            <a:r>
              <a:rPr sz="1275" b="0">
                <a:solidFill>
                  <a:srgbClr val="13283F"/>
                </a:solidFill>
                <a:latin typeface="Helvetica Neue"/>
                <a:ea typeface="Helvetica Neue"/>
                <a:cs typeface="Helvetica Neue"/>
              </a:rPr>
              <a:t>C4 feature cache</a:t>
            </a:r>
          </a:p>
          <a:p xmlns:a="http://schemas.openxmlformats.org/drawingml/2006/main">
            <a:pPr algn="l">
              <a:lnSpc>
                <a:spcPct val="105000"/>
              </a:lnSpc>
              <a:buNone/>
              <a:defRPr sz="1275" b="0">
                <a:solidFill>
                  <a:srgbClr val="13283F"/>
                </a:solidFill>
                <a:latin typeface="Helvetica Neue"/>
                <a:ea typeface="Helvetica Neue"/>
                <a:cs typeface="Helvetica Neue"/>
              </a:defRPr>
            </a:pPr>
            <a:r>
              <a:rPr sz="1275" b="0">
                <a:solidFill>
                  <a:srgbClr val="13283F"/>
                </a:solidFill>
                <a:latin typeface="Helvetica Neue"/>
                <a:ea typeface="Helvetica Neue"/>
                <a:cs typeface="Helvetica Neue"/>
              </a:rPr>
              <a:t>1,841 token examples  /  20 document IDs</a:t>
            </a:r>
          </a:p>
          <a:p xmlns:a="http://schemas.openxmlformats.org/drawingml/2006/main">
            <a:pPr algn="l">
              <a:lnSpc>
                <a:spcPct val="105000"/>
              </a:lnSpc>
              <a:buNone/>
              <a:defRPr sz="1275" b="0">
                <a:solidFill>
                  <a:srgbClr val="13283F"/>
                </a:solidFill>
                <a:latin typeface="Helvetica Neue"/>
                <a:ea typeface="Helvetica Neue"/>
                <a:cs typeface="Helvetica Neue"/>
              </a:defRPr>
            </a:pPr>
            <a:r>
              <a:rPr sz="1275" b="0">
                <a:solidFill>
                  <a:srgbClr val="13283F"/>
                </a:solidFill>
                <a:latin typeface="Helvetica Neue"/>
                <a:ea typeface="Helvetica Neue"/>
                <a:cs typeface="Helvetica Neue"/>
              </a:rPr>
              <a:t>Train 1,637  /  validation 204</a:t>
            </a:r>
          </a:p>
          <a:p xmlns:a="http://schemas.openxmlformats.org/drawingml/2006/main">
            <a:pPr algn="l">
              <a:lnSpc>
                <a:spcPct val="105000"/>
              </a:lnSpc>
              <a:buNone/>
              <a:defRPr sz="1275" b="0">
                <a:solidFill>
                  <a:srgbClr val="13283F"/>
                </a:solidFill>
                <a:latin typeface="Helvetica Neue"/>
                <a:ea typeface="Helvetica Neue"/>
                <a:cs typeface="Helvetica Neue"/>
              </a:defRPr>
            </a:pPr>
            <a:r>
              <a:rPr sz="1275" b="0">
                <a:solidFill>
                  <a:srgbClr val="13283F"/>
                </a:solidFill>
                <a:latin typeface="Helvetica Neue"/>
                <a:ea typeface="Helvetica Neue"/>
                <a:cs typeface="Helvetica Neue"/>
              </a:rPr>
              <a:t>2,048 dimensions  /  max length 128</a:t>
            </a:r>
          </a:p>
        </p:txBody>
      </p:sp>
      <p:sp>
        <p:nvSpPr>
          <p:cNvPr id="11" name="">
            <a:extLst xmlns:a="http://schemas.openxmlformats.org/drawingml/2006/main">
              <a:ext uri="{FF2B5EF4-FFF2-40B4-BE49-F238E27FC236}">
                <a16:creationId xmlns:a16="http://schemas.microsoft.com/office/drawing/2014/main" id="{85C9998B-DBC2-4EF1-970A-C8BB17F5C4E5}"/>
              </a:ext>
            </a:extLst>
          </p:cNvPr>
          <p:cNvSpPr>
            <a:spLocks xmlns:a="http://schemas.openxmlformats.org/drawingml/2006/main" noGrp="1"/>
          </p:cNvSpPr>
          <p:nvPr/>
        </p:nvSpPr>
        <p:spPr>
          <a:xfrm xmlns:a="http://schemas.openxmlformats.org/drawingml/2006/main">
            <a:off x="685800" y="42672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536477"/>
                </a:solidFill>
                <a:latin typeface="Helvetica Neue"/>
                <a:ea typeface="Helvetica Neue"/>
                <a:cs typeface="Helvetica Neue"/>
              </a:defRPr>
            </a:defPPr>
          </a:lstStyle>
          <a:p xmlns:a="http://schemas.openxmlformats.org/drawingml/2006/main">
            <a:pPr algn="l">
              <a:lnSpc>
                <a:spcPct val="105000"/>
              </a:lnSpc>
              <a:buNone/>
              <a:defRPr sz="1200" b="1">
                <a:solidFill>
                  <a:srgbClr val="536477"/>
                </a:solidFill>
                <a:latin typeface="Helvetica Neue"/>
                <a:ea typeface="Helvetica Neue"/>
                <a:cs typeface="Helvetica Neue"/>
              </a:defRPr>
            </a:pPr>
            <a:r>
              <a:rPr sz="1200" b="1">
                <a:solidFill>
                  <a:srgbClr val="536477"/>
                </a:solidFill>
                <a:latin typeface="Helvetica Neue"/>
                <a:ea typeface="Helvetica Neue"/>
                <a:cs typeface="Helvetica Neue"/>
              </a:rPr>
              <a:t>Local QA file: 10 labeled questions</a:t>
            </a:r>
          </a:p>
        </p:txBody>
      </p:sp>
      <p:sp>
        <p:nvSpPr>
          <p:cNvPr id="12" name="">
            <a:extLst xmlns:a="http://schemas.openxmlformats.org/drawingml/2006/main">
              <a:ext uri="{FF2B5EF4-FFF2-40B4-BE49-F238E27FC236}">
                <a16:creationId xmlns:a16="http://schemas.microsoft.com/office/drawing/2014/main" id="{E2C4A4AE-D13C-4910-9F5E-F9D2D6FBC959}"/>
              </a:ext>
            </a:extLst>
          </p:cNvPr>
          <p:cNvSpPr>
            <a:spLocks xmlns:a="http://schemas.openxmlformats.org/drawingml/2006/main" noGrp="1"/>
          </p:cNvSpPr>
          <p:nvPr/>
        </p:nvSpPr>
        <p:spPr>
          <a:xfrm xmlns:a="http://schemas.openxmlformats.org/drawingml/2006/main">
            <a:off x="6496050" y="14287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C7782B"/>
                </a:solidFill>
                <a:latin typeface="Helvetica Neue"/>
                <a:ea typeface="Helvetica Neue"/>
                <a:cs typeface="Helvetica Neue"/>
              </a:defRPr>
            </a:defPPr>
          </a:lstStyle>
          <a:p xmlns:a="http://schemas.openxmlformats.org/drawingml/2006/main">
            <a:pPr algn="l">
              <a:lnSpc>
                <a:spcPct val="105000"/>
              </a:lnSpc>
              <a:buNone/>
              <a:defRPr sz="975" b="1">
                <a:solidFill>
                  <a:srgbClr val="C7782B"/>
                </a:solidFill>
                <a:latin typeface="Helvetica Neue"/>
                <a:ea typeface="Helvetica Neue"/>
                <a:cs typeface="Helvetica Neue"/>
              </a:defRPr>
            </a:pPr>
            <a:r>
              <a:rPr sz="975" b="1">
                <a:solidFill>
                  <a:srgbClr val="C7782B"/>
                </a:solidFill>
                <a:latin typeface="Helvetica Neue"/>
                <a:ea typeface="Helvetica Neue"/>
                <a:cs typeface="Helvetica Neue"/>
              </a:rPr>
              <a:t>ENN TRAINING CONFIGURATION</a:t>
            </a:r>
          </a:p>
        </p:txBody>
      </p:sp>
      <p:sp>
        <p:nvSpPr>
          <p:cNvPr id="13" name="">
            <a:extLst xmlns:a="http://schemas.openxmlformats.org/drawingml/2006/main">
              <a:ext uri="{FF2B5EF4-FFF2-40B4-BE49-F238E27FC236}">
                <a16:creationId xmlns:a16="http://schemas.microsoft.com/office/drawing/2014/main" id="{4EB103D6-EA5C-41EB-92B7-E895D1E102AA}"/>
              </a:ext>
            </a:extLst>
          </p:cNvPr>
          <p:cNvSpPr>
            <a:spLocks xmlns:a="http://schemas.openxmlformats.org/drawingml/2006/main" noGrp="1"/>
          </p:cNvSpPr>
          <p:nvPr/>
        </p:nvSpPr>
        <p:spPr>
          <a:xfrm xmlns:a="http://schemas.openxmlformats.org/drawingml/2006/main">
            <a:off x="6496050" y="1714500"/>
            <a:ext cx="50101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13283F"/>
                </a:solidFill>
                <a:latin typeface="Helvetica Neue"/>
                <a:ea typeface="Helvetica Neue"/>
                <a:cs typeface="Helvetica Neue"/>
              </a:defRPr>
            </a:defPPr>
          </a:lstStyle>
          <a:p xmlns:a="http://schemas.openxmlformats.org/drawingml/2006/main">
            <a:pPr algn="l">
              <a:lnSpc>
                <a:spcPct val="105000"/>
              </a:lnSpc>
              <a:buNone/>
              <a:defRPr sz="1200" b="0">
                <a:solidFill>
                  <a:srgbClr val="13283F"/>
                </a:solidFill>
                <a:latin typeface="Helvetica Neue"/>
                <a:ea typeface="Helvetica Neue"/>
                <a:cs typeface="Helvetica Neue"/>
              </a:defRPr>
            </a:pPr>
            <a:r>
              <a:rPr sz="1200" b="0">
                <a:solidFill>
                  <a:srgbClr val="13283F"/>
                </a:solidFill>
                <a:latin typeface="Helvetica Neue"/>
                <a:ea typeface="Helvetica Neue"/>
                <a:cs typeface="Helvetica Neue"/>
              </a:rPr>
              <a:t>AdamW  /  learning rate 1 × 10⁻⁴</a:t>
            </a:r>
          </a:p>
          <a:p xmlns:a="http://schemas.openxmlformats.org/drawingml/2006/main">
            <a:pPr algn="l">
              <a:lnSpc>
                <a:spcPct val="105000"/>
              </a:lnSpc>
              <a:buNone/>
              <a:defRPr sz="1200" b="0">
                <a:solidFill>
                  <a:srgbClr val="13283F"/>
                </a:solidFill>
                <a:latin typeface="Helvetica Neue"/>
                <a:ea typeface="Helvetica Neue"/>
                <a:cs typeface="Helvetica Neue"/>
              </a:defRPr>
            </a:pPr>
            <a:r>
              <a:rPr sz="1200" b="0">
                <a:solidFill>
                  <a:srgbClr val="13283F"/>
                </a:solidFill>
                <a:latin typeface="Helvetica Neue"/>
                <a:ea typeface="Helvetica Neue"/>
                <a:cs typeface="Helvetica Neue"/>
              </a:rPr>
              <a:t>Batch size 1  /  2 epochs  /  3 z-samples</a:t>
            </a:r>
          </a:p>
          <a:p xmlns:a="http://schemas.openxmlformats.org/drawingml/2006/main">
            <a:pPr algn="l">
              <a:lnSpc>
                <a:spcPct val="105000"/>
              </a:lnSpc>
              <a:buNone/>
              <a:defRPr sz="1200" b="0">
                <a:solidFill>
                  <a:srgbClr val="13283F"/>
                </a:solidFill>
                <a:latin typeface="Helvetica Neue"/>
                <a:ea typeface="Helvetica Neue"/>
                <a:cs typeface="Helvetica Neue"/>
              </a:defRPr>
            </a:pPr>
            <a:r>
              <a:rPr sz="1200" b="0">
                <a:solidFill>
                  <a:srgbClr val="13283F"/>
                </a:solidFill>
                <a:latin typeface="Helvetica Neue"/>
                <a:ea typeface="Helvetica Neue"/>
                <a:cs typeface="Helvetica Neue"/>
              </a:rPr>
              <a:t>Cross-entropy  /  weight decay 1 × 10⁻⁴</a:t>
            </a:r>
          </a:p>
          <a:p xmlns:a="http://schemas.openxmlformats.org/drawingml/2006/main">
            <a:pPr algn="l">
              <a:lnSpc>
                <a:spcPct val="105000"/>
              </a:lnSpc>
              <a:buNone/>
              <a:defRPr sz="1200" b="0">
                <a:solidFill>
                  <a:srgbClr val="13283F"/>
                </a:solidFill>
                <a:latin typeface="Helvetica Neue"/>
                <a:ea typeface="Helvetica Neue"/>
                <a:cs typeface="Helvetica Neue"/>
              </a:defRPr>
            </a:pPr>
            <a:r>
              <a:rPr sz="1200" b="0">
                <a:solidFill>
                  <a:srgbClr val="13283F"/>
                </a:solidFill>
                <a:latin typeface="Helvetica Neue"/>
                <a:ea typeface="Helvetica Neue"/>
                <a:cs typeface="Helvetica Neue"/>
              </a:rPr>
              <a:t>Final train loss 2.3298  /  validation 2.5698</a:t>
            </a:r>
          </a:p>
        </p:txBody>
      </p:sp>
      <p:sp>
        <p:nvSpPr>
          <p:cNvPr id="14" name="">
            <a:extLst xmlns:a="http://schemas.openxmlformats.org/drawingml/2006/main">
              <a:ext uri="{FF2B5EF4-FFF2-40B4-BE49-F238E27FC236}">
                <a16:creationId xmlns:a16="http://schemas.microsoft.com/office/drawing/2014/main" id="{41B2C3D0-59B0-4978-A388-7E89E546BC9F}"/>
              </a:ext>
            </a:extLst>
          </p:cNvPr>
          <p:cNvSpPr>
            <a:spLocks xmlns:a="http://schemas.openxmlformats.org/drawingml/2006/main" noGrp="1"/>
          </p:cNvSpPr>
          <p:nvPr/>
        </p:nvSpPr>
        <p:spPr>
          <a:xfrm xmlns:a="http://schemas.openxmlformats.org/drawingml/2006/main">
            <a:off x="6496050" y="29527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864C5"/>
                </a:solidFill>
                <a:latin typeface="Helvetica Neue"/>
                <a:ea typeface="Helvetica Neue"/>
                <a:cs typeface="Helvetica Neue"/>
              </a:defRPr>
            </a:defPPr>
          </a:lstStyle>
          <a:p xmlns:a="http://schemas.openxmlformats.org/drawingml/2006/main">
            <a:pPr algn="l">
              <a:lnSpc>
                <a:spcPct val="105000"/>
              </a:lnSpc>
              <a:buNone/>
              <a:defRPr sz="975" b="1">
                <a:solidFill>
                  <a:srgbClr val="2864C5"/>
                </a:solidFill>
                <a:latin typeface="Helvetica Neue"/>
                <a:ea typeface="Helvetica Neue"/>
                <a:cs typeface="Helvetica Neue"/>
              </a:defRPr>
            </a:pPr>
            <a:r>
              <a:rPr sz="975" b="1">
                <a:solidFill>
                  <a:srgbClr val="2864C5"/>
                </a:solidFill>
                <a:latin typeface="Helvetica Neue"/>
                <a:ea typeface="Helvetica Neue"/>
                <a:cs typeface="Helvetica Neue"/>
              </a:rPr>
              <a:t>EVALUATION AND AVAILABILITY</a:t>
            </a:r>
          </a:p>
        </p:txBody>
      </p:sp>
      <p:sp>
        <p:nvSpPr>
          <p:cNvPr id="15" name="">
            <a:extLst xmlns:a="http://schemas.openxmlformats.org/drawingml/2006/main">
              <a:ext uri="{FF2B5EF4-FFF2-40B4-BE49-F238E27FC236}">
                <a16:creationId xmlns:a16="http://schemas.microsoft.com/office/drawing/2014/main" id="{C2B05EE5-B7E5-46E6-8D63-481990B0F043}"/>
              </a:ext>
            </a:extLst>
          </p:cNvPr>
          <p:cNvSpPr>
            <a:spLocks xmlns:a="http://schemas.openxmlformats.org/drawingml/2006/main" noGrp="1"/>
          </p:cNvSpPr>
          <p:nvPr/>
        </p:nvSpPr>
        <p:spPr>
          <a:xfrm xmlns:a="http://schemas.openxmlformats.org/drawingml/2006/main">
            <a:off x="6496050" y="3257550"/>
            <a:ext cx="50101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13283F"/>
                </a:solidFill>
                <a:latin typeface="Helvetica Neue"/>
                <a:ea typeface="Helvetica Neue"/>
                <a:cs typeface="Helvetica Neue"/>
              </a:defRPr>
            </a:defPPr>
          </a:lstStyle>
          <a:p xmlns:a="http://schemas.openxmlformats.org/drawingml/2006/main">
            <a:pPr algn="l">
              <a:lnSpc>
                <a:spcPct val="105000"/>
              </a:lnSpc>
              <a:buNone/>
              <a:defRPr sz="1200" b="0">
                <a:solidFill>
                  <a:srgbClr val="13283F"/>
                </a:solidFill>
                <a:latin typeface="Helvetica Neue"/>
                <a:ea typeface="Helvetica Neue"/>
                <a:cs typeface="Helvetica Neue"/>
              </a:defRPr>
            </a:pPr>
            <a:r>
              <a:rPr sz="1200" b="0">
                <a:solidFill>
                  <a:srgbClr val="13283F"/>
                </a:solidFill>
                <a:latin typeface="Helvetica Neue"/>
                <a:ea typeface="Helvetica Neue"/>
                <a:cs typeface="Helvetica Neue"/>
              </a:rPr>
              <a:t>TruthfulQA MC1/MC2 and C4 token metrics are saved.</a:t>
            </a:r>
          </a:p>
          <a:p xmlns:a="http://schemas.openxmlformats.org/drawingml/2006/main">
            <a:r>
              <a:t/>
            </a:r>
          </a:p>
          <a:p xmlns:a="http://schemas.openxmlformats.org/drawingml/2006/main">
            <a:pPr algn="l">
              <a:lnSpc>
                <a:spcPct val="105000"/>
              </a:lnSpc>
              <a:buNone/>
              <a:defRPr sz="1200" b="0">
                <a:solidFill>
                  <a:srgbClr val="13283F"/>
                </a:solidFill>
                <a:latin typeface="Helvetica Neue"/>
                <a:ea typeface="Helvetica Neue"/>
                <a:cs typeface="Helvetica Neue"/>
              </a:defRPr>
            </a:pPr>
            <a:r>
              <a:rPr sz="1200" b="0">
                <a:solidFill>
                  <a:srgbClr val="13283F"/>
                </a:solidFill>
                <a:latin typeface="Helvetica Neue"/>
                <a:ea typeface="Helvetica Neue"/>
                <a:cs typeface="Helvetica Neue"/>
              </a:rPr>
              <a:t>ENN checkpoint: checkpoints/enn_best.pt</a:t>
            </a:r>
          </a:p>
          <a:p xmlns:a="http://schemas.openxmlformats.org/drawingml/2006/main">
            <a:pPr algn="l">
              <a:lnSpc>
                <a:spcPct val="105000"/>
              </a:lnSpc>
              <a:buNone/>
              <a:defRPr sz="1200" b="0">
                <a:solidFill>
                  <a:srgbClr val="13283F"/>
                </a:solidFill>
                <a:latin typeface="Helvetica Neue"/>
                <a:ea typeface="Helvetica Neue"/>
                <a:cs typeface="Helvetica Neue"/>
              </a:defRPr>
            </a:pPr>
            <a:r>
              <a:rPr sz="1200" b="0">
                <a:solidFill>
                  <a:srgbClr val="13283F"/>
                </a:solidFill>
                <a:latin typeface="Helvetica Neue"/>
                <a:ea typeface="Helvetica Neue"/>
                <a:cs typeface="Helvetica Neue"/>
              </a:rPr>
              <a:t>Recorded backend: MPS  /  device model and RAM: [TO BE PROVIDED]</a:t>
            </a:r>
          </a:p>
        </p:txBody>
      </p:sp>
      <p:sp>
        <p:nvSpPr>
          <p:cNvPr id="16" name="">
            <a:extLst xmlns:a="http://schemas.openxmlformats.org/drawingml/2006/main">
              <a:ext uri="{FF2B5EF4-FFF2-40B4-BE49-F238E27FC236}">
                <a16:creationId xmlns:a16="http://schemas.microsoft.com/office/drawing/2014/main" id="{E78F37A6-2277-4F8F-B82E-F1902311652A}"/>
              </a:ext>
            </a:extLst>
          </p:cNvPr>
          <p:cNvSpPr>
            <a:spLocks xmlns:a="http://schemas.openxmlformats.org/drawingml/2006/main" noGrp="1"/>
          </p:cNvSpPr>
          <p:nvPr/>
        </p:nvSpPr>
        <p:spPr>
          <a:xfrm xmlns:a="http://schemas.openxmlformats.org/drawingml/2006/main">
            <a:off x="685800" y="4972050"/>
            <a:ext cx="10668000" cy="838200"/>
          </a:xfrm>
          <a:prstGeom xmlns:a="http://schemas.openxmlformats.org/drawingml/2006/main" prst="roundRect">
            <a:avLst>
              <a:gd name="adj" fmla="val 9091"/>
            </a:avLst>
          </a:prstGeom>
          <a:solidFill xmlns:a="http://schemas.openxmlformats.org/drawingml/2006/main">
            <a:srgbClr val="F5EBDD"/>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6184B607-A8B8-4B6D-8199-F3465AB030FA}"/>
              </a:ext>
            </a:extLst>
          </p:cNvPr>
          <p:cNvSpPr>
            <a:spLocks xmlns:a="http://schemas.openxmlformats.org/drawingml/2006/main" noGrp="1"/>
          </p:cNvSpPr>
          <p:nvPr/>
        </p:nvSpPr>
        <p:spPr>
          <a:xfrm xmlns:a="http://schemas.openxmlformats.org/drawingml/2006/main">
            <a:off x="914400" y="5181600"/>
            <a:ext cx="10153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10253F"/>
                </a:solidFill>
                <a:latin typeface="Helvetica Neue"/>
                <a:ea typeface="Helvetica Neue"/>
                <a:cs typeface="Helvetica Neue"/>
              </a:defRPr>
            </a:defPPr>
          </a:lstStyle>
          <a:p xmlns:a="http://schemas.openxmlformats.org/drawingml/2006/main">
            <a:pPr algn="l">
              <a:lnSpc>
                <a:spcPct val="105000"/>
              </a:lnSpc>
              <a:buNone/>
              <a:defRPr sz="1350" b="1">
                <a:solidFill>
                  <a:srgbClr val="10253F"/>
                </a:solidFill>
                <a:latin typeface="Helvetica Neue"/>
                <a:ea typeface="Helvetica Neue"/>
                <a:cs typeface="Helvetica Neue"/>
              </a:defRPr>
            </a:pPr>
            <a:r>
              <a:rPr sz="1350" b="1">
                <a:solidFill>
                  <a:srgbClr val="10253F"/>
                </a:solidFill>
                <a:latin typeface="Helvetica Neue"/>
                <a:ea typeface="Helvetica Neue"/>
                <a:cs typeface="Helvetica Neue"/>
              </a:rPr>
              <a:t>Recorded software: Python 3.10.20  /  PyTorch 2.11.0  /  Transformers 5.17.0</a:t>
            </a:r>
          </a:p>
        </p:txBody>
      </p:sp>
      <p:sp>
        <p:nvSpPr>
          <p:cNvPr id="18" name="">
            <a:extLst xmlns:a="http://schemas.openxmlformats.org/drawingml/2006/main">
              <a:ext uri="{FF2B5EF4-FFF2-40B4-BE49-F238E27FC236}">
                <a16:creationId xmlns:a16="http://schemas.microsoft.com/office/drawing/2014/main" id="{5A95CDD9-C9AC-4F98-8A99-9BE2E29AA1F6}"/>
              </a:ext>
            </a:extLst>
          </p:cNvPr>
          <p:cNvSpPr>
            <a:spLocks xmlns:a="http://schemas.openxmlformats.org/drawingml/2006/main" noGrp="1"/>
          </p:cNvSpPr>
          <p:nvPr/>
        </p:nvSpPr>
        <p:spPr>
          <a:xfrm xmlns:a="http://schemas.openxmlformats.org/drawingml/2006/main">
            <a:off x="914400" y="5495925"/>
            <a:ext cx="1009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Training history is saved. Exact C4 source revision, machine model and RAM are not recorded.</a:t>
            </a:r>
          </a:p>
        </p:txBody>
      </p:sp>
    </p:spTree>
    <p:extLst>
      <p:ext uri="{BB962C8B-B14F-4D97-AF65-F5344CB8AC3E}">
        <p14:creationId xmlns:p14="http://schemas.microsoft.com/office/powerpoint/2010/main" val="1491040331"/>
      </p:ext>
    </p:extLst>
  </p:cSld>
</p:sld>
</file>

<file path=ppt/slides/slide9.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6C1EAA15-EBBF-4256-9D30-3E85308884A0}"/>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FC8DC83-7AA7-41A8-84DC-3C54062C628B}"/>
              </a:ext>
            </a:extLst>
          </p:cNvPr>
          <p:cNvSpPr>
            <a:spLocks xmlns:a="http://schemas.openxmlformats.org/drawingml/2006/main" noGrp="1"/>
          </p:cNvSpPr>
          <p:nvPr/>
        </p:nvSpPr>
        <p:spPr>
          <a:xfrm xmlns:a="http://schemas.openxmlformats.org/drawingml/2006/main">
            <a:off x="552450" y="361950"/>
            <a:ext cx="1104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0253F"/>
                </a:solidFill>
                <a:latin typeface="Helvetica Neue"/>
                <a:ea typeface="Helvetica Neue"/>
                <a:cs typeface="Helvetica Neue"/>
              </a:defRPr>
            </a:defPPr>
          </a:lstStyle>
          <a:p xmlns:a="http://schemas.openxmlformats.org/drawingml/2006/main">
            <a:pPr algn="l">
              <a:lnSpc>
                <a:spcPct val="105000"/>
              </a:lnSpc>
              <a:buNone/>
              <a:defRPr sz="2550" b="1">
                <a:solidFill>
                  <a:srgbClr val="10253F"/>
                </a:solidFill>
                <a:latin typeface="Helvetica Neue"/>
                <a:ea typeface="Helvetica Neue"/>
                <a:cs typeface="Helvetica Neue"/>
              </a:defRPr>
            </a:pPr>
            <a:r>
              <a:rPr sz="2550" b="1">
                <a:solidFill>
                  <a:srgbClr val="10253F"/>
                </a:solidFill>
                <a:latin typeface="Helvetica Neue"/>
                <a:ea typeface="Helvetica Neue"/>
                <a:cs typeface="Helvetica Neue"/>
              </a:rPr>
              <a:t>Results &amp; Performance Analysis</a:t>
            </a:r>
          </a:p>
        </p:txBody>
      </p:sp>
      <p:sp>
        <p:nvSpPr>
          <p:cNvPr id="3" name="">
            <a:extLst xmlns:a="http://schemas.openxmlformats.org/drawingml/2006/main">
              <a:ext uri="{FF2B5EF4-FFF2-40B4-BE49-F238E27FC236}">
                <a16:creationId xmlns:a16="http://schemas.microsoft.com/office/drawing/2014/main" id="{557861A6-A06A-4F9D-B3E0-9EA8A0DCFDBE}"/>
              </a:ext>
            </a:extLst>
          </p:cNvPr>
          <p:cNvSpPr>
            <a:spLocks xmlns:a="http://schemas.openxmlformats.org/drawingml/2006/main" noGrp="1"/>
          </p:cNvSpPr>
          <p:nvPr/>
        </p:nvSpPr>
        <p:spPr>
          <a:xfrm xmlns:a="http://schemas.openxmlformats.org/drawingml/2006/main">
            <a:off x="571500" y="876300"/>
            <a:ext cx="10953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36477"/>
                </a:solidFill>
                <a:latin typeface="Helvetica Neue"/>
                <a:ea typeface="Helvetica Neue"/>
                <a:cs typeface="Helvetica Neue"/>
              </a:defRPr>
            </a:defPPr>
          </a:lstStyle>
          <a:p xmlns:a="http://schemas.openxmlformats.org/drawingml/2006/main">
            <a:pPr algn="l">
              <a:lnSpc>
                <a:spcPct val="105000"/>
              </a:lnSpc>
              <a:buNone/>
              <a:defRPr sz="1275" b="0">
                <a:solidFill>
                  <a:srgbClr val="536477"/>
                </a:solidFill>
                <a:latin typeface="Helvetica Neue"/>
                <a:ea typeface="Helvetica Neue"/>
                <a:cs typeface="Helvetica Neue"/>
              </a:defRPr>
            </a:pPr>
            <a:r>
              <a:rPr sz="1275" b="0">
                <a:solidFill>
                  <a:srgbClr val="536477"/>
                </a:solidFill>
                <a:latin typeface="Helvetica Neue"/>
                <a:ea typeface="Helvetica Neue"/>
                <a:cs typeface="Helvetica Neue"/>
              </a:rPr>
              <a:t>Saved evaluations show small and mixed effects. Each comparison below keeps its evaluation slice and settings visible.</a:t>
            </a:r>
          </a:p>
        </p:txBody>
      </p:sp>
      <p:sp>
        <p:nvSpPr>
          <p:cNvPr id="4" name="">
            <a:extLst xmlns:a="http://schemas.openxmlformats.org/drawingml/2006/main">
              <a:ext uri="{FF2B5EF4-FFF2-40B4-BE49-F238E27FC236}">
                <a16:creationId xmlns:a16="http://schemas.microsoft.com/office/drawing/2014/main" id="{669DAA8C-79ED-4637-A1BA-6BF3F21C9A7A}"/>
              </a:ext>
            </a:extLst>
          </p:cNvPr>
          <p:cNvSpPr>
            <a:spLocks xmlns:a="http://schemas.openxmlformats.org/drawingml/2006/main" noGrp="1"/>
          </p:cNvSpPr>
          <p:nvPr/>
        </p:nvSpPr>
        <p:spPr>
          <a:xfrm xmlns:a="http://schemas.openxmlformats.org/drawingml/2006/main" flipV="0">
            <a:off x="571500" y="6438900"/>
            <a:ext cx="11049000" cy="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5" name="">
            <a:extLst xmlns:a="http://schemas.openxmlformats.org/drawingml/2006/main">
              <a:ext uri="{FF2B5EF4-FFF2-40B4-BE49-F238E27FC236}">
                <a16:creationId xmlns:a16="http://schemas.microsoft.com/office/drawing/2014/main" id="{C6239F27-8D14-4CFC-B9E3-0997DD52AFA8}"/>
              </a:ext>
            </a:extLst>
          </p:cNvPr>
          <p:cNvSpPr>
            <a:spLocks xmlns:a="http://schemas.openxmlformats.org/drawingml/2006/main" noGrp="1"/>
          </p:cNvSpPr>
          <p:nvPr/>
        </p:nvSpPr>
        <p:spPr>
          <a:xfrm xmlns:a="http://schemas.openxmlformats.org/drawingml/2006/main">
            <a:off x="571500" y="6534150"/>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536477"/>
                </a:solidFill>
                <a:latin typeface="Helvetica Neue"/>
                <a:ea typeface="Helvetica Neue"/>
                <a:cs typeface="Helvetica Neue"/>
              </a:defRPr>
            </a:defPPr>
          </a:lstStyle>
          <a:p xmlns:a="http://schemas.openxmlformats.org/drawingml/2006/main">
            <a:pPr algn="l">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VIT-AP UNIVERSITY  /  SCOPE</a:t>
            </a:r>
          </a:p>
        </p:txBody>
      </p:sp>
      <p:sp>
        <p:nvSpPr>
          <p:cNvPr id="6" name="">
            <a:extLst xmlns:a="http://schemas.openxmlformats.org/drawingml/2006/main">
              <a:ext uri="{FF2B5EF4-FFF2-40B4-BE49-F238E27FC236}">
                <a16:creationId xmlns:a16="http://schemas.microsoft.com/office/drawing/2014/main" id="{65738556-2588-47D1-B903-F05BB33F2C6B}"/>
              </a:ext>
            </a:extLst>
          </p:cNvPr>
          <p:cNvSpPr>
            <a:spLocks xmlns:a="http://schemas.openxmlformats.org/drawingml/2006/main" noGrp="1"/>
          </p:cNvSpPr>
          <p:nvPr/>
        </p:nvSpPr>
        <p:spPr>
          <a:xfrm xmlns:a="http://schemas.openxmlformats.org/drawingml/2006/main">
            <a:off x="11087100" y="65151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a:solidFill>
                  <a:srgbClr val="536477"/>
                </a:solidFill>
                <a:latin typeface="Helvetica Neue"/>
                <a:ea typeface="Helvetica Neue"/>
                <a:cs typeface="Helvetica Neue"/>
              </a:defRPr>
            </a:defPPr>
          </a:lstStyle>
          <a:p xmlns:a="http://schemas.openxmlformats.org/drawingml/2006/main">
            <a:pPr algn="r">
              <a:lnSpc>
                <a:spcPct val="105000"/>
              </a:lnSpc>
              <a:buNone/>
              <a:defRPr sz="975" b="1">
                <a:solidFill>
                  <a:srgbClr val="536477"/>
                </a:solidFill>
                <a:latin typeface="Helvetica Neue"/>
                <a:ea typeface="Helvetica Neue"/>
                <a:cs typeface="Helvetica Neue"/>
              </a:defRPr>
            </a:pPr>
            <a:r>
              <a:rPr sz="975" b="1">
                <a:solidFill>
                  <a:srgbClr val="536477"/>
                </a:solidFill>
                <a:latin typeface="Helvetica Neue"/>
                <a:ea typeface="Helvetica Neue"/>
                <a:cs typeface="Helvetica Neue"/>
              </a:rPr>
              <a:t>09</a:t>
            </a:r>
          </a:p>
        </p:txBody>
      </p:sp>
      <p:sp>
        <p:nvSpPr>
          <p:cNvPr id="7" name="">
            <a:extLst xmlns:a="http://schemas.openxmlformats.org/drawingml/2006/main">
              <a:ext uri="{FF2B5EF4-FFF2-40B4-BE49-F238E27FC236}">
                <a16:creationId xmlns:a16="http://schemas.microsoft.com/office/drawing/2014/main" id="{33B23E15-1571-4A02-8113-5D5FFC5E5C9A}"/>
              </a:ext>
            </a:extLst>
          </p:cNvPr>
          <p:cNvSpPr>
            <a:spLocks xmlns:a="http://schemas.openxmlformats.org/drawingml/2006/main" noGrp="1"/>
          </p:cNvSpPr>
          <p:nvPr/>
        </p:nvSpPr>
        <p:spPr>
          <a:xfrm xmlns:a="http://schemas.openxmlformats.org/drawingml/2006/main">
            <a:off x="704850" y="1381125"/>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10253F"/>
                </a:solidFill>
                <a:latin typeface="Helvetica Neue"/>
                <a:ea typeface="Helvetica Neue"/>
                <a:cs typeface="Helvetica Neue"/>
              </a:defRPr>
            </a:defPPr>
          </a:lstStyle>
          <a:p xmlns:a="http://schemas.openxmlformats.org/drawingml/2006/main">
            <a:pPr algn="l">
              <a:lnSpc>
                <a:spcPct val="105000"/>
              </a:lnSpc>
              <a:buNone/>
              <a:defRPr sz="1575" b="1">
                <a:solidFill>
                  <a:srgbClr val="10253F"/>
                </a:solidFill>
                <a:latin typeface="Helvetica Neue"/>
                <a:ea typeface="Helvetica Neue"/>
                <a:cs typeface="Helvetica Neue"/>
              </a:defRPr>
            </a:pPr>
            <a:r>
              <a:rPr sz="1575" b="1">
                <a:solidFill>
                  <a:srgbClr val="10253F"/>
                </a:solidFill>
                <a:latin typeface="Helvetica Neue"/>
                <a:ea typeface="Helvetica Neue"/>
                <a:cs typeface="Helvetica Neue"/>
              </a:rPr>
              <a:t>Held-out C4 next-token evaluation</a:t>
            </a:r>
          </a:p>
        </p:txBody>
      </p:sp>
      <p:sp>
        <p:nvSpPr>
          <p:cNvPr id="8" name="">
            <a:extLst xmlns:a="http://schemas.openxmlformats.org/drawingml/2006/main">
              <a:ext uri="{FF2B5EF4-FFF2-40B4-BE49-F238E27FC236}">
                <a16:creationId xmlns:a16="http://schemas.microsoft.com/office/drawing/2014/main" id="{5B91852C-5F5A-44DB-B2F3-E7DB2D8F07CD}"/>
              </a:ext>
            </a:extLst>
          </p:cNvPr>
          <p:cNvSpPr>
            <a:spLocks xmlns:a="http://schemas.openxmlformats.org/drawingml/2006/main" noGrp="1"/>
          </p:cNvSpPr>
          <p:nvPr/>
        </p:nvSpPr>
        <p:spPr>
          <a:xfrm xmlns:a="http://schemas.openxmlformats.org/drawingml/2006/main">
            <a:off x="704850" y="1685925"/>
            <a:ext cx="10325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536477"/>
                </a:solidFill>
                <a:latin typeface="Helvetica Neue"/>
                <a:ea typeface="Helvetica Neue"/>
                <a:cs typeface="Helvetica Neue"/>
              </a:defRPr>
            </a:defPPr>
          </a:lstStyle>
          <a:p xmlns:a="http://schemas.openxmlformats.org/drawingml/2006/main">
            <a:pPr algn="l">
              <a:lnSpc>
                <a:spcPct val="105000"/>
              </a:lnSpc>
              <a:buNone/>
              <a:defRPr sz="1125" b="0">
                <a:solidFill>
                  <a:srgbClr val="536477"/>
                </a:solidFill>
                <a:latin typeface="Helvetica Neue"/>
                <a:ea typeface="Helvetica Neue"/>
                <a:cs typeface="Helvetica Neue"/>
              </a:defRPr>
            </a:pPr>
            <a:r>
              <a:rPr sz="1125" b="0">
                <a:solidFill>
                  <a:srgbClr val="536477"/>
                </a:solidFill>
                <a:latin typeface="Helvetica Neue"/>
                <a:ea typeface="Helvetica Neue"/>
                <a:cs typeface="Helvetica Neue"/>
              </a:rPr>
              <a:t>100 texts  /  9,431 tokens  /  α = 0.05</a:t>
            </a:r>
          </a:p>
        </p:txBody>
      </p:sp>
      <p:graphicFrame>
        <p:nvGraphicFramePr>
          <p:cNvPr id="9" name="">
            <a:extLst xmlns:a="http://schemas.openxmlformats.org/drawingml/2006/main">
              <a:ext uri="{FF2B5EF4-FFF2-40B4-BE49-F238E27FC236}">
                <a16:creationId xmlns:a16="http://schemas.microsoft.com/office/drawing/2014/main" id="{8E25005D-5F37-43B1-A1F8-CA7F17C13469}"/>
              </a:ext>
            </a:extLst>
          </p:cNvPr>
          <p:cNvGraphicFramePr/>
          <p:nvPr/>
        </p:nvGraphicFramePr>
        <p:xfrm>
          <a:off xmlns:a="http://schemas.openxmlformats.org/drawingml/2006/main" x="685800" y="2019300"/>
          <a:ext xmlns:a="http://schemas.openxmlformats.org/drawingml/2006/main" cx="10706100" cy="1352550"/>
        </p:xfrm>
        <a:graphic xmlns:a="http://schemas.openxmlformats.org/drawingml/2006/main">
          <a:graphicData uri="http://schemas.openxmlformats.org/drawingml/2006/table">
            <a:tbl>
              <a:tblPr firstRow="1" firstCol="1" bandRow="1"/>
              <a:tblGrid>
                <a:gridCol w="1784350"/>
                <a:gridCol w="1784350"/>
                <a:gridCol w="1784350"/>
                <a:gridCol w="1784350"/>
                <a:gridCol w="1784350"/>
                <a:gridCol w="1784350"/>
              </a:tblGrid>
              <a:tr h="450850">
                <a:tc>
                  <a:txBody>
                    <a:bodyPr wrap="square">
                      <a:normAutofit/>
                    </a:bodyPr>
                    <a:lstStyle/>
                    <a:p>
                      <a:pPr algn="l"/>
                      <a:r>
                        <a:rPr sz="1200" b="1">
                          <a:solidFill>
                            <a:srgbClr val="FFFFFF"/>
                          </a:solidFill>
                          <a:latin typeface="Helvetica Neue"/>
                          <a:ea typeface="Helvetica Neue"/>
                          <a:cs typeface="Helvetica Neue"/>
                        </a:rPr>
                        <a:t>Method</a:t>
                      </a:r>
                    </a:p>
                  </a:txBody>
                  <a:tcPr marL="91440" marR="91440" marT="45720" marB="45720" anchor="ctr">
                    <a:solidFill>
                      <a:srgbClr val="10253F"/>
                    </a:solidFill>
                  </a:tcPr>
                </a:tc>
                <a:tc>
                  <a:txBody>
                    <a:bodyPr wrap="square">
                      <a:normAutofit/>
                    </a:bodyPr>
                    <a:lstStyle/>
                    <a:p>
                      <a:pPr algn="ctr"/>
                      <a:r>
                        <a:rPr sz="1200" b="1">
                          <a:solidFill>
                            <a:srgbClr val="FFFFFF"/>
                          </a:solidFill>
                          <a:latin typeface="Helvetica Neue"/>
                          <a:ea typeface="Helvetica Neue"/>
                          <a:cs typeface="Helvetica Neue"/>
                        </a:rPr>
                        <a:t>ENN weight</a:t>
                      </a:r>
                    </a:p>
                  </a:txBody>
                  <a:tcPr marL="91440" marR="91440" marT="45720" marB="45720" anchor="ctr">
                    <a:solidFill>
                      <a:srgbClr val="10253F"/>
                    </a:solidFill>
                  </a:tcPr>
                </a:tc>
                <a:tc>
                  <a:txBody>
                    <a:bodyPr wrap="square">
                      <a:normAutofit/>
                    </a:bodyPr>
                    <a:lstStyle/>
                    <a:p>
                      <a:pPr algn="ctr"/>
                      <a:r>
                        <a:rPr sz="1200" b="1">
                          <a:solidFill>
                            <a:srgbClr val="FFFFFF"/>
                          </a:solidFill>
                          <a:latin typeface="Helvetica Neue"/>
                          <a:ea typeface="Helvetica Neue"/>
                          <a:cs typeface="Helvetica Neue"/>
                        </a:rPr>
                        <a:t>Top-1</a:t>
                      </a:r>
                    </a:p>
                  </a:txBody>
                  <a:tcPr marL="91440" marR="91440" marT="45720" marB="45720" anchor="ctr">
                    <a:solidFill>
                      <a:srgbClr val="10253F"/>
                    </a:solidFill>
                  </a:tcPr>
                </a:tc>
                <a:tc>
                  <a:txBody>
                    <a:bodyPr wrap="square">
                      <a:normAutofit/>
                    </a:bodyPr>
                    <a:lstStyle/>
                    <a:p>
                      <a:pPr algn="ctr"/>
                      <a:r>
                        <a:rPr sz="1200" b="1">
                          <a:solidFill>
                            <a:srgbClr val="FFFFFF"/>
                          </a:solidFill>
                          <a:latin typeface="Helvetica Neue"/>
                          <a:ea typeface="Helvetica Neue"/>
                          <a:cs typeface="Helvetica Neue"/>
                        </a:rPr>
                        <a:t>Top-5</a:t>
                      </a:r>
                    </a:p>
                  </a:txBody>
                  <a:tcPr marL="91440" marR="91440" marT="45720" marB="45720" anchor="ctr">
                    <a:solidFill>
                      <a:srgbClr val="10253F"/>
                    </a:solidFill>
                  </a:tcPr>
                </a:tc>
                <a:tc>
                  <a:txBody>
                    <a:bodyPr wrap="square">
                      <a:normAutofit/>
                    </a:bodyPr>
                    <a:lstStyle/>
                    <a:p>
                      <a:pPr algn="ctr"/>
                      <a:r>
                        <a:rPr sz="1200" b="1">
                          <a:solidFill>
                            <a:srgbClr val="FFFFFF"/>
                          </a:solidFill>
                          <a:latin typeface="Helvetica Neue"/>
                          <a:ea typeface="Helvetica Neue"/>
                          <a:cs typeface="Helvetica Neue"/>
                        </a:rPr>
                        <a:t>Perplexity</a:t>
                      </a:r>
                    </a:p>
                  </a:txBody>
                  <a:tcPr marL="91440" marR="91440" marT="45720" marB="45720" anchor="ctr">
                    <a:solidFill>
                      <a:srgbClr val="10253F"/>
                    </a:solidFill>
                  </a:tcPr>
                </a:tc>
                <a:tc>
                  <a:txBody>
                    <a:bodyPr wrap="square">
                      <a:normAutofit/>
                    </a:bodyPr>
                    <a:lstStyle/>
                    <a:p>
                      <a:pPr algn="ctr"/>
                      <a:r>
                        <a:rPr sz="1200" b="1">
                          <a:solidFill>
                            <a:srgbClr val="FFFFFF"/>
                          </a:solidFill>
                          <a:latin typeface="Helvetica Neue"/>
                          <a:ea typeface="Helvetica Neue"/>
                          <a:cs typeface="Helvetica Neue"/>
                        </a:rPr>
                        <a:t>Tokens</a:t>
                      </a:r>
                    </a:p>
                  </a:txBody>
                  <a:tcPr marL="91440" marR="91440" marT="45720" marB="45720" anchor="ctr">
                    <a:solidFill>
                      <a:srgbClr val="10253F"/>
                    </a:solidFill>
                  </a:tcPr>
                </a:tc>
              </a:tr>
              <a:tr h="450850">
                <a:tc>
                  <a:txBody>
                    <a:bodyPr wrap="square">
                      <a:normAutofit/>
                    </a:bodyPr>
                    <a:lstStyle/>
                    <a:p>
                      <a:pPr algn="l"/>
                      <a:r>
                        <a:rPr sz="1200" b="1">
                          <a:solidFill>
                            <a:srgbClr val="10253F"/>
                          </a:solidFill>
                          <a:latin typeface="Helvetica Neue"/>
                          <a:ea typeface="Helvetica Neue"/>
                          <a:cs typeface="Helvetica Neue"/>
                        </a:rPr>
                        <a:t>DoLa</a:t>
                      </a:r>
                    </a:p>
                  </a:txBody>
                  <a:tcPr marL="91440" marR="91440" marT="45720" marB="45720" anchor="ctr">
                    <a:solidFill>
                      <a:srgbClr val="FFFFFF"/>
                    </a:solidFill>
                  </a:tcPr>
                </a:tc>
                <a:tc>
                  <a:txBody>
                    <a:bodyPr wrap="square">
                      <a:normAutofit/>
                    </a:bodyPr>
                    <a:lstStyle/>
                    <a:p>
                      <a:pPr algn="ctr"/>
                      <a:r>
                        <a:rPr sz="1200" b="0">
                          <a:solidFill>
                            <a:srgbClr val="536477"/>
                          </a:solidFill>
                          <a:latin typeface="Helvetica Neue"/>
                          <a:ea typeface="Helvetica Neue"/>
                          <a:cs typeface="Helvetica Neue"/>
                        </a:rPr>
                        <a:t>0.0</a:t>
                      </a:r>
                    </a:p>
                  </a:txBody>
                  <a:tcPr marL="91440" marR="91440" marT="45720" marB="45720" anchor="ctr">
                    <a:solidFill>
                      <a:srgbClr val="FFFFFF"/>
                    </a:solidFill>
                  </a:tcPr>
                </a:tc>
                <a:tc>
                  <a:txBody>
                    <a:bodyPr wrap="square">
                      <a:normAutofit/>
                    </a:bodyPr>
                    <a:lstStyle/>
                    <a:p>
                      <a:pPr algn="ctr"/>
                      <a:r>
                        <a:rPr sz="1200" b="0">
                          <a:solidFill>
                            <a:srgbClr val="536477"/>
                          </a:solidFill>
                          <a:latin typeface="Helvetica Neue"/>
                          <a:ea typeface="Helvetica Neue"/>
                          <a:cs typeface="Helvetica Neue"/>
                        </a:rPr>
                        <a:t>50.22%</a:t>
                      </a:r>
                    </a:p>
                  </a:txBody>
                  <a:tcPr marL="91440" marR="91440" marT="45720" marB="45720" anchor="ctr">
                    <a:solidFill>
                      <a:srgbClr val="FFFFFF"/>
                    </a:solidFill>
                  </a:tcPr>
                </a:tc>
                <a:tc>
                  <a:txBody>
                    <a:bodyPr wrap="square">
                      <a:normAutofit/>
                    </a:bodyPr>
                    <a:lstStyle/>
                    <a:p>
                      <a:pPr algn="ctr"/>
                      <a:r>
                        <a:rPr sz="1200" b="0">
                          <a:solidFill>
                            <a:srgbClr val="536477"/>
                          </a:solidFill>
                          <a:latin typeface="Helvetica Neue"/>
                          <a:ea typeface="Helvetica Neue"/>
                          <a:cs typeface="Helvetica Neue"/>
                        </a:rPr>
                        <a:t>72.84%</a:t>
                      </a:r>
                    </a:p>
                  </a:txBody>
                  <a:tcPr marL="91440" marR="91440" marT="45720" marB="45720" anchor="ctr">
                    <a:solidFill>
                      <a:srgbClr val="FFFFFF"/>
                    </a:solidFill>
                  </a:tcPr>
                </a:tc>
                <a:tc>
                  <a:txBody>
                    <a:bodyPr wrap="square">
                      <a:normAutofit/>
                    </a:bodyPr>
                    <a:lstStyle/>
                    <a:p>
                      <a:pPr algn="ctr"/>
                      <a:r>
                        <a:rPr sz="1200" b="0">
                          <a:solidFill>
                            <a:srgbClr val="536477"/>
                          </a:solidFill>
                          <a:latin typeface="Helvetica Neue"/>
                          <a:ea typeface="Helvetica Neue"/>
                          <a:cs typeface="Helvetica Neue"/>
                        </a:rPr>
                        <a:t>10.7034</a:t>
                      </a:r>
                    </a:p>
                  </a:txBody>
                  <a:tcPr marL="91440" marR="91440" marT="45720" marB="45720" anchor="ctr">
                    <a:solidFill>
                      <a:srgbClr val="FFFFFF"/>
                    </a:solidFill>
                  </a:tcPr>
                </a:tc>
                <a:tc>
                  <a:txBody>
                    <a:bodyPr wrap="square">
                      <a:normAutofit/>
                    </a:bodyPr>
                    <a:lstStyle/>
                    <a:p>
                      <a:pPr algn="ctr"/>
                      <a:r>
                        <a:rPr sz="1200" b="0">
                          <a:solidFill>
                            <a:srgbClr val="536477"/>
                          </a:solidFill>
                          <a:latin typeface="Helvetica Neue"/>
                          <a:ea typeface="Helvetica Neue"/>
                          <a:cs typeface="Helvetica Neue"/>
                        </a:rPr>
                        <a:t>9,431</a:t>
                      </a:r>
                    </a:p>
                  </a:txBody>
                  <a:tcPr marL="91440" marR="91440" marT="45720" marB="45720" anchor="ctr">
                    <a:solidFill>
                      <a:srgbClr val="FFFFFF"/>
                    </a:solidFill>
                  </a:tcPr>
                </a:tc>
              </a:tr>
              <a:tr h="450850">
                <a:tc>
                  <a:txBody>
                    <a:bodyPr wrap="square">
                      <a:normAutofit/>
                    </a:bodyPr>
                    <a:lstStyle/>
                    <a:p>
                      <a:pPr algn="l"/>
                      <a:r>
                        <a:rPr sz="1200" b="1">
                          <a:solidFill>
                            <a:srgbClr val="10253F"/>
                          </a:solidFill>
                          <a:latin typeface="Helvetica Neue"/>
                          <a:ea typeface="Helvetica Neue"/>
                          <a:cs typeface="Helvetica Neue"/>
                        </a:rPr>
                        <a:t>DoLa + ENN</a:t>
                      </a:r>
                    </a:p>
                  </a:txBody>
                  <a:tcPr marL="91440" marR="91440" marT="45720" marB="45720" anchor="ctr">
                    <a:solidFill>
                      <a:srgbClr val="E8F0FC"/>
                    </a:solidFill>
                  </a:tcPr>
                </a:tc>
                <a:tc>
                  <a:txBody>
                    <a:bodyPr wrap="square">
                      <a:normAutofit/>
                    </a:bodyPr>
                    <a:lstStyle/>
                    <a:p>
                      <a:pPr algn="ctr"/>
                      <a:r>
                        <a:rPr sz="1200" b="0">
                          <a:solidFill>
                            <a:srgbClr val="536477"/>
                          </a:solidFill>
                          <a:latin typeface="Helvetica Neue"/>
                          <a:ea typeface="Helvetica Neue"/>
                          <a:cs typeface="Helvetica Neue"/>
                        </a:rPr>
                        <a:t>0.2</a:t>
                      </a:r>
                    </a:p>
                  </a:txBody>
                  <a:tcPr marL="91440" marR="91440" marT="45720" marB="45720" anchor="ctr">
                    <a:solidFill>
                      <a:srgbClr val="E8F0FC"/>
                    </a:solidFill>
                  </a:tcPr>
                </a:tc>
                <a:tc>
                  <a:txBody>
                    <a:bodyPr wrap="square">
                      <a:normAutofit/>
                    </a:bodyPr>
                    <a:lstStyle/>
                    <a:p>
                      <a:pPr algn="ctr"/>
                      <a:r>
                        <a:rPr sz="1200" b="0">
                          <a:solidFill>
                            <a:srgbClr val="536477"/>
                          </a:solidFill>
                          <a:latin typeface="Helvetica Neue"/>
                          <a:ea typeface="Helvetica Neue"/>
                          <a:cs typeface="Helvetica Neue"/>
                        </a:rPr>
                        <a:t>50.31%</a:t>
                      </a:r>
                    </a:p>
                  </a:txBody>
                  <a:tcPr marL="91440" marR="91440" marT="45720" marB="45720" anchor="ctr">
                    <a:solidFill>
                      <a:srgbClr val="E8F0FC"/>
                    </a:solidFill>
                  </a:tcPr>
                </a:tc>
                <a:tc>
                  <a:txBody>
                    <a:bodyPr wrap="square">
                      <a:normAutofit/>
                    </a:bodyPr>
                    <a:lstStyle/>
                    <a:p>
                      <a:pPr algn="ctr"/>
                      <a:r>
                        <a:rPr sz="1200" b="0">
                          <a:solidFill>
                            <a:srgbClr val="536477"/>
                          </a:solidFill>
                          <a:latin typeface="Helvetica Neue"/>
                          <a:ea typeface="Helvetica Neue"/>
                          <a:cs typeface="Helvetica Neue"/>
                        </a:rPr>
                        <a:t>72.89%</a:t>
                      </a:r>
                    </a:p>
                  </a:txBody>
                  <a:tcPr marL="91440" marR="91440" marT="45720" marB="45720" anchor="ctr">
                    <a:solidFill>
                      <a:srgbClr val="E8F0FC"/>
                    </a:solidFill>
                  </a:tcPr>
                </a:tc>
                <a:tc>
                  <a:txBody>
                    <a:bodyPr wrap="square">
                      <a:normAutofit/>
                    </a:bodyPr>
                    <a:lstStyle/>
                    <a:p>
                      <a:pPr algn="ctr"/>
                      <a:r>
                        <a:rPr sz="1200" b="0">
                          <a:solidFill>
                            <a:srgbClr val="536477"/>
                          </a:solidFill>
                          <a:latin typeface="Helvetica Neue"/>
                          <a:ea typeface="Helvetica Neue"/>
                          <a:cs typeface="Helvetica Neue"/>
                        </a:rPr>
                        <a:t>10.7189</a:t>
                      </a:r>
                    </a:p>
                  </a:txBody>
                  <a:tcPr marL="91440" marR="91440" marT="45720" marB="45720" anchor="ctr">
                    <a:solidFill>
                      <a:srgbClr val="E8F0FC"/>
                    </a:solidFill>
                  </a:tcPr>
                </a:tc>
                <a:tc>
                  <a:txBody>
                    <a:bodyPr wrap="square">
                      <a:normAutofit/>
                    </a:bodyPr>
                    <a:lstStyle/>
                    <a:p>
                      <a:pPr algn="ctr"/>
                      <a:r>
                        <a:rPr sz="1200" b="0">
                          <a:solidFill>
                            <a:srgbClr val="536477"/>
                          </a:solidFill>
                          <a:latin typeface="Helvetica Neue"/>
                          <a:ea typeface="Helvetica Neue"/>
                          <a:cs typeface="Helvetica Neue"/>
                        </a:rPr>
                        <a:t>9,431</a:t>
                      </a:r>
                    </a:p>
                  </a:txBody>
                  <a:tcPr marL="91440" marR="91440" marT="45720" marB="45720" anchor="ctr">
                    <a:solidFill>
                      <a:srgbClr val="E8F0FC"/>
                    </a:solidFill>
                  </a:tcPr>
                </a:tc>
              </a:tr>
            </a:tbl>
          </a:graphicData>
        </a:graphic>
      </p:graphicFrame>
      <p:sp>
        <p:nvSpPr>
          <p:cNvPr id="10" name="">
            <a:extLst xmlns:a="http://schemas.openxmlformats.org/drawingml/2006/main">
              <a:ext uri="{FF2B5EF4-FFF2-40B4-BE49-F238E27FC236}">
                <a16:creationId xmlns:a16="http://schemas.microsoft.com/office/drawing/2014/main" id="{00C7F934-B83C-4A80-9F08-65DA8B6DFFF1}"/>
              </a:ext>
            </a:extLst>
          </p:cNvPr>
          <p:cNvSpPr>
            <a:spLocks xmlns:a="http://schemas.openxmlformats.org/drawingml/2006/main" noGrp="1"/>
          </p:cNvSpPr>
          <p:nvPr/>
        </p:nvSpPr>
        <p:spPr>
          <a:xfrm xmlns:a="http://schemas.openxmlformats.org/drawingml/2006/main">
            <a:off x="723900" y="3505200"/>
            <a:ext cx="1057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536477"/>
                </a:solidFill>
                <a:latin typeface="Helvetica Neue"/>
                <a:ea typeface="Helvetica Neue"/>
                <a:cs typeface="Helvetica Neue"/>
              </a:defRPr>
            </a:defPPr>
          </a:lstStyle>
          <a:p xmlns:a="http://schemas.openxmlformats.org/drawingml/2006/main">
            <a:pPr algn="l">
              <a:lnSpc>
                <a:spcPct val="105000"/>
              </a:lnSpc>
              <a:buNone/>
              <a:defRPr sz="1125" b="0">
                <a:solidFill>
                  <a:srgbClr val="536477"/>
                </a:solidFill>
                <a:latin typeface="Helvetica Neue"/>
                <a:ea typeface="Helvetica Neue"/>
                <a:cs typeface="Helvetica Neue"/>
              </a:defRPr>
            </a:pPr>
            <a:r>
              <a:rPr sz="1125" b="0">
                <a:solidFill>
                  <a:srgbClr val="536477"/>
                </a:solidFill>
                <a:latin typeface="Helvetica Neue"/>
                <a:ea typeface="Helvetica Neue"/>
                <a:cs typeface="Helvetica Neue"/>
              </a:rPr>
              <a:t>On this slice, ENN weight 0.2 raised top-1 by 0.09 percentage points and top-5 by 0.05 points, while perplexity rose by 0.0155. Differences are descriptive only.</a:t>
            </a:r>
          </a:p>
        </p:txBody>
      </p:sp>
      <p:sp>
        <p:nvSpPr>
          <p:cNvPr id="11" name="">
            <a:extLst xmlns:a="http://schemas.openxmlformats.org/drawingml/2006/main">
              <a:ext uri="{FF2B5EF4-FFF2-40B4-BE49-F238E27FC236}">
                <a16:creationId xmlns:a16="http://schemas.microsoft.com/office/drawing/2014/main" id="{6F9B754A-05F9-4BF5-AE09-B9925B9FAEC7}"/>
              </a:ext>
            </a:extLst>
          </p:cNvPr>
          <p:cNvSpPr>
            <a:spLocks xmlns:a="http://schemas.openxmlformats.org/drawingml/2006/main" noGrp="1"/>
          </p:cNvSpPr>
          <p:nvPr/>
        </p:nvSpPr>
        <p:spPr>
          <a:xfrm xmlns:a="http://schemas.openxmlformats.org/drawingml/2006/main" flipV="0">
            <a:off x="704850" y="4057650"/>
            <a:ext cx="10668000" cy="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12" name="">
            <a:extLst xmlns:a="http://schemas.openxmlformats.org/drawingml/2006/main">
              <a:ext uri="{FF2B5EF4-FFF2-40B4-BE49-F238E27FC236}">
                <a16:creationId xmlns:a16="http://schemas.microsoft.com/office/drawing/2014/main" id="{28673B57-92FD-4F6D-B81A-F1279ED2417F}"/>
              </a:ext>
            </a:extLst>
          </p:cNvPr>
          <p:cNvSpPr>
            <a:spLocks xmlns:a="http://schemas.openxmlformats.org/drawingml/2006/main" noGrp="1"/>
          </p:cNvSpPr>
          <p:nvPr/>
        </p:nvSpPr>
        <p:spPr>
          <a:xfrm xmlns:a="http://schemas.openxmlformats.org/drawingml/2006/main">
            <a:off x="704850" y="4210050"/>
            <a:ext cx="6667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0253F"/>
                </a:solidFill>
                <a:latin typeface="Helvetica Neue"/>
                <a:ea typeface="Helvetica Neue"/>
                <a:cs typeface="Helvetica Neue"/>
              </a:defRPr>
            </a:defPPr>
          </a:lstStyle>
          <a:p xmlns:a="http://schemas.openxmlformats.org/drawingml/2006/main">
            <a:pPr algn="l">
              <a:lnSpc>
                <a:spcPct val="105000"/>
              </a:lnSpc>
              <a:buNone/>
              <a:defRPr sz="1500" b="1">
                <a:solidFill>
                  <a:srgbClr val="10253F"/>
                </a:solidFill>
                <a:latin typeface="Helvetica Neue"/>
                <a:ea typeface="Helvetica Neue"/>
                <a:cs typeface="Helvetica Neue"/>
              </a:defRPr>
            </a:pPr>
            <a:r>
              <a:rPr sz="1500" b="1">
                <a:solidFill>
                  <a:srgbClr val="10253F"/>
                </a:solidFill>
                <a:latin typeface="Helvetica Neue"/>
                <a:ea typeface="Helvetica Neue"/>
                <a:cs typeface="Helvetica Neue"/>
              </a:rPr>
              <a:t>TruthfulQA MC1 / MC2  ·  10 questions per slice</a:t>
            </a:r>
          </a:p>
        </p:txBody>
      </p:sp>
      <p:sp>
        <p:nvSpPr>
          <p:cNvPr id="13" name="">
            <a:extLst xmlns:a="http://schemas.openxmlformats.org/drawingml/2006/main">
              <a:ext uri="{FF2B5EF4-FFF2-40B4-BE49-F238E27FC236}">
                <a16:creationId xmlns:a16="http://schemas.microsoft.com/office/drawing/2014/main" id="{E78851A4-82C7-4042-B62B-C4411C98994D}"/>
              </a:ext>
            </a:extLst>
          </p:cNvPr>
          <p:cNvSpPr>
            <a:spLocks xmlns:a="http://schemas.openxmlformats.org/drawingml/2006/main" noGrp="1"/>
          </p:cNvSpPr>
          <p:nvPr/>
        </p:nvSpPr>
        <p:spPr>
          <a:xfrm xmlns:a="http://schemas.openxmlformats.org/drawingml/2006/main">
            <a:off x="723900" y="4572000"/>
            <a:ext cx="1057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13283F"/>
                </a:solidFill>
                <a:latin typeface="Helvetica Neue"/>
                <a:ea typeface="Helvetica Neue"/>
                <a:cs typeface="Helvetica Neue"/>
              </a:defRPr>
            </a:defPPr>
          </a:lstStyle>
          <a:p xmlns:a="http://schemas.openxmlformats.org/drawingml/2006/main">
            <a:pPr algn="l">
              <a:lnSpc>
                <a:spcPct val="105000"/>
              </a:lnSpc>
              <a:buNone/>
              <a:defRPr sz="1050" b="0">
                <a:solidFill>
                  <a:srgbClr val="13283F"/>
                </a:solidFill>
                <a:latin typeface="Helvetica Neue"/>
                <a:ea typeface="Helvetica Neue"/>
                <a:cs typeface="Helvetica Neue"/>
              </a:defRPr>
            </a:pPr>
            <a:r>
              <a:rPr sz="1050" b="0">
                <a:solidFill>
                  <a:srgbClr val="13283F"/>
                </a:solidFill>
                <a:latin typeface="Helvetica Neue"/>
                <a:ea typeface="Helvetica Neue"/>
                <a:cs typeface="Helvetica Neue"/>
              </a:rPr>
              <a:t>Q0–9  |  α=1, weight=1  |  Base / DoLa / DoLa+ENN  |  MC1: 0.70 / 0.40 / 0.40  |  MC2: 0.4931 / 0.4546 / 0.4511</a:t>
            </a:r>
          </a:p>
        </p:txBody>
      </p:sp>
      <p:sp>
        <p:nvSpPr>
          <p:cNvPr id="14" name="">
            <a:extLst xmlns:a="http://schemas.openxmlformats.org/drawingml/2006/main">
              <a:ext uri="{FF2B5EF4-FFF2-40B4-BE49-F238E27FC236}">
                <a16:creationId xmlns:a16="http://schemas.microsoft.com/office/drawing/2014/main" id="{CCDC4D49-175D-455B-8994-214B219107D9}"/>
              </a:ext>
            </a:extLst>
          </p:cNvPr>
          <p:cNvSpPr>
            <a:spLocks xmlns:a="http://schemas.openxmlformats.org/drawingml/2006/main" noGrp="1"/>
          </p:cNvSpPr>
          <p:nvPr/>
        </p:nvSpPr>
        <p:spPr>
          <a:xfrm xmlns:a="http://schemas.openxmlformats.org/drawingml/2006/main">
            <a:off x="723900" y="4981575"/>
            <a:ext cx="1057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13283F"/>
                </a:solidFill>
                <a:latin typeface="Helvetica Neue"/>
                <a:ea typeface="Helvetica Neue"/>
                <a:cs typeface="Helvetica Neue"/>
              </a:defRPr>
            </a:defPPr>
          </a:lstStyle>
          <a:p xmlns:a="http://schemas.openxmlformats.org/drawingml/2006/main">
            <a:pPr algn="l">
              <a:lnSpc>
                <a:spcPct val="105000"/>
              </a:lnSpc>
              <a:buNone/>
              <a:defRPr sz="1050" b="0">
                <a:solidFill>
                  <a:srgbClr val="13283F"/>
                </a:solidFill>
                <a:latin typeface="Helvetica Neue"/>
                <a:ea typeface="Helvetica Neue"/>
                <a:cs typeface="Helvetica Neue"/>
              </a:defRPr>
            </a:pPr>
            <a:r>
              <a:rPr sz="1050" b="0">
                <a:solidFill>
                  <a:srgbClr val="13283F"/>
                </a:solidFill>
                <a:latin typeface="Helvetica Neue"/>
                <a:ea typeface="Helvetica Neue"/>
                <a:cs typeface="Helvetica Neue"/>
              </a:rPr>
              <a:t>Q10–19  |  α=0.05, weight=0  |  Base / DoLa / DoLa+ENN  |  MC1: 0.30 / 0.30 / 0.30  |  MC2: 0.4076 / 0.4066 / 0.4066</a:t>
            </a:r>
          </a:p>
        </p:txBody>
      </p:sp>
      <p:sp>
        <p:nvSpPr>
          <p:cNvPr id="15" name="">
            <a:extLst xmlns:a="http://schemas.openxmlformats.org/drawingml/2006/main">
              <a:ext uri="{FF2B5EF4-FFF2-40B4-BE49-F238E27FC236}">
                <a16:creationId xmlns:a16="http://schemas.microsoft.com/office/drawing/2014/main" id="{10D211CF-4423-4F01-BA32-3017E13E86E4}"/>
              </a:ext>
            </a:extLst>
          </p:cNvPr>
          <p:cNvSpPr>
            <a:spLocks xmlns:a="http://schemas.openxmlformats.org/drawingml/2006/main" noGrp="1"/>
          </p:cNvSpPr>
          <p:nvPr/>
        </p:nvSpPr>
        <p:spPr>
          <a:xfrm xmlns:a="http://schemas.openxmlformats.org/drawingml/2006/main">
            <a:off x="685800" y="5524500"/>
            <a:ext cx="10706100" cy="495300"/>
          </a:xfrm>
          <a:prstGeom xmlns:a="http://schemas.openxmlformats.org/drawingml/2006/main" prst="roundRect">
            <a:avLst>
              <a:gd name="adj" fmla="val 15385"/>
            </a:avLst>
          </a:prstGeom>
          <a:solidFill xmlns:a="http://schemas.openxmlformats.org/drawingml/2006/main">
            <a:srgbClr val="F5EBDD"/>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58CF9947-136A-48DD-A05F-766B6FE6CF1E}"/>
              </a:ext>
            </a:extLst>
          </p:cNvPr>
          <p:cNvSpPr>
            <a:spLocks xmlns:a="http://schemas.openxmlformats.org/drawingml/2006/main" noGrp="1"/>
          </p:cNvSpPr>
          <p:nvPr/>
        </p:nvSpPr>
        <p:spPr>
          <a:xfrm xmlns:a="http://schemas.openxmlformats.org/drawingml/2006/main">
            <a:off x="876300" y="5638800"/>
            <a:ext cx="10306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10253F"/>
                </a:solidFill>
                <a:latin typeface="Helvetica Neue"/>
                <a:ea typeface="Helvetica Neue"/>
                <a:cs typeface="Helvetica Neue"/>
              </a:defRPr>
            </a:defPPr>
          </a:lstStyle>
          <a:p xmlns:a="http://schemas.openxmlformats.org/drawingml/2006/main">
            <a:pPr algn="l">
              <a:lnSpc>
                <a:spcPct val="105000"/>
              </a:lnSpc>
              <a:buNone/>
              <a:defRPr sz="1275" b="1">
                <a:solidFill>
                  <a:srgbClr val="10253F"/>
                </a:solidFill>
                <a:latin typeface="Helvetica Neue"/>
                <a:ea typeface="Helvetica Neue"/>
                <a:cs typeface="Helvetica Neue"/>
              </a:defRPr>
            </a:pPr>
            <a:r>
              <a:rPr sz="1275" b="1">
                <a:solidFill>
                  <a:srgbClr val="10253F"/>
                </a:solidFill>
                <a:latin typeface="Helvetica Neue"/>
                <a:ea typeface="Helvetica Neue"/>
                <a:cs typeface="Helvetica Neue"/>
              </a:rPr>
              <a:t>Small, differently configured slices. No reliable overall improvement can be concluded.</a:t>
            </a:r>
          </a:p>
        </p:txBody>
      </p:sp>
    </p:spTree>
    <p:extLst>
      <p:ext uri="{BB962C8B-B14F-4D97-AF65-F5344CB8AC3E}">
        <p14:creationId xmlns:p14="http://schemas.microsoft.com/office/powerpoint/2010/main" val="1060101774"/>
      </p:ext>
    </p:extLst>
  </p:cSld>
</p:sld>
</file>

<file path=ppt/slides/slide10.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AF0C4D6A-55F3-47DC-96DE-184E39ACB3C1}"/>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B363BF8-9E2E-4697-9956-4CDA2906FC4F}"/>
              </a:ext>
            </a:extLst>
          </p:cNvPr>
          <p:cNvSpPr>
            <a:spLocks xmlns:a="http://schemas.openxmlformats.org/drawingml/2006/main" noGrp="1"/>
          </p:cNvSpPr>
          <p:nvPr/>
        </p:nvSpPr>
        <p:spPr>
          <a:xfrm xmlns:a="http://schemas.openxmlformats.org/drawingml/2006/main">
            <a:off x="552450" y="361950"/>
            <a:ext cx="1104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0253F"/>
                </a:solidFill>
                <a:latin typeface="Helvetica Neue"/>
                <a:ea typeface="Helvetica Neue"/>
                <a:cs typeface="Helvetica Neue"/>
              </a:defRPr>
            </a:defPPr>
          </a:lstStyle>
          <a:p xmlns:a="http://schemas.openxmlformats.org/drawingml/2006/main">
            <a:pPr algn="l">
              <a:lnSpc>
                <a:spcPct val="105000"/>
              </a:lnSpc>
              <a:buNone/>
              <a:defRPr sz="2550" b="1">
                <a:solidFill>
                  <a:srgbClr val="10253F"/>
                </a:solidFill>
                <a:latin typeface="Helvetica Neue"/>
                <a:ea typeface="Helvetica Neue"/>
                <a:cs typeface="Helvetica Neue"/>
              </a:defRPr>
            </a:pPr>
            <a:r>
              <a:rPr sz="2550" b="1">
                <a:solidFill>
                  <a:srgbClr val="10253F"/>
                </a:solidFill>
                <a:latin typeface="Helvetica Neue"/>
                <a:ea typeface="Helvetica Neue"/>
                <a:cs typeface="Helvetica Neue"/>
              </a:rPr>
              <a:t>Conclusion &amp; Future Work</a:t>
            </a:r>
          </a:p>
        </p:txBody>
      </p:sp>
      <p:sp>
        <p:nvSpPr>
          <p:cNvPr id="3" name="">
            <a:extLst xmlns:a="http://schemas.openxmlformats.org/drawingml/2006/main">
              <a:ext uri="{FF2B5EF4-FFF2-40B4-BE49-F238E27FC236}">
                <a16:creationId xmlns:a16="http://schemas.microsoft.com/office/drawing/2014/main" id="{6A833D7B-7EE2-4958-BFD9-1EF68BC73F9F}"/>
              </a:ext>
            </a:extLst>
          </p:cNvPr>
          <p:cNvSpPr>
            <a:spLocks xmlns:a="http://schemas.openxmlformats.org/drawingml/2006/main" noGrp="1"/>
          </p:cNvSpPr>
          <p:nvPr/>
        </p:nvSpPr>
        <p:spPr>
          <a:xfrm xmlns:a="http://schemas.openxmlformats.org/drawingml/2006/main">
            <a:off x="571500" y="876300"/>
            <a:ext cx="10953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36477"/>
                </a:solidFill>
                <a:latin typeface="Helvetica Neue"/>
                <a:ea typeface="Helvetica Neue"/>
                <a:cs typeface="Helvetica Neue"/>
              </a:defRPr>
            </a:defPPr>
          </a:lstStyle>
          <a:p xmlns:a="http://schemas.openxmlformats.org/drawingml/2006/main">
            <a:pPr algn="l">
              <a:lnSpc>
                <a:spcPct val="105000"/>
              </a:lnSpc>
              <a:buNone/>
              <a:defRPr sz="1275" b="0">
                <a:solidFill>
                  <a:srgbClr val="536477"/>
                </a:solidFill>
                <a:latin typeface="Helvetica Neue"/>
                <a:ea typeface="Helvetica Neue"/>
                <a:cs typeface="Helvetica Neue"/>
              </a:defRPr>
            </a:pPr>
            <a:r>
              <a:rPr sz="1275" b="0">
                <a:solidFill>
                  <a:srgbClr val="536477"/>
                </a:solidFill>
                <a:latin typeface="Helvetica Neue"/>
                <a:ea typeface="Helvetica Neue"/>
                <a:cs typeface="Helvetica Neue"/>
              </a:rPr>
              <a:t>The current contribution is an implementable comparison pipeline; empirical conclusions require the next evaluation run.</a:t>
            </a:r>
          </a:p>
        </p:txBody>
      </p:sp>
      <p:sp>
        <p:nvSpPr>
          <p:cNvPr id="4" name="">
            <a:extLst xmlns:a="http://schemas.openxmlformats.org/drawingml/2006/main">
              <a:ext uri="{FF2B5EF4-FFF2-40B4-BE49-F238E27FC236}">
                <a16:creationId xmlns:a16="http://schemas.microsoft.com/office/drawing/2014/main" id="{BF1AAA1F-8ADF-4EA9-93DE-656AD3E59546}"/>
              </a:ext>
            </a:extLst>
          </p:cNvPr>
          <p:cNvSpPr>
            <a:spLocks xmlns:a="http://schemas.openxmlformats.org/drawingml/2006/main" noGrp="1"/>
          </p:cNvSpPr>
          <p:nvPr/>
        </p:nvSpPr>
        <p:spPr>
          <a:xfrm xmlns:a="http://schemas.openxmlformats.org/drawingml/2006/main" flipV="0">
            <a:off x="571500" y="6438900"/>
            <a:ext cx="11049000" cy="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5" name="">
            <a:extLst xmlns:a="http://schemas.openxmlformats.org/drawingml/2006/main">
              <a:ext uri="{FF2B5EF4-FFF2-40B4-BE49-F238E27FC236}">
                <a16:creationId xmlns:a16="http://schemas.microsoft.com/office/drawing/2014/main" id="{752DB771-3ADE-46FA-9373-28ADA3D21162}"/>
              </a:ext>
            </a:extLst>
          </p:cNvPr>
          <p:cNvSpPr>
            <a:spLocks xmlns:a="http://schemas.openxmlformats.org/drawingml/2006/main" noGrp="1"/>
          </p:cNvSpPr>
          <p:nvPr/>
        </p:nvSpPr>
        <p:spPr>
          <a:xfrm xmlns:a="http://schemas.openxmlformats.org/drawingml/2006/main">
            <a:off x="571500" y="6534150"/>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536477"/>
                </a:solidFill>
                <a:latin typeface="Helvetica Neue"/>
                <a:ea typeface="Helvetica Neue"/>
                <a:cs typeface="Helvetica Neue"/>
              </a:defRPr>
            </a:defPPr>
          </a:lstStyle>
          <a:p xmlns:a="http://schemas.openxmlformats.org/drawingml/2006/main">
            <a:pPr algn="l">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VIT-AP UNIVERSITY  /  SCOPE</a:t>
            </a:r>
          </a:p>
        </p:txBody>
      </p:sp>
      <p:sp>
        <p:nvSpPr>
          <p:cNvPr id="6" name="">
            <a:extLst xmlns:a="http://schemas.openxmlformats.org/drawingml/2006/main">
              <a:ext uri="{FF2B5EF4-FFF2-40B4-BE49-F238E27FC236}">
                <a16:creationId xmlns:a16="http://schemas.microsoft.com/office/drawing/2014/main" id="{11CE3895-3D5A-43C6-B65A-0D0CEA11847F}"/>
              </a:ext>
            </a:extLst>
          </p:cNvPr>
          <p:cNvSpPr>
            <a:spLocks xmlns:a="http://schemas.openxmlformats.org/drawingml/2006/main" noGrp="1"/>
          </p:cNvSpPr>
          <p:nvPr/>
        </p:nvSpPr>
        <p:spPr>
          <a:xfrm xmlns:a="http://schemas.openxmlformats.org/drawingml/2006/main">
            <a:off x="11087100" y="65151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a:solidFill>
                  <a:srgbClr val="536477"/>
                </a:solidFill>
                <a:latin typeface="Helvetica Neue"/>
                <a:ea typeface="Helvetica Neue"/>
                <a:cs typeface="Helvetica Neue"/>
              </a:defRPr>
            </a:defPPr>
          </a:lstStyle>
          <a:p xmlns:a="http://schemas.openxmlformats.org/drawingml/2006/main">
            <a:pPr algn="r">
              <a:lnSpc>
                <a:spcPct val="105000"/>
              </a:lnSpc>
              <a:buNone/>
              <a:defRPr sz="975" b="1">
                <a:solidFill>
                  <a:srgbClr val="536477"/>
                </a:solidFill>
                <a:latin typeface="Helvetica Neue"/>
                <a:ea typeface="Helvetica Neue"/>
                <a:cs typeface="Helvetica Neue"/>
              </a:defRPr>
            </a:pPr>
            <a:r>
              <a:rPr sz="975" b="1">
                <a:solidFill>
                  <a:srgbClr val="536477"/>
                </a:solidFill>
                <a:latin typeface="Helvetica Neue"/>
                <a:ea typeface="Helvetica Neue"/>
                <a:cs typeface="Helvetica Neue"/>
              </a:rPr>
              <a:t>10</a:t>
            </a:r>
          </a:p>
        </p:txBody>
      </p:sp>
      <p:sp>
        <p:nvSpPr>
          <p:cNvPr id="7" name="">
            <a:extLst xmlns:a="http://schemas.openxmlformats.org/drawingml/2006/main">
              <a:ext uri="{FF2B5EF4-FFF2-40B4-BE49-F238E27FC236}">
                <a16:creationId xmlns:a16="http://schemas.microsoft.com/office/drawing/2014/main" id="{89E5DD40-4399-480D-AEEF-FDE4E257AB10}"/>
              </a:ext>
            </a:extLst>
          </p:cNvPr>
          <p:cNvSpPr>
            <a:spLocks xmlns:a="http://schemas.openxmlformats.org/drawingml/2006/main" noGrp="1"/>
          </p:cNvSpPr>
          <p:nvPr/>
        </p:nvSpPr>
        <p:spPr>
          <a:xfrm xmlns:a="http://schemas.openxmlformats.org/drawingml/2006/main">
            <a:off x="685800" y="1466850"/>
            <a:ext cx="209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864C5"/>
                </a:solidFill>
                <a:latin typeface="Helvetica Neue"/>
                <a:ea typeface="Helvetica Neue"/>
                <a:cs typeface="Helvetica Neue"/>
              </a:defRPr>
            </a:defPPr>
          </a:lstStyle>
          <a:p xmlns:a="http://schemas.openxmlformats.org/drawingml/2006/main">
            <a:pPr algn="l">
              <a:lnSpc>
                <a:spcPct val="105000"/>
              </a:lnSpc>
              <a:buNone/>
              <a:defRPr sz="975" b="1">
                <a:solidFill>
                  <a:srgbClr val="2864C5"/>
                </a:solidFill>
                <a:latin typeface="Helvetica Neue"/>
                <a:ea typeface="Helvetica Neue"/>
                <a:cs typeface="Helvetica Neue"/>
              </a:defRPr>
            </a:pPr>
            <a:r>
              <a:rPr sz="975" b="1">
                <a:solidFill>
                  <a:srgbClr val="2864C5"/>
                </a:solidFill>
                <a:latin typeface="Helvetica Neue"/>
                <a:ea typeface="Helvetica Neue"/>
                <a:cs typeface="Helvetica Neue"/>
              </a:rPr>
              <a:t>CONCLUSION</a:t>
            </a:r>
          </a:p>
        </p:txBody>
      </p:sp>
      <p:sp>
        <p:nvSpPr>
          <p:cNvPr id="8" name="">
            <a:extLst xmlns:a="http://schemas.openxmlformats.org/drawingml/2006/main">
              <a:ext uri="{FF2B5EF4-FFF2-40B4-BE49-F238E27FC236}">
                <a16:creationId xmlns:a16="http://schemas.microsoft.com/office/drawing/2014/main" id="{6B0C7006-96C6-4B48-A003-6F3166D5F55C}"/>
              </a:ext>
            </a:extLst>
          </p:cNvPr>
          <p:cNvSpPr>
            <a:spLocks xmlns:a="http://schemas.openxmlformats.org/drawingml/2006/main" noGrp="1"/>
          </p:cNvSpPr>
          <p:nvPr/>
        </p:nvSpPr>
        <p:spPr>
          <a:xfrm xmlns:a="http://schemas.openxmlformats.org/drawingml/2006/main">
            <a:off x="685800" y="1790700"/>
            <a:ext cx="48577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10253F"/>
                </a:solidFill>
                <a:latin typeface="Helvetica Neue"/>
                <a:ea typeface="Helvetica Neue"/>
                <a:cs typeface="Helvetica Neue"/>
              </a:defRPr>
            </a:defPPr>
          </a:lstStyle>
          <a:p xmlns:a="http://schemas.openxmlformats.org/drawingml/2006/main">
            <a:pPr algn="l">
              <a:lnSpc>
                <a:spcPct val="105000"/>
              </a:lnSpc>
              <a:buNone/>
              <a:defRPr sz="1725" b="1">
                <a:solidFill>
                  <a:srgbClr val="10253F"/>
                </a:solidFill>
                <a:latin typeface="Helvetica Neue"/>
                <a:ea typeface="Helvetica Neue"/>
                <a:cs typeface="Helvetica Neue"/>
              </a:defRPr>
            </a:pPr>
            <a:r>
              <a:rPr sz="1725" b="1">
                <a:solidFill>
                  <a:srgbClr val="10253F"/>
                </a:solidFill>
                <a:latin typeface="Helvetica Neue"/>
                <a:ea typeface="Helvetica Neue"/>
                <a:cs typeface="Helvetica Neue"/>
              </a:rPr>
              <a:t>The system combines TinyLlama, dynamic DoLa layer contrast, an Epinet trained on C4 next-token features, and answer-level voting.</a:t>
            </a:r>
          </a:p>
        </p:txBody>
      </p:sp>
      <p:sp>
        <p:nvSpPr>
          <p:cNvPr id="9" name="">
            <a:extLst xmlns:a="http://schemas.openxmlformats.org/drawingml/2006/main">
              <a:ext uri="{FF2B5EF4-FFF2-40B4-BE49-F238E27FC236}">
                <a16:creationId xmlns:a16="http://schemas.microsoft.com/office/drawing/2014/main" id="{3826E31A-69A4-46C8-AE83-52F703D2A577}"/>
              </a:ext>
            </a:extLst>
          </p:cNvPr>
          <p:cNvSpPr>
            <a:spLocks xmlns:a="http://schemas.openxmlformats.org/drawingml/2006/main" noGrp="1"/>
          </p:cNvSpPr>
          <p:nvPr/>
        </p:nvSpPr>
        <p:spPr>
          <a:xfrm xmlns:a="http://schemas.openxmlformats.org/drawingml/2006/main">
            <a:off x="685800" y="3028950"/>
            <a:ext cx="48577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36477"/>
                </a:solidFill>
                <a:latin typeface="Helvetica Neue"/>
                <a:ea typeface="Helvetica Neue"/>
                <a:cs typeface="Helvetica Neue"/>
              </a:defRPr>
            </a:defPPr>
          </a:lstStyle>
          <a:p xmlns:a="http://schemas.openxmlformats.org/drawingml/2006/main">
            <a:pPr algn="l">
              <a:lnSpc>
                <a:spcPct val="105000"/>
              </a:lnSpc>
              <a:buNone/>
              <a:defRPr sz="1275" b="0">
                <a:solidFill>
                  <a:srgbClr val="536477"/>
                </a:solidFill>
                <a:latin typeface="Helvetica Neue"/>
                <a:ea typeface="Helvetica Neue"/>
                <a:cs typeface="Helvetica Neue"/>
              </a:defRPr>
            </a:pPr>
            <a:r>
              <a:rPr sz="1275" b="0">
                <a:solidFill>
                  <a:srgbClr val="536477"/>
                </a:solidFill>
                <a:latin typeface="Helvetica Neue"/>
                <a:ea typeface="Helvetica Neue"/>
                <a:cs typeface="Helvetica Neue"/>
              </a:rPr>
              <a:t>Recorded C4 and TruthfulQA evaluations show mixed results. The small slices do not establish a general factuality or reliability gain.</a:t>
            </a:r>
          </a:p>
        </p:txBody>
      </p:sp>
      <p:sp>
        <p:nvSpPr>
          <p:cNvPr id="10" name="">
            <a:extLst xmlns:a="http://schemas.openxmlformats.org/drawingml/2006/main">
              <a:ext uri="{FF2B5EF4-FFF2-40B4-BE49-F238E27FC236}">
                <a16:creationId xmlns:a16="http://schemas.microsoft.com/office/drawing/2014/main" id="{31D679AB-CFD6-42E6-B3DF-C0B6166D93DF}"/>
              </a:ext>
            </a:extLst>
          </p:cNvPr>
          <p:cNvSpPr>
            <a:spLocks xmlns:a="http://schemas.openxmlformats.org/drawingml/2006/main" noGrp="1"/>
          </p:cNvSpPr>
          <p:nvPr/>
        </p:nvSpPr>
        <p:spPr>
          <a:xfrm xmlns:a="http://schemas.openxmlformats.org/drawingml/2006/main" flipV="0">
            <a:off x="6000750" y="1466850"/>
            <a:ext cx="0" cy="342900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11" name="">
            <a:extLst xmlns:a="http://schemas.openxmlformats.org/drawingml/2006/main">
              <a:ext uri="{FF2B5EF4-FFF2-40B4-BE49-F238E27FC236}">
                <a16:creationId xmlns:a16="http://schemas.microsoft.com/office/drawing/2014/main" id="{8D281161-433C-434F-A0A0-1FA2E55A1D3D}"/>
              </a:ext>
            </a:extLst>
          </p:cNvPr>
          <p:cNvSpPr>
            <a:spLocks xmlns:a="http://schemas.openxmlformats.org/drawingml/2006/main" noGrp="1"/>
          </p:cNvSpPr>
          <p:nvPr/>
        </p:nvSpPr>
        <p:spPr>
          <a:xfrm xmlns:a="http://schemas.openxmlformats.org/drawingml/2006/main">
            <a:off x="6457950" y="1466850"/>
            <a:ext cx="2286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148A8A"/>
                </a:solidFill>
                <a:latin typeface="Helvetica Neue"/>
                <a:ea typeface="Helvetica Neue"/>
                <a:cs typeface="Helvetica Neue"/>
              </a:defRPr>
            </a:defPPr>
          </a:lstStyle>
          <a:p xmlns:a="http://schemas.openxmlformats.org/drawingml/2006/main">
            <a:pPr algn="l">
              <a:lnSpc>
                <a:spcPct val="105000"/>
              </a:lnSpc>
              <a:buNone/>
              <a:defRPr sz="975" b="1">
                <a:solidFill>
                  <a:srgbClr val="148A8A"/>
                </a:solidFill>
                <a:latin typeface="Helvetica Neue"/>
                <a:ea typeface="Helvetica Neue"/>
                <a:cs typeface="Helvetica Neue"/>
              </a:defRPr>
            </a:pPr>
            <a:r>
              <a:rPr sz="975" b="1">
                <a:solidFill>
                  <a:srgbClr val="148A8A"/>
                </a:solidFill>
                <a:latin typeface="Helvetica Neue"/>
                <a:ea typeface="Helvetica Neue"/>
                <a:cs typeface="Helvetica Neue"/>
              </a:rPr>
              <a:t>FUTURE WORK</a:t>
            </a:r>
          </a:p>
        </p:txBody>
      </p:sp>
      <p:sp>
        <p:nvSpPr>
          <p:cNvPr id="12" name="">
            <a:extLst xmlns:a="http://schemas.openxmlformats.org/drawingml/2006/main">
              <a:ext uri="{FF2B5EF4-FFF2-40B4-BE49-F238E27FC236}">
                <a16:creationId xmlns:a16="http://schemas.microsoft.com/office/drawing/2014/main" id="{60841A7B-3EBB-4F26-86F1-339BCB39C9DE}"/>
              </a:ext>
            </a:extLst>
          </p:cNvPr>
          <p:cNvSpPr>
            <a:spLocks xmlns:a="http://schemas.openxmlformats.org/drawingml/2006/main" noGrp="1"/>
          </p:cNvSpPr>
          <p:nvPr/>
        </p:nvSpPr>
        <p:spPr>
          <a:xfrm xmlns:a="http://schemas.openxmlformats.org/drawingml/2006/main">
            <a:off x="6477000" y="1857375"/>
            <a:ext cx="247650" cy="247650"/>
          </a:xfrm>
          <a:prstGeom xmlns:a="http://schemas.openxmlformats.org/drawingml/2006/main" prst="ellipse">
            <a:avLst/>
          </a:prstGeom>
          <a:solidFill xmlns:a="http://schemas.openxmlformats.org/drawingml/2006/main">
            <a:srgbClr val="DDF3F1"/>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405D6F2C-9DB9-41D9-BF67-CF4126E112B3}"/>
              </a:ext>
            </a:extLst>
          </p:cNvPr>
          <p:cNvSpPr>
            <a:spLocks xmlns:a="http://schemas.openxmlformats.org/drawingml/2006/main" noGrp="1"/>
          </p:cNvSpPr>
          <p:nvPr/>
        </p:nvSpPr>
        <p:spPr>
          <a:xfrm xmlns:a="http://schemas.openxmlformats.org/drawingml/2006/main">
            <a:off x="6477000" y="1905000"/>
            <a:ext cx="2476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00" b="1">
                <a:solidFill>
                  <a:srgbClr val="148A8A"/>
                </a:solidFill>
                <a:latin typeface="Helvetica Neue"/>
                <a:ea typeface="Helvetica Neue"/>
                <a:cs typeface="Helvetica Neue"/>
              </a:defRPr>
            </a:defPPr>
          </a:lstStyle>
          <a:p xmlns:a="http://schemas.openxmlformats.org/drawingml/2006/main">
            <a:pPr algn="ctr">
              <a:lnSpc>
                <a:spcPct val="105000"/>
              </a:lnSpc>
              <a:buNone/>
              <a:defRPr sz="900" b="1">
                <a:solidFill>
                  <a:srgbClr val="148A8A"/>
                </a:solidFill>
                <a:latin typeface="Helvetica Neue"/>
                <a:ea typeface="Helvetica Neue"/>
                <a:cs typeface="Helvetica Neue"/>
              </a:defRPr>
            </a:pPr>
            <a:r>
              <a:rPr sz="900" b="1">
                <a:solidFill>
                  <a:srgbClr val="148A8A"/>
                </a:solidFill>
                <a:latin typeface="Helvetica Neue"/>
                <a:ea typeface="Helvetica Neue"/>
                <a:cs typeface="Helvetica Neue"/>
              </a:rPr>
              <a:t>1</a:t>
            </a:r>
          </a:p>
        </p:txBody>
      </p:sp>
      <p:sp>
        <p:nvSpPr>
          <p:cNvPr id="14" name="">
            <a:extLst xmlns:a="http://schemas.openxmlformats.org/drawingml/2006/main">
              <a:ext uri="{FF2B5EF4-FFF2-40B4-BE49-F238E27FC236}">
                <a16:creationId xmlns:a16="http://schemas.microsoft.com/office/drawing/2014/main" id="{C05D8B27-B706-45FE-9BC8-2B1FF4A853C9}"/>
              </a:ext>
            </a:extLst>
          </p:cNvPr>
          <p:cNvSpPr>
            <a:spLocks xmlns:a="http://schemas.openxmlformats.org/drawingml/2006/main" noGrp="1"/>
          </p:cNvSpPr>
          <p:nvPr/>
        </p:nvSpPr>
        <p:spPr>
          <a:xfrm xmlns:a="http://schemas.openxmlformats.org/drawingml/2006/main">
            <a:off x="6896100" y="1847850"/>
            <a:ext cx="4362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13283F"/>
                </a:solidFill>
                <a:latin typeface="Helvetica Neue"/>
                <a:ea typeface="Helvetica Neue"/>
                <a:cs typeface="Helvetica Neue"/>
              </a:defRPr>
            </a:defPPr>
          </a:lstStyle>
          <a:p xmlns:a="http://schemas.openxmlformats.org/drawingml/2006/main">
            <a:pPr algn="l">
              <a:lnSpc>
                <a:spcPct val="105000"/>
              </a:lnSpc>
              <a:buNone/>
              <a:defRPr sz="1275" b="0">
                <a:solidFill>
                  <a:srgbClr val="13283F"/>
                </a:solidFill>
                <a:latin typeface="Helvetica Neue"/>
                <a:ea typeface="Helvetica Neue"/>
                <a:cs typeface="Helvetica Neue"/>
              </a:defRPr>
            </a:pPr>
            <a:r>
              <a:rPr sz="1275" b="0">
                <a:solidFill>
                  <a:srgbClr val="13283F"/>
                </a:solidFill>
                <a:latin typeface="Helvetica Neue"/>
                <a:ea typeface="Helvetica Neue"/>
                <a:cs typeface="Helvetica Neue"/>
              </a:rPr>
              <a:t>Train and archive the active PyTorch ENN checkpoint</a:t>
            </a:r>
          </a:p>
        </p:txBody>
      </p:sp>
      <p:sp>
        <p:nvSpPr>
          <p:cNvPr id="15" name="">
            <a:extLst xmlns:a="http://schemas.openxmlformats.org/drawingml/2006/main">
              <a:ext uri="{FF2B5EF4-FFF2-40B4-BE49-F238E27FC236}">
                <a16:creationId xmlns:a16="http://schemas.microsoft.com/office/drawing/2014/main" id="{0ACB97E6-D2FF-4FD2-91CA-96763194D8AA}"/>
              </a:ext>
            </a:extLst>
          </p:cNvPr>
          <p:cNvSpPr>
            <a:spLocks xmlns:a="http://schemas.openxmlformats.org/drawingml/2006/main" noGrp="1"/>
          </p:cNvSpPr>
          <p:nvPr/>
        </p:nvSpPr>
        <p:spPr>
          <a:xfrm xmlns:a="http://schemas.openxmlformats.org/drawingml/2006/main">
            <a:off x="6477000" y="2524125"/>
            <a:ext cx="247650" cy="247650"/>
          </a:xfrm>
          <a:prstGeom xmlns:a="http://schemas.openxmlformats.org/drawingml/2006/main" prst="ellipse">
            <a:avLst/>
          </a:prstGeom>
          <a:solidFill xmlns:a="http://schemas.openxmlformats.org/drawingml/2006/main">
            <a:srgbClr val="DDF3F1"/>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BE543DE2-8427-4865-9BCD-2B8D1CF41511}"/>
              </a:ext>
            </a:extLst>
          </p:cNvPr>
          <p:cNvSpPr>
            <a:spLocks xmlns:a="http://schemas.openxmlformats.org/drawingml/2006/main" noGrp="1"/>
          </p:cNvSpPr>
          <p:nvPr/>
        </p:nvSpPr>
        <p:spPr>
          <a:xfrm xmlns:a="http://schemas.openxmlformats.org/drawingml/2006/main">
            <a:off x="6477000" y="2571750"/>
            <a:ext cx="2476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00" b="1">
                <a:solidFill>
                  <a:srgbClr val="148A8A"/>
                </a:solidFill>
                <a:latin typeface="Helvetica Neue"/>
                <a:ea typeface="Helvetica Neue"/>
                <a:cs typeface="Helvetica Neue"/>
              </a:defRPr>
            </a:defPPr>
          </a:lstStyle>
          <a:p xmlns:a="http://schemas.openxmlformats.org/drawingml/2006/main">
            <a:pPr algn="ctr">
              <a:lnSpc>
                <a:spcPct val="105000"/>
              </a:lnSpc>
              <a:buNone/>
              <a:defRPr sz="900" b="1">
                <a:solidFill>
                  <a:srgbClr val="148A8A"/>
                </a:solidFill>
                <a:latin typeface="Helvetica Neue"/>
                <a:ea typeface="Helvetica Neue"/>
                <a:cs typeface="Helvetica Neue"/>
              </a:defRPr>
            </a:pPr>
            <a:r>
              <a:rPr sz="900" b="1">
                <a:solidFill>
                  <a:srgbClr val="148A8A"/>
                </a:solidFill>
                <a:latin typeface="Helvetica Neue"/>
                <a:ea typeface="Helvetica Neue"/>
                <a:cs typeface="Helvetica Neue"/>
              </a:rPr>
              <a:t>2</a:t>
            </a:r>
          </a:p>
        </p:txBody>
      </p:sp>
      <p:sp>
        <p:nvSpPr>
          <p:cNvPr id="17" name="">
            <a:extLst xmlns:a="http://schemas.openxmlformats.org/drawingml/2006/main">
              <a:ext uri="{FF2B5EF4-FFF2-40B4-BE49-F238E27FC236}">
                <a16:creationId xmlns:a16="http://schemas.microsoft.com/office/drawing/2014/main" id="{73663620-6FC1-4E97-BAFA-AB2BDC87855C}"/>
              </a:ext>
            </a:extLst>
          </p:cNvPr>
          <p:cNvSpPr>
            <a:spLocks xmlns:a="http://schemas.openxmlformats.org/drawingml/2006/main" noGrp="1"/>
          </p:cNvSpPr>
          <p:nvPr/>
        </p:nvSpPr>
        <p:spPr>
          <a:xfrm xmlns:a="http://schemas.openxmlformats.org/drawingml/2006/main">
            <a:off x="6896100" y="2514600"/>
            <a:ext cx="4362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13283F"/>
                </a:solidFill>
                <a:latin typeface="Helvetica Neue"/>
                <a:ea typeface="Helvetica Neue"/>
                <a:cs typeface="Helvetica Neue"/>
              </a:defRPr>
            </a:defPPr>
          </a:lstStyle>
          <a:p xmlns:a="http://schemas.openxmlformats.org/drawingml/2006/main">
            <a:pPr algn="l">
              <a:lnSpc>
                <a:spcPct val="105000"/>
              </a:lnSpc>
              <a:buNone/>
              <a:defRPr sz="1275" b="0">
                <a:solidFill>
                  <a:srgbClr val="13283F"/>
                </a:solidFill>
                <a:latin typeface="Helvetica Neue"/>
                <a:ea typeface="Helvetica Neue"/>
                <a:cs typeface="Helvetica Neue"/>
              </a:defRPr>
            </a:pPr>
            <a:r>
              <a:rPr sz="1275" b="0">
                <a:solidFill>
                  <a:srgbClr val="13283F"/>
                </a:solidFill>
                <a:latin typeface="Helvetica Neue"/>
                <a:ea typeface="Helvetica Neue"/>
                <a:cs typeface="Helvetica Neue"/>
              </a:rPr>
              <a:t>Run held-out TruthfulQA and larger QA evaluations</a:t>
            </a:r>
          </a:p>
        </p:txBody>
      </p:sp>
      <p:sp>
        <p:nvSpPr>
          <p:cNvPr id="18" name="">
            <a:extLst xmlns:a="http://schemas.openxmlformats.org/drawingml/2006/main">
              <a:ext uri="{FF2B5EF4-FFF2-40B4-BE49-F238E27FC236}">
                <a16:creationId xmlns:a16="http://schemas.microsoft.com/office/drawing/2014/main" id="{EF063CA8-24F0-4E7F-A5E2-BE8D96E34915}"/>
              </a:ext>
            </a:extLst>
          </p:cNvPr>
          <p:cNvSpPr>
            <a:spLocks xmlns:a="http://schemas.openxmlformats.org/drawingml/2006/main" noGrp="1"/>
          </p:cNvSpPr>
          <p:nvPr/>
        </p:nvSpPr>
        <p:spPr>
          <a:xfrm xmlns:a="http://schemas.openxmlformats.org/drawingml/2006/main">
            <a:off x="6477000" y="3190875"/>
            <a:ext cx="247650" cy="247650"/>
          </a:xfrm>
          <a:prstGeom xmlns:a="http://schemas.openxmlformats.org/drawingml/2006/main" prst="ellipse">
            <a:avLst/>
          </a:prstGeom>
          <a:solidFill xmlns:a="http://schemas.openxmlformats.org/drawingml/2006/main">
            <a:srgbClr val="DDF3F1"/>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43CA00D2-82C1-4027-AB1E-925F9F5C2DB2}"/>
              </a:ext>
            </a:extLst>
          </p:cNvPr>
          <p:cNvSpPr>
            <a:spLocks xmlns:a="http://schemas.openxmlformats.org/drawingml/2006/main" noGrp="1"/>
          </p:cNvSpPr>
          <p:nvPr/>
        </p:nvSpPr>
        <p:spPr>
          <a:xfrm xmlns:a="http://schemas.openxmlformats.org/drawingml/2006/main">
            <a:off x="6477000" y="3238500"/>
            <a:ext cx="2476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00" b="1">
                <a:solidFill>
                  <a:srgbClr val="148A8A"/>
                </a:solidFill>
                <a:latin typeface="Helvetica Neue"/>
                <a:ea typeface="Helvetica Neue"/>
                <a:cs typeface="Helvetica Neue"/>
              </a:defRPr>
            </a:defPPr>
          </a:lstStyle>
          <a:p xmlns:a="http://schemas.openxmlformats.org/drawingml/2006/main">
            <a:pPr algn="ctr">
              <a:lnSpc>
                <a:spcPct val="105000"/>
              </a:lnSpc>
              <a:buNone/>
              <a:defRPr sz="900" b="1">
                <a:solidFill>
                  <a:srgbClr val="148A8A"/>
                </a:solidFill>
                <a:latin typeface="Helvetica Neue"/>
                <a:ea typeface="Helvetica Neue"/>
                <a:cs typeface="Helvetica Neue"/>
              </a:defRPr>
            </a:pPr>
            <a:r>
              <a:rPr sz="900" b="1">
                <a:solidFill>
                  <a:srgbClr val="148A8A"/>
                </a:solidFill>
                <a:latin typeface="Helvetica Neue"/>
                <a:ea typeface="Helvetica Neue"/>
                <a:cs typeface="Helvetica Neue"/>
              </a:rPr>
              <a:t>3</a:t>
            </a:r>
          </a:p>
        </p:txBody>
      </p:sp>
      <p:sp>
        <p:nvSpPr>
          <p:cNvPr id="20" name="">
            <a:extLst xmlns:a="http://schemas.openxmlformats.org/drawingml/2006/main">
              <a:ext uri="{FF2B5EF4-FFF2-40B4-BE49-F238E27FC236}">
                <a16:creationId xmlns:a16="http://schemas.microsoft.com/office/drawing/2014/main" id="{70C62D7C-AA86-40DE-B3FA-D677D5B37F36}"/>
              </a:ext>
            </a:extLst>
          </p:cNvPr>
          <p:cNvSpPr>
            <a:spLocks xmlns:a="http://schemas.openxmlformats.org/drawingml/2006/main" noGrp="1"/>
          </p:cNvSpPr>
          <p:nvPr/>
        </p:nvSpPr>
        <p:spPr>
          <a:xfrm xmlns:a="http://schemas.openxmlformats.org/drawingml/2006/main">
            <a:off x="6896100" y="3181350"/>
            <a:ext cx="4362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13283F"/>
                </a:solidFill>
                <a:latin typeface="Helvetica Neue"/>
                <a:ea typeface="Helvetica Neue"/>
                <a:cs typeface="Helvetica Neue"/>
              </a:defRPr>
            </a:defPPr>
          </a:lstStyle>
          <a:p xmlns:a="http://schemas.openxmlformats.org/drawingml/2006/main">
            <a:pPr algn="l">
              <a:lnSpc>
                <a:spcPct val="105000"/>
              </a:lnSpc>
              <a:buNone/>
              <a:defRPr sz="1275" b="0">
                <a:solidFill>
                  <a:srgbClr val="13283F"/>
                </a:solidFill>
                <a:latin typeface="Helvetica Neue"/>
                <a:ea typeface="Helvetica Neue"/>
                <a:cs typeface="Helvetica Neue"/>
              </a:defRPr>
            </a:pPr>
            <a:r>
              <a:rPr sz="1275" b="0">
                <a:solidFill>
                  <a:srgbClr val="13283F"/>
                </a:solidFill>
                <a:latin typeface="Helvetica Neue"/>
                <a:ea typeface="Helvetica Neue"/>
                <a:cs typeface="Helvetica Neue"/>
              </a:rPr>
              <a:t>Report repeated seeds, calibration, and risk–coverage</a:t>
            </a:r>
          </a:p>
        </p:txBody>
      </p:sp>
      <p:sp>
        <p:nvSpPr>
          <p:cNvPr id="21" name="">
            <a:extLst xmlns:a="http://schemas.openxmlformats.org/drawingml/2006/main">
              <a:ext uri="{FF2B5EF4-FFF2-40B4-BE49-F238E27FC236}">
                <a16:creationId xmlns:a16="http://schemas.microsoft.com/office/drawing/2014/main" id="{6378D956-E77F-4B6B-B1CD-69F4F8C5A2A5}"/>
              </a:ext>
            </a:extLst>
          </p:cNvPr>
          <p:cNvSpPr>
            <a:spLocks xmlns:a="http://schemas.openxmlformats.org/drawingml/2006/main" noGrp="1"/>
          </p:cNvSpPr>
          <p:nvPr/>
        </p:nvSpPr>
        <p:spPr>
          <a:xfrm xmlns:a="http://schemas.openxmlformats.org/drawingml/2006/main">
            <a:off x="6477000" y="3857625"/>
            <a:ext cx="247650" cy="247650"/>
          </a:xfrm>
          <a:prstGeom xmlns:a="http://schemas.openxmlformats.org/drawingml/2006/main" prst="ellipse">
            <a:avLst/>
          </a:prstGeom>
          <a:solidFill xmlns:a="http://schemas.openxmlformats.org/drawingml/2006/main">
            <a:srgbClr val="DDF3F1"/>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06A17A5A-DD2A-4F3E-A431-0C6098C3054F}"/>
              </a:ext>
            </a:extLst>
          </p:cNvPr>
          <p:cNvSpPr>
            <a:spLocks xmlns:a="http://schemas.openxmlformats.org/drawingml/2006/main" noGrp="1"/>
          </p:cNvSpPr>
          <p:nvPr/>
        </p:nvSpPr>
        <p:spPr>
          <a:xfrm xmlns:a="http://schemas.openxmlformats.org/drawingml/2006/main">
            <a:off x="6477000" y="3905250"/>
            <a:ext cx="2476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00" b="1">
                <a:solidFill>
                  <a:srgbClr val="148A8A"/>
                </a:solidFill>
                <a:latin typeface="Helvetica Neue"/>
                <a:ea typeface="Helvetica Neue"/>
                <a:cs typeface="Helvetica Neue"/>
              </a:defRPr>
            </a:defPPr>
          </a:lstStyle>
          <a:p xmlns:a="http://schemas.openxmlformats.org/drawingml/2006/main">
            <a:pPr algn="ctr">
              <a:lnSpc>
                <a:spcPct val="105000"/>
              </a:lnSpc>
              <a:buNone/>
              <a:defRPr sz="900" b="1">
                <a:solidFill>
                  <a:srgbClr val="148A8A"/>
                </a:solidFill>
                <a:latin typeface="Helvetica Neue"/>
                <a:ea typeface="Helvetica Neue"/>
                <a:cs typeface="Helvetica Neue"/>
              </a:defRPr>
            </a:pPr>
            <a:r>
              <a:rPr sz="900" b="1">
                <a:solidFill>
                  <a:srgbClr val="148A8A"/>
                </a:solidFill>
                <a:latin typeface="Helvetica Neue"/>
                <a:ea typeface="Helvetica Neue"/>
                <a:cs typeface="Helvetica Neue"/>
              </a:rPr>
              <a:t>4</a:t>
            </a:r>
          </a:p>
        </p:txBody>
      </p:sp>
      <p:sp>
        <p:nvSpPr>
          <p:cNvPr id="23" name="">
            <a:extLst xmlns:a="http://schemas.openxmlformats.org/drawingml/2006/main">
              <a:ext uri="{FF2B5EF4-FFF2-40B4-BE49-F238E27FC236}">
                <a16:creationId xmlns:a16="http://schemas.microsoft.com/office/drawing/2014/main" id="{BF3F33F0-A9DC-45C2-B41F-FD3696C3DA82}"/>
              </a:ext>
            </a:extLst>
          </p:cNvPr>
          <p:cNvSpPr>
            <a:spLocks xmlns:a="http://schemas.openxmlformats.org/drawingml/2006/main" noGrp="1"/>
          </p:cNvSpPr>
          <p:nvPr/>
        </p:nvSpPr>
        <p:spPr>
          <a:xfrm xmlns:a="http://schemas.openxmlformats.org/drawingml/2006/main">
            <a:off x="6896100" y="3848100"/>
            <a:ext cx="4362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13283F"/>
                </a:solidFill>
                <a:latin typeface="Helvetica Neue"/>
                <a:ea typeface="Helvetica Neue"/>
                <a:cs typeface="Helvetica Neue"/>
              </a:defRPr>
            </a:defPPr>
          </a:lstStyle>
          <a:p xmlns:a="http://schemas.openxmlformats.org/drawingml/2006/main">
            <a:pPr algn="l">
              <a:lnSpc>
                <a:spcPct val="105000"/>
              </a:lnSpc>
              <a:buNone/>
              <a:defRPr sz="1275" b="0">
                <a:solidFill>
                  <a:srgbClr val="13283F"/>
                </a:solidFill>
                <a:latin typeface="Helvetica Neue"/>
                <a:ea typeface="Helvetica Neue"/>
                <a:cs typeface="Helvetica Neue"/>
              </a:defRPr>
            </a:pPr>
            <a:r>
              <a:rPr sz="1275" b="0">
                <a:solidFill>
                  <a:srgbClr val="13283F"/>
                </a:solidFill>
                <a:latin typeface="Helvetica Neue"/>
                <a:ea typeface="Helvetica Neue"/>
                <a:cs typeface="Helvetica Neue"/>
              </a:rPr>
              <a:t>Profile inference time and memory on documented hardware</a:t>
            </a:r>
          </a:p>
        </p:txBody>
      </p:sp>
      <p:sp>
        <p:nvSpPr>
          <p:cNvPr id="24" name="">
            <a:extLst xmlns:a="http://schemas.openxmlformats.org/drawingml/2006/main">
              <a:ext uri="{FF2B5EF4-FFF2-40B4-BE49-F238E27FC236}">
                <a16:creationId xmlns:a16="http://schemas.microsoft.com/office/drawing/2014/main" id="{4E478839-5F66-4141-B5DC-F3BB38E7906E}"/>
              </a:ext>
            </a:extLst>
          </p:cNvPr>
          <p:cNvSpPr>
            <a:spLocks xmlns:a="http://schemas.openxmlformats.org/drawingml/2006/main" noGrp="1"/>
          </p:cNvSpPr>
          <p:nvPr/>
        </p:nvSpPr>
        <p:spPr>
          <a:xfrm xmlns:a="http://schemas.openxmlformats.org/drawingml/2006/main" flipV="0">
            <a:off x="685800" y="5314950"/>
            <a:ext cx="10668000" cy="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25" name="">
            <a:extLst xmlns:a="http://schemas.openxmlformats.org/drawingml/2006/main">
              <a:ext uri="{FF2B5EF4-FFF2-40B4-BE49-F238E27FC236}">
                <a16:creationId xmlns:a16="http://schemas.microsoft.com/office/drawing/2014/main" id="{BDC188A0-1345-4C5A-B499-368DF6B1611C}"/>
              </a:ext>
            </a:extLst>
          </p:cNvPr>
          <p:cNvSpPr>
            <a:spLocks xmlns:a="http://schemas.openxmlformats.org/drawingml/2006/main" noGrp="1"/>
          </p:cNvSpPr>
          <p:nvPr/>
        </p:nvSpPr>
        <p:spPr>
          <a:xfrm xmlns:a="http://schemas.openxmlformats.org/drawingml/2006/main">
            <a:off x="685800" y="5524500"/>
            <a:ext cx="4857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250" b="1">
                <a:solidFill>
                  <a:srgbClr val="10253F"/>
                </a:solidFill>
                <a:latin typeface="Helvetica Neue"/>
                <a:ea typeface="Helvetica Neue"/>
                <a:cs typeface="Helvetica Neue"/>
              </a:defRPr>
            </a:defPPr>
          </a:lstStyle>
          <a:p xmlns:a="http://schemas.openxmlformats.org/drawingml/2006/main">
            <a:pPr algn="l">
              <a:lnSpc>
                <a:spcPct val="105000"/>
              </a:lnSpc>
              <a:buNone/>
              <a:defRPr sz="2250" b="1">
                <a:solidFill>
                  <a:srgbClr val="10253F"/>
                </a:solidFill>
                <a:latin typeface="Helvetica Neue"/>
                <a:ea typeface="Helvetica Neue"/>
                <a:cs typeface="Helvetica Neue"/>
              </a:defRPr>
            </a:pPr>
            <a:r>
              <a:rPr sz="2250" b="1">
                <a:solidFill>
                  <a:srgbClr val="10253F"/>
                </a:solidFill>
                <a:latin typeface="Helvetica Neue"/>
                <a:ea typeface="Helvetica Neue"/>
                <a:cs typeface="Helvetica Neue"/>
              </a:rPr>
              <a:t>Thank You</a:t>
            </a:r>
          </a:p>
        </p:txBody>
      </p:sp>
      <p:sp>
        <p:nvSpPr>
          <p:cNvPr id="26" name="">
            <a:extLst xmlns:a="http://schemas.openxmlformats.org/drawingml/2006/main">
              <a:ext uri="{FF2B5EF4-FFF2-40B4-BE49-F238E27FC236}">
                <a16:creationId xmlns:a16="http://schemas.microsoft.com/office/drawing/2014/main" id="{82780247-B98C-4992-964F-B02B6B741AB6}"/>
              </a:ext>
            </a:extLst>
          </p:cNvPr>
          <p:cNvSpPr>
            <a:spLocks xmlns:a="http://schemas.openxmlformats.org/drawingml/2006/main" noGrp="1"/>
          </p:cNvSpPr>
          <p:nvPr/>
        </p:nvSpPr>
        <p:spPr>
          <a:xfrm xmlns:a="http://schemas.openxmlformats.org/drawingml/2006/main">
            <a:off x="685800" y="5962650"/>
            <a:ext cx="485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2864C5"/>
                </a:solidFill>
                <a:latin typeface="Helvetica Neue"/>
                <a:ea typeface="Helvetica Neue"/>
                <a:cs typeface="Helvetica Neue"/>
              </a:defRPr>
            </a:defPPr>
          </a:lstStyle>
          <a:p xmlns:a="http://schemas.openxmlformats.org/drawingml/2006/main">
            <a:pPr algn="l">
              <a:lnSpc>
                <a:spcPct val="105000"/>
              </a:lnSpc>
              <a:buNone/>
              <a:defRPr sz="1350" b="1">
                <a:solidFill>
                  <a:srgbClr val="2864C5"/>
                </a:solidFill>
                <a:latin typeface="Helvetica Neue"/>
                <a:ea typeface="Helvetica Neue"/>
                <a:cs typeface="Helvetica Neue"/>
              </a:defRPr>
            </a:pPr>
            <a:r>
              <a:rPr sz="1350" b="1">
                <a:solidFill>
                  <a:srgbClr val="2864C5"/>
                </a:solidFill>
                <a:latin typeface="Helvetica Neue"/>
                <a:ea typeface="Helvetica Neue"/>
                <a:cs typeface="Helvetica Neue"/>
              </a:rPr>
              <a:t>Questions &amp; Discussion</a:t>
            </a:r>
          </a:p>
        </p:txBody>
      </p:sp>
      <p:sp>
        <p:nvSpPr>
          <p:cNvPr id="27" name="">
            <a:extLst xmlns:a="http://schemas.openxmlformats.org/drawingml/2006/main">
              <a:ext uri="{FF2B5EF4-FFF2-40B4-BE49-F238E27FC236}">
                <a16:creationId xmlns:a16="http://schemas.microsoft.com/office/drawing/2014/main" id="{D810770E-4348-45B3-BF0C-DBE1AE1C8B09}"/>
              </a:ext>
            </a:extLst>
          </p:cNvPr>
          <p:cNvSpPr>
            <a:spLocks xmlns:a="http://schemas.openxmlformats.org/drawingml/2006/main" noGrp="1"/>
          </p:cNvSpPr>
          <p:nvPr/>
        </p:nvSpPr>
        <p:spPr>
          <a:xfrm xmlns:a="http://schemas.openxmlformats.org/drawingml/2006/main">
            <a:off x="7467600" y="5762625"/>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125" b="1">
                <a:solidFill>
                  <a:srgbClr val="536477"/>
                </a:solidFill>
                <a:latin typeface="Helvetica Neue"/>
                <a:ea typeface="Helvetica Neue"/>
                <a:cs typeface="Helvetica Neue"/>
              </a:defRPr>
            </a:defPPr>
          </a:lstStyle>
          <a:p xmlns:a="http://schemas.openxmlformats.org/drawingml/2006/main">
            <a:pPr algn="r">
              <a:lnSpc>
                <a:spcPct val="105000"/>
              </a:lnSpc>
              <a:buNone/>
              <a:defRPr sz="1125" b="1">
                <a:solidFill>
                  <a:srgbClr val="536477"/>
                </a:solidFill>
                <a:latin typeface="Helvetica Neue"/>
                <a:ea typeface="Helvetica Neue"/>
                <a:cs typeface="Helvetica Neue"/>
              </a:defRPr>
            </a:pPr>
            <a:r>
              <a:rPr sz="1125" b="1">
                <a:solidFill>
                  <a:srgbClr val="536477"/>
                </a:solidFill>
                <a:latin typeface="Helvetica Neue"/>
                <a:ea typeface="Helvetica Neue"/>
                <a:cs typeface="Helvetica Neue"/>
              </a:rPr>
              <a:t>SCOPE  ·  VIT-AP UNIVERSITY</a:t>
            </a:r>
          </a:p>
        </p:txBody>
      </p:sp>
    </p:spTree>
    <p:extLst>
      <p:ext uri="{BB962C8B-B14F-4D97-AF65-F5344CB8AC3E}">
        <p14:creationId xmlns:p14="http://schemas.microsoft.com/office/powerpoint/2010/main" val="160805335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2026-10-02T12:27:08.4030000Z</dcterms:created>
  <dcterms:modified xsi:type="dcterms:W3CDTF">2026-10-02T12:27:08.4030000Z</dcterms:modified>
</coreProperties>
</file>