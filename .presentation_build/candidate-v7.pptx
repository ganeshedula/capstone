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ee43552bb042f6" /><Relationship Type="http://schemas.openxmlformats.org/officeDocument/2006/relationships/extended-properties" Target="/docProps/app.xml" Id="R4c285817bb924a55" /><Relationship Type="http://schemas.openxmlformats.org/officeDocument/2006/relationships/officeDocument" Target="/ppt/presentation.xml" Id="Rbf43b39a2f6743e9" /></Relationships>
</file>

<file path=ppt/presentation.xml><?xml version="1.0" encoding="utf-8"?>
<p:presentation xmlns:p="http://schemas.openxmlformats.org/presentationml/2006/main">
  <p:sldMasterIdLst>
    <p:sldMasterId xmlns:r="http://schemas.openxmlformats.org/officeDocument/2006/relationships" id="2147483648" r:id="Ra68850ef81854150"/>
  </p:sldMasterIdLst>
  <p:notesMasterIdLst>
    <p:notesMasterId xmlns:r="http://schemas.openxmlformats.org/officeDocument/2006/relationships" r:id="Rbc50ee595f3e412b"/>
  </p:notesMasterIdLst>
  <p:sldIdLst>
    <p:sldId xmlns:r="http://schemas.openxmlformats.org/officeDocument/2006/relationships" id="256" r:id="Rc8180543b9854774"/>
    <p:sldId xmlns:r="http://schemas.openxmlformats.org/officeDocument/2006/relationships" id="257" r:id="R44b317bf41f64e22"/>
    <p:sldId xmlns:r="http://schemas.openxmlformats.org/officeDocument/2006/relationships" id="258" r:id="R34388ff1e6e147b6"/>
    <p:sldId xmlns:r="http://schemas.openxmlformats.org/officeDocument/2006/relationships" id="259" r:id="R81799794c8554f14"/>
    <p:sldId xmlns:r="http://schemas.openxmlformats.org/officeDocument/2006/relationships" id="260" r:id="R654f67893f79461d"/>
    <p:sldId xmlns:r="http://schemas.openxmlformats.org/officeDocument/2006/relationships" id="261" r:id="Rcd237fbffb3c4692"/>
    <p:sldId xmlns:r="http://schemas.openxmlformats.org/officeDocument/2006/relationships" id="262" r:id="R3ecb6417e6d44564"/>
    <p:sldId xmlns:r="http://schemas.openxmlformats.org/officeDocument/2006/relationships" id="263" r:id="Rda9f57c21ff94956"/>
    <p:sldId xmlns:r="http://schemas.openxmlformats.org/officeDocument/2006/relationships" id="264" r:id="R2e1dac6a0a954feb"/>
    <p:sldId xmlns:r="http://schemas.openxmlformats.org/officeDocument/2006/relationships" id="265" r:id="R001427a9cf3b46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76e02bc164295" /><Relationship Type="http://schemas.openxmlformats.org/officeDocument/2006/relationships/slideMaster" Target="/ppt/slideMasters/slideMaster1.xml" Id="Ra68850ef81854150" /><Relationship Type="http://schemas.openxmlformats.org/officeDocument/2006/relationships/notesMaster" Target="/ppt/notesMasters/notesMaster1.xml" Id="Rbc50ee595f3e412b" /><Relationship Type="http://schemas.openxmlformats.org/officeDocument/2006/relationships/presProps" Target="/ppt/presProps.xml" Id="R10971fd0887d4e8f" /><Relationship Type="http://schemas.openxmlformats.org/officeDocument/2006/relationships/tableStyles" Target="/ppt/tableStyles.xml" Id="Rfc9e6e41c8954de4" /><Relationship Type="http://schemas.openxmlformats.org/officeDocument/2006/relationships/slide" Target="/ppt/slides/slide1.xml" Id="Rc8180543b9854774" /><Relationship Type="http://schemas.openxmlformats.org/officeDocument/2006/relationships/slide" Target="/ppt/slides/slide2.xml" Id="R44b317bf41f64e22" /><Relationship Type="http://schemas.openxmlformats.org/officeDocument/2006/relationships/slide" Target="/ppt/slides/slide3.xml" Id="R34388ff1e6e147b6" /><Relationship Type="http://schemas.openxmlformats.org/officeDocument/2006/relationships/slide" Target="/ppt/slides/slide4.xml" Id="R81799794c8554f14" /><Relationship Type="http://schemas.openxmlformats.org/officeDocument/2006/relationships/slide" Target="/ppt/slides/slide5.xml" Id="R654f67893f79461d" /><Relationship Type="http://schemas.openxmlformats.org/officeDocument/2006/relationships/slide" Target="/ppt/slides/slide6.xml" Id="Rcd237fbffb3c4692" /><Relationship Type="http://schemas.openxmlformats.org/officeDocument/2006/relationships/slide" Target="/ppt/slides/slide7.xml" Id="R3ecb6417e6d44564" /><Relationship Type="http://schemas.openxmlformats.org/officeDocument/2006/relationships/slide" Target="/ppt/slides/slide8.xml" Id="Rda9f57c21ff94956" /><Relationship Type="http://schemas.openxmlformats.org/officeDocument/2006/relationships/slide" Target="/ppt/slides/slide9.xml" Id="R2e1dac6a0a954feb" /><Relationship Type="http://schemas.openxmlformats.org/officeDocument/2006/relationships/slide" Target="/ppt/slides/slide10.xml" Id="R001427a9cf3b46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feb9465dfc46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9dd034d33e4f9c" /><Relationship Type="http://schemas.openxmlformats.org/officeDocument/2006/relationships/notesMaster" Target="/ppt/notesMasters/notesMaster1.xml" Id="Red0dda7470724e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ec68d8cd5f4d5c" /><Relationship Type="http://schemas.openxmlformats.org/officeDocument/2006/relationships/notesMaster" Target="/ppt/notesMasters/notesMaster1.xml" Id="Rf7b487c9ac1b46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3efa21d9f84de1" /><Relationship Type="http://schemas.openxmlformats.org/officeDocument/2006/relationships/notesMaster" Target="/ppt/notesMasters/notesMaster1.xml" Id="R9713acf84c034a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d5e3e39d41443c" /><Relationship Type="http://schemas.openxmlformats.org/officeDocument/2006/relationships/notesMaster" Target="/ppt/notesMasters/notesMaster1.xml" Id="Rf5faefad2d484c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eb438358be4026" /><Relationship Type="http://schemas.openxmlformats.org/officeDocument/2006/relationships/notesMaster" Target="/ppt/notesMasters/notesMaster1.xml" Id="Rf0388ec4760742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ad6d5a44ac47d3" /><Relationship Type="http://schemas.openxmlformats.org/officeDocument/2006/relationships/notesMaster" Target="/ppt/notesMasters/notesMaster1.xml" Id="Rdb94419554154f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8219cbb8654af6" /><Relationship Type="http://schemas.openxmlformats.org/officeDocument/2006/relationships/notesMaster" Target="/ppt/notesMasters/notesMaster1.xml" Id="R174cc8a4ce6a4b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20f6ccca0f4105" /><Relationship Type="http://schemas.openxmlformats.org/officeDocument/2006/relationships/notesMaster" Target="/ppt/notesMasters/notesMaster1.xml" Id="Ra1c459425dd14c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e36233d2b64c24" /><Relationship Type="http://schemas.openxmlformats.org/officeDocument/2006/relationships/notesMaster" Target="/ppt/notesMasters/notesMaster1.xml" Id="R24932d379d0142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f78d1140e144d8" /><Relationship Type="http://schemas.openxmlformats.org/officeDocument/2006/relationships/notesMaster" Target="/ppt/notesMasters/notesMaster1.xml" Id="R960418ac4a354f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supplied by the user: “Layer-Contrastive Decoding with Epistemic Uncertainty and Self-Consistency for Small Language Models.” The technical subtitle identifies the implemented TinyLlama reliability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answer path shows sampling candidate strings, scoring with the entropy heuristic, and aggregating votes; entropy is not itself answer correctness. The model_audit_experiments.json records 8,664,064 trainable Epinet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eval_questions.json, README.md, results/training_history.json, results/model_audit_experiments.json, and checkpoints/enn_best.pt. Cache metadata: version 4, 20 requested texts, max_length 128, val_fraction 0.1; arrays contain 1,841 rows, mature/premature shapes (1841,2048), labels (1841,), and 20 document IDs. Saved audit records 1,637 train and 204 validation examples, deterministic document-level split seed 42, two epochs, batch 1, lr 1e-4, K=3, final train loss 2.3298, final validation loss 2.5698, MPS backend, Python 3.10.20, PyTorch 2.11.0, Transformers 5.17.0, Datasets 4.8.5, NumPy 1.26.4, and 8,664,064 trainable Epinet parameters. Physical machine model and RAM and exact C4 revision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output/c4_eval_20260930_enn02/c4_eval_results.json records n_texts=100, n_tokens=9431, alpha=0.05, ENN weight=0.2, before (DoLa) top-1 0.5022, top-5 0.7284, perplexity 10.7034; after (DoLa+ENN) top-1 0.5031, top-5 0.7289, perplexity 10.7189. These are descriptive next-token metrics, not answer accuracy. results/model_audit_experiments.json records two separate TruthfulQA 10-question slices: indices 0–9 at alpha=1, weight=1 with MC1/MC2 Base .7/.4931, DoLa .4/.4546, DoLa+ENN .4/.4511; indices 10–19 at alpha=.05, weight=0 with Base .3/.4076, DoLa .3/.4066, DoLa+ENN .3/.4066. The zero weight makes DoLa+ENN score-identical to DoLa in the second slice. The two slices differ in hyperparameters and are not pooled or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230d57f82c40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603c9df4974a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ad9f3d773347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d2e5d65e874a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cd21f7f8f348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10a91eba9b45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7E7B6E-2D19-4F01-B59E-C112B81AF0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80CB35-43F8-4FD4-BE12-3EB4B11DA9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99D645-8FAF-4078-885C-CC33A155AB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676EA8-E145-4A62-A2D7-85C69D443C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250CD8-1C12-447E-97B8-BD1A910907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2D7568-41BB-48E3-B4AA-706D797FE6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8F3002-FFA7-4BE4-99F4-811CC69F32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6CCF89-69C3-473E-BDF7-64BD737501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7EA6D6-E5EC-4819-9A20-44BEE3CB97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BBE0EF-39AF-448A-BD05-C7064C135B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863855c20d4ac5" /><Relationship Type="http://schemas.openxmlformats.org/officeDocument/2006/relationships/slideLayout" Target="/ppt/slideLayouts/slideLayout1.xml" Id="Ra1a1d9b9767a43c1" /><Relationship Type="http://schemas.openxmlformats.org/officeDocument/2006/relationships/slideLayout" Target="/ppt/slideLayouts/slideLayout2.xml" Id="R3900826a797247ef" /><Relationship Type="http://schemas.openxmlformats.org/officeDocument/2006/relationships/slideLayout" Target="/ppt/slideLayouts/slideLayout3.xml" Id="R6425683bd48d449f" /><Relationship Type="http://schemas.openxmlformats.org/officeDocument/2006/relationships/slideLayout" Target="/ppt/slideLayouts/slideLayout4.xml" Id="R9b68875246694bd8" /><Relationship Type="http://schemas.openxmlformats.org/officeDocument/2006/relationships/slideLayout" Target="/ppt/slideLayouts/slideLayout5.xml" Id="R616e483b96534d90" /><Relationship Type="http://schemas.openxmlformats.org/officeDocument/2006/relationships/slideLayout" Target="/ppt/slideLayouts/slideLayout6.xml" Id="R391497c37c544b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a1d9b9767a43c1"/>
    <p:sldLayoutId xmlns:r="http://schemas.openxmlformats.org/officeDocument/2006/relationships" id="2147483650" r:id="R3900826a797247ef"/>
    <p:sldLayoutId xmlns:r="http://schemas.openxmlformats.org/officeDocument/2006/relationships" id="2147483651" r:id="R6425683bd48d449f"/>
    <p:sldLayoutId xmlns:r="http://schemas.openxmlformats.org/officeDocument/2006/relationships" id="2147483652" r:id="R9b68875246694bd8"/>
    <p:sldLayoutId xmlns:r="http://schemas.openxmlformats.org/officeDocument/2006/relationships" id="2147483653" r:id="R616e483b96534d90"/>
    <p:sldLayoutId xmlns:r="http://schemas.openxmlformats.org/officeDocument/2006/relationships" id="2147483654" r:id="R391497c37c544b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3425f3bbf94f87" /><Relationship Type="http://schemas.openxmlformats.org/officeDocument/2006/relationships/notesSlide" Target="/ppt/notesSlides/notesSlide1.xml" Id="Rb9a41ada5ca643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1d6cd850c849c7" /><Relationship Type="http://schemas.openxmlformats.org/officeDocument/2006/relationships/notesSlide" Target="/ppt/notesSlides/notesSlide2.xml" Id="R2ed2d98e4c2c4f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65db4dac29414e" /><Relationship Type="http://schemas.openxmlformats.org/officeDocument/2006/relationships/notesSlide" Target="/ppt/notesSlides/notesSlide3.xml" Id="R5c2c7a6967d146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47dec30962480e" /><Relationship Type="http://schemas.openxmlformats.org/officeDocument/2006/relationships/notesSlide" Target="/ppt/notesSlides/notesSlide4.xml" Id="Rea2714672ff745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16ddbbaf434093" /><Relationship Type="http://schemas.openxmlformats.org/officeDocument/2006/relationships/notesSlide" Target="/ppt/notesSlides/notesSlide5.xml" Id="R6f5e8dfc049e43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c8a550872547d3" /><Relationship Type="http://schemas.openxmlformats.org/officeDocument/2006/relationships/notesSlide" Target="/ppt/notesSlides/notesSlide6.xml" Id="R0ee019361c6340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db6de28c14426b" /><Relationship Type="http://schemas.openxmlformats.org/officeDocument/2006/relationships/notesSlide" Target="/ppt/notesSlides/notesSlide7.xml" Id="R4355c5e5f51249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ed2a405c0d45de" /><Relationship Type="http://schemas.openxmlformats.org/officeDocument/2006/relationships/notesSlide" Target="/ppt/notesSlides/notesSlide8.xml" Id="Rcda2487197a548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a814b3df4c4a80" /><Relationship Type="http://schemas.openxmlformats.org/officeDocument/2006/relationships/notesSlide" Target="/ppt/notesSlides/notesSlide9.xml" Id="Rfb14c54252c443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43189204e34533" /><Relationship Type="http://schemas.openxmlformats.org/officeDocument/2006/relationships/notesSlide" Target="/ppt/notesSlides/notesSlide10.xml" Id="R9e55208752a4418a"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ECA2C007-18B2-44CA-A1B6-F5572C64AE58}"/>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874D53-06CB-46F5-B7F6-5C534B608B52}"/>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F625BF-7676-434D-8925-6904685C4608}"/>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7EEF27-9C28-4356-AEC2-DA64F0F885D7}"/>
              </a:ext>
            </a:extLst>
          </p:cNvPr>
          <p:cNvSpPr>
            <a:spLocks xmlns:a="http://schemas.openxmlformats.org/drawingml/2006/main" noGrp="1"/>
          </p:cNvSpPr>
          <p:nvPr/>
        </p:nvSpPr>
        <p:spPr>
          <a:xfrm xmlns:a="http://schemas.openxmlformats.org/drawingml/2006/main">
            <a:off x="609600" y="742950"/>
            <a:ext cx="6286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FFFFF"/>
                </a:solidFill>
                <a:latin typeface="Helvetica Neue"/>
                <a:ea typeface="Helvetica Neue"/>
                <a:cs typeface="Helvetica Neue"/>
              </a:defRPr>
            </a:defPPr>
          </a:lstStyle>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Layer-Contrastive Decoding</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with Epistemic Uncertainty</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and Self-Consistency for</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Small Language Models</a:t>
            </a:r>
          </a:p>
        </p:txBody>
      </p:sp>
      <p:sp>
        <p:nvSpPr>
          <p:cNvPr id="5" name="">
            <a:extLst xmlns:a="http://schemas.openxmlformats.org/drawingml/2006/main">
              <a:ext uri="{FF2B5EF4-FFF2-40B4-BE49-F238E27FC236}">
                <a16:creationId xmlns:a16="http://schemas.microsoft.com/office/drawing/2014/main" id="{4967B828-A9D9-48FD-9631-AD8E1F1CC541}"/>
              </a:ext>
            </a:extLst>
          </p:cNvPr>
          <p:cNvSpPr>
            <a:spLocks xmlns:a="http://schemas.openxmlformats.org/drawingml/2006/main" noGrp="1"/>
          </p:cNvSpPr>
          <p:nvPr/>
        </p:nvSpPr>
        <p:spPr>
          <a:xfrm xmlns:a="http://schemas.openxmlformats.org/drawingml/2006/main">
            <a:off x="628650" y="23431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9D8F0"/>
                </a:solidFill>
                <a:latin typeface="Helvetica Neue"/>
                <a:ea typeface="Helvetica Neue"/>
                <a:cs typeface="Helvetica Neue"/>
              </a:defRPr>
            </a:defPPr>
          </a:lstStyle>
          <a:p xmlns:a="http://schemas.openxmlformats.org/drawingml/2006/main">
            <a:pPr algn="l">
              <a:lnSpc>
                <a:spcPct val="105000"/>
              </a:lnSpc>
              <a:buNone/>
              <a:defRPr sz="1500" b="0">
                <a:solidFill>
                  <a:srgbClr val="B9D8F0"/>
                </a:solidFill>
                <a:latin typeface="Helvetica Neue"/>
                <a:ea typeface="Helvetica Neue"/>
                <a:cs typeface="Helvetica Neue"/>
              </a:defRPr>
            </a:pPr>
            <a:r>
              <a:rPr sz="1500" b="0">
                <a:solidFill>
                  <a:srgbClr val="B9D8F0"/>
                </a:solidFill>
                <a:latin typeface="Helvetica Neue"/>
                <a:ea typeface="Helvetica Neue"/>
                <a:cs typeface="Helvetica Neue"/>
              </a:rPr>
              <a:t>TinyLlama reliability pipeline</a:t>
            </a:r>
          </a:p>
        </p:txBody>
      </p:sp>
      <p:sp>
        <p:nvSpPr>
          <p:cNvPr id="6" name="">
            <a:extLst xmlns:a="http://schemas.openxmlformats.org/drawingml/2006/main">
              <a:ext uri="{FF2B5EF4-FFF2-40B4-BE49-F238E27FC236}">
                <a16:creationId xmlns:a16="http://schemas.microsoft.com/office/drawing/2014/main" id="{1E4BA79B-10AE-4231-A997-CFA8E45D6FA6}"/>
              </a:ext>
            </a:extLst>
          </p:cNvPr>
          <p:cNvSpPr>
            <a:spLocks xmlns:a="http://schemas.openxmlformats.org/drawingml/2006/main" noGrp="1"/>
          </p:cNvSpPr>
          <p:nvPr/>
        </p:nvSpPr>
        <p:spPr>
          <a:xfrm xmlns:a="http://schemas.openxmlformats.org/drawingml/2006/main">
            <a:off x="628650" y="28670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5CF8170D-11ED-472B-B499-002480728F0C}"/>
              </a:ext>
            </a:extLst>
          </p:cNvPr>
          <p:cNvSpPr>
            <a:spLocks xmlns:a="http://schemas.openxmlformats.org/drawingml/2006/main" noGrp="1"/>
          </p:cNvSpPr>
          <p:nvPr/>
        </p:nvSpPr>
        <p:spPr>
          <a:xfrm xmlns:a="http://schemas.openxmlformats.org/drawingml/2006/main" flipV="0">
            <a:off x="628650" y="32956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D2F48E29-9983-4EE1-BE12-EA0BF1F2E886}"/>
              </a:ext>
            </a:extLst>
          </p:cNvPr>
          <p:cNvSpPr>
            <a:spLocks xmlns:a="http://schemas.openxmlformats.org/drawingml/2006/main" noGrp="1"/>
          </p:cNvSpPr>
          <p:nvPr/>
        </p:nvSpPr>
        <p:spPr>
          <a:xfrm xmlns:a="http://schemas.openxmlformats.org/drawingml/2006/main">
            <a:off x="628650" y="34956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917C626A-7B65-4399-916A-A070DB93873D}"/>
              </a:ext>
            </a:extLst>
          </p:cNvPr>
          <p:cNvSpPr>
            <a:spLocks xmlns:a="http://schemas.openxmlformats.org/drawingml/2006/main" noGrp="1"/>
          </p:cNvSpPr>
          <p:nvPr/>
        </p:nvSpPr>
        <p:spPr>
          <a:xfrm xmlns:a="http://schemas.openxmlformats.org/drawingml/2006/main">
            <a:off x="628650" y="3781425"/>
            <a:ext cx="60769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Helvetica Neue"/>
                <a:ea typeface="Helvetica Neue"/>
                <a:cs typeface="Helvetica Neue"/>
              </a:defRPr>
            </a:defPPr>
          </a:lstStyle>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Ganesh Kumar Reddy  ·  23BCE8969</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B. Sai Susmitha  ·  23BCE9884</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P. Dhanush Datta  ·  23BCE9258</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BC168108-650B-49E5-BEE5-2E1C0BAF3FC0}"/>
              </a:ext>
            </a:extLst>
          </p:cNvPr>
          <p:cNvSpPr>
            <a:spLocks xmlns:a="http://schemas.openxmlformats.org/drawingml/2006/main" noGrp="1"/>
          </p:cNvSpPr>
          <p:nvPr/>
        </p:nvSpPr>
        <p:spPr>
          <a:xfrm xmlns:a="http://schemas.openxmlformats.org/drawingml/2006/main">
            <a:off x="628650" y="51911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588BA249-C0CC-40A8-8FF0-F35E52F11FBF}"/>
              </a:ext>
            </a:extLst>
          </p:cNvPr>
          <p:cNvSpPr>
            <a:spLocks xmlns:a="http://schemas.openxmlformats.org/drawingml/2006/main" noGrp="1"/>
          </p:cNvSpPr>
          <p:nvPr/>
        </p:nvSpPr>
        <p:spPr>
          <a:xfrm xmlns:a="http://schemas.openxmlformats.org/drawingml/2006/main">
            <a:off x="628650" y="5457825"/>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8448701C-D731-4467-8D3D-286444E732E0}"/>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0C128146-1219-4F91-BB24-562241646C05}"/>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522C2939-C745-4887-BAA2-89941F2CFF72}"/>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404ACDC9-440C-487C-A15F-6E4839716241}"/>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2B639FC9-5E21-428C-8580-8006F9C157EE}"/>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B83BDED3-95BB-4137-B40E-1FE69BC0D1CE}"/>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63A12972-83B6-4BA6-B376-A9FDB16A0A00}"/>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BA41DBF0-2A80-48C8-9368-2D31AF555F78}"/>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4295B203-5F08-4856-8E28-F35E8EEFC289}"/>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D0F3891A-FB8F-4161-8545-E92F9053EC72}"/>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859F2DFB-3158-49FC-A577-E4D449A3D0C5}"/>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B0ED5BDD-EAA7-4C6C-ADAC-82E20CC2441A}"/>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076A4F17-D1BE-4344-866A-0DE07634FC40}"/>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F70606A8-276A-4120-AF26-290F1C3523C4}"/>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6D7F9E30-20EF-4AB7-B67A-04A7024D8C44}"/>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2988C66F-C1B7-433F-A65E-18A161739670}"/>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5ABDBD8A-2470-4208-931B-5B362D21FEBF}"/>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5DDDBC57-09AF-4DB3-99DF-220AB1214020}"/>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DC495663-E19D-400F-8FEB-1153069B50D7}"/>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CBF8501E-93E8-45D9-BD6B-0263D604643E}"/>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438AF08B-83E0-4795-81D3-76494026D04A}"/>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5413352F-A69C-4F34-B19D-5751698F0867}"/>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FF60154D-760B-43FB-A3CC-5629019196E6}"/>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3B837EAE-15DE-46AE-8E31-2036F0D55D37}"/>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E16A15DA-7EF5-433B-95D2-52A6758DBD28}"/>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9D1B5F61-8B38-4039-B35C-D296520F2B31}"/>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1D41EE4C-8267-4882-A113-BA89A791F5CC}"/>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1237D896-FB41-4D66-9CCC-16568BA9352A}"/>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D36D055C-F925-4375-9779-6B70BEE18B83}"/>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B3E77159-6F0C-4EF7-A8B9-21C6F82A88EA}"/>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53F7C5AD-12E9-494A-BC78-F6F047528499}"/>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1CB7B6E0-714F-4677-B179-6E5B2056BAFB}"/>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000ED6F7-A2B1-4CD5-BE03-EA630267BB73}"/>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3F252E7E-8645-404D-AFCE-ED54D16136D9}"/>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D00CB7F6-4217-4D8D-AC4B-F7EBDA1CF873}"/>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223C9203-604E-495E-847D-869BAA6F795A}"/>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96812F71-1FB0-4718-AFBE-865E2A9B8156}"/>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DA115A8B-BAA6-4CB6-9988-1CA5EBE20592}"/>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A90B10EC-CBA6-46E9-9D2E-4CAACC4D6D1B}"/>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8C0E4A13-C36D-4179-8327-4A693039C907}"/>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C20FC558-5229-4FAD-A5D4-F2A9AF9C69AC}"/>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7AF04833-22AA-484B-B9D3-F807B7DC001E}"/>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F231E909-AACF-4073-82C6-B0ED63627250}"/>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EE57A693-8D50-4442-AD60-8D1EB6FD0D41}"/>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6971EDF5-30BD-427A-A4FB-97977452D9F1}"/>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EE6AE1BC-BB5E-4C69-B0F8-C0F0455DFA9D}"/>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5F048CDA-FE2F-47BB-9B22-5379B17B2DBA}"/>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B5C0578C-2A69-4A23-B681-E7B0B3B94CC5}"/>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2F853115-12CF-4970-A731-7339DBA7552B}"/>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6C1501A0-79AF-440C-9324-D713F2C55144}"/>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8CE30BD1-A4D1-4932-AD63-0C9D4C2ED3A6}"/>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Tree>
    <p:extLst>
      <p:ext uri="{BB962C8B-B14F-4D97-AF65-F5344CB8AC3E}">
        <p14:creationId xmlns:p14="http://schemas.microsoft.com/office/powerpoint/2010/main" val="1451862908"/>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5AEC562-7D2D-497F-AA9D-D23EB80CB07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3AA049-F179-42A6-B757-F296DE1C92EE}"/>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8DE052B7-1ADE-435F-BC53-470623EA328D}"/>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C4DB0710-29B4-4AD5-A9E9-3324C898BD6B}"/>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46F4F1CE-212B-4C41-99B5-4C129E3CF30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5C3F3E65-C69F-4911-998D-F2483CD0162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9E567B3F-545A-468E-B466-12D6C44CCE94}"/>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C7965688-EDCB-44A0-8597-E3CD93ECA674}"/>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2BFD2A2C-2751-4837-B81B-13FEA8B2544B}"/>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5291CB64-8512-44B3-8798-0BD49F72D0A3}"/>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35A086-7911-42C4-9310-EA42C078E438}"/>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9B3831F8-275D-410F-8241-2822737D5689}"/>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FEFCC836-FFB5-43C5-853A-CD144ED9EF72}"/>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FC30AF7B-E1A9-4D20-A795-D134297478B9}"/>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974DA35-79E6-410A-B596-73D74A0BD61E}"/>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D18A2514-37E8-41CB-977B-283CFEE2F971}"/>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33F15E05-31F0-4AB2-9E60-04C3E854FD71}"/>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B777617A-B558-4321-AD35-9696C06832FE}"/>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A4352BE-B42D-43D7-BEFC-9219EFA63A40}"/>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23804E3D-9265-42F2-B6AD-79336A461821}"/>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C667EF88-DDEC-4D40-AE06-2B87713E2679}"/>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A1A9E5DB-DA83-4CD8-A669-0BCD5B118168}"/>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130F243-3666-416E-A7E0-A1F24DA9EE30}"/>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DE3D6C43-C006-4E4E-867E-32442BC9D9B4}"/>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52178F3-8FC5-49A2-96CA-71CFCB21812B}"/>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AD992BD5-BCF2-4BDA-AE66-A4088B3303E4}"/>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93EB11CF-89DB-458F-86F8-B6317C879665}"/>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1129613697"/>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1A4B545-4D7E-49DE-8BCB-A9C163CA02A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7F150A-FD83-4CFB-B404-796D8F9C7A5C}"/>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3E4208B8-7166-46EA-ACB0-22AC00A58715}"/>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9284CD81-5F9F-4CED-BC7B-B5742E23EFC9}"/>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C9E44477-0D43-4B6F-970A-4E4B797B2CFD}"/>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C18D8B8-B630-4605-A64B-30509379ED96}"/>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E0F16C91-3CEC-496B-90F8-CF1E8FB8F826}"/>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4171D93B-641A-4E4A-8347-F78E97A3416E}"/>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74950A16-9A79-4B6E-9BE1-85D1128043B3}"/>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BDC43BB0-D005-4CC5-8BB3-54F6640E298F}"/>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6FEB79EF-BA93-415A-9100-2A64865B8971}"/>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77200621-D9E9-40FF-8AEA-D87A8B897F31}"/>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61655B4B-929A-4B0D-BD64-CCBE7ADD1B3E}"/>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F3ACE29D-6157-40D7-A5D0-0EA09257BD5F}"/>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A89BBCB5-7C51-4DF1-8C54-DB666DDF2362}"/>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5CAB262D-C639-490F-8245-84219020D5BC}"/>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BA9E0E-FC69-48CC-B9F6-5D0FFEED791F}"/>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89D82E8F-C8A6-48A1-8DCF-6A4A6C459665}"/>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5133C5B6-91FE-4209-BF96-B3C5DB16775A}"/>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D5F91857-4BFB-42A5-A377-ADE0A8B0D638}"/>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E38CAEB-B952-401A-BA4F-5BEFC32099D8}"/>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3D4B10BE-A7EB-4BB6-A080-61E74DEFCF83}"/>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35BD998F-0BDA-41AB-9EE1-922A5459D1CD}"/>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CF7A7341-470C-4001-97F8-1805DA13220F}"/>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AAE26F8-970E-4C97-9397-78F515B52C47}"/>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A3D7841D-77F7-4481-9043-89D9DD2BF231}"/>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6493C534-CAAB-4C8D-B2D3-B9525E2512C1}"/>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195198867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35EAC2-BA7C-45D9-93EA-26534425940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03DFFC-9147-4F8A-9038-C64E233CB745}"/>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CAABA3F5-DF4E-4343-92F4-FED97EB4574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5C4ED216-744A-447E-9B37-AB223430D3E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B3A5093F-1BE3-420F-9A34-7C39636DB591}"/>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70CFBD9-7086-42D5-9A7F-865B9F0238D0}"/>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29ACFF83-62BF-4C7F-A30D-6DBCBCA0F336}"/>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8AEC64E-7D84-4705-A801-21DF416FD2FE}"/>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D353874A-C95E-4AD0-B215-20A0DA3CAAE7}"/>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96D46706-CBAE-4407-828A-A77E5FD14C34}"/>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7AB4706B-504E-47B8-BFCF-69905F9B1692}"/>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2C4E3E0-9490-419F-869D-8AE65DD3A4F0}"/>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4B900131-C1E6-4E8A-A794-E23BF8E218E6}"/>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F59B1312-7479-4BC2-9743-161BB32CDCC9}"/>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85D1D3B2-AB70-4112-8366-E56EA52FC24E}"/>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02DE339-0788-4EB5-B183-784D57A41B45}"/>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32A8F651-C48D-4E10-988B-89CA2557AD56}"/>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B8E1ADE3-9DE9-4182-8583-85D8E6B41445}"/>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B410C867-0B1A-4D55-948A-29E110B08FC1}"/>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3392971-1C62-4533-A845-A82855C07299}"/>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AAB02108-9335-4865-8A8E-7817B54436C7}"/>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5CDC4CC0-AEDC-47C8-B55A-23D76535F479}"/>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8866BE81-2BC6-4218-9FB7-1A25A811F49D}"/>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5257450-3BE6-4202-BF66-F7CDA3452D30}"/>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A700AFA7-7E67-4CAB-BDA3-FAACDFB37500}"/>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E7C779AE-26CD-4542-B879-3F7D744769AC}"/>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E14EA197-29E0-4368-A648-BCD1583C3447}"/>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19B579-15FA-4DE3-AE40-703C85ACED77}"/>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Saved runs are small and do not establish a general performance gain.</a:t>
            </a:r>
          </a:p>
        </p:txBody>
      </p:sp>
    </p:spTree>
    <p:extLst>
      <p:ext uri="{BB962C8B-B14F-4D97-AF65-F5344CB8AC3E}">
        <p14:creationId xmlns:p14="http://schemas.microsoft.com/office/powerpoint/2010/main" val="42542780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2A47795-FC29-4EDC-ABA7-D3766D51C1E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7DD8FB-E0C5-4AE9-B0AB-29EB95413D0C}"/>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8D92BF64-6B2D-4198-8A51-9C82D6B01C3E}"/>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AA88BA30-5387-4768-99B5-764E384EAEC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9D382AD-F367-47EA-96C6-E2208FCB45F7}"/>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42F24505-CD7A-4F74-A03A-46DC107C8442}"/>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8F202D13-0317-4475-AA4D-400A037EBB40}"/>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F3ABCF60-9121-4FB2-9C2A-D3752CB4073C}"/>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CEF80C6-1164-42EF-B8D6-18454C8DD194}"/>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4B62EE53-CABC-43ED-8B20-06C633446E35}"/>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0159C826-C8C8-45FD-9AA8-85D8AEB24B72}"/>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73D073FA-26A7-464E-BF2D-5781EE350762}"/>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C1D5AE5F-ACE1-47A2-ADD9-05685BCC92EB}"/>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CABAEB16-6A91-47BD-9160-CF153375E515}"/>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7230F78-A1F6-4ACB-83F8-35B7DB1799FE}"/>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FB69AE23-C27F-477F-BD48-55D06B133E88}"/>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32788568-E48E-4F48-9694-C186E09A71F7}"/>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7CC59212-F31C-496E-96FA-A817E8CE48D5}"/>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9BA7251E-DB2F-4200-8C82-F5CF4E126989}"/>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F77328B1-5D15-40D0-AEA2-4789F35E3246}"/>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DE7DBD3-51D3-4EA2-88C0-A7A823C52D8F}"/>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279D81B6-E9FF-4803-9F8D-A9E655AD0862}"/>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75217130-2BC3-47B6-BE26-6A89D22C660F}"/>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7FFEE209-D997-4FC5-ADE6-5D7CB48BCA8D}"/>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CAA134F0-FC7D-42F0-AD16-B6BE09A9C661}"/>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39882C35-44E2-419F-BB1F-83E0D1A3FAE0}"/>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5DDB703-B0F3-4FAA-A0D1-F394444378BC}"/>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C78E4BBD-7678-4F72-AA1A-29656B3F1635}"/>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D217ACA5-8A0E-418B-8560-4DD45E0B6DE2}"/>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B6ECE5FC-71A0-4951-9860-D4D66A98D02A}"/>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D8D96FFF-2D19-4615-A139-246C2BCD705C}"/>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2C8886F8-6AD8-4F62-90ED-49DCB688F615}"/>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Small C4 and TruthfulQA runs are recorded, but they do not establish a general reliability gain.</a:t>
            </a:r>
          </a:p>
        </p:txBody>
      </p:sp>
      <p:sp>
        <p:nvSpPr>
          <p:cNvPr id="33" name="">
            <a:extLst xmlns:a="http://schemas.openxmlformats.org/drawingml/2006/main">
              <a:ext uri="{FF2B5EF4-FFF2-40B4-BE49-F238E27FC236}">
                <a16:creationId xmlns:a16="http://schemas.microsoft.com/office/drawing/2014/main" id="{5307F4F7-A57B-4142-938A-6410EF8AFE88}"/>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221C7249-FE24-4652-B30A-0EE3AB8D0F94}"/>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2095612194"/>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AAF232E2-BB22-4CB1-9D07-BD2482C35AB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23F189-A088-4369-B075-15527A127F75}"/>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CE692F03-8F08-4B45-AE2A-E74B20B72256}"/>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E26D6993-6A35-456C-8583-147E8543ED7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5EC1FAEF-0A37-4BEB-8F99-C2BA1E09788E}"/>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4781D584-8B35-4350-A4D5-B1EB9F46E7F4}"/>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96F0C21A-259C-4F8F-B0DF-88ABEC0706EB}"/>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B8D76A6D-E1AA-49B1-ACA3-C3C166B6EEFC}"/>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9C141A82-8A07-4DA0-8D3A-6F002F79ABFD}"/>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C24754-C75C-41A3-8651-8E3A7D2191A5}"/>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C8A4B16C-3D60-4267-9D60-C83E3473251E}"/>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5526C46F-BE4D-4C86-AC5E-965D1E0328EB}"/>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A8B18F2E-B41F-4AAF-AC35-829C37F8C267}"/>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197F929-35C4-46A0-BAA5-AEBA1DD8E635}"/>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63364BC5-97A6-4348-BA18-CB30D491A262}"/>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64BC87CC-7352-4E40-8DBF-33FC818E51FE}"/>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CDDF70F4-6DD6-4030-BC39-E38F6004F881}"/>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445648-A971-4BF6-8B92-E4890FAA9ED5}"/>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155D4E1C-49AE-4A44-9001-914C22B2AA0E}"/>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A545FA3C-DD58-47C7-844B-70EEF41CA521}"/>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8399444B-C039-4C49-97D0-D89FE01EEB1F}"/>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F3FAF6-1DFF-4AA5-B8C5-E476B468C979}"/>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58533F12-9D01-43CD-896A-203FFF44C403}"/>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EC6E6378-4447-450F-9BCA-21A0C124FE8D}"/>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D4CCD354-76E0-4F5C-A525-5FC6871A56E2}"/>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88F94BD-FC86-4268-AEDE-6BFD70063F66}"/>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1A8842AA-7E77-4B4F-98DB-87C6086CDD23}"/>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FE929F-D534-4974-A402-B20A4D01355C}"/>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9E8A0558-91EF-420B-9A3A-715C7722D677}"/>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771ED33-CEC1-41AE-A8B1-3769924804D5}"/>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F8437161-ECB9-4ABF-AB04-9EB9DBDC81B1}"/>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77DF5854-4D3B-4A93-82F2-477726E54EF5}"/>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AE75C57E-4C2D-4EB5-8BC9-71C02D7EF92D}"/>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0553B3B-5CD8-4536-BA3E-74A96BD8641B}"/>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4669642D-4A50-4100-9E72-A73AEDDD4885}"/>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17D6C920-F80C-4787-94A9-4EE63BDD9274}"/>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9C7436C9-2DF0-44E7-9BB6-0B3A702A1945}"/>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63BDC47-0BA7-405C-8C3D-F5DFB531F226}"/>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24E17A02-35D4-41BA-AC63-BB77F4299A93}"/>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26C99CC6-3C22-40F9-A2AD-12789A1C0D6F}"/>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9856C9F4-EFD6-49EE-BA8E-25EF9C4E0375}"/>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0803149-A1FC-4D18-9D41-46374B6E0A2F}"/>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21607ABF-D801-4EE6-8DC5-58F87B5C18F6}"/>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39415B30-9E8F-415A-B2B5-6CF47530ACF8}"/>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683362A2-39CE-41B6-B306-AD346BFB50AE}"/>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0C10218-F2F1-4CF5-8EBA-4892B1573BBF}"/>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A0DAF3C9-A98F-4C7B-A678-E733F553608F}"/>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424C88F7-0862-478B-BF1E-69EB016764FE}"/>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05B04C9C-9897-4DE2-92DB-5F3217DFECA4}"/>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559478B-2145-4E06-A8F0-DF1DBC287A01}"/>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5EC2B785-3CC9-410B-9648-408267190BBD}"/>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40D7F5D-F571-45F5-B08A-741FDD3CE330}"/>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88E9A448-9939-4979-AEBF-B537E8F2614C}"/>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A1FC5E7-80E1-4448-BC51-6764128E5A60}"/>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899925BF-4474-4E3A-BBF6-54750BA20882}"/>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B11B2CE2-1B6C-41DD-929A-53BB2676714C}"/>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1333431124"/>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50168B09-4FC9-45A2-B080-9862679A172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8B04B6-7C00-4016-BF78-6FC94CC1733D}"/>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ACB35C2A-EDD4-4923-BE24-2B014CF11A6E}"/>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5507A67A-A661-463A-8F1E-9D9128102056}"/>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B7A97C3E-BA0C-49DE-BEDD-E9D395381CC6}"/>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70B1BCA-7A4B-4E99-960F-137E6A2D0815}"/>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D6027E2F-E092-4A35-81C8-3FC0804C5274}"/>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FA3003B3-07EE-499D-A3B5-9218636DC3DC}"/>
              </a:ext>
            </a:extLst>
          </p:cNvPr>
          <p:cNvSpPr>
            <a:spLocks xmlns:a="http://schemas.openxmlformats.org/drawingml/2006/main" noGrp="1"/>
          </p:cNvSpPr>
          <p:nvPr/>
        </p:nvSpPr>
        <p:spPr>
          <a:xfrm xmlns:a="http://schemas.openxmlformats.org/drawingml/2006/main">
            <a:off x="723900" y="1943100"/>
            <a:ext cx="200025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C50439-0288-46D3-A018-099C9256445C}"/>
              </a:ext>
            </a:extLst>
          </p:cNvPr>
          <p:cNvSpPr>
            <a:spLocks xmlns:a="http://schemas.openxmlformats.org/drawingml/2006/main" noGrp="1"/>
          </p:cNvSpPr>
          <p:nvPr/>
        </p:nvSpPr>
        <p:spPr>
          <a:xfrm xmlns:a="http://schemas.openxmlformats.org/drawingml/2006/main">
            <a:off x="876300" y="2019300"/>
            <a:ext cx="173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15D2B439-7C13-4A37-A770-DD990C81D38A}"/>
              </a:ext>
            </a:extLst>
          </p:cNvPr>
          <p:cNvSpPr>
            <a:spLocks xmlns:a="http://schemas.openxmlformats.org/drawingml/2006/main" noGrp="1"/>
          </p:cNvSpPr>
          <p:nvPr/>
        </p:nvSpPr>
        <p:spPr>
          <a:xfrm xmlns:a="http://schemas.openxmlformats.org/drawingml/2006/main">
            <a:off x="876300" y="225742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A7835FFE-FAD3-4B64-B4F3-F44EFBE54215}"/>
              </a:ext>
            </a:extLst>
          </p:cNvPr>
          <p:cNvSpPr>
            <a:spLocks xmlns:a="http://schemas.openxmlformats.org/drawingml/2006/main" noGrp="1"/>
          </p:cNvSpPr>
          <p:nvPr/>
        </p:nvSpPr>
        <p:spPr>
          <a:xfrm xmlns:a="http://schemas.openxmlformats.org/drawingml/2006/main">
            <a:off x="723900" y="2781300"/>
            <a:ext cx="200025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06C3F1-3026-46C8-A70B-97FCD6C5EAE0}"/>
              </a:ext>
            </a:extLst>
          </p:cNvPr>
          <p:cNvSpPr>
            <a:spLocks xmlns:a="http://schemas.openxmlformats.org/drawingml/2006/main" noGrp="1"/>
          </p:cNvSpPr>
          <p:nvPr/>
        </p:nvSpPr>
        <p:spPr>
          <a:xfrm xmlns:a="http://schemas.openxmlformats.org/drawingml/2006/main">
            <a:off x="876300" y="2857500"/>
            <a:ext cx="173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51DA5864-0F6F-48E9-A1B0-026C9171CC10}"/>
              </a:ext>
            </a:extLst>
          </p:cNvPr>
          <p:cNvSpPr>
            <a:spLocks xmlns:a="http://schemas.openxmlformats.org/drawingml/2006/main" noGrp="1"/>
          </p:cNvSpPr>
          <p:nvPr/>
        </p:nvSpPr>
        <p:spPr>
          <a:xfrm xmlns:a="http://schemas.openxmlformats.org/drawingml/2006/main">
            <a:off x="876300" y="309562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8E7BFEBF-06A7-431D-8D4F-F5E58DCC5581}"/>
              </a:ext>
            </a:extLst>
          </p:cNvPr>
          <p:cNvSpPr>
            <a:spLocks xmlns:a="http://schemas.openxmlformats.org/drawingml/2006/main" noGrp="1"/>
          </p:cNvSpPr>
          <p:nvPr/>
        </p:nvSpPr>
        <p:spPr>
          <a:xfrm xmlns:a="http://schemas.openxmlformats.org/drawingml/2006/main">
            <a:off x="3238500" y="2305050"/>
            <a:ext cx="1447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922DBE98-A0CA-4333-A50B-CD34D00B0BA8}"/>
              </a:ext>
            </a:extLst>
          </p:cNvPr>
          <p:cNvSpPr>
            <a:spLocks xmlns:a="http://schemas.openxmlformats.org/drawingml/2006/main" noGrp="1"/>
          </p:cNvSpPr>
          <p:nvPr/>
        </p:nvSpPr>
        <p:spPr>
          <a:xfrm xmlns:a="http://schemas.openxmlformats.org/drawingml/2006/main">
            <a:off x="3238500" y="2305050"/>
            <a:ext cx="47625" cy="6858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861027F-DE3D-40E1-8A0D-71E575F02E8D}"/>
              </a:ext>
            </a:extLst>
          </p:cNvPr>
          <p:cNvSpPr>
            <a:spLocks xmlns:a="http://schemas.openxmlformats.org/drawingml/2006/main" noGrp="1"/>
          </p:cNvSpPr>
          <p:nvPr/>
        </p:nvSpPr>
        <p:spPr>
          <a:xfrm xmlns:a="http://schemas.openxmlformats.org/drawingml/2006/main">
            <a:off x="3409950" y="2447925"/>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JSD selector</a:t>
            </a:r>
          </a:p>
        </p:txBody>
      </p:sp>
      <p:sp>
        <p:nvSpPr>
          <p:cNvPr id="17" name="">
            <a:extLst xmlns:a="http://schemas.openxmlformats.org/drawingml/2006/main">
              <a:ext uri="{FF2B5EF4-FFF2-40B4-BE49-F238E27FC236}">
                <a16:creationId xmlns:a16="http://schemas.microsoft.com/office/drawing/2014/main" id="{391E989B-131B-46D3-8EBC-0397CFF9891F}"/>
              </a:ext>
            </a:extLst>
          </p:cNvPr>
          <p:cNvSpPr>
            <a:spLocks xmlns:a="http://schemas.openxmlformats.org/drawingml/2006/main" noGrp="1"/>
          </p:cNvSpPr>
          <p:nvPr/>
        </p:nvSpPr>
        <p:spPr>
          <a:xfrm xmlns:a="http://schemas.openxmlformats.org/drawingml/2006/main">
            <a:off x="3409950" y="2762250"/>
            <a:ext cx="11239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682"/>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Choose premature layer</a:t>
            </a:r>
          </a:p>
        </p:txBody>
      </p:sp>
      <p:sp>
        <p:nvSpPr>
          <p:cNvPr id="18" name="">
            <a:extLst xmlns:a="http://schemas.openxmlformats.org/drawingml/2006/main">
              <a:ext uri="{FF2B5EF4-FFF2-40B4-BE49-F238E27FC236}">
                <a16:creationId xmlns:a16="http://schemas.microsoft.com/office/drawing/2014/main" id="{B7A49C86-016E-4AC2-94E2-99A382352432}"/>
              </a:ext>
            </a:extLst>
          </p:cNvPr>
          <p:cNvSpPr>
            <a:spLocks xmlns:a="http://schemas.openxmlformats.org/drawingml/2006/main" noGrp="1"/>
          </p:cNvSpPr>
          <p:nvPr/>
        </p:nvSpPr>
        <p:spPr>
          <a:xfrm xmlns:a="http://schemas.openxmlformats.org/drawingml/2006/main">
            <a:off x="4953000" y="2305050"/>
            <a:ext cx="15621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19" name="">
            <a:extLst xmlns:a="http://schemas.openxmlformats.org/drawingml/2006/main">
              <a:ext uri="{FF2B5EF4-FFF2-40B4-BE49-F238E27FC236}">
                <a16:creationId xmlns:a16="http://schemas.microsoft.com/office/drawing/2014/main" id="{34BF7EC8-11BD-4C37-969A-400D1BAD70C1}"/>
              </a:ext>
            </a:extLst>
          </p:cNvPr>
          <p:cNvSpPr>
            <a:spLocks xmlns:a="http://schemas.openxmlformats.org/drawingml/2006/main" noGrp="1"/>
          </p:cNvSpPr>
          <p:nvPr/>
        </p:nvSpPr>
        <p:spPr>
          <a:xfrm xmlns:a="http://schemas.openxmlformats.org/drawingml/2006/main">
            <a:off x="4953000" y="2305050"/>
            <a:ext cx="47625" cy="6858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BC2CCF-C728-4E18-BB62-CEE751ED0511}"/>
              </a:ext>
            </a:extLst>
          </p:cNvPr>
          <p:cNvSpPr>
            <a:spLocks xmlns:a="http://schemas.openxmlformats.org/drawingml/2006/main" noGrp="1"/>
          </p:cNvSpPr>
          <p:nvPr/>
        </p:nvSpPr>
        <p:spPr>
          <a:xfrm xmlns:a="http://schemas.openxmlformats.org/drawingml/2006/main">
            <a:off x="5124450" y="2457450"/>
            <a:ext cx="1295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0253F"/>
                </a:solidFill>
                <a:latin typeface="Helvetica Neue"/>
                <a:ea typeface="Helvetica Neue"/>
                <a:cs typeface="Helvetica Neue"/>
              </a:defRPr>
            </a:defPPr>
          </a:lstStyle>
          <a:p xmlns:a="http://schemas.openxmlformats.org/drawingml/2006/main">
            <a:pPr algn="l">
              <a:lnSpc>
                <a:spcPct val="105000"/>
              </a:lnSpc>
              <a:buNone/>
              <a:defRPr sz="1200" b="1">
                <a:solidFill>
                  <a:srgbClr val="10253F"/>
                </a:solidFill>
                <a:latin typeface="Helvetica Neue"/>
                <a:ea typeface="Helvetica Neue"/>
                <a:cs typeface="Helvetica Neue"/>
              </a:defRPr>
            </a:pPr>
            <a:r>
              <a:rPr sz="1200" b="1">
                <a:solidFill>
                  <a:srgbClr val="10253F"/>
                </a:solidFill>
                <a:latin typeface="Helvetica Neue"/>
                <a:ea typeface="Helvetica Neue"/>
                <a:cs typeface="Helvetica Neue"/>
              </a:rPr>
              <a:t>DoLa contrast</a:t>
            </a:r>
          </a:p>
        </p:txBody>
      </p:sp>
      <p:sp>
        <p:nvSpPr>
          <p:cNvPr id="21" name="">
            <a:extLst xmlns:a="http://schemas.openxmlformats.org/drawingml/2006/main">
              <a:ext uri="{FF2B5EF4-FFF2-40B4-BE49-F238E27FC236}">
                <a16:creationId xmlns:a16="http://schemas.microsoft.com/office/drawing/2014/main" id="{78A40697-4B22-438D-950B-6B08E99E4C18}"/>
              </a:ext>
            </a:extLst>
          </p:cNvPr>
          <p:cNvSpPr>
            <a:spLocks xmlns:a="http://schemas.openxmlformats.org/drawingml/2006/main" noGrp="1"/>
          </p:cNvSpPr>
          <p:nvPr/>
        </p:nvSpPr>
        <p:spPr>
          <a:xfrm xmlns:a="http://schemas.openxmlformats.org/drawingml/2006/main">
            <a:off x="5124450" y="271462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36477"/>
                </a:solidFill>
                <a:latin typeface="Helvetica Neue"/>
                <a:ea typeface="Helvetica Neue"/>
                <a:cs typeface="Helvetica Neue"/>
              </a:defRPr>
            </a:defPPr>
          </a:lstStyle>
          <a:p xmlns:a="http://schemas.openxmlformats.org/drawingml/2006/main">
            <a:pPr algn="l">
              <a:lnSpc>
                <a:spcPct val="105000"/>
              </a:lnSpc>
              <a:buNone/>
              <a:defRPr sz="825" b="0">
                <a:solidFill>
                  <a:srgbClr val="536477"/>
                </a:solidFill>
                <a:latin typeface="Helvetica Neue"/>
                <a:ea typeface="Helvetica Neue"/>
                <a:cs typeface="Helvetica Neue"/>
              </a:defRPr>
            </a:pPr>
            <a:r>
              <a:rPr sz="825" b="0">
                <a:solidFill>
                  <a:srgbClr val="536477"/>
                </a:solidFill>
                <a:latin typeface="Helvetica Neue"/>
                <a:ea typeface="Helvetica Neue"/>
                <a:cs typeface="Helvetica Neue"/>
              </a:rPr>
              <a:t>mature − α · premature</a:t>
            </a:r>
          </a:p>
        </p:txBody>
      </p:sp>
      <p:sp>
        <p:nvSpPr>
          <p:cNvPr id="22" name="">
            <a:extLst xmlns:a="http://schemas.openxmlformats.org/drawingml/2006/main">
              <a:ext uri="{FF2B5EF4-FFF2-40B4-BE49-F238E27FC236}">
                <a16:creationId xmlns:a16="http://schemas.microsoft.com/office/drawing/2014/main" id="{F04F85C0-A997-43EA-8966-36304206C903}"/>
              </a:ext>
            </a:extLst>
          </p:cNvPr>
          <p:cNvSpPr>
            <a:spLocks xmlns:a="http://schemas.openxmlformats.org/drawingml/2006/main" noGrp="1"/>
          </p:cNvSpPr>
          <p:nvPr/>
        </p:nvSpPr>
        <p:spPr>
          <a:xfrm xmlns:a="http://schemas.openxmlformats.org/drawingml/2006/main" flipV="0">
            <a:off x="2724150" y="2219325"/>
            <a:ext cx="323850" cy="30480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5FC323CD-1920-4094-88D1-4572C9B33031}"/>
              </a:ext>
            </a:extLst>
          </p:cNvPr>
          <p:cNvSpPr>
            <a:spLocks xmlns:a="http://schemas.openxmlformats.org/drawingml/2006/main" noGrp="1"/>
          </p:cNvSpPr>
          <p:nvPr/>
        </p:nvSpPr>
        <p:spPr>
          <a:xfrm xmlns:a="http://schemas.openxmlformats.org/drawingml/2006/main" rot="5400000">
            <a:off x="3000375" y="24669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7AEEF57-B179-4EE5-84DE-2E1B88AA6073}"/>
              </a:ext>
            </a:extLst>
          </p:cNvPr>
          <p:cNvSpPr>
            <a:spLocks xmlns:a="http://schemas.openxmlformats.org/drawingml/2006/main" noGrp="1"/>
          </p:cNvSpPr>
          <p:nvPr/>
        </p:nvSpPr>
        <p:spPr>
          <a:xfrm xmlns:a="http://schemas.openxmlformats.org/drawingml/2006/main" flipV="1">
            <a:off x="2724150" y="2771775"/>
            <a:ext cx="323850" cy="28575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CA4E63E9-AD6F-403C-BB38-E1E6A282E3CD}"/>
              </a:ext>
            </a:extLst>
          </p:cNvPr>
          <p:cNvSpPr>
            <a:spLocks xmlns:a="http://schemas.openxmlformats.org/drawingml/2006/main" noGrp="1"/>
          </p:cNvSpPr>
          <p:nvPr/>
        </p:nvSpPr>
        <p:spPr>
          <a:xfrm xmlns:a="http://schemas.openxmlformats.org/drawingml/2006/main" rot="5400000">
            <a:off x="3000375" y="271462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B2816DA-119A-49EA-8A98-0B05EE380C6E}"/>
              </a:ext>
            </a:extLst>
          </p:cNvPr>
          <p:cNvSpPr>
            <a:spLocks xmlns:a="http://schemas.openxmlformats.org/drawingml/2006/main" noGrp="1"/>
          </p:cNvSpPr>
          <p:nvPr/>
        </p:nvSpPr>
        <p:spPr>
          <a:xfrm xmlns:a="http://schemas.openxmlformats.org/drawingml/2006/main" flipV="0">
            <a:off x="4686300" y="2647950"/>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7" name="">
            <a:extLst xmlns:a="http://schemas.openxmlformats.org/drawingml/2006/main">
              <a:ext uri="{FF2B5EF4-FFF2-40B4-BE49-F238E27FC236}">
                <a16:creationId xmlns:a16="http://schemas.microsoft.com/office/drawing/2014/main" id="{94CEBDA5-3ED6-40CA-B132-94FDADA3B347}"/>
              </a:ext>
            </a:extLst>
          </p:cNvPr>
          <p:cNvSpPr>
            <a:spLocks xmlns:a="http://schemas.openxmlformats.org/drawingml/2006/main" noGrp="1"/>
          </p:cNvSpPr>
          <p:nvPr/>
        </p:nvSpPr>
        <p:spPr>
          <a:xfrm xmlns:a="http://schemas.openxmlformats.org/drawingml/2006/main" rot="5400000">
            <a:off x="4762500" y="25908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42C71C6-6230-4BD4-ACBA-CBD0DE251228}"/>
              </a:ext>
            </a:extLst>
          </p:cNvPr>
          <p:cNvSpPr>
            <a:spLocks xmlns:a="http://schemas.openxmlformats.org/drawingml/2006/main" noGrp="1"/>
          </p:cNvSpPr>
          <p:nvPr/>
        </p:nvSpPr>
        <p:spPr>
          <a:xfrm xmlns:a="http://schemas.openxmlformats.org/drawingml/2006/main">
            <a:off x="1562100" y="3638550"/>
            <a:ext cx="4343400" cy="609600"/>
          </a:xfrm>
          <a:prstGeom xmlns:a="http://schemas.openxmlformats.org/drawingml/2006/main" prst="roundRect">
            <a:avLst>
              <a:gd name="adj" fmla="val 12500"/>
            </a:avLst>
          </a:prstGeom>
          <a:solidFill xmlns:a="http://schemas.openxmlformats.org/drawingml/2006/main">
            <a:srgbClr val="E8F0FC"/>
          </a:solidFill>
          <a:ln xmlns:a="http://schemas.openxmlformats.org/drawingml/2006/main" w="9525">
            <a:solidFill>
              <a:srgbClr val="D6DEE8"/>
            </a:solidFill>
            <a:prstDash val="solid"/>
          </a:ln>
        </p:spPr>
      </p:sp>
      <p:sp>
        <p:nvSpPr>
          <p:cNvPr id="29" name="">
            <a:extLst xmlns:a="http://schemas.openxmlformats.org/drawingml/2006/main">
              <a:ext uri="{FF2B5EF4-FFF2-40B4-BE49-F238E27FC236}">
                <a16:creationId xmlns:a16="http://schemas.microsoft.com/office/drawing/2014/main" id="{E4412F61-AEEE-4CC9-8DD2-29C84854CB88}"/>
              </a:ext>
            </a:extLst>
          </p:cNvPr>
          <p:cNvSpPr>
            <a:spLocks xmlns:a="http://schemas.openxmlformats.org/drawingml/2006/main" noGrp="1"/>
          </p:cNvSpPr>
          <p:nvPr/>
        </p:nvSpPr>
        <p:spPr>
          <a:xfrm xmlns:a="http://schemas.openxmlformats.org/drawingml/2006/main">
            <a:off x="1562100" y="3638550"/>
            <a:ext cx="47625" cy="6096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C35CB61-FBC6-4332-B7EB-07494D16F082}"/>
              </a:ext>
            </a:extLst>
          </p:cNvPr>
          <p:cNvSpPr>
            <a:spLocks xmlns:a="http://schemas.openxmlformats.org/drawingml/2006/main" noGrp="1"/>
          </p:cNvSpPr>
          <p:nvPr/>
        </p:nvSpPr>
        <p:spPr>
          <a:xfrm xmlns:a="http://schemas.openxmlformats.org/drawingml/2006/main">
            <a:off x="1733550" y="37814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Next-token distribution</a:t>
            </a:r>
          </a:p>
        </p:txBody>
      </p:sp>
      <p:sp>
        <p:nvSpPr>
          <p:cNvPr id="31" name="">
            <a:extLst xmlns:a="http://schemas.openxmlformats.org/drawingml/2006/main">
              <a:ext uri="{FF2B5EF4-FFF2-40B4-BE49-F238E27FC236}">
                <a16:creationId xmlns:a16="http://schemas.microsoft.com/office/drawing/2014/main" id="{F3E07538-EF84-4806-9D3C-029BE67CE781}"/>
              </a:ext>
            </a:extLst>
          </p:cNvPr>
          <p:cNvSpPr>
            <a:spLocks xmlns:a="http://schemas.openxmlformats.org/drawingml/2006/main" noGrp="1"/>
          </p:cNvSpPr>
          <p:nvPr/>
        </p:nvSpPr>
        <p:spPr>
          <a:xfrm xmlns:a="http://schemas.openxmlformats.org/drawingml/2006/main">
            <a:off x="1733550" y="4095750"/>
            <a:ext cx="4019550" cy="66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39682"/>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softmax(contrastive logits)</a:t>
            </a:r>
          </a:p>
        </p:txBody>
      </p:sp>
      <p:sp>
        <p:nvSpPr>
          <p:cNvPr id="32" name="">
            <a:extLst xmlns:a="http://schemas.openxmlformats.org/drawingml/2006/main">
              <a:ext uri="{FF2B5EF4-FFF2-40B4-BE49-F238E27FC236}">
                <a16:creationId xmlns:a16="http://schemas.microsoft.com/office/drawing/2014/main" id="{75EA5422-6821-43DA-8AC1-B04427E7DC0B}"/>
              </a:ext>
            </a:extLst>
          </p:cNvPr>
          <p:cNvSpPr>
            <a:spLocks xmlns:a="http://schemas.openxmlformats.org/drawingml/2006/main" noGrp="1"/>
          </p:cNvSpPr>
          <p:nvPr/>
        </p:nvSpPr>
        <p:spPr>
          <a:xfrm xmlns:a="http://schemas.openxmlformats.org/drawingml/2006/main" flipV="0">
            <a:off x="5734050" y="2990850"/>
            <a:ext cx="0" cy="49530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3" name="">
            <a:extLst xmlns:a="http://schemas.openxmlformats.org/drawingml/2006/main">
              <a:ext uri="{FF2B5EF4-FFF2-40B4-BE49-F238E27FC236}">
                <a16:creationId xmlns:a16="http://schemas.microsoft.com/office/drawing/2014/main" id="{7E781890-7650-49A4-93BB-E5B685788D51}"/>
              </a:ext>
            </a:extLst>
          </p:cNvPr>
          <p:cNvSpPr>
            <a:spLocks xmlns:a="http://schemas.openxmlformats.org/drawingml/2006/main" noGrp="1"/>
          </p:cNvSpPr>
          <p:nvPr/>
        </p:nvSpPr>
        <p:spPr>
          <a:xfrm xmlns:a="http://schemas.openxmlformats.org/drawingml/2006/main" rot="10800000">
            <a:off x="5676900" y="3438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F5F89F5-86E0-4A48-AF3C-F2F77FF88CF8}"/>
              </a:ext>
            </a:extLst>
          </p:cNvPr>
          <p:cNvSpPr>
            <a:spLocks xmlns:a="http://schemas.openxmlformats.org/drawingml/2006/main" noGrp="1"/>
          </p:cNvSpPr>
          <p:nvPr/>
        </p:nvSpPr>
        <p:spPr>
          <a:xfrm xmlns:a="http://schemas.openxmlformats.org/drawingml/2006/main" flipV="0">
            <a:off x="6781800" y="1390650"/>
            <a:ext cx="0" cy="306705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5" name="">
            <a:extLst xmlns:a="http://schemas.openxmlformats.org/drawingml/2006/main">
              <a:ext uri="{FF2B5EF4-FFF2-40B4-BE49-F238E27FC236}">
                <a16:creationId xmlns:a16="http://schemas.microsoft.com/office/drawing/2014/main" id="{C6BE54DB-584E-4547-838D-6A2119CE0449}"/>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36" name="">
            <a:extLst xmlns:a="http://schemas.openxmlformats.org/drawingml/2006/main">
              <a:ext uri="{FF2B5EF4-FFF2-40B4-BE49-F238E27FC236}">
                <a16:creationId xmlns:a16="http://schemas.microsoft.com/office/drawing/2014/main" id="{586AA891-B418-40EC-A918-1FC082AEF13A}"/>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7FB660CE-65A2-46B5-A94A-0B84E6922100}"/>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B723DC5-6B2B-48F5-9B73-934939C51D97}"/>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39" name="">
            <a:extLst xmlns:a="http://schemas.openxmlformats.org/drawingml/2006/main">
              <a:ext uri="{FF2B5EF4-FFF2-40B4-BE49-F238E27FC236}">
                <a16:creationId xmlns:a16="http://schemas.microsoft.com/office/drawing/2014/main" id="{48E9E4BC-1DAE-49F3-B007-FF53DD62B02E}"/>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40" name="">
            <a:extLst xmlns:a="http://schemas.openxmlformats.org/drawingml/2006/main">
              <a:ext uri="{FF2B5EF4-FFF2-40B4-BE49-F238E27FC236}">
                <a16:creationId xmlns:a16="http://schemas.microsoft.com/office/drawing/2014/main" id="{2A3CE54A-4694-40BF-9EB4-3880C0F9A2D8}"/>
              </a:ext>
            </a:extLst>
          </p:cNvPr>
          <p:cNvSpPr>
            <a:spLocks xmlns:a="http://schemas.openxmlformats.org/drawingml/2006/main" noGrp="1"/>
          </p:cNvSpPr>
          <p:nvPr/>
        </p:nvSpPr>
        <p:spPr>
          <a:xfrm xmlns:a="http://schemas.openxmlformats.org/drawingml/2006/main" flipV="0">
            <a:off x="9096375" y="2447925"/>
            <a:ext cx="0" cy="1238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1" name="">
            <a:extLst xmlns:a="http://schemas.openxmlformats.org/drawingml/2006/main">
              <a:ext uri="{FF2B5EF4-FFF2-40B4-BE49-F238E27FC236}">
                <a16:creationId xmlns:a16="http://schemas.microsoft.com/office/drawing/2014/main" id="{A2661BF3-A299-44AD-97A2-2FF9D91A073A}"/>
              </a:ext>
            </a:extLst>
          </p:cNvPr>
          <p:cNvSpPr>
            <a:spLocks xmlns:a="http://schemas.openxmlformats.org/drawingml/2006/main" noGrp="1"/>
          </p:cNvSpPr>
          <p:nvPr/>
        </p:nvSpPr>
        <p:spPr>
          <a:xfrm xmlns:a="http://schemas.openxmlformats.org/drawingml/2006/main" rot="10800000">
            <a:off x="9039225" y="25241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44AC04B-CB21-4F15-B8DE-1365AC357300}"/>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43" name="">
            <a:extLst xmlns:a="http://schemas.openxmlformats.org/drawingml/2006/main">
              <a:ext uri="{FF2B5EF4-FFF2-40B4-BE49-F238E27FC236}">
                <a16:creationId xmlns:a16="http://schemas.microsoft.com/office/drawing/2014/main" id="{E66F6872-FF53-4B17-8CF4-DAD86E1A751B}"/>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1B573B1-44E7-4F17-B99E-D05B022F0D01}"/>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45" name="">
            <a:extLst xmlns:a="http://schemas.openxmlformats.org/drawingml/2006/main">
              <a:ext uri="{FF2B5EF4-FFF2-40B4-BE49-F238E27FC236}">
                <a16:creationId xmlns:a16="http://schemas.microsoft.com/office/drawing/2014/main" id="{8D4FCA3F-FFB0-48A3-AFBC-AD64C9826835}"/>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46" name="">
            <a:extLst xmlns:a="http://schemas.openxmlformats.org/drawingml/2006/main">
              <a:ext uri="{FF2B5EF4-FFF2-40B4-BE49-F238E27FC236}">
                <a16:creationId xmlns:a16="http://schemas.microsoft.com/office/drawing/2014/main" id="{41DE2D57-4ED8-4BC9-A23F-4BA087AE181D}"/>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47" name="">
            <a:extLst xmlns:a="http://schemas.openxmlformats.org/drawingml/2006/main">
              <a:ext uri="{FF2B5EF4-FFF2-40B4-BE49-F238E27FC236}">
                <a16:creationId xmlns:a16="http://schemas.microsoft.com/office/drawing/2014/main" id="{4369EE44-D550-4459-BD10-056A68055C1D}"/>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5EC0A7A-834E-4899-BBB5-9AB456C6BA65}"/>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49" name="">
            <a:extLst xmlns:a="http://schemas.openxmlformats.org/drawingml/2006/main">
              <a:ext uri="{FF2B5EF4-FFF2-40B4-BE49-F238E27FC236}">
                <a16:creationId xmlns:a16="http://schemas.microsoft.com/office/drawing/2014/main" id="{0B84AB0D-2FB1-44A0-B961-F021549EA1E5}"/>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50" name="">
            <a:extLst xmlns:a="http://schemas.openxmlformats.org/drawingml/2006/main">
              <a:ext uri="{FF2B5EF4-FFF2-40B4-BE49-F238E27FC236}">
                <a16:creationId xmlns:a16="http://schemas.microsoft.com/office/drawing/2014/main" id="{04CFCA37-B42D-43E7-8EED-CF7D4D2846F1}"/>
              </a:ext>
            </a:extLst>
          </p:cNvPr>
          <p:cNvSpPr>
            <a:spLocks xmlns:a="http://schemas.openxmlformats.org/drawingml/2006/main" noGrp="1"/>
          </p:cNvSpPr>
          <p:nvPr/>
        </p:nvSpPr>
        <p:spPr>
          <a:xfrm xmlns:a="http://schemas.openxmlformats.org/drawingml/2006/main">
            <a:off x="7143750" y="3867150"/>
            <a:ext cx="39052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EE8"/>
            </a:solidFill>
            <a:prstDash val="solid"/>
          </a:ln>
        </p:spPr>
      </p:sp>
      <p:sp>
        <p:nvSpPr>
          <p:cNvPr id="51" name="">
            <a:extLst xmlns:a="http://schemas.openxmlformats.org/drawingml/2006/main">
              <a:ext uri="{FF2B5EF4-FFF2-40B4-BE49-F238E27FC236}">
                <a16:creationId xmlns:a16="http://schemas.microsoft.com/office/drawing/2014/main" id="{7A66F915-C3F7-455D-95FD-731C1A552F75}"/>
              </a:ext>
            </a:extLst>
          </p:cNvPr>
          <p:cNvSpPr>
            <a:spLocks xmlns:a="http://schemas.openxmlformats.org/drawingml/2006/main" noGrp="1"/>
          </p:cNvSpPr>
          <p:nvPr/>
        </p:nvSpPr>
        <p:spPr>
          <a:xfrm xmlns:a="http://schemas.openxmlformats.org/drawingml/2006/main">
            <a:off x="7143750" y="3867150"/>
            <a:ext cx="47625" cy="5905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DAAA8F2-08B1-4FC8-8C1E-9E40539A28AC}"/>
              </a:ext>
            </a:extLst>
          </p:cNvPr>
          <p:cNvSpPr>
            <a:spLocks xmlns:a="http://schemas.openxmlformats.org/drawingml/2006/main" noGrp="1"/>
          </p:cNvSpPr>
          <p:nvPr/>
        </p:nvSpPr>
        <p:spPr>
          <a:xfrm xmlns:a="http://schemas.openxmlformats.org/drawingml/2006/main">
            <a:off x="7315200" y="40100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53" name="">
            <a:extLst xmlns:a="http://schemas.openxmlformats.org/drawingml/2006/main">
              <a:ext uri="{FF2B5EF4-FFF2-40B4-BE49-F238E27FC236}">
                <a16:creationId xmlns:a16="http://schemas.microsoft.com/office/drawing/2014/main" id="{1BB5EA27-D0AB-4AA1-A091-347AED15CA68}"/>
              </a:ext>
            </a:extLst>
          </p:cNvPr>
          <p:cNvSpPr>
            <a:spLocks xmlns:a="http://schemas.openxmlformats.org/drawingml/2006/main" noGrp="1"/>
          </p:cNvSpPr>
          <p:nvPr/>
        </p:nvSpPr>
        <p:spPr>
          <a:xfrm xmlns:a="http://schemas.openxmlformats.org/drawingml/2006/main">
            <a:off x="7315200" y="4324350"/>
            <a:ext cx="3581400" cy="4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28345"/>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Shared z; K = 3 epistemic samples by default</a:t>
            </a:r>
          </a:p>
        </p:txBody>
      </p:sp>
      <p:sp>
        <p:nvSpPr>
          <p:cNvPr id="54" name="">
            <a:extLst xmlns:a="http://schemas.openxmlformats.org/drawingml/2006/main">
              <a:ext uri="{FF2B5EF4-FFF2-40B4-BE49-F238E27FC236}">
                <a16:creationId xmlns:a16="http://schemas.microsoft.com/office/drawing/2014/main" id="{33AB4C73-624A-4D49-A46C-64A11A048A8D}"/>
              </a:ext>
            </a:extLst>
          </p:cNvPr>
          <p:cNvSpPr>
            <a:spLocks xmlns:a="http://schemas.openxmlformats.org/drawingml/2006/main" noGrp="1"/>
          </p:cNvSpPr>
          <p:nvPr/>
        </p:nvSpPr>
        <p:spPr>
          <a:xfrm xmlns:a="http://schemas.openxmlformats.org/drawingml/2006/main" flipV="0">
            <a:off x="8115300" y="3609975"/>
            <a:ext cx="0" cy="10477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55" name="">
            <a:extLst xmlns:a="http://schemas.openxmlformats.org/drawingml/2006/main">
              <a:ext uri="{FF2B5EF4-FFF2-40B4-BE49-F238E27FC236}">
                <a16:creationId xmlns:a16="http://schemas.microsoft.com/office/drawing/2014/main" id="{78645AD1-D9E7-4994-8EE1-9D3D66931F43}"/>
              </a:ext>
            </a:extLst>
          </p:cNvPr>
          <p:cNvSpPr>
            <a:spLocks xmlns:a="http://schemas.openxmlformats.org/drawingml/2006/main" noGrp="1"/>
          </p:cNvSpPr>
          <p:nvPr/>
        </p:nvSpPr>
        <p:spPr>
          <a:xfrm xmlns:a="http://schemas.openxmlformats.org/drawingml/2006/main" rot="10800000">
            <a:off x="8058150" y="366712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D1A91669-088F-4D24-AE4A-E5C6AB70B6AA}"/>
              </a:ext>
            </a:extLst>
          </p:cNvPr>
          <p:cNvSpPr>
            <a:spLocks xmlns:a="http://schemas.openxmlformats.org/drawingml/2006/main" noGrp="1"/>
          </p:cNvSpPr>
          <p:nvPr/>
        </p:nvSpPr>
        <p:spPr>
          <a:xfrm xmlns:a="http://schemas.openxmlformats.org/drawingml/2006/main" flipV="0">
            <a:off x="10096500" y="3609975"/>
            <a:ext cx="0" cy="10477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7" name="">
            <a:extLst xmlns:a="http://schemas.openxmlformats.org/drawingml/2006/main">
              <a:ext uri="{FF2B5EF4-FFF2-40B4-BE49-F238E27FC236}">
                <a16:creationId xmlns:a16="http://schemas.microsoft.com/office/drawing/2014/main" id="{0F0FA899-7A6A-4277-A99B-10481B9136B5}"/>
              </a:ext>
            </a:extLst>
          </p:cNvPr>
          <p:cNvSpPr>
            <a:spLocks xmlns:a="http://schemas.openxmlformats.org/drawingml/2006/main" noGrp="1"/>
          </p:cNvSpPr>
          <p:nvPr/>
        </p:nvSpPr>
        <p:spPr>
          <a:xfrm xmlns:a="http://schemas.openxmlformats.org/drawingml/2006/main" rot="10800000">
            <a:off x="10039350" y="366712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C260051-117A-4C73-9375-4D4D5DB81E37}"/>
              </a:ext>
            </a:extLst>
          </p:cNvPr>
          <p:cNvSpPr>
            <a:spLocks xmlns:a="http://schemas.openxmlformats.org/drawingml/2006/main" noGrp="1"/>
          </p:cNvSpPr>
          <p:nvPr/>
        </p:nvSpPr>
        <p:spPr>
          <a:xfrm xmlns:a="http://schemas.openxmlformats.org/drawingml/2006/main">
            <a:off x="7143750" y="45339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36477"/>
                </a:solidFill>
                <a:latin typeface="Helvetica Neue"/>
                <a:ea typeface="Helvetica Neue"/>
                <a:cs typeface="Helvetica Neue"/>
              </a:defRPr>
            </a:defPPr>
          </a:lstStyle>
          <a:p xmlns:a="http://schemas.openxmlformats.org/drawingml/2006/main">
            <a:pPr algn="l">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Epinet outputs token entropy / an epistemic proxy; neither directly measures answer correctness. Audit: 8.66M trainable parameters.</a:t>
            </a:r>
          </a:p>
        </p:txBody>
      </p:sp>
      <p:sp>
        <p:nvSpPr>
          <p:cNvPr id="59" name="">
            <a:extLst xmlns:a="http://schemas.openxmlformats.org/drawingml/2006/main">
              <a:ext uri="{FF2B5EF4-FFF2-40B4-BE49-F238E27FC236}">
                <a16:creationId xmlns:a16="http://schemas.microsoft.com/office/drawing/2014/main" id="{223E8A81-7897-4C44-B1CC-E5285D5EF690}"/>
              </a:ext>
            </a:extLst>
          </p:cNvPr>
          <p:cNvSpPr>
            <a:spLocks xmlns:a="http://schemas.openxmlformats.org/drawingml/2006/main" noGrp="1"/>
          </p:cNvSpPr>
          <p:nvPr/>
        </p:nvSpPr>
        <p:spPr>
          <a:xfrm xmlns:a="http://schemas.openxmlformats.org/drawingml/2006/main">
            <a:off x="666750" y="48196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ANSWER-LEVEL DECISION PATH</a:t>
            </a:r>
          </a:p>
        </p:txBody>
      </p:sp>
      <p:sp>
        <p:nvSpPr>
          <p:cNvPr id="60" name="">
            <a:extLst xmlns:a="http://schemas.openxmlformats.org/drawingml/2006/main">
              <a:ext uri="{FF2B5EF4-FFF2-40B4-BE49-F238E27FC236}">
                <a16:creationId xmlns:a16="http://schemas.microsoft.com/office/drawing/2014/main" id="{585E423C-4CE0-4E3C-AB4F-287096B86CA8}"/>
              </a:ext>
            </a:extLst>
          </p:cNvPr>
          <p:cNvSpPr>
            <a:spLocks xmlns:a="http://schemas.openxmlformats.org/drawingml/2006/main" noGrp="1"/>
          </p:cNvSpPr>
          <p:nvPr/>
        </p:nvSpPr>
        <p:spPr>
          <a:xfrm xmlns:a="http://schemas.openxmlformats.org/drawingml/2006/main">
            <a:off x="6667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1" name="">
            <a:extLst xmlns:a="http://schemas.openxmlformats.org/drawingml/2006/main">
              <a:ext uri="{FF2B5EF4-FFF2-40B4-BE49-F238E27FC236}">
                <a16:creationId xmlns:a16="http://schemas.microsoft.com/office/drawing/2014/main" id="{06423E9F-4353-4FA7-8CF6-8F9F468F130D}"/>
              </a:ext>
            </a:extLst>
          </p:cNvPr>
          <p:cNvSpPr>
            <a:spLocks xmlns:a="http://schemas.openxmlformats.org/drawingml/2006/main" noGrp="1"/>
          </p:cNvSpPr>
          <p:nvPr/>
        </p:nvSpPr>
        <p:spPr>
          <a:xfrm xmlns:a="http://schemas.openxmlformats.org/drawingml/2006/main">
            <a:off x="666750" y="5124450"/>
            <a:ext cx="47625" cy="5524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08E537A-ACE8-4E27-AEF4-9B40DF7A64FF}"/>
              </a:ext>
            </a:extLst>
          </p:cNvPr>
          <p:cNvSpPr>
            <a:spLocks xmlns:a="http://schemas.openxmlformats.org/drawingml/2006/main" noGrp="1"/>
          </p:cNvSpPr>
          <p:nvPr/>
        </p:nvSpPr>
        <p:spPr>
          <a:xfrm xmlns:a="http://schemas.openxmlformats.org/drawingml/2006/main">
            <a:off x="8001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DoLa distribution</a:t>
            </a:r>
          </a:p>
        </p:txBody>
      </p:sp>
      <p:sp>
        <p:nvSpPr>
          <p:cNvPr id="63" name="">
            <a:extLst xmlns:a="http://schemas.openxmlformats.org/drawingml/2006/main">
              <a:ext uri="{FF2B5EF4-FFF2-40B4-BE49-F238E27FC236}">
                <a16:creationId xmlns:a16="http://schemas.microsoft.com/office/drawing/2014/main" id="{0CBE4F2F-339E-43D7-BB76-6959A66BA194}"/>
              </a:ext>
            </a:extLst>
          </p:cNvPr>
          <p:cNvSpPr>
            <a:spLocks xmlns:a="http://schemas.openxmlformats.org/drawingml/2006/main" noGrp="1"/>
          </p:cNvSpPr>
          <p:nvPr/>
        </p:nvSpPr>
        <p:spPr>
          <a:xfrm xmlns:a="http://schemas.openxmlformats.org/drawingml/2006/main">
            <a:off x="8001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token probabilities</a:t>
            </a:r>
          </a:p>
        </p:txBody>
      </p:sp>
      <p:sp>
        <p:nvSpPr>
          <p:cNvPr id="64" name="">
            <a:extLst xmlns:a="http://schemas.openxmlformats.org/drawingml/2006/main">
              <a:ext uri="{FF2B5EF4-FFF2-40B4-BE49-F238E27FC236}">
                <a16:creationId xmlns:a16="http://schemas.microsoft.com/office/drawing/2014/main" id="{0D1EC572-99C2-40E6-BBF1-80438707CEFE}"/>
              </a:ext>
            </a:extLst>
          </p:cNvPr>
          <p:cNvSpPr>
            <a:spLocks xmlns:a="http://schemas.openxmlformats.org/drawingml/2006/main" noGrp="1"/>
          </p:cNvSpPr>
          <p:nvPr/>
        </p:nvSpPr>
        <p:spPr>
          <a:xfrm xmlns:a="http://schemas.openxmlformats.org/drawingml/2006/main">
            <a:off x="29146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5" name="">
            <a:extLst xmlns:a="http://schemas.openxmlformats.org/drawingml/2006/main">
              <a:ext uri="{FF2B5EF4-FFF2-40B4-BE49-F238E27FC236}">
                <a16:creationId xmlns:a16="http://schemas.microsoft.com/office/drawing/2014/main" id="{2F6401E2-0407-475E-82AA-1428A8857602}"/>
              </a:ext>
            </a:extLst>
          </p:cNvPr>
          <p:cNvSpPr>
            <a:spLocks xmlns:a="http://schemas.openxmlformats.org/drawingml/2006/main" noGrp="1"/>
          </p:cNvSpPr>
          <p:nvPr/>
        </p:nvSpPr>
        <p:spPr>
          <a:xfrm xmlns:a="http://schemas.openxmlformats.org/drawingml/2006/main">
            <a:off x="2914650" y="5124450"/>
            <a:ext cx="47625" cy="5524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954822C5-3ADC-42CF-93A0-8C3FB1FA1611}"/>
              </a:ext>
            </a:extLst>
          </p:cNvPr>
          <p:cNvSpPr>
            <a:spLocks xmlns:a="http://schemas.openxmlformats.org/drawingml/2006/main" noGrp="1"/>
          </p:cNvSpPr>
          <p:nvPr/>
        </p:nvSpPr>
        <p:spPr>
          <a:xfrm xmlns:a="http://schemas.openxmlformats.org/drawingml/2006/main">
            <a:off x="30480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Sample N answers</a:t>
            </a:r>
          </a:p>
        </p:txBody>
      </p:sp>
      <p:sp>
        <p:nvSpPr>
          <p:cNvPr id="67" name="">
            <a:extLst xmlns:a="http://schemas.openxmlformats.org/drawingml/2006/main">
              <a:ext uri="{FF2B5EF4-FFF2-40B4-BE49-F238E27FC236}">
                <a16:creationId xmlns:a16="http://schemas.microsoft.com/office/drawing/2014/main" id="{54FBF6DA-5838-47D2-AB33-344C545136E5}"/>
              </a:ext>
            </a:extLst>
          </p:cNvPr>
          <p:cNvSpPr>
            <a:spLocks xmlns:a="http://schemas.openxmlformats.org/drawingml/2006/main" noGrp="1"/>
          </p:cNvSpPr>
          <p:nvPr/>
        </p:nvSpPr>
        <p:spPr>
          <a:xfrm xmlns:a="http://schemas.openxmlformats.org/drawingml/2006/main">
            <a:off x="30480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candidate strings</a:t>
            </a:r>
          </a:p>
        </p:txBody>
      </p:sp>
      <p:sp>
        <p:nvSpPr>
          <p:cNvPr id="68" name="">
            <a:extLst xmlns:a="http://schemas.openxmlformats.org/drawingml/2006/main">
              <a:ext uri="{FF2B5EF4-FFF2-40B4-BE49-F238E27FC236}">
                <a16:creationId xmlns:a16="http://schemas.microsoft.com/office/drawing/2014/main" id="{CDD8B0AA-027D-4ACD-9749-3B2B9783968D}"/>
              </a:ext>
            </a:extLst>
          </p:cNvPr>
          <p:cNvSpPr>
            <a:spLocks xmlns:a="http://schemas.openxmlformats.org/drawingml/2006/main" noGrp="1"/>
          </p:cNvSpPr>
          <p:nvPr/>
        </p:nvSpPr>
        <p:spPr>
          <a:xfrm xmlns:a="http://schemas.openxmlformats.org/drawingml/2006/main">
            <a:off x="51625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9" name="">
            <a:extLst xmlns:a="http://schemas.openxmlformats.org/drawingml/2006/main">
              <a:ext uri="{FF2B5EF4-FFF2-40B4-BE49-F238E27FC236}">
                <a16:creationId xmlns:a16="http://schemas.microsoft.com/office/drawing/2014/main" id="{F5C459DA-57F4-442B-B94E-BA4D9DAB1548}"/>
              </a:ext>
            </a:extLst>
          </p:cNvPr>
          <p:cNvSpPr>
            <a:spLocks xmlns:a="http://schemas.openxmlformats.org/drawingml/2006/main" noGrp="1"/>
          </p:cNvSpPr>
          <p:nvPr/>
        </p:nvSpPr>
        <p:spPr>
          <a:xfrm xmlns:a="http://schemas.openxmlformats.org/drawingml/2006/main">
            <a:off x="5162550" y="5124450"/>
            <a:ext cx="47625" cy="5524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44858424-D117-4D73-A247-7E6ACD2B5C69}"/>
              </a:ext>
            </a:extLst>
          </p:cNvPr>
          <p:cNvSpPr>
            <a:spLocks xmlns:a="http://schemas.openxmlformats.org/drawingml/2006/main" noGrp="1"/>
          </p:cNvSpPr>
          <p:nvPr/>
        </p:nvSpPr>
        <p:spPr>
          <a:xfrm xmlns:a="http://schemas.openxmlformats.org/drawingml/2006/main">
            <a:off x="52959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ENN scores</a:t>
            </a:r>
          </a:p>
        </p:txBody>
      </p:sp>
      <p:sp>
        <p:nvSpPr>
          <p:cNvPr id="71" name="">
            <a:extLst xmlns:a="http://schemas.openxmlformats.org/drawingml/2006/main">
              <a:ext uri="{FF2B5EF4-FFF2-40B4-BE49-F238E27FC236}">
                <a16:creationId xmlns:a16="http://schemas.microsoft.com/office/drawing/2014/main" id="{085C1312-8E59-4BF3-B581-2E5D44BB3BE4}"/>
              </a:ext>
            </a:extLst>
          </p:cNvPr>
          <p:cNvSpPr>
            <a:spLocks xmlns:a="http://schemas.openxmlformats.org/drawingml/2006/main" noGrp="1"/>
          </p:cNvSpPr>
          <p:nvPr/>
        </p:nvSpPr>
        <p:spPr>
          <a:xfrm xmlns:a="http://schemas.openxmlformats.org/drawingml/2006/main">
            <a:off x="52959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entropy heuristic</a:t>
            </a:r>
          </a:p>
        </p:txBody>
      </p:sp>
      <p:sp>
        <p:nvSpPr>
          <p:cNvPr id="72" name="">
            <a:extLst xmlns:a="http://schemas.openxmlformats.org/drawingml/2006/main">
              <a:ext uri="{FF2B5EF4-FFF2-40B4-BE49-F238E27FC236}">
                <a16:creationId xmlns:a16="http://schemas.microsoft.com/office/drawing/2014/main" id="{CF1FD0C6-9AC5-43F0-B732-A1789BEA0D87}"/>
              </a:ext>
            </a:extLst>
          </p:cNvPr>
          <p:cNvSpPr>
            <a:spLocks xmlns:a="http://schemas.openxmlformats.org/drawingml/2006/main" noGrp="1"/>
          </p:cNvSpPr>
          <p:nvPr/>
        </p:nvSpPr>
        <p:spPr>
          <a:xfrm xmlns:a="http://schemas.openxmlformats.org/drawingml/2006/main">
            <a:off x="74104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73" name="">
            <a:extLst xmlns:a="http://schemas.openxmlformats.org/drawingml/2006/main">
              <a:ext uri="{FF2B5EF4-FFF2-40B4-BE49-F238E27FC236}">
                <a16:creationId xmlns:a16="http://schemas.microsoft.com/office/drawing/2014/main" id="{DE17792E-CB57-48C3-A882-C78FB58160B9}"/>
              </a:ext>
            </a:extLst>
          </p:cNvPr>
          <p:cNvSpPr>
            <a:spLocks xmlns:a="http://schemas.openxmlformats.org/drawingml/2006/main" noGrp="1"/>
          </p:cNvSpPr>
          <p:nvPr/>
        </p:nvSpPr>
        <p:spPr>
          <a:xfrm xmlns:a="http://schemas.openxmlformats.org/drawingml/2006/main">
            <a:off x="7410450" y="5124450"/>
            <a:ext cx="47625" cy="5524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C09F005F-1A93-4F63-A154-840BEA36F1F9}"/>
              </a:ext>
            </a:extLst>
          </p:cNvPr>
          <p:cNvSpPr>
            <a:spLocks xmlns:a="http://schemas.openxmlformats.org/drawingml/2006/main" noGrp="1"/>
          </p:cNvSpPr>
          <p:nvPr/>
        </p:nvSpPr>
        <p:spPr>
          <a:xfrm xmlns:a="http://schemas.openxmlformats.org/drawingml/2006/main">
            <a:off x="75438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Aggregate votes</a:t>
            </a:r>
          </a:p>
        </p:txBody>
      </p:sp>
      <p:sp>
        <p:nvSpPr>
          <p:cNvPr id="75" name="">
            <a:extLst xmlns:a="http://schemas.openxmlformats.org/drawingml/2006/main">
              <a:ext uri="{FF2B5EF4-FFF2-40B4-BE49-F238E27FC236}">
                <a16:creationId xmlns:a16="http://schemas.microsoft.com/office/drawing/2014/main" id="{A0A23A07-113F-42EB-9DCE-4433BBBE704A}"/>
              </a:ext>
            </a:extLst>
          </p:cNvPr>
          <p:cNvSpPr>
            <a:spLocks xmlns:a="http://schemas.openxmlformats.org/drawingml/2006/main" noGrp="1"/>
          </p:cNvSpPr>
          <p:nvPr/>
        </p:nvSpPr>
        <p:spPr>
          <a:xfrm xmlns:a="http://schemas.openxmlformats.org/drawingml/2006/main">
            <a:off x="75438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plurality / weighted</a:t>
            </a:r>
          </a:p>
        </p:txBody>
      </p:sp>
      <p:sp>
        <p:nvSpPr>
          <p:cNvPr id="76" name="">
            <a:extLst xmlns:a="http://schemas.openxmlformats.org/drawingml/2006/main">
              <a:ext uri="{FF2B5EF4-FFF2-40B4-BE49-F238E27FC236}">
                <a16:creationId xmlns:a16="http://schemas.microsoft.com/office/drawing/2014/main" id="{F1786CD4-722C-4EC0-9E78-15509B4568A7}"/>
              </a:ext>
            </a:extLst>
          </p:cNvPr>
          <p:cNvSpPr>
            <a:spLocks xmlns:a="http://schemas.openxmlformats.org/drawingml/2006/main" noGrp="1"/>
          </p:cNvSpPr>
          <p:nvPr/>
        </p:nvSpPr>
        <p:spPr>
          <a:xfrm xmlns:a="http://schemas.openxmlformats.org/drawingml/2006/main">
            <a:off x="96583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77" name="">
            <a:extLst xmlns:a="http://schemas.openxmlformats.org/drawingml/2006/main">
              <a:ext uri="{FF2B5EF4-FFF2-40B4-BE49-F238E27FC236}">
                <a16:creationId xmlns:a16="http://schemas.microsoft.com/office/drawing/2014/main" id="{E7DDC526-8F16-4BEB-8849-B78AB538608A}"/>
              </a:ext>
            </a:extLst>
          </p:cNvPr>
          <p:cNvSpPr>
            <a:spLocks xmlns:a="http://schemas.openxmlformats.org/drawingml/2006/main" noGrp="1"/>
          </p:cNvSpPr>
          <p:nvPr/>
        </p:nvSpPr>
        <p:spPr>
          <a:xfrm xmlns:a="http://schemas.openxmlformats.org/drawingml/2006/main">
            <a:off x="9658350" y="5124450"/>
            <a:ext cx="47625" cy="5524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BC2A476B-790A-4A35-8252-9652D9424999}"/>
              </a:ext>
            </a:extLst>
          </p:cNvPr>
          <p:cNvSpPr>
            <a:spLocks xmlns:a="http://schemas.openxmlformats.org/drawingml/2006/main" noGrp="1"/>
          </p:cNvSpPr>
          <p:nvPr/>
        </p:nvSpPr>
        <p:spPr>
          <a:xfrm xmlns:a="http://schemas.openxmlformats.org/drawingml/2006/main">
            <a:off x="97917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Final answer</a:t>
            </a:r>
          </a:p>
        </p:txBody>
      </p:sp>
      <p:sp>
        <p:nvSpPr>
          <p:cNvPr id="79" name="">
            <a:extLst xmlns:a="http://schemas.openxmlformats.org/drawingml/2006/main">
              <a:ext uri="{FF2B5EF4-FFF2-40B4-BE49-F238E27FC236}">
                <a16:creationId xmlns:a16="http://schemas.microsoft.com/office/drawing/2014/main" id="{6E8EE6A9-8F1F-4877-9AD3-99B1E99ED72D}"/>
              </a:ext>
            </a:extLst>
          </p:cNvPr>
          <p:cNvSpPr>
            <a:spLocks xmlns:a="http://schemas.openxmlformats.org/drawingml/2006/main" noGrp="1"/>
          </p:cNvSpPr>
          <p:nvPr/>
        </p:nvSpPr>
        <p:spPr>
          <a:xfrm xmlns:a="http://schemas.openxmlformats.org/drawingml/2006/main">
            <a:off x="97917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selected response</a:t>
            </a:r>
          </a:p>
        </p:txBody>
      </p:sp>
      <p:sp>
        <p:nvSpPr>
          <p:cNvPr id="80" name="">
            <a:extLst xmlns:a="http://schemas.openxmlformats.org/drawingml/2006/main">
              <a:ext uri="{FF2B5EF4-FFF2-40B4-BE49-F238E27FC236}">
                <a16:creationId xmlns:a16="http://schemas.microsoft.com/office/drawing/2014/main" id="{DCA1853C-8707-45C1-83EC-1AE4FDCED09E}"/>
              </a:ext>
            </a:extLst>
          </p:cNvPr>
          <p:cNvSpPr>
            <a:spLocks xmlns:a="http://schemas.openxmlformats.org/drawingml/2006/main" noGrp="1"/>
          </p:cNvSpPr>
          <p:nvPr/>
        </p:nvSpPr>
        <p:spPr>
          <a:xfrm xmlns:a="http://schemas.openxmlformats.org/drawingml/2006/main" flipV="0">
            <a:off x="25146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1" name="">
            <a:extLst xmlns:a="http://schemas.openxmlformats.org/drawingml/2006/main">
              <a:ext uri="{FF2B5EF4-FFF2-40B4-BE49-F238E27FC236}">
                <a16:creationId xmlns:a16="http://schemas.microsoft.com/office/drawing/2014/main" id="{B00F50A4-AEA0-47ED-90FA-AEBDCE292110}"/>
              </a:ext>
            </a:extLst>
          </p:cNvPr>
          <p:cNvSpPr>
            <a:spLocks xmlns:a="http://schemas.openxmlformats.org/drawingml/2006/main" noGrp="1"/>
          </p:cNvSpPr>
          <p:nvPr/>
        </p:nvSpPr>
        <p:spPr>
          <a:xfrm xmlns:a="http://schemas.openxmlformats.org/drawingml/2006/main" rot="5400000">
            <a:off x="27336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59B21EAE-9972-4BBD-84CA-B67DB1CC4588}"/>
              </a:ext>
            </a:extLst>
          </p:cNvPr>
          <p:cNvSpPr>
            <a:spLocks xmlns:a="http://schemas.openxmlformats.org/drawingml/2006/main" noGrp="1"/>
          </p:cNvSpPr>
          <p:nvPr/>
        </p:nvSpPr>
        <p:spPr>
          <a:xfrm xmlns:a="http://schemas.openxmlformats.org/drawingml/2006/main" flipV="0">
            <a:off x="47625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3" name="">
            <a:extLst xmlns:a="http://schemas.openxmlformats.org/drawingml/2006/main">
              <a:ext uri="{FF2B5EF4-FFF2-40B4-BE49-F238E27FC236}">
                <a16:creationId xmlns:a16="http://schemas.microsoft.com/office/drawing/2014/main" id="{62D439F6-9117-4F7E-8229-4180C923BFA9}"/>
              </a:ext>
            </a:extLst>
          </p:cNvPr>
          <p:cNvSpPr>
            <a:spLocks xmlns:a="http://schemas.openxmlformats.org/drawingml/2006/main" noGrp="1"/>
          </p:cNvSpPr>
          <p:nvPr/>
        </p:nvSpPr>
        <p:spPr>
          <a:xfrm xmlns:a="http://schemas.openxmlformats.org/drawingml/2006/main" rot="5400000">
            <a:off x="49815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D150E58D-117E-49AB-8786-EE571A264917}"/>
              </a:ext>
            </a:extLst>
          </p:cNvPr>
          <p:cNvSpPr>
            <a:spLocks xmlns:a="http://schemas.openxmlformats.org/drawingml/2006/main" noGrp="1"/>
          </p:cNvSpPr>
          <p:nvPr/>
        </p:nvSpPr>
        <p:spPr>
          <a:xfrm xmlns:a="http://schemas.openxmlformats.org/drawingml/2006/main" flipV="0">
            <a:off x="70104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5" name="">
            <a:extLst xmlns:a="http://schemas.openxmlformats.org/drawingml/2006/main">
              <a:ext uri="{FF2B5EF4-FFF2-40B4-BE49-F238E27FC236}">
                <a16:creationId xmlns:a16="http://schemas.microsoft.com/office/drawing/2014/main" id="{AB2363F3-9B70-4C38-B851-40B99CD5DCE4}"/>
              </a:ext>
            </a:extLst>
          </p:cNvPr>
          <p:cNvSpPr>
            <a:spLocks xmlns:a="http://schemas.openxmlformats.org/drawingml/2006/main" noGrp="1"/>
          </p:cNvSpPr>
          <p:nvPr/>
        </p:nvSpPr>
        <p:spPr>
          <a:xfrm xmlns:a="http://schemas.openxmlformats.org/drawingml/2006/main" rot="5400000">
            <a:off x="72294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B433128A-669B-4DFF-80A3-97143A9034FF}"/>
              </a:ext>
            </a:extLst>
          </p:cNvPr>
          <p:cNvSpPr>
            <a:spLocks xmlns:a="http://schemas.openxmlformats.org/drawingml/2006/main" noGrp="1"/>
          </p:cNvSpPr>
          <p:nvPr/>
        </p:nvSpPr>
        <p:spPr>
          <a:xfrm xmlns:a="http://schemas.openxmlformats.org/drawingml/2006/main" flipV="0">
            <a:off x="92583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7" name="">
            <a:extLst xmlns:a="http://schemas.openxmlformats.org/drawingml/2006/main">
              <a:ext uri="{FF2B5EF4-FFF2-40B4-BE49-F238E27FC236}">
                <a16:creationId xmlns:a16="http://schemas.microsoft.com/office/drawing/2014/main" id="{CB4E98D6-171F-41FC-90A7-723A50C4EEBE}"/>
              </a:ext>
            </a:extLst>
          </p:cNvPr>
          <p:cNvSpPr>
            <a:spLocks xmlns:a="http://schemas.openxmlformats.org/drawingml/2006/main" noGrp="1"/>
          </p:cNvSpPr>
          <p:nvPr/>
        </p:nvSpPr>
        <p:spPr>
          <a:xfrm xmlns:a="http://schemas.openxmlformats.org/drawingml/2006/main" rot="5400000">
            <a:off x="94773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688A7693-BF3D-4710-BF9C-9166D6C6FF0C}"/>
              </a:ext>
            </a:extLst>
          </p:cNvPr>
          <p:cNvSpPr>
            <a:spLocks xmlns:a="http://schemas.openxmlformats.org/drawingml/2006/main" noGrp="1"/>
          </p:cNvSpPr>
          <p:nvPr/>
        </p:nvSpPr>
        <p:spPr>
          <a:xfrm xmlns:a="http://schemas.openxmlformats.org/drawingml/2006/main">
            <a:off x="685800" y="582930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uses answer counts; weighted voting uses entropy-derived scores.</a:t>
            </a:r>
          </a:p>
        </p:txBody>
      </p:sp>
    </p:spTree>
    <p:extLst>
      <p:ext uri="{BB962C8B-B14F-4D97-AF65-F5344CB8AC3E}">
        <p14:creationId xmlns:p14="http://schemas.microsoft.com/office/powerpoint/2010/main" val="68924139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74FF026-FFC5-4224-BDD1-28ED03DB784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A950F6-CD95-421E-89C4-2DAA367FB183}"/>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DECD9AB7-7697-42A0-8197-546FA6B830D4}"/>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7CD40A88-C3DE-476F-BDB4-AC22B447E63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1470736C-2220-444B-A20C-52BF634B86E5}"/>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1CD0889B-F17E-4647-9C75-FD9672C8F9A0}"/>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0F63981F-7415-428B-B6DE-B074457D008A}"/>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5DFB186A-FB0F-4B55-A5FA-48618FCEDAC4}"/>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2CEF588E-5B94-41C3-A876-51B4138D7A88}"/>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270CBE1C-AB84-4F74-A540-4C92713FDDE4}"/>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1,637  /  validation 204</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  max length 128</a:t>
            </a:r>
          </a:p>
        </p:txBody>
      </p:sp>
      <p:sp>
        <p:nvSpPr>
          <p:cNvPr id="11" name="">
            <a:extLst xmlns:a="http://schemas.openxmlformats.org/drawingml/2006/main">
              <a:ext uri="{FF2B5EF4-FFF2-40B4-BE49-F238E27FC236}">
                <a16:creationId xmlns:a16="http://schemas.microsoft.com/office/drawing/2014/main" id="{67F086BE-6BCD-401B-80D9-5D7ED5FF17F3}"/>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96CA5457-AB60-4694-B642-4642E6C2909E}"/>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E29CC4CD-7027-4B0A-B825-73EBBD9FF43E}"/>
              </a:ext>
            </a:extLst>
          </p:cNvPr>
          <p:cNvSpPr>
            <a:spLocks xmlns:a="http://schemas.openxmlformats.org/drawingml/2006/main" noGrp="1"/>
          </p:cNvSpPr>
          <p:nvPr/>
        </p:nvSpPr>
        <p:spPr>
          <a:xfrm xmlns:a="http://schemas.openxmlformats.org/drawingml/2006/main">
            <a:off x="6496050" y="1714500"/>
            <a:ext cx="5010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Cross-entropy  /  weight decay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Final train loss 2.3298  /  validation 2.5698</a:t>
            </a:r>
          </a:p>
        </p:txBody>
      </p:sp>
      <p:sp>
        <p:nvSpPr>
          <p:cNvPr id="14" name="">
            <a:extLst xmlns:a="http://schemas.openxmlformats.org/drawingml/2006/main">
              <a:ext uri="{FF2B5EF4-FFF2-40B4-BE49-F238E27FC236}">
                <a16:creationId xmlns:a16="http://schemas.microsoft.com/office/drawing/2014/main" id="{2D56F35E-51D7-42F8-8A75-E6D93687648E}"/>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58074674-A74E-4DFD-BEFF-35C338147C1A}"/>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TruthfulQA MC1/MC2 and C4 token metrics are saved.</a:t>
            </a:r>
          </a:p>
          <a:p xmlns:a="http://schemas.openxmlformats.org/drawingml/2006/main">
            <a:r>
              <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ENN checkpoint: checkpoints/enn_best.pt</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Recorded backend: MPS  /  device model and RAM: [TO BE PROVIDED]</a:t>
            </a:r>
          </a:p>
        </p:txBody>
      </p:sp>
      <p:sp>
        <p:nvSpPr>
          <p:cNvPr id="16" name="">
            <a:extLst xmlns:a="http://schemas.openxmlformats.org/drawingml/2006/main">
              <a:ext uri="{FF2B5EF4-FFF2-40B4-BE49-F238E27FC236}">
                <a16:creationId xmlns:a16="http://schemas.microsoft.com/office/drawing/2014/main" id="{758CECA9-0E86-49F6-88D5-0687FA958385}"/>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2FFA56-7F3B-430B-8B67-3BBFCD263E6A}"/>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Recorded software: Python 3.10.20  /  PyTorch 2.11.0  /  Transformers 5.17.0</a:t>
            </a:r>
          </a:p>
        </p:txBody>
      </p:sp>
      <p:sp>
        <p:nvSpPr>
          <p:cNvPr id="18" name="">
            <a:extLst xmlns:a="http://schemas.openxmlformats.org/drawingml/2006/main">
              <a:ext uri="{FF2B5EF4-FFF2-40B4-BE49-F238E27FC236}">
                <a16:creationId xmlns:a16="http://schemas.microsoft.com/office/drawing/2014/main" id="{81A517AF-39DA-41E5-AF26-961A016868C1}"/>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Training history is saved. Exact C4 source revision, machine model and RAM are not recorded.</a:t>
            </a:r>
          </a:p>
        </p:txBody>
      </p:sp>
    </p:spTree>
    <p:extLst>
      <p:ext uri="{BB962C8B-B14F-4D97-AF65-F5344CB8AC3E}">
        <p14:creationId xmlns:p14="http://schemas.microsoft.com/office/powerpoint/2010/main" val="504297712"/>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4C2015E-1FD8-4A4B-8CEA-853387FFD92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8CD2E2-5882-4FF9-AFD9-D980FC8984DC}"/>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80B3FE85-6089-420A-8B97-27FB8E3DF594}"/>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Saved evaluations show small and mixed effects. Each comparison below keeps its evaluation slice and settings visible.</a:t>
            </a:r>
          </a:p>
        </p:txBody>
      </p:sp>
      <p:sp>
        <p:nvSpPr>
          <p:cNvPr id="4" name="">
            <a:extLst xmlns:a="http://schemas.openxmlformats.org/drawingml/2006/main">
              <a:ext uri="{FF2B5EF4-FFF2-40B4-BE49-F238E27FC236}">
                <a16:creationId xmlns:a16="http://schemas.microsoft.com/office/drawing/2014/main" id="{C4B44EC7-0C1F-4CC4-8E63-A0298CE47DC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4506149D-8257-421C-AAE5-3CC0C39B1A55}"/>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76CE444-DA61-427D-A687-ACABAC36BCD6}"/>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1CC56F44-820B-47AA-8433-4E1FB570374B}"/>
              </a:ext>
            </a:extLst>
          </p:cNvPr>
          <p:cNvSpPr>
            <a:spLocks xmlns:a="http://schemas.openxmlformats.org/drawingml/2006/main" noGrp="1"/>
          </p:cNvSpPr>
          <p:nvPr/>
        </p:nvSpPr>
        <p:spPr>
          <a:xfrm xmlns:a="http://schemas.openxmlformats.org/drawingml/2006/main">
            <a:off x="704850" y="1381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253F"/>
                </a:solidFill>
                <a:latin typeface="Helvetica Neue"/>
                <a:ea typeface="Helvetica Neue"/>
                <a:cs typeface="Helvetica Neue"/>
              </a:defRPr>
            </a:defPPr>
          </a:lstStyle>
          <a:p xmlns:a="http://schemas.openxmlformats.org/drawingml/2006/main">
            <a:pPr algn="l">
              <a:lnSpc>
                <a:spcPct val="105000"/>
              </a:lnSpc>
              <a:buNone/>
              <a:defRPr sz="1575" b="1">
                <a:solidFill>
                  <a:srgbClr val="10253F"/>
                </a:solidFill>
                <a:latin typeface="Helvetica Neue"/>
                <a:ea typeface="Helvetica Neue"/>
                <a:cs typeface="Helvetica Neue"/>
              </a:defRPr>
            </a:pPr>
            <a:r>
              <a:rPr sz="1575" b="1">
                <a:solidFill>
                  <a:srgbClr val="10253F"/>
                </a:solidFill>
                <a:latin typeface="Helvetica Neue"/>
                <a:ea typeface="Helvetica Neue"/>
                <a:cs typeface="Helvetica Neue"/>
              </a:rPr>
              <a:t>Held-out C4 next-token evaluation</a:t>
            </a:r>
          </a:p>
        </p:txBody>
      </p:sp>
      <p:sp>
        <p:nvSpPr>
          <p:cNvPr id="8" name="">
            <a:extLst xmlns:a="http://schemas.openxmlformats.org/drawingml/2006/main">
              <a:ext uri="{FF2B5EF4-FFF2-40B4-BE49-F238E27FC236}">
                <a16:creationId xmlns:a16="http://schemas.microsoft.com/office/drawing/2014/main" id="{4E5C75CE-D5F8-4EA3-A6A1-0C256CF6E7CF}"/>
              </a:ext>
            </a:extLst>
          </p:cNvPr>
          <p:cNvSpPr>
            <a:spLocks xmlns:a="http://schemas.openxmlformats.org/drawingml/2006/main" noGrp="1"/>
          </p:cNvSpPr>
          <p:nvPr/>
        </p:nvSpPr>
        <p:spPr>
          <a:xfrm xmlns:a="http://schemas.openxmlformats.org/drawingml/2006/main">
            <a:off x="704850" y="1685925"/>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100 texts  /  9,431 tokens  /  α = 0.05</a:t>
            </a:r>
          </a:p>
        </p:txBody>
      </p:sp>
      <p:graphicFrame>
        <p:nvGraphicFramePr>
          <p:cNvPr id="9" name="">
            <a:extLst xmlns:a="http://schemas.openxmlformats.org/drawingml/2006/main">
              <a:ext uri="{FF2B5EF4-FFF2-40B4-BE49-F238E27FC236}">
                <a16:creationId xmlns:a16="http://schemas.microsoft.com/office/drawing/2014/main" id="{64EDDD80-8B9F-4465-84E0-3E68945FA387}"/>
              </a:ext>
            </a:extLst>
          </p:cNvPr>
          <p:cNvGraphicFramePr/>
          <p:nvPr/>
        </p:nvGraphicFramePr>
        <p:xfrm>
          <a:off xmlns:a="http://schemas.openxmlformats.org/drawingml/2006/main" x="685800" y="2019300"/>
          <a:ext xmlns:a="http://schemas.openxmlformats.org/drawingml/2006/main" cx="10706100" cy="1352550"/>
        </p:xfrm>
        <a:graphic xmlns:a="http://schemas.openxmlformats.org/drawingml/2006/main">
          <a:graphicData uri="http://schemas.openxmlformats.org/drawingml/2006/table">
            <a:tbl>
              <a:tblPr firstRow="1" firstCol="1" bandRow="1"/>
              <a:tblGrid>
                <a:gridCol w="1784350"/>
                <a:gridCol w="1784350"/>
                <a:gridCol w="1784350"/>
                <a:gridCol w="1784350"/>
                <a:gridCol w="1784350"/>
                <a:gridCol w="1784350"/>
              </a:tblGrid>
              <a:tr h="450850">
                <a:tc>
                  <a:txBody>
                    <a:bodyPr wrap="square">
                      <a:normAutofit/>
                    </a:bodyPr>
                    <a:lstStyle/>
                    <a:p>
                      <a:pPr algn="l"/>
                      <a:r>
                        <a:rPr sz="1200"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ENN weight</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Top-1</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Top-5</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Perplexity</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Tokens</a:t>
                      </a:r>
                    </a:p>
                  </a:txBody>
                  <a:tcPr marL="91440" marR="91440" marT="45720" marB="45720" anchor="ctr">
                    <a:solidFill>
                      <a:srgbClr val="10253F"/>
                    </a:solidFill>
                  </a:tcPr>
                </a:tc>
              </a:tr>
              <a:tr h="450850">
                <a:tc>
                  <a:txBody>
                    <a:bodyPr wrap="square">
                      <a:normAutofit/>
                    </a:bodyPr>
                    <a:lstStyle/>
                    <a:p>
                      <a:pPr algn="l"/>
                      <a:r>
                        <a:rPr sz="1200" b="1">
                          <a:solidFill>
                            <a:srgbClr val="10253F"/>
                          </a:solidFill>
                          <a:latin typeface="Helvetica Neue"/>
                          <a:ea typeface="Helvetica Neue"/>
                          <a:cs typeface="Helvetica Neue"/>
                        </a:rPr>
                        <a:t>DoLa</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0.0</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50.22%</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72.84%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10.7034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FFFFFF"/>
                    </a:solidFill>
                  </a:tcPr>
                </a:tc>
              </a:tr>
              <a:tr h="450850">
                <a:tc>
                  <a:txBody>
                    <a:bodyPr wrap="square">
                      <a:normAutofit/>
                    </a:bodyPr>
                    <a:lstStyle/>
                    <a:p>
                      <a:pPr algn="l"/>
                      <a:r>
                        <a:rPr sz="1200" b="1">
                          <a:solidFill>
                            <a:srgbClr val="10253F"/>
                          </a:solidFill>
                          <a:latin typeface="Helvetica Neue"/>
                          <a:ea typeface="Helvetica Neue"/>
                          <a:cs typeface="Helvetica Neue"/>
                        </a:rPr>
                        <a:t>DoLa + ENN</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0.2</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50.31%</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72.89%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10.7189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2C7161A2-2BDB-4B94-BDB1-06F35A263913}"/>
              </a:ext>
            </a:extLst>
          </p:cNvPr>
          <p:cNvSpPr>
            <a:spLocks xmlns:a="http://schemas.openxmlformats.org/drawingml/2006/main" noGrp="1"/>
          </p:cNvSpPr>
          <p:nvPr/>
        </p:nvSpPr>
        <p:spPr>
          <a:xfrm xmlns:a="http://schemas.openxmlformats.org/drawingml/2006/main">
            <a:off x="723900" y="35052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On this slice, ENN weight 0.2 raised top-1 by 0.09 percentage points and top-5 by 0.05 points, while perplexity rose by 0.0155. Differences are descriptive only.</a:t>
            </a:r>
          </a:p>
        </p:txBody>
      </p:sp>
      <p:sp>
        <p:nvSpPr>
          <p:cNvPr id="11" name="">
            <a:extLst xmlns:a="http://schemas.openxmlformats.org/drawingml/2006/main">
              <a:ext uri="{FF2B5EF4-FFF2-40B4-BE49-F238E27FC236}">
                <a16:creationId xmlns:a16="http://schemas.microsoft.com/office/drawing/2014/main" id="{0590AD15-F0F5-411C-BA25-41E76BFF4005}"/>
              </a:ext>
            </a:extLst>
          </p:cNvPr>
          <p:cNvSpPr>
            <a:spLocks xmlns:a="http://schemas.openxmlformats.org/drawingml/2006/main" noGrp="1"/>
          </p:cNvSpPr>
          <p:nvPr/>
        </p:nvSpPr>
        <p:spPr>
          <a:xfrm xmlns:a="http://schemas.openxmlformats.org/drawingml/2006/main" flipV="0">
            <a:off x="704850" y="40576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A00F01DC-E789-432F-B880-8A78F28614DA}"/>
              </a:ext>
            </a:extLst>
          </p:cNvPr>
          <p:cNvSpPr>
            <a:spLocks xmlns:a="http://schemas.openxmlformats.org/drawingml/2006/main" noGrp="1"/>
          </p:cNvSpPr>
          <p:nvPr/>
        </p:nvSpPr>
        <p:spPr>
          <a:xfrm xmlns:a="http://schemas.openxmlformats.org/drawingml/2006/main">
            <a:off x="704850" y="421005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TruthfulQA MC1 / MC2  ·  10 questions per slice</a:t>
            </a:r>
          </a:p>
        </p:txBody>
      </p:sp>
      <p:sp>
        <p:nvSpPr>
          <p:cNvPr id="13" name="">
            <a:extLst xmlns:a="http://schemas.openxmlformats.org/drawingml/2006/main">
              <a:ext uri="{FF2B5EF4-FFF2-40B4-BE49-F238E27FC236}">
                <a16:creationId xmlns:a16="http://schemas.microsoft.com/office/drawing/2014/main" id="{8DF29E4D-E320-4746-837B-87F817FB3A75}"/>
              </a:ext>
            </a:extLst>
          </p:cNvPr>
          <p:cNvSpPr>
            <a:spLocks xmlns:a="http://schemas.openxmlformats.org/drawingml/2006/main" noGrp="1"/>
          </p:cNvSpPr>
          <p:nvPr/>
        </p:nvSpPr>
        <p:spPr>
          <a:xfrm xmlns:a="http://schemas.openxmlformats.org/drawingml/2006/main">
            <a:off x="723900" y="4572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Q0–9  |  α=1, weight=1  |  Base / DoLa / DoLa+ENN  |  MC1: 0.70 / 0.40 / 0.40  |  MC2: 0.4931 / 0.4546 / 0.4511</a:t>
            </a:r>
          </a:p>
        </p:txBody>
      </p:sp>
      <p:sp>
        <p:nvSpPr>
          <p:cNvPr id="14" name="">
            <a:extLst xmlns:a="http://schemas.openxmlformats.org/drawingml/2006/main">
              <a:ext uri="{FF2B5EF4-FFF2-40B4-BE49-F238E27FC236}">
                <a16:creationId xmlns:a16="http://schemas.microsoft.com/office/drawing/2014/main" id="{D10B560D-4EC3-4AC8-8EC7-F9ED24ACED5E}"/>
              </a:ext>
            </a:extLst>
          </p:cNvPr>
          <p:cNvSpPr>
            <a:spLocks xmlns:a="http://schemas.openxmlformats.org/drawingml/2006/main" noGrp="1"/>
          </p:cNvSpPr>
          <p:nvPr/>
        </p:nvSpPr>
        <p:spPr>
          <a:xfrm xmlns:a="http://schemas.openxmlformats.org/drawingml/2006/main">
            <a:off x="723900" y="498157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Q10–19  |  α=0.05, weight=0  |  Base / DoLa / DoLa+ENN  |  MC1: 0.30 / 0.30 / 0.30  |  MC2: 0.4076 / 0.4066 / 0.4066</a:t>
            </a:r>
          </a:p>
        </p:txBody>
      </p:sp>
      <p:sp>
        <p:nvSpPr>
          <p:cNvPr id="15" name="">
            <a:extLst xmlns:a="http://schemas.openxmlformats.org/drawingml/2006/main">
              <a:ext uri="{FF2B5EF4-FFF2-40B4-BE49-F238E27FC236}">
                <a16:creationId xmlns:a16="http://schemas.microsoft.com/office/drawing/2014/main" id="{17B9D13C-5DFE-4758-8880-6CEC0ECCE753}"/>
              </a:ext>
            </a:extLst>
          </p:cNvPr>
          <p:cNvSpPr>
            <a:spLocks xmlns:a="http://schemas.openxmlformats.org/drawingml/2006/main" noGrp="1"/>
          </p:cNvSpPr>
          <p:nvPr/>
        </p:nvSpPr>
        <p:spPr>
          <a:xfrm xmlns:a="http://schemas.openxmlformats.org/drawingml/2006/main">
            <a:off x="685800" y="5524500"/>
            <a:ext cx="10706100" cy="495300"/>
          </a:xfrm>
          <a:prstGeom xmlns:a="http://schemas.openxmlformats.org/drawingml/2006/main" prst="roundRect">
            <a:avLst>
              <a:gd name="adj" fmla="val 15385"/>
            </a:avLst>
          </a:prstGeom>
          <a:solidFill xmlns:a="http://schemas.openxmlformats.org/drawingml/2006/main">
            <a:srgbClr val="F5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088B9C-6039-4EB8-8DC7-06C9B36B7760}"/>
              </a:ext>
            </a:extLst>
          </p:cNvPr>
          <p:cNvSpPr>
            <a:spLocks xmlns:a="http://schemas.openxmlformats.org/drawingml/2006/main" noGrp="1"/>
          </p:cNvSpPr>
          <p:nvPr/>
        </p:nvSpPr>
        <p:spPr>
          <a:xfrm xmlns:a="http://schemas.openxmlformats.org/drawingml/2006/main">
            <a:off x="876300" y="56388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Small, differently configured slices. No reliable overall improvement can be concluded.</a:t>
            </a:r>
          </a:p>
        </p:txBody>
      </p:sp>
    </p:spTree>
    <p:extLst>
      <p:ext uri="{BB962C8B-B14F-4D97-AF65-F5344CB8AC3E}">
        <p14:creationId xmlns:p14="http://schemas.microsoft.com/office/powerpoint/2010/main" val="1843585461"/>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486FC28-E579-41CC-ACFB-E9917EE61A0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78C6C8-AFCE-4D6C-9BD0-7BE61C5AC53A}"/>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D6B0ABE4-292E-42B2-AC01-AD366D434AE4}"/>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19A7F2F4-E839-40F5-8B8E-DD064CE0146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85E82A59-800F-478C-80C6-FEBBC3FC5832}"/>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214ABE74-22BD-4246-B971-A9A45A63B9E4}"/>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E8E3C07B-2A7B-4D9F-A962-3B945D78DD11}"/>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365A0FC8-3F05-40A1-8783-1BD539F8DC95}"/>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A74C379E-4546-48EB-B6D6-A7F9BBF4ACEF}"/>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Recorded C4 and TruthfulQA evaluations show mixed results. The small slices do not establish a general factuality or reliability gain.</a:t>
            </a:r>
          </a:p>
        </p:txBody>
      </p:sp>
      <p:sp>
        <p:nvSpPr>
          <p:cNvPr id="10" name="">
            <a:extLst xmlns:a="http://schemas.openxmlformats.org/drawingml/2006/main">
              <a:ext uri="{FF2B5EF4-FFF2-40B4-BE49-F238E27FC236}">
                <a16:creationId xmlns:a16="http://schemas.microsoft.com/office/drawing/2014/main" id="{92261F28-27FD-43A7-91EC-7AE839EFBDCF}"/>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14431539-D45F-4410-B17D-E26144433477}"/>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9B50893B-7AEB-4EB5-8731-28CD26636245}"/>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D53478-12FC-495A-8FFB-CAF3B2E119F8}"/>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0EC81780-69B0-42A9-B307-BB21D99A7343}"/>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C373BF14-4DF8-43CB-869A-E1BBEFD7ED10}"/>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6C1E2D4-702E-43A5-A8C9-0D98152A5722}"/>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808F20FD-14EE-4120-863C-B9EFEB89592C}"/>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C2E7F47F-3344-451E-B181-5008E479CDBF}"/>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96A471-4A85-48C6-906D-D4CCB1A7614B}"/>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2ECF704A-0031-4A4F-A8F1-5F5CCC997CB4}"/>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CC42B8D4-63C4-484B-BA4C-A8819DD4381C}"/>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F27D9BD-7AC2-415E-B4B0-62927014D52A}"/>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8697A123-1F66-40B1-B599-B5729D588F48}"/>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C3041BC5-2ADC-4EE6-8C97-508573E18E20}"/>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2CC05B90-559A-46D9-AC63-ED9069326B88}"/>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358A8D81-B0BC-41E5-BF05-5811C77F0E9D}"/>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6674C22B-B851-42B4-9EDE-C5087D515047}"/>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475452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2026-10-02T12:26:09.4790000Z</dcterms:created>
  <dcterms:modified xsi:type="dcterms:W3CDTF">2026-10-02T12:26:09.4790000Z</dcterms:modified>
</coreProperties>
</file>