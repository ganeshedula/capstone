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ff05256b5b441f" /><Relationship Type="http://schemas.openxmlformats.org/officeDocument/2006/relationships/extended-properties" Target="/docProps/app.xml" Id="Rb5e0a147b2154ef9" /><Relationship Type="http://schemas.openxmlformats.org/officeDocument/2006/relationships/officeDocument" Target="/ppt/presentation.xml" Id="R535f18c4b44c4354" /></Relationships>
</file>

<file path=ppt/presentation.xml><?xml version="1.0" encoding="utf-8"?>
<p:presentation xmlns:p="http://schemas.openxmlformats.org/presentationml/2006/main">
  <p:sldMasterIdLst>
    <p:sldMasterId xmlns:r="http://schemas.openxmlformats.org/officeDocument/2006/relationships" id="2147483648" r:id="Re90709c027a24a68"/>
  </p:sldMasterIdLst>
  <p:notesMasterIdLst>
    <p:notesMasterId xmlns:r="http://schemas.openxmlformats.org/officeDocument/2006/relationships" r:id="Rb92031bcd0a744d8"/>
  </p:notesMasterIdLst>
  <p:sldIdLst>
    <p:sldId xmlns:r="http://schemas.openxmlformats.org/officeDocument/2006/relationships" id="256" r:id="Rf96899ba2c8e4b69"/>
    <p:sldId xmlns:r="http://schemas.openxmlformats.org/officeDocument/2006/relationships" id="257" r:id="R382246b687de4f36"/>
    <p:sldId xmlns:r="http://schemas.openxmlformats.org/officeDocument/2006/relationships" id="258" r:id="R273a4820f25f488f"/>
    <p:sldId xmlns:r="http://schemas.openxmlformats.org/officeDocument/2006/relationships" id="259" r:id="R52090b726bcb430e"/>
    <p:sldId xmlns:r="http://schemas.openxmlformats.org/officeDocument/2006/relationships" id="260" r:id="R60c3675803c84886"/>
    <p:sldId xmlns:r="http://schemas.openxmlformats.org/officeDocument/2006/relationships" id="261" r:id="Rd8ff24e005234780"/>
    <p:sldId xmlns:r="http://schemas.openxmlformats.org/officeDocument/2006/relationships" id="262" r:id="Rae91c560a8c94d64"/>
    <p:sldId xmlns:r="http://schemas.openxmlformats.org/officeDocument/2006/relationships" id="263" r:id="Rdc1b481026a5424c"/>
    <p:sldId xmlns:r="http://schemas.openxmlformats.org/officeDocument/2006/relationships" id="264" r:id="Rdbee0fa1e5d2402c"/>
    <p:sldId xmlns:r="http://schemas.openxmlformats.org/officeDocument/2006/relationships" id="265" r:id="Rf06c2a7e11b846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b21851f37e44a74" /><Relationship Type="http://schemas.openxmlformats.org/officeDocument/2006/relationships/slideMaster" Target="/ppt/slideMasters/slideMaster1.xml" Id="Re90709c027a24a68" /><Relationship Type="http://schemas.openxmlformats.org/officeDocument/2006/relationships/notesMaster" Target="/ppt/notesMasters/notesMaster1.xml" Id="Rb92031bcd0a744d8" /><Relationship Type="http://schemas.openxmlformats.org/officeDocument/2006/relationships/presProps" Target="/ppt/presProps.xml" Id="R0b37979a751f4aee" /><Relationship Type="http://schemas.openxmlformats.org/officeDocument/2006/relationships/tableStyles" Target="/ppt/tableStyles.xml" Id="R161ed892caf84ed3" /><Relationship Type="http://schemas.openxmlformats.org/officeDocument/2006/relationships/slide" Target="/ppt/slides/slide1.xml" Id="Rf96899ba2c8e4b69" /><Relationship Type="http://schemas.openxmlformats.org/officeDocument/2006/relationships/slide" Target="/ppt/slides/slide2.xml" Id="R382246b687de4f36" /><Relationship Type="http://schemas.openxmlformats.org/officeDocument/2006/relationships/slide" Target="/ppt/slides/slide3.xml" Id="R273a4820f25f488f" /><Relationship Type="http://schemas.openxmlformats.org/officeDocument/2006/relationships/slide" Target="/ppt/slides/slide4.xml" Id="R52090b726bcb430e" /><Relationship Type="http://schemas.openxmlformats.org/officeDocument/2006/relationships/slide" Target="/ppt/slides/slide5.xml" Id="R60c3675803c84886" /><Relationship Type="http://schemas.openxmlformats.org/officeDocument/2006/relationships/slide" Target="/ppt/slides/slide6.xml" Id="Rd8ff24e005234780" /><Relationship Type="http://schemas.openxmlformats.org/officeDocument/2006/relationships/slide" Target="/ppt/slides/slide7.xml" Id="Rae91c560a8c94d64" /><Relationship Type="http://schemas.openxmlformats.org/officeDocument/2006/relationships/slide" Target="/ppt/slides/slide8.xml" Id="Rdc1b481026a5424c" /><Relationship Type="http://schemas.openxmlformats.org/officeDocument/2006/relationships/slide" Target="/ppt/slides/slide9.xml" Id="Rdbee0fa1e5d2402c" /><Relationship Type="http://schemas.openxmlformats.org/officeDocument/2006/relationships/slide" Target="/ppt/slides/slide10.xml" Id="Rf06c2a7e11b846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69ebdc0cee48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2870828f214665" /><Relationship Type="http://schemas.openxmlformats.org/officeDocument/2006/relationships/notesMaster" Target="/ppt/notesMasters/notesMaster1.xml" Id="R7090da36696944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994bbaa3e9446f" /><Relationship Type="http://schemas.openxmlformats.org/officeDocument/2006/relationships/notesMaster" Target="/ppt/notesMasters/notesMaster1.xml" Id="R81089e182c7c40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d853e21c344e8f" /><Relationship Type="http://schemas.openxmlformats.org/officeDocument/2006/relationships/notesMaster" Target="/ppt/notesMasters/notesMaster1.xml" Id="Rf3d739128f524e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819b34e4eb34739" /><Relationship Type="http://schemas.openxmlformats.org/officeDocument/2006/relationships/notesMaster" Target="/ppt/notesMasters/notesMaster1.xml" Id="R53102773d8fa47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7d78de439b4a3b" /><Relationship Type="http://schemas.openxmlformats.org/officeDocument/2006/relationships/notesMaster" Target="/ppt/notesMasters/notesMaster1.xml" Id="R7f416a80aa7c4d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c7405b2da34a12" /><Relationship Type="http://schemas.openxmlformats.org/officeDocument/2006/relationships/notesMaster" Target="/ppt/notesMasters/notesMaster1.xml" Id="R72f8226ebc6d4d9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b805911ecf4cbc" /><Relationship Type="http://schemas.openxmlformats.org/officeDocument/2006/relationships/notesMaster" Target="/ppt/notesMasters/notesMaster1.xml" Id="Rd079fb303f7046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4366ce39d64b68" /><Relationship Type="http://schemas.openxmlformats.org/officeDocument/2006/relationships/notesMaster" Target="/ppt/notesMasters/notesMaster1.xml" Id="R78cdf27eb4b643f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b18c2ed34a417f" /><Relationship Type="http://schemas.openxmlformats.org/officeDocument/2006/relationships/notesMaster" Target="/ppt/notesMasters/notesMaster1.xml" Id="Rae47aca50f8548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234f36b2784c34" /><Relationship Type="http://schemas.openxmlformats.org/officeDocument/2006/relationships/notesMaster" Target="/ppt/notesMasters/notesMaster1.xml" Id="Rd3f43719893248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Project-code basis: repository README.md describes this as a DoLa + ENN reliability pipeline. The exact approved capstone title was not present in the supplied materials, so the title placeholder is retained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details are based on README.md, config.yaml, main.py, run_experiment.py, Neural Network/dola.py, and Neural Network/enn_torch.py. No benchmark result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Motivation is framed as an evaluation problem, not as a claim that the project already improves reliability. TruthfulQA describes how language models can reproduce common falsehoods: Lin, Hilton, and Evans, ACL 2022, https://aclanthology.org/2022.acl-long.229/.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reflect the implemented commands and methods in main.py and run_experiment.py. The last objective is intentionally evaluative and makes no claim of achieved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Zhang et al., “TinyLlama: An Open-Source Small Language Model,” https://arxiv.org/abs/2401.02385. Chuang et al., “DoLa: Decoding by Contrasting Layers Improves Factuality in Large Language Models,” ICLR 2024, https://openreview.net/forum?id=Th6NyL07na. Osband et al., “Epistemic Neural Networks,” https://arxiv.org/abs/2107.08924. Wang et al., “Self-Consistency Improves Chain of Thought Reasoning in Language Models,” ICLR 2023, https://arxiv.org/abs/2203.11171. These references motivate individual methods; the deck does not claim prior work validated this exact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C4 feature preparation and document split: Neural Network/data_prep.py. Model and DoLa decoding: Neural Network/dola.py. Epinet training and sampled entropy: Neural Network/enn_torch.py. Candidate aggregation: run_experiment.py and Neural Network/self_consistency.py. The diagram represents implemented code paths, not evidence of successful trained runs. C4 background reference: Raffel et al., JMLR 2020, https://jmlr.org/papers/v21/20-074.html.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details are read from Neural Network/dola.py and Neural Network/enn_torch.py. The configured TinyLlama structure uses a mature index of 21, candidate premature indices [0,4,8,12,16,20], hidden width 2,048, Epinet width 512, epistemic index size 6, and three samples by default. The model_audit_experiments.json records 8,664,064 trainable Epinet parameters.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verified from config.yaml, Neural Network/features_cache.npz, eval_questions.json, README.md, results/training_history.json, results/model_audit_experiments.json, and checkpoints/enn_best.pt. Cache metadata: version 4, 20 requested texts, max_length 128, val_fraction 0.1; arrays contain 1,841 rows, mature/premature shapes (1841,2048), labels (1841,), and 20 document IDs. Saved audit records 1,637 train and 204 validation examples, deterministic document-level split seed 42, two epochs, batch 1, lr 1e-4, K=3, final train loss 2.3298, final validation loss 2.5698, MPS backend, Python 3.10.20, PyTorch 2.11.0, Transformers 5.17.0, Datasets 4.8.5, NumPy 1.26.4, and 8,664,064 trainable Epinet parameters. Physical machine model and RAM and exact C4 revision are not stored.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output/c4_eval_20260930_enn02/c4_eval_results.json records n_texts=100, n_tokens=9431, alpha=0.05, ENN weight=0.2, before (DoLa) top-1 0.5022, top-5 0.7284, perplexity 10.7034; after (DoLa+ENN) top-1 0.5031, top-5 0.7289, perplexity 10.7189. These are descriptive next-token metrics, not answer accuracy. results/model_audit_experiments.json records two separate TruthfulQA 10-question slices: indices 0–9 at alpha=1, weight=1 with MC1/MC2 Base .7/.4931, DoLa .4/.4546, DoLa+ENN .4/.4511; indices 10–19 at alpha=.05, weight=0 with Base .3/.4076, DoLa .3/.4066, DoLa+ENN .3/.4066. The zero weight makes DoLa+ENN score-identical to DoLa in the second slice. The two slices differ in hyperparameters and are not pooled or directly compared.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and future work reflect the absence of current benchmark outputs and checkpoint. No accuracy or reliability improvement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0b61453276460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9f7cda5cbb47b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b6f0093c2e44b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fe5b94f6bc04e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1b27befe3c4c1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0fcd31874d4d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DCB5B5-59F5-4FD3-B4D9-1CBEDAAFA5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1E198B0-E08A-4F74-821F-352ED957620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82891F8-3C46-4E6E-8F95-99F7CA4B7E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B1BFBD-65F4-43AF-819F-1CCAA2C22B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7D1DE2D-913C-4955-9DB6-1EC6F723A09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3FEC7B0-6E7A-4224-BCA6-8350638F07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71F229-1D96-4B4F-84FD-C47968681C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D91312A-7DD6-4D20-9BD3-0E26E4C9E8E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863AFD-D83A-4BE9-A12B-E06FF6A783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1C1B34-049D-4C33-BF76-FB3477F0F3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a199bd0b7e407e" /><Relationship Type="http://schemas.openxmlformats.org/officeDocument/2006/relationships/slideLayout" Target="/ppt/slideLayouts/slideLayout1.xml" Id="R86972399608b4df3" /><Relationship Type="http://schemas.openxmlformats.org/officeDocument/2006/relationships/slideLayout" Target="/ppt/slideLayouts/slideLayout2.xml" Id="Rd201c0049bad48c4" /><Relationship Type="http://schemas.openxmlformats.org/officeDocument/2006/relationships/slideLayout" Target="/ppt/slideLayouts/slideLayout3.xml" Id="R8372fe8f8d384d4c" /><Relationship Type="http://schemas.openxmlformats.org/officeDocument/2006/relationships/slideLayout" Target="/ppt/slideLayouts/slideLayout4.xml" Id="Ra19dfcc988cf45cd" /><Relationship Type="http://schemas.openxmlformats.org/officeDocument/2006/relationships/slideLayout" Target="/ppt/slideLayouts/slideLayout5.xml" Id="Rbd99bf8b48434bf0" /><Relationship Type="http://schemas.openxmlformats.org/officeDocument/2006/relationships/slideLayout" Target="/ppt/slideLayouts/slideLayout6.xml" Id="Rd8b52f0cb037434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972399608b4df3"/>
    <p:sldLayoutId xmlns:r="http://schemas.openxmlformats.org/officeDocument/2006/relationships" id="2147483650" r:id="Rd201c0049bad48c4"/>
    <p:sldLayoutId xmlns:r="http://schemas.openxmlformats.org/officeDocument/2006/relationships" id="2147483651" r:id="R8372fe8f8d384d4c"/>
    <p:sldLayoutId xmlns:r="http://schemas.openxmlformats.org/officeDocument/2006/relationships" id="2147483652" r:id="Ra19dfcc988cf45cd"/>
    <p:sldLayoutId xmlns:r="http://schemas.openxmlformats.org/officeDocument/2006/relationships" id="2147483653" r:id="Rbd99bf8b48434bf0"/>
    <p:sldLayoutId xmlns:r="http://schemas.openxmlformats.org/officeDocument/2006/relationships" id="2147483654" r:id="Rd8b52f0cb037434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985a163ec064e12" /><Relationship Type="http://schemas.openxmlformats.org/officeDocument/2006/relationships/notesSlide" Target="/ppt/notesSlides/notesSlide1.xml" Id="Rdda40399f4234f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81510ba7994413e" /><Relationship Type="http://schemas.openxmlformats.org/officeDocument/2006/relationships/notesSlide" Target="/ppt/notesSlides/notesSlide2.xml" Id="R58aa11ab43a74a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42675e78674713" /><Relationship Type="http://schemas.openxmlformats.org/officeDocument/2006/relationships/notesSlide" Target="/ppt/notesSlides/notesSlide3.xml" Id="Rd5af9fe7bbb24f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05d31cb19924280" /><Relationship Type="http://schemas.openxmlformats.org/officeDocument/2006/relationships/notesSlide" Target="/ppt/notesSlides/notesSlide4.xml" Id="R58408971684e40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21c0d9f1294c55" /><Relationship Type="http://schemas.openxmlformats.org/officeDocument/2006/relationships/notesSlide" Target="/ppt/notesSlides/notesSlide5.xml" Id="Re86dfa2ec0a64f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d39d233bc454213" /><Relationship Type="http://schemas.openxmlformats.org/officeDocument/2006/relationships/notesSlide" Target="/ppt/notesSlides/notesSlide6.xml" Id="R01e20cb4d28f480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337bc4dd68c4483" /><Relationship Type="http://schemas.openxmlformats.org/officeDocument/2006/relationships/notesSlide" Target="/ppt/notesSlides/notesSlide7.xml" Id="Rf06b26f801794f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08cebdb9c90470a" /><Relationship Type="http://schemas.openxmlformats.org/officeDocument/2006/relationships/notesSlide" Target="/ppt/notesSlides/notesSlide8.xml" Id="R2c293c5414ab44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52f09bf6337485a" /><Relationship Type="http://schemas.openxmlformats.org/officeDocument/2006/relationships/notesSlide" Target="/ppt/notesSlides/notesSlide9.xml" Id="R9f47102fc0e7434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1780b501bd7460b" /><Relationship Type="http://schemas.openxmlformats.org/officeDocument/2006/relationships/notesSlide" Target="/ppt/notesSlides/notesSlide10.xml" Id="R3267a0b19ef34f79"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81ED7F2F-A151-47DC-B70D-11C03BE95D4A}"/>
              </a:ext>
            </a:extLst>
          </p:cNvPr>
          <p:cNvSpPr>
            <a:spLocks xmlns:a="http://schemas.openxmlformats.org/drawingml/2006/main" noGrp="1"/>
          </p:cNvSpPr>
          <p:nvPr/>
        </p:nvSpPr>
        <p:spPr>
          <a:xfrm xmlns:a="http://schemas.openxmlformats.org/drawingml/2006/main">
            <a:off x="0" y="0"/>
            <a:ext cx="7429500" cy="6858000"/>
          </a:xfrm>
          <a:prstGeom xmlns:a="http://schemas.openxmlformats.org/drawingml/2006/main" prst="rect">
            <a:avLst/>
          </a:prstGeom>
          <a:solidFill xmlns:a="http://schemas.openxmlformats.org/drawingml/2006/main">
            <a:srgbClr val="10253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C16F95-EFE7-4BC4-AE42-01A65D2A46FA}"/>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ect">
            <a:avLst/>
          </a:prstGeom>
          <a:solidFill xmlns:a="http://schemas.openxmlformats.org/drawingml/2006/main">
            <a:srgbClr val="EEF3F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07A49CC-D035-4EA8-830B-18E29A9E6ADF}"/>
              </a:ext>
            </a:extLst>
          </p:cNvPr>
          <p:cNvSpPr>
            <a:spLocks xmlns:a="http://schemas.openxmlformats.org/drawingml/2006/main" noGrp="1"/>
          </p:cNvSpPr>
          <p:nvPr/>
        </p:nvSpPr>
        <p:spPr>
          <a:xfrm xmlns:a="http://schemas.openxmlformats.org/drawingml/2006/main">
            <a:off x="609600" y="685800"/>
            <a:ext cx="628650" cy="47625"/>
          </a:xfrm>
          <a:prstGeom xmlns:a="http://schemas.openxmlformats.org/drawingml/2006/main" prst="rect">
            <a:avLst/>
          </a:prstGeom>
          <a:solidFill xmlns:a="http://schemas.openxmlformats.org/drawingml/2006/main">
            <a:srgbClr val="56C4B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4B7D296-7E9A-46D7-A8EC-065513E68EC1}"/>
              </a:ext>
            </a:extLst>
          </p:cNvPr>
          <p:cNvSpPr>
            <a:spLocks xmlns:a="http://schemas.openxmlformats.org/drawingml/2006/main" noGrp="1"/>
          </p:cNvSpPr>
          <p:nvPr/>
        </p:nvSpPr>
        <p:spPr>
          <a:xfrm xmlns:a="http://schemas.openxmlformats.org/drawingml/2006/main">
            <a:off x="609600" y="1066800"/>
            <a:ext cx="6286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FFFFF"/>
                </a:solidFill>
                <a:latin typeface="Helvetica Neue"/>
                <a:ea typeface="Helvetica Neue"/>
                <a:cs typeface="Helvetica Neue"/>
              </a:defRPr>
            </a:defPPr>
          </a:lstStyle>
          <a:p xmlns:a="http://schemas.openxmlformats.org/drawingml/2006/main">
            <a:pPr algn="l">
              <a:lnSpc>
                <a:spcPct val="98000"/>
              </a:lnSpc>
              <a:buNone/>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[PROJECT TITLE TO BE PROVIDED]</a:t>
            </a:r>
          </a:p>
        </p:txBody>
      </p:sp>
      <p:sp>
        <p:nvSpPr>
          <p:cNvPr id="5" name="">
            <a:extLst xmlns:a="http://schemas.openxmlformats.org/drawingml/2006/main">
              <a:ext uri="{FF2B5EF4-FFF2-40B4-BE49-F238E27FC236}">
                <a16:creationId xmlns:a16="http://schemas.microsoft.com/office/drawing/2014/main" id="{CAF75AAB-71FD-4287-A4FD-6128A8D5EC48}"/>
              </a:ext>
            </a:extLst>
          </p:cNvPr>
          <p:cNvSpPr>
            <a:spLocks xmlns:a="http://schemas.openxmlformats.org/drawingml/2006/main" noGrp="1"/>
          </p:cNvSpPr>
          <p:nvPr/>
        </p:nvSpPr>
        <p:spPr>
          <a:xfrm xmlns:a="http://schemas.openxmlformats.org/drawingml/2006/main">
            <a:off x="628650" y="2295525"/>
            <a:ext cx="600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B9D8F0"/>
                </a:solidFill>
                <a:latin typeface="Helvetica Neue"/>
                <a:ea typeface="Helvetica Neue"/>
                <a:cs typeface="Helvetica Neue"/>
              </a:defRPr>
            </a:defPPr>
          </a:lstStyle>
          <a:p xmlns:a="http://schemas.openxmlformats.org/drawingml/2006/main">
            <a:pPr algn="l">
              <a:lnSpc>
                <a:spcPct val="105000"/>
              </a:lnSpc>
              <a:buNone/>
              <a:defRPr sz="1875" b="0">
                <a:solidFill>
                  <a:srgbClr val="B9D8F0"/>
                </a:solidFill>
                <a:latin typeface="Helvetica Neue"/>
                <a:ea typeface="Helvetica Neue"/>
                <a:cs typeface="Helvetica Neue"/>
              </a:defRPr>
            </a:pPr>
            <a:r>
              <a:rPr sz="1875" b="0">
                <a:solidFill>
                  <a:srgbClr val="B9D8F0"/>
                </a:solidFill>
                <a:latin typeface="Helvetica Neue"/>
                <a:ea typeface="Helvetica Neue"/>
                <a:cs typeface="Helvetica Neue"/>
              </a:rPr>
              <a:t>TinyLlama DoLa + ENN reliability pipeline</a:t>
            </a:r>
          </a:p>
        </p:txBody>
      </p:sp>
      <p:sp>
        <p:nvSpPr>
          <p:cNvPr id="6" name="">
            <a:extLst xmlns:a="http://schemas.openxmlformats.org/drawingml/2006/main">
              <a:ext uri="{FF2B5EF4-FFF2-40B4-BE49-F238E27FC236}">
                <a16:creationId xmlns:a16="http://schemas.microsoft.com/office/drawing/2014/main" id="{193E0E08-26D0-4CB0-B915-E0AC77DA40D4}"/>
              </a:ext>
            </a:extLst>
          </p:cNvPr>
          <p:cNvSpPr>
            <a:spLocks xmlns:a="http://schemas.openxmlformats.org/drawingml/2006/main" noGrp="1"/>
          </p:cNvSpPr>
          <p:nvPr/>
        </p:nvSpPr>
        <p:spPr>
          <a:xfrm xmlns:a="http://schemas.openxmlformats.org/drawingml/2006/main">
            <a:off x="628650" y="3028950"/>
            <a:ext cx="495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Helvetica Neue"/>
                <a:ea typeface="Helvetica Neue"/>
                <a:cs typeface="Helvetica Neue"/>
              </a:defRPr>
            </a:defPPr>
          </a:lstStyle>
          <a:p xmlns:a="http://schemas.openxmlformats.org/drawingml/2006/main">
            <a:pPr algn="l">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B.Tech Capstone Project Review</a:t>
            </a:r>
          </a:p>
        </p:txBody>
      </p:sp>
      <p:sp>
        <p:nvSpPr>
          <p:cNvPr id="7" name="">
            <a:extLst xmlns:a="http://schemas.openxmlformats.org/drawingml/2006/main">
              <a:ext uri="{FF2B5EF4-FFF2-40B4-BE49-F238E27FC236}">
                <a16:creationId xmlns:a16="http://schemas.microsoft.com/office/drawing/2014/main" id="{93E0B07E-2179-4EC1-83D4-5B070BF9AFC8}"/>
              </a:ext>
            </a:extLst>
          </p:cNvPr>
          <p:cNvSpPr>
            <a:spLocks xmlns:a="http://schemas.openxmlformats.org/drawingml/2006/main" noGrp="1"/>
          </p:cNvSpPr>
          <p:nvPr/>
        </p:nvSpPr>
        <p:spPr>
          <a:xfrm xmlns:a="http://schemas.openxmlformats.org/drawingml/2006/main" flipV="0">
            <a:off x="628650" y="3486150"/>
            <a:ext cx="5943600" cy="0"/>
          </a:xfrm>
          <a:prstGeom xmlns:a="http://schemas.openxmlformats.org/drawingml/2006/main" prst="line">
            <a:avLst/>
          </a:prstGeom>
          <a:noFill xmlns:a="http://schemas.openxmlformats.org/drawingml/2006/main"/>
          <a:ln xmlns:a="http://schemas.openxmlformats.org/drawingml/2006/main" w="9525">
            <a:solidFill>
              <a:srgbClr val="54708C"/>
            </a:solidFill>
            <a:prstDash val="solid"/>
          </a:ln>
        </p:spPr>
      </p:sp>
      <p:sp>
        <p:nvSpPr>
          <p:cNvPr id="8" name="">
            <a:extLst xmlns:a="http://schemas.openxmlformats.org/drawingml/2006/main">
              <a:ext uri="{FF2B5EF4-FFF2-40B4-BE49-F238E27FC236}">
                <a16:creationId xmlns:a16="http://schemas.microsoft.com/office/drawing/2014/main" id="{BE057313-24CB-4C2A-931F-854A95B4C518}"/>
              </a:ext>
            </a:extLst>
          </p:cNvPr>
          <p:cNvSpPr>
            <a:spLocks xmlns:a="http://schemas.openxmlformats.org/drawingml/2006/main" noGrp="1"/>
          </p:cNvSpPr>
          <p:nvPr/>
        </p:nvSpPr>
        <p:spPr>
          <a:xfrm xmlns:a="http://schemas.openxmlformats.org/drawingml/2006/main">
            <a:off x="628650" y="37338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PRESENTED BY</a:t>
            </a:r>
          </a:p>
        </p:txBody>
      </p:sp>
      <p:sp>
        <p:nvSpPr>
          <p:cNvPr id="9" name="">
            <a:extLst xmlns:a="http://schemas.openxmlformats.org/drawingml/2006/main">
              <a:ext uri="{FF2B5EF4-FFF2-40B4-BE49-F238E27FC236}">
                <a16:creationId xmlns:a16="http://schemas.microsoft.com/office/drawing/2014/main" id="{0181E5BA-55B9-40B4-9885-A631529AA4E1}"/>
              </a:ext>
            </a:extLst>
          </p:cNvPr>
          <p:cNvSpPr>
            <a:spLocks xmlns:a="http://schemas.openxmlformats.org/drawingml/2006/main" noGrp="1"/>
          </p:cNvSpPr>
          <p:nvPr/>
        </p:nvSpPr>
        <p:spPr>
          <a:xfrm xmlns:a="http://schemas.openxmlformats.org/drawingml/2006/main">
            <a:off x="628650" y="4019550"/>
            <a:ext cx="6076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FFFFF"/>
                </a:solidFill>
                <a:latin typeface="Helvetica Neue"/>
                <a:ea typeface="Helvetica Neue"/>
                <a:cs typeface="Helvetica Neue"/>
              </a:defRPr>
            </a:defPPr>
          </a:lstStyle>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E. Ganesh Kumar Reddy  ·  23BCE8969</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B. Sai Susmitha  ·  23BCE9884</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P. Dhanush Datta  ·  23BCE9258</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E. Sri Vardhan Reddy  ·  23BCE8972</a:t>
            </a:r>
          </a:p>
        </p:txBody>
      </p:sp>
      <p:sp>
        <p:nvSpPr>
          <p:cNvPr id="10" name="">
            <a:extLst xmlns:a="http://schemas.openxmlformats.org/drawingml/2006/main">
              <a:ext uri="{FF2B5EF4-FFF2-40B4-BE49-F238E27FC236}">
                <a16:creationId xmlns:a16="http://schemas.microsoft.com/office/drawing/2014/main" id="{0157C9E1-388C-465A-A9A8-8595FA8D7937}"/>
              </a:ext>
            </a:extLst>
          </p:cNvPr>
          <p:cNvSpPr>
            <a:spLocks xmlns:a="http://schemas.openxmlformats.org/drawingml/2006/main" noGrp="1"/>
          </p:cNvSpPr>
          <p:nvPr/>
        </p:nvSpPr>
        <p:spPr>
          <a:xfrm xmlns:a="http://schemas.openxmlformats.org/drawingml/2006/main">
            <a:off x="628650" y="55245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GUIDED BY</a:t>
            </a:r>
          </a:p>
        </p:txBody>
      </p:sp>
      <p:sp>
        <p:nvSpPr>
          <p:cNvPr id="11" name="">
            <a:extLst xmlns:a="http://schemas.openxmlformats.org/drawingml/2006/main">
              <a:ext uri="{FF2B5EF4-FFF2-40B4-BE49-F238E27FC236}">
                <a16:creationId xmlns:a16="http://schemas.microsoft.com/office/drawing/2014/main" id="{E8B3ACD7-14FC-43A2-B6D3-CE5C815027E4}"/>
              </a:ext>
            </a:extLst>
          </p:cNvPr>
          <p:cNvSpPr>
            <a:spLocks xmlns:a="http://schemas.openxmlformats.org/drawingml/2006/main" noGrp="1"/>
          </p:cNvSpPr>
          <p:nvPr/>
        </p:nvSpPr>
        <p:spPr>
          <a:xfrm xmlns:a="http://schemas.openxmlformats.org/drawingml/2006/main">
            <a:off x="628650" y="5791200"/>
            <a:ext cx="609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FFFFFF"/>
                </a:solidFill>
                <a:latin typeface="Helvetica Neue"/>
                <a:ea typeface="Helvetica Neue"/>
                <a:cs typeface="Helvetica Neue"/>
              </a:defRPr>
            </a:defPPr>
          </a:lstStyle>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Palacharla Ravi Kumar  |  Assistant Professor Sr. Grade-2</a:t>
            </a:r>
          </a:p>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SCOPE, VIT-AP University</a:t>
            </a:r>
          </a:p>
        </p:txBody>
      </p:sp>
      <p:sp>
        <p:nvSpPr>
          <p:cNvPr id="12" name="">
            <a:extLst xmlns:a="http://schemas.openxmlformats.org/drawingml/2006/main">
              <a:ext uri="{FF2B5EF4-FFF2-40B4-BE49-F238E27FC236}">
                <a16:creationId xmlns:a16="http://schemas.microsoft.com/office/drawing/2014/main" id="{8814F6A7-7A6B-4500-9346-9ABC755B291D}"/>
              </a:ext>
            </a:extLst>
          </p:cNvPr>
          <p:cNvSpPr>
            <a:spLocks xmlns:a="http://schemas.openxmlformats.org/drawingml/2006/main" noGrp="1"/>
          </p:cNvSpPr>
          <p:nvPr/>
        </p:nvSpPr>
        <p:spPr>
          <a:xfrm xmlns:a="http://schemas.openxmlformats.org/drawingml/2006/main">
            <a:off x="7962900" y="5524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2864C5"/>
                </a:solidFill>
                <a:latin typeface="Helvetica Neue"/>
                <a:ea typeface="Helvetica Neue"/>
                <a:cs typeface="Helvetica Neue"/>
              </a:defRPr>
            </a:defPPr>
          </a:lstStyle>
          <a:p xmlns:a="http://schemas.openxmlformats.org/drawingml/2006/main">
            <a:pPr algn="r">
              <a:lnSpc>
                <a:spcPct val="105000"/>
              </a:lnSpc>
              <a:buNone/>
              <a:defRPr sz="1125" b="1">
                <a:solidFill>
                  <a:srgbClr val="2864C5"/>
                </a:solidFill>
                <a:latin typeface="Helvetica Neue"/>
                <a:ea typeface="Helvetica Neue"/>
                <a:cs typeface="Helvetica Neue"/>
              </a:defRPr>
            </a:pPr>
            <a:r>
              <a:rPr sz="1125" b="1">
                <a:solidFill>
                  <a:srgbClr val="2864C5"/>
                </a:solidFill>
                <a:latin typeface="Helvetica Neue"/>
                <a:ea typeface="Helvetica Neue"/>
                <a:cs typeface="Helvetica Neue"/>
              </a:rPr>
              <a:t>VIT-AP UNIVERSITY</a:t>
            </a:r>
          </a:p>
        </p:txBody>
      </p:sp>
      <p:sp>
        <p:nvSpPr>
          <p:cNvPr id="13" name="">
            <a:extLst xmlns:a="http://schemas.openxmlformats.org/drawingml/2006/main">
              <a:ext uri="{FF2B5EF4-FFF2-40B4-BE49-F238E27FC236}">
                <a16:creationId xmlns:a16="http://schemas.microsoft.com/office/drawing/2014/main" id="{54BD0BCA-685C-438B-B65C-6869BAE68D2D}"/>
              </a:ext>
            </a:extLst>
          </p:cNvPr>
          <p:cNvSpPr>
            <a:spLocks xmlns:a="http://schemas.openxmlformats.org/drawingml/2006/main" noGrp="1"/>
          </p:cNvSpPr>
          <p:nvPr/>
        </p:nvSpPr>
        <p:spPr>
          <a:xfrm xmlns:a="http://schemas.openxmlformats.org/drawingml/2006/main">
            <a:off x="7962900" y="106680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72"/>
          </a:bodyPr>
          <a:lstStyle xmlns:a="http://schemas.openxmlformats.org/drawingml/2006/main">
            <a:defPPr algn="r">
              <a:defRPr sz="2100" b="1">
                <a:solidFill>
                  <a:srgbClr val="10253F"/>
                </a:solidFill>
                <a:latin typeface="Helvetica Neue"/>
                <a:ea typeface="Helvetica Neue"/>
                <a:cs typeface="Helvetica Neue"/>
              </a:defRPr>
            </a:defPPr>
          </a:lstStyle>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Layer contrast</a:t>
            </a:r>
          </a:p>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and uncertainty</a:t>
            </a:r>
          </a:p>
        </p:txBody>
      </p:sp>
      <p:sp>
        <p:nvSpPr>
          <p:cNvPr id="14" name="">
            <a:extLst xmlns:a="http://schemas.openxmlformats.org/drawingml/2006/main">
              <a:ext uri="{FF2B5EF4-FFF2-40B4-BE49-F238E27FC236}">
                <a16:creationId xmlns:a16="http://schemas.microsoft.com/office/drawing/2014/main" id="{F1C9C463-DEBD-48C7-86F0-57C0B2417252}"/>
              </a:ext>
            </a:extLst>
          </p:cNvPr>
          <p:cNvSpPr>
            <a:spLocks xmlns:a="http://schemas.openxmlformats.org/drawingml/2006/main" noGrp="1"/>
          </p:cNvSpPr>
          <p:nvPr/>
        </p:nvSpPr>
        <p:spPr>
          <a:xfrm xmlns:a="http://schemas.openxmlformats.org/drawingml/2006/main" flipV="1">
            <a:off x="8315325" y="23145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5" name="">
            <a:extLst xmlns:a="http://schemas.openxmlformats.org/drawingml/2006/main">
              <a:ext uri="{FF2B5EF4-FFF2-40B4-BE49-F238E27FC236}">
                <a16:creationId xmlns:a16="http://schemas.microsoft.com/office/drawing/2014/main" id="{6667EE0E-F66C-4B8A-9069-D8B1C3EDCFE6}"/>
              </a:ext>
            </a:extLst>
          </p:cNvPr>
          <p:cNvSpPr>
            <a:spLocks xmlns:a="http://schemas.openxmlformats.org/drawingml/2006/main" noGrp="1"/>
          </p:cNvSpPr>
          <p:nvPr/>
        </p:nvSpPr>
        <p:spPr>
          <a:xfrm xmlns:a="http://schemas.openxmlformats.org/drawingml/2006/main" flipV="0">
            <a:off x="8315325" y="2600325"/>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6" name="">
            <a:extLst xmlns:a="http://schemas.openxmlformats.org/drawingml/2006/main">
              <a:ext uri="{FF2B5EF4-FFF2-40B4-BE49-F238E27FC236}">
                <a16:creationId xmlns:a16="http://schemas.microsoft.com/office/drawing/2014/main" id="{E279644D-0FBE-4F22-8416-EA2B2062BC43}"/>
              </a:ext>
            </a:extLst>
          </p:cNvPr>
          <p:cNvSpPr>
            <a:spLocks xmlns:a="http://schemas.openxmlformats.org/drawingml/2006/main" noGrp="1"/>
          </p:cNvSpPr>
          <p:nvPr/>
        </p:nvSpPr>
        <p:spPr>
          <a:xfrm xmlns:a="http://schemas.openxmlformats.org/drawingml/2006/main" flipV="0">
            <a:off x="8315325" y="260032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7" name="">
            <a:extLst xmlns:a="http://schemas.openxmlformats.org/drawingml/2006/main">
              <a:ext uri="{FF2B5EF4-FFF2-40B4-BE49-F238E27FC236}">
                <a16:creationId xmlns:a16="http://schemas.microsoft.com/office/drawing/2014/main" id="{826AFBF9-FE5E-43B2-B1C5-A874F2876E28}"/>
              </a:ext>
            </a:extLst>
          </p:cNvPr>
          <p:cNvSpPr>
            <a:spLocks xmlns:a="http://schemas.openxmlformats.org/drawingml/2006/main" noGrp="1"/>
          </p:cNvSpPr>
          <p:nvPr/>
        </p:nvSpPr>
        <p:spPr>
          <a:xfrm xmlns:a="http://schemas.openxmlformats.org/drawingml/2006/main" flipV="0">
            <a:off x="8315325" y="2600325"/>
            <a:ext cx="104775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8" name="">
            <a:extLst xmlns:a="http://schemas.openxmlformats.org/drawingml/2006/main">
              <a:ext uri="{FF2B5EF4-FFF2-40B4-BE49-F238E27FC236}">
                <a16:creationId xmlns:a16="http://schemas.microsoft.com/office/drawing/2014/main" id="{C64BEB6A-9845-487D-9091-115D0E8A62E1}"/>
              </a:ext>
            </a:extLst>
          </p:cNvPr>
          <p:cNvSpPr>
            <a:spLocks xmlns:a="http://schemas.openxmlformats.org/drawingml/2006/main" noGrp="1"/>
          </p:cNvSpPr>
          <p:nvPr/>
        </p:nvSpPr>
        <p:spPr>
          <a:xfrm xmlns:a="http://schemas.openxmlformats.org/drawingml/2006/main" flipV="1">
            <a:off x="8315325" y="231457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9" name="">
            <a:extLst xmlns:a="http://schemas.openxmlformats.org/drawingml/2006/main">
              <a:ext uri="{FF2B5EF4-FFF2-40B4-BE49-F238E27FC236}">
                <a16:creationId xmlns:a16="http://schemas.microsoft.com/office/drawing/2014/main" id="{61006709-DDB9-46D3-83B0-FB3384AC0DE8}"/>
              </a:ext>
            </a:extLst>
          </p:cNvPr>
          <p:cNvSpPr>
            <a:spLocks xmlns:a="http://schemas.openxmlformats.org/drawingml/2006/main" noGrp="1"/>
          </p:cNvSpPr>
          <p:nvPr/>
        </p:nvSpPr>
        <p:spPr>
          <a:xfrm xmlns:a="http://schemas.openxmlformats.org/drawingml/2006/main" flipV="1">
            <a:off x="8315325" y="3048000"/>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0" name="">
            <a:extLst xmlns:a="http://schemas.openxmlformats.org/drawingml/2006/main">
              <a:ext uri="{FF2B5EF4-FFF2-40B4-BE49-F238E27FC236}">
                <a16:creationId xmlns:a16="http://schemas.microsoft.com/office/drawing/2014/main" id="{CB884684-6017-4B06-838D-BCB09A2AFB49}"/>
              </a:ext>
            </a:extLst>
          </p:cNvPr>
          <p:cNvSpPr>
            <a:spLocks xmlns:a="http://schemas.openxmlformats.org/drawingml/2006/main" noGrp="1"/>
          </p:cNvSpPr>
          <p:nvPr/>
        </p:nvSpPr>
        <p:spPr>
          <a:xfrm xmlns:a="http://schemas.openxmlformats.org/drawingml/2006/main" flipV="0">
            <a:off x="8315325" y="34956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1" name="">
            <a:extLst xmlns:a="http://schemas.openxmlformats.org/drawingml/2006/main">
              <a:ext uri="{FF2B5EF4-FFF2-40B4-BE49-F238E27FC236}">
                <a16:creationId xmlns:a16="http://schemas.microsoft.com/office/drawing/2014/main" id="{F00055B8-0BE8-4EAB-92F1-F0C28ABC0840}"/>
              </a:ext>
            </a:extLst>
          </p:cNvPr>
          <p:cNvSpPr>
            <a:spLocks xmlns:a="http://schemas.openxmlformats.org/drawingml/2006/main" noGrp="1"/>
          </p:cNvSpPr>
          <p:nvPr/>
        </p:nvSpPr>
        <p:spPr>
          <a:xfrm xmlns:a="http://schemas.openxmlformats.org/drawingml/2006/main" flipV="0">
            <a:off x="8315325" y="3495675"/>
            <a:ext cx="104775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2" name="">
            <a:extLst xmlns:a="http://schemas.openxmlformats.org/drawingml/2006/main">
              <a:ext uri="{FF2B5EF4-FFF2-40B4-BE49-F238E27FC236}">
                <a16:creationId xmlns:a16="http://schemas.microsoft.com/office/drawing/2014/main" id="{E8ADEAAA-6750-48FC-B12C-29E4958BB37E}"/>
              </a:ext>
            </a:extLst>
          </p:cNvPr>
          <p:cNvSpPr>
            <a:spLocks xmlns:a="http://schemas.openxmlformats.org/drawingml/2006/main" noGrp="1"/>
          </p:cNvSpPr>
          <p:nvPr/>
        </p:nvSpPr>
        <p:spPr>
          <a:xfrm xmlns:a="http://schemas.openxmlformats.org/drawingml/2006/main" flipV="1">
            <a:off x="8315325" y="2314575"/>
            <a:ext cx="104775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3" name="">
            <a:extLst xmlns:a="http://schemas.openxmlformats.org/drawingml/2006/main">
              <a:ext uri="{FF2B5EF4-FFF2-40B4-BE49-F238E27FC236}">
                <a16:creationId xmlns:a16="http://schemas.microsoft.com/office/drawing/2014/main" id="{2B83C654-B1A9-40D9-9F19-43921084D9E6}"/>
              </a:ext>
            </a:extLst>
          </p:cNvPr>
          <p:cNvSpPr>
            <a:spLocks xmlns:a="http://schemas.openxmlformats.org/drawingml/2006/main" noGrp="1"/>
          </p:cNvSpPr>
          <p:nvPr/>
        </p:nvSpPr>
        <p:spPr>
          <a:xfrm xmlns:a="http://schemas.openxmlformats.org/drawingml/2006/main" flipV="1">
            <a:off x="8315325" y="3048000"/>
            <a:ext cx="104775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4" name="">
            <a:extLst xmlns:a="http://schemas.openxmlformats.org/drawingml/2006/main">
              <a:ext uri="{FF2B5EF4-FFF2-40B4-BE49-F238E27FC236}">
                <a16:creationId xmlns:a16="http://schemas.microsoft.com/office/drawing/2014/main" id="{011B4BE2-839A-49F3-B569-2CB1A18E6D44}"/>
              </a:ext>
            </a:extLst>
          </p:cNvPr>
          <p:cNvSpPr>
            <a:spLocks xmlns:a="http://schemas.openxmlformats.org/drawingml/2006/main" noGrp="1"/>
          </p:cNvSpPr>
          <p:nvPr/>
        </p:nvSpPr>
        <p:spPr>
          <a:xfrm xmlns:a="http://schemas.openxmlformats.org/drawingml/2006/main" flipV="1">
            <a:off x="8315325" y="3781425"/>
            <a:ext cx="104775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5" name="">
            <a:extLst xmlns:a="http://schemas.openxmlformats.org/drawingml/2006/main">
              <a:ext uri="{FF2B5EF4-FFF2-40B4-BE49-F238E27FC236}">
                <a16:creationId xmlns:a16="http://schemas.microsoft.com/office/drawing/2014/main" id="{3B596580-4EAA-4D49-BFFB-EE920B466A50}"/>
              </a:ext>
            </a:extLst>
          </p:cNvPr>
          <p:cNvSpPr>
            <a:spLocks xmlns:a="http://schemas.openxmlformats.org/drawingml/2006/main" noGrp="1"/>
          </p:cNvSpPr>
          <p:nvPr/>
        </p:nvSpPr>
        <p:spPr>
          <a:xfrm xmlns:a="http://schemas.openxmlformats.org/drawingml/2006/main" flipV="0">
            <a:off x="8315325" y="4391025"/>
            <a:ext cx="104775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6" name="">
            <a:extLst xmlns:a="http://schemas.openxmlformats.org/drawingml/2006/main">
              <a:ext uri="{FF2B5EF4-FFF2-40B4-BE49-F238E27FC236}">
                <a16:creationId xmlns:a16="http://schemas.microsoft.com/office/drawing/2014/main" id="{3FD58586-C000-432A-9F2D-9DD2B8F6CB06}"/>
              </a:ext>
            </a:extLst>
          </p:cNvPr>
          <p:cNvSpPr>
            <a:spLocks xmlns:a="http://schemas.openxmlformats.org/drawingml/2006/main" noGrp="1"/>
          </p:cNvSpPr>
          <p:nvPr/>
        </p:nvSpPr>
        <p:spPr>
          <a:xfrm xmlns:a="http://schemas.openxmlformats.org/drawingml/2006/main" flipV="0">
            <a:off x="9363075" y="23145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7" name="">
            <a:extLst xmlns:a="http://schemas.openxmlformats.org/drawingml/2006/main">
              <a:ext uri="{FF2B5EF4-FFF2-40B4-BE49-F238E27FC236}">
                <a16:creationId xmlns:a16="http://schemas.microsoft.com/office/drawing/2014/main" id="{B3142074-5CB3-4CB7-82D9-D09C87297C52}"/>
              </a:ext>
            </a:extLst>
          </p:cNvPr>
          <p:cNvSpPr>
            <a:spLocks xmlns:a="http://schemas.openxmlformats.org/drawingml/2006/main" noGrp="1"/>
          </p:cNvSpPr>
          <p:nvPr/>
        </p:nvSpPr>
        <p:spPr>
          <a:xfrm xmlns:a="http://schemas.openxmlformats.org/drawingml/2006/main" flipV="0">
            <a:off x="9363075" y="231457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8" name="">
            <a:extLst xmlns:a="http://schemas.openxmlformats.org/drawingml/2006/main">
              <a:ext uri="{FF2B5EF4-FFF2-40B4-BE49-F238E27FC236}">
                <a16:creationId xmlns:a16="http://schemas.microsoft.com/office/drawing/2014/main" id="{6B2DB09F-0752-4585-B447-603BA2EBADFC}"/>
              </a:ext>
            </a:extLst>
          </p:cNvPr>
          <p:cNvSpPr>
            <a:spLocks xmlns:a="http://schemas.openxmlformats.org/drawingml/2006/main" noGrp="1"/>
          </p:cNvSpPr>
          <p:nvPr/>
        </p:nvSpPr>
        <p:spPr>
          <a:xfrm xmlns:a="http://schemas.openxmlformats.org/drawingml/2006/main" flipV="0">
            <a:off x="9363075" y="2314575"/>
            <a:ext cx="106680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9" name="">
            <a:extLst xmlns:a="http://schemas.openxmlformats.org/drawingml/2006/main">
              <a:ext uri="{FF2B5EF4-FFF2-40B4-BE49-F238E27FC236}">
                <a16:creationId xmlns:a16="http://schemas.microsoft.com/office/drawing/2014/main" id="{650F1290-F208-48ED-AD13-2B623A9D1B23}"/>
              </a:ext>
            </a:extLst>
          </p:cNvPr>
          <p:cNvSpPr>
            <a:spLocks xmlns:a="http://schemas.openxmlformats.org/drawingml/2006/main" noGrp="1"/>
          </p:cNvSpPr>
          <p:nvPr/>
        </p:nvSpPr>
        <p:spPr>
          <a:xfrm xmlns:a="http://schemas.openxmlformats.org/drawingml/2006/main" flipV="1">
            <a:off x="9363075" y="2600325"/>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0" name="">
            <a:extLst xmlns:a="http://schemas.openxmlformats.org/drawingml/2006/main">
              <a:ext uri="{FF2B5EF4-FFF2-40B4-BE49-F238E27FC236}">
                <a16:creationId xmlns:a16="http://schemas.microsoft.com/office/drawing/2014/main" id="{E40C673B-15AD-4AA5-B6F9-077E399561E5}"/>
              </a:ext>
            </a:extLst>
          </p:cNvPr>
          <p:cNvSpPr>
            <a:spLocks xmlns:a="http://schemas.openxmlformats.org/drawingml/2006/main" noGrp="1"/>
          </p:cNvSpPr>
          <p:nvPr/>
        </p:nvSpPr>
        <p:spPr>
          <a:xfrm xmlns:a="http://schemas.openxmlformats.org/drawingml/2006/main" flipV="0">
            <a:off x="9363075" y="3048000"/>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1" name="">
            <a:extLst xmlns:a="http://schemas.openxmlformats.org/drawingml/2006/main">
              <a:ext uri="{FF2B5EF4-FFF2-40B4-BE49-F238E27FC236}">
                <a16:creationId xmlns:a16="http://schemas.microsoft.com/office/drawing/2014/main" id="{BAEBEAE8-ECCA-4BDC-9586-709B46D31C0D}"/>
              </a:ext>
            </a:extLst>
          </p:cNvPr>
          <p:cNvSpPr>
            <a:spLocks xmlns:a="http://schemas.openxmlformats.org/drawingml/2006/main" noGrp="1"/>
          </p:cNvSpPr>
          <p:nvPr/>
        </p:nvSpPr>
        <p:spPr>
          <a:xfrm xmlns:a="http://schemas.openxmlformats.org/drawingml/2006/main" flipV="0">
            <a:off x="9363075" y="3048000"/>
            <a:ext cx="106680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2" name="">
            <a:extLst xmlns:a="http://schemas.openxmlformats.org/drawingml/2006/main">
              <a:ext uri="{FF2B5EF4-FFF2-40B4-BE49-F238E27FC236}">
                <a16:creationId xmlns:a16="http://schemas.microsoft.com/office/drawing/2014/main" id="{71FDC56B-93F7-4DFB-8B0B-D18E86B2426B}"/>
              </a:ext>
            </a:extLst>
          </p:cNvPr>
          <p:cNvSpPr>
            <a:spLocks xmlns:a="http://schemas.openxmlformats.org/drawingml/2006/main" noGrp="1"/>
          </p:cNvSpPr>
          <p:nvPr/>
        </p:nvSpPr>
        <p:spPr>
          <a:xfrm xmlns:a="http://schemas.openxmlformats.org/drawingml/2006/main" flipV="1">
            <a:off x="9363075" y="260032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3" name="">
            <a:extLst xmlns:a="http://schemas.openxmlformats.org/drawingml/2006/main">
              <a:ext uri="{FF2B5EF4-FFF2-40B4-BE49-F238E27FC236}">
                <a16:creationId xmlns:a16="http://schemas.microsoft.com/office/drawing/2014/main" id="{26C73F3B-4944-42B9-AF9E-9DCEBC4A2A47}"/>
              </a:ext>
            </a:extLst>
          </p:cNvPr>
          <p:cNvSpPr>
            <a:spLocks xmlns:a="http://schemas.openxmlformats.org/drawingml/2006/main" noGrp="1"/>
          </p:cNvSpPr>
          <p:nvPr/>
        </p:nvSpPr>
        <p:spPr>
          <a:xfrm xmlns:a="http://schemas.openxmlformats.org/drawingml/2006/main" flipV="1">
            <a:off x="9363075" y="34956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4" name="">
            <a:extLst xmlns:a="http://schemas.openxmlformats.org/drawingml/2006/main">
              <a:ext uri="{FF2B5EF4-FFF2-40B4-BE49-F238E27FC236}">
                <a16:creationId xmlns:a16="http://schemas.microsoft.com/office/drawing/2014/main" id="{2E486B2C-ABCB-4B17-8B50-3A355A62863C}"/>
              </a:ext>
            </a:extLst>
          </p:cNvPr>
          <p:cNvSpPr>
            <a:spLocks xmlns:a="http://schemas.openxmlformats.org/drawingml/2006/main" noGrp="1"/>
          </p:cNvSpPr>
          <p:nvPr/>
        </p:nvSpPr>
        <p:spPr>
          <a:xfrm xmlns:a="http://schemas.openxmlformats.org/drawingml/2006/main" flipV="0">
            <a:off x="9363075" y="3781425"/>
            <a:ext cx="106680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5" name="">
            <a:extLst xmlns:a="http://schemas.openxmlformats.org/drawingml/2006/main">
              <a:ext uri="{FF2B5EF4-FFF2-40B4-BE49-F238E27FC236}">
                <a16:creationId xmlns:a16="http://schemas.microsoft.com/office/drawing/2014/main" id="{BE7C4C82-E0CC-44A6-B48E-89E5122609C7}"/>
              </a:ext>
            </a:extLst>
          </p:cNvPr>
          <p:cNvSpPr>
            <a:spLocks xmlns:a="http://schemas.openxmlformats.org/drawingml/2006/main" noGrp="1"/>
          </p:cNvSpPr>
          <p:nvPr/>
        </p:nvSpPr>
        <p:spPr>
          <a:xfrm xmlns:a="http://schemas.openxmlformats.org/drawingml/2006/main" flipV="1">
            <a:off x="9363075" y="2600325"/>
            <a:ext cx="106680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6" name="">
            <a:extLst xmlns:a="http://schemas.openxmlformats.org/drawingml/2006/main">
              <a:ext uri="{FF2B5EF4-FFF2-40B4-BE49-F238E27FC236}">
                <a16:creationId xmlns:a16="http://schemas.microsoft.com/office/drawing/2014/main" id="{83A1C746-870D-4212-B66B-07A645951687}"/>
              </a:ext>
            </a:extLst>
          </p:cNvPr>
          <p:cNvSpPr>
            <a:spLocks xmlns:a="http://schemas.openxmlformats.org/drawingml/2006/main" noGrp="1"/>
          </p:cNvSpPr>
          <p:nvPr/>
        </p:nvSpPr>
        <p:spPr>
          <a:xfrm xmlns:a="http://schemas.openxmlformats.org/drawingml/2006/main" flipV="1">
            <a:off x="9363075" y="3495675"/>
            <a:ext cx="106680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7" name="">
            <a:extLst xmlns:a="http://schemas.openxmlformats.org/drawingml/2006/main">
              <a:ext uri="{FF2B5EF4-FFF2-40B4-BE49-F238E27FC236}">
                <a16:creationId xmlns:a16="http://schemas.microsoft.com/office/drawing/2014/main" id="{F00C3706-859B-4B49-97EA-C8F4C902FD77}"/>
              </a:ext>
            </a:extLst>
          </p:cNvPr>
          <p:cNvSpPr>
            <a:spLocks xmlns:a="http://schemas.openxmlformats.org/drawingml/2006/main" noGrp="1"/>
          </p:cNvSpPr>
          <p:nvPr/>
        </p:nvSpPr>
        <p:spPr>
          <a:xfrm xmlns:a="http://schemas.openxmlformats.org/drawingml/2006/main" flipV="1">
            <a:off x="9363075" y="4391025"/>
            <a:ext cx="106680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8" name="">
            <a:extLst xmlns:a="http://schemas.openxmlformats.org/drawingml/2006/main">
              <a:ext uri="{FF2B5EF4-FFF2-40B4-BE49-F238E27FC236}">
                <a16:creationId xmlns:a16="http://schemas.microsoft.com/office/drawing/2014/main" id="{02B7BEDE-C67E-40FE-A4CA-1694F6719D08}"/>
              </a:ext>
            </a:extLst>
          </p:cNvPr>
          <p:cNvSpPr>
            <a:spLocks xmlns:a="http://schemas.openxmlformats.org/drawingml/2006/main" noGrp="1"/>
          </p:cNvSpPr>
          <p:nvPr/>
        </p:nvSpPr>
        <p:spPr>
          <a:xfrm xmlns:a="http://schemas.openxmlformats.org/drawingml/2006/main" flipV="0">
            <a:off x="10429875" y="2600325"/>
            <a:ext cx="838200" cy="2095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9" name="">
            <a:extLst xmlns:a="http://schemas.openxmlformats.org/drawingml/2006/main">
              <a:ext uri="{FF2B5EF4-FFF2-40B4-BE49-F238E27FC236}">
                <a16:creationId xmlns:a16="http://schemas.microsoft.com/office/drawing/2014/main" id="{B99853EE-B382-46F9-A926-35694B5FC603}"/>
              </a:ext>
            </a:extLst>
          </p:cNvPr>
          <p:cNvSpPr>
            <a:spLocks xmlns:a="http://schemas.openxmlformats.org/drawingml/2006/main" noGrp="1"/>
          </p:cNvSpPr>
          <p:nvPr/>
        </p:nvSpPr>
        <p:spPr>
          <a:xfrm xmlns:a="http://schemas.openxmlformats.org/drawingml/2006/main" flipV="0">
            <a:off x="10429875" y="2600325"/>
            <a:ext cx="838200" cy="11239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0" name="">
            <a:extLst xmlns:a="http://schemas.openxmlformats.org/drawingml/2006/main">
              <a:ext uri="{FF2B5EF4-FFF2-40B4-BE49-F238E27FC236}">
                <a16:creationId xmlns:a16="http://schemas.microsoft.com/office/drawing/2014/main" id="{800CAEC4-EF5E-4BFD-9A5D-E043D95B0305}"/>
              </a:ext>
            </a:extLst>
          </p:cNvPr>
          <p:cNvSpPr>
            <a:spLocks xmlns:a="http://schemas.openxmlformats.org/drawingml/2006/main" noGrp="1"/>
          </p:cNvSpPr>
          <p:nvPr/>
        </p:nvSpPr>
        <p:spPr>
          <a:xfrm xmlns:a="http://schemas.openxmlformats.org/drawingml/2006/main" flipV="0">
            <a:off x="10429875" y="2600325"/>
            <a:ext cx="838200" cy="20383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1" name="">
            <a:extLst xmlns:a="http://schemas.openxmlformats.org/drawingml/2006/main">
              <a:ext uri="{FF2B5EF4-FFF2-40B4-BE49-F238E27FC236}">
                <a16:creationId xmlns:a16="http://schemas.microsoft.com/office/drawing/2014/main" id="{AAB5672F-3781-492C-9125-813B3A0C6ABF}"/>
              </a:ext>
            </a:extLst>
          </p:cNvPr>
          <p:cNvSpPr>
            <a:spLocks xmlns:a="http://schemas.openxmlformats.org/drawingml/2006/main" noGrp="1"/>
          </p:cNvSpPr>
          <p:nvPr/>
        </p:nvSpPr>
        <p:spPr>
          <a:xfrm xmlns:a="http://schemas.openxmlformats.org/drawingml/2006/main" flipV="1">
            <a:off x="10429875" y="2809875"/>
            <a:ext cx="838200" cy="6858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2" name="">
            <a:extLst xmlns:a="http://schemas.openxmlformats.org/drawingml/2006/main">
              <a:ext uri="{FF2B5EF4-FFF2-40B4-BE49-F238E27FC236}">
                <a16:creationId xmlns:a16="http://schemas.microsoft.com/office/drawing/2014/main" id="{DBE96F24-263C-4ED7-81D7-8D5467DA0586}"/>
              </a:ext>
            </a:extLst>
          </p:cNvPr>
          <p:cNvSpPr>
            <a:spLocks xmlns:a="http://schemas.openxmlformats.org/drawingml/2006/main" noGrp="1"/>
          </p:cNvSpPr>
          <p:nvPr/>
        </p:nvSpPr>
        <p:spPr>
          <a:xfrm xmlns:a="http://schemas.openxmlformats.org/drawingml/2006/main" flipV="0">
            <a:off x="10429875" y="3495675"/>
            <a:ext cx="838200" cy="228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3" name="">
            <a:extLst xmlns:a="http://schemas.openxmlformats.org/drawingml/2006/main">
              <a:ext uri="{FF2B5EF4-FFF2-40B4-BE49-F238E27FC236}">
                <a16:creationId xmlns:a16="http://schemas.microsoft.com/office/drawing/2014/main" id="{73C7B88B-3F42-4C15-AE9D-CC95F54A4504}"/>
              </a:ext>
            </a:extLst>
          </p:cNvPr>
          <p:cNvSpPr>
            <a:spLocks xmlns:a="http://schemas.openxmlformats.org/drawingml/2006/main" noGrp="1"/>
          </p:cNvSpPr>
          <p:nvPr/>
        </p:nvSpPr>
        <p:spPr>
          <a:xfrm xmlns:a="http://schemas.openxmlformats.org/drawingml/2006/main" flipV="0">
            <a:off x="10429875" y="3495675"/>
            <a:ext cx="838200" cy="11430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4" name="">
            <a:extLst xmlns:a="http://schemas.openxmlformats.org/drawingml/2006/main">
              <a:ext uri="{FF2B5EF4-FFF2-40B4-BE49-F238E27FC236}">
                <a16:creationId xmlns:a16="http://schemas.microsoft.com/office/drawing/2014/main" id="{AF379A12-F2EA-4F37-95C8-A743F8B784E3}"/>
              </a:ext>
            </a:extLst>
          </p:cNvPr>
          <p:cNvSpPr>
            <a:spLocks xmlns:a="http://schemas.openxmlformats.org/drawingml/2006/main" noGrp="1"/>
          </p:cNvSpPr>
          <p:nvPr/>
        </p:nvSpPr>
        <p:spPr>
          <a:xfrm xmlns:a="http://schemas.openxmlformats.org/drawingml/2006/main" flipV="1">
            <a:off x="10429875" y="2809875"/>
            <a:ext cx="838200" cy="15811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5" name="">
            <a:extLst xmlns:a="http://schemas.openxmlformats.org/drawingml/2006/main">
              <a:ext uri="{FF2B5EF4-FFF2-40B4-BE49-F238E27FC236}">
                <a16:creationId xmlns:a16="http://schemas.microsoft.com/office/drawing/2014/main" id="{315D4207-B1BA-4706-B072-E96FFBAA444F}"/>
              </a:ext>
            </a:extLst>
          </p:cNvPr>
          <p:cNvSpPr>
            <a:spLocks xmlns:a="http://schemas.openxmlformats.org/drawingml/2006/main" noGrp="1"/>
          </p:cNvSpPr>
          <p:nvPr/>
        </p:nvSpPr>
        <p:spPr>
          <a:xfrm xmlns:a="http://schemas.openxmlformats.org/drawingml/2006/main" flipV="1">
            <a:off x="10429875" y="3724275"/>
            <a:ext cx="838200" cy="666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6" name="">
            <a:extLst xmlns:a="http://schemas.openxmlformats.org/drawingml/2006/main">
              <a:ext uri="{FF2B5EF4-FFF2-40B4-BE49-F238E27FC236}">
                <a16:creationId xmlns:a16="http://schemas.microsoft.com/office/drawing/2014/main" id="{9161CF7E-8A78-434A-B0B9-63F51C5060E3}"/>
              </a:ext>
            </a:extLst>
          </p:cNvPr>
          <p:cNvSpPr>
            <a:spLocks xmlns:a="http://schemas.openxmlformats.org/drawingml/2006/main" noGrp="1"/>
          </p:cNvSpPr>
          <p:nvPr/>
        </p:nvSpPr>
        <p:spPr>
          <a:xfrm xmlns:a="http://schemas.openxmlformats.org/drawingml/2006/main" flipV="0">
            <a:off x="10429875" y="4391025"/>
            <a:ext cx="838200" cy="2476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7" name="">
            <a:extLst xmlns:a="http://schemas.openxmlformats.org/drawingml/2006/main">
              <a:ext uri="{FF2B5EF4-FFF2-40B4-BE49-F238E27FC236}">
                <a16:creationId xmlns:a16="http://schemas.microsoft.com/office/drawing/2014/main" id="{10FAC7AC-A87E-49CC-8050-12DAEF8A1115}"/>
              </a:ext>
            </a:extLst>
          </p:cNvPr>
          <p:cNvSpPr>
            <a:spLocks xmlns:a="http://schemas.openxmlformats.org/drawingml/2006/main" noGrp="1"/>
          </p:cNvSpPr>
          <p:nvPr/>
        </p:nvSpPr>
        <p:spPr>
          <a:xfrm xmlns:a="http://schemas.openxmlformats.org/drawingml/2006/main">
            <a:off x="8191500" y="24765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8" name="">
            <a:extLst xmlns:a="http://schemas.openxmlformats.org/drawingml/2006/main">
              <a:ext uri="{FF2B5EF4-FFF2-40B4-BE49-F238E27FC236}">
                <a16:creationId xmlns:a16="http://schemas.microsoft.com/office/drawing/2014/main" id="{7CC224A5-53EC-48CB-805F-AADADAD102E1}"/>
              </a:ext>
            </a:extLst>
          </p:cNvPr>
          <p:cNvSpPr>
            <a:spLocks xmlns:a="http://schemas.openxmlformats.org/drawingml/2006/main" noGrp="1"/>
          </p:cNvSpPr>
          <p:nvPr/>
        </p:nvSpPr>
        <p:spPr>
          <a:xfrm xmlns:a="http://schemas.openxmlformats.org/drawingml/2006/main">
            <a:off x="8191500" y="337185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9" name="">
            <a:extLst xmlns:a="http://schemas.openxmlformats.org/drawingml/2006/main">
              <a:ext uri="{FF2B5EF4-FFF2-40B4-BE49-F238E27FC236}">
                <a16:creationId xmlns:a16="http://schemas.microsoft.com/office/drawing/2014/main" id="{5502E835-9CAD-47C0-A971-90A0B355A1B6}"/>
              </a:ext>
            </a:extLst>
          </p:cNvPr>
          <p:cNvSpPr>
            <a:spLocks xmlns:a="http://schemas.openxmlformats.org/drawingml/2006/main" noGrp="1"/>
          </p:cNvSpPr>
          <p:nvPr/>
        </p:nvSpPr>
        <p:spPr>
          <a:xfrm xmlns:a="http://schemas.openxmlformats.org/drawingml/2006/main">
            <a:off x="8191500" y="42672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50" name="">
            <a:extLst xmlns:a="http://schemas.openxmlformats.org/drawingml/2006/main">
              <a:ext uri="{FF2B5EF4-FFF2-40B4-BE49-F238E27FC236}">
                <a16:creationId xmlns:a16="http://schemas.microsoft.com/office/drawing/2014/main" id="{AEF52DC0-2B71-4A37-8FA9-3746EE20DDBD}"/>
              </a:ext>
            </a:extLst>
          </p:cNvPr>
          <p:cNvSpPr>
            <a:spLocks xmlns:a="http://schemas.openxmlformats.org/drawingml/2006/main" noGrp="1"/>
          </p:cNvSpPr>
          <p:nvPr/>
        </p:nvSpPr>
        <p:spPr>
          <a:xfrm xmlns:a="http://schemas.openxmlformats.org/drawingml/2006/main">
            <a:off x="9239250" y="21907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1" name="">
            <a:extLst xmlns:a="http://schemas.openxmlformats.org/drawingml/2006/main">
              <a:ext uri="{FF2B5EF4-FFF2-40B4-BE49-F238E27FC236}">
                <a16:creationId xmlns:a16="http://schemas.microsoft.com/office/drawing/2014/main" id="{8A159F5B-F99A-497B-A5CA-51BE8B8861A6}"/>
              </a:ext>
            </a:extLst>
          </p:cNvPr>
          <p:cNvSpPr>
            <a:spLocks xmlns:a="http://schemas.openxmlformats.org/drawingml/2006/main" noGrp="1"/>
          </p:cNvSpPr>
          <p:nvPr/>
        </p:nvSpPr>
        <p:spPr>
          <a:xfrm xmlns:a="http://schemas.openxmlformats.org/drawingml/2006/main">
            <a:off x="9239250" y="292417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2" name="">
            <a:extLst xmlns:a="http://schemas.openxmlformats.org/drawingml/2006/main">
              <a:ext uri="{FF2B5EF4-FFF2-40B4-BE49-F238E27FC236}">
                <a16:creationId xmlns:a16="http://schemas.microsoft.com/office/drawing/2014/main" id="{798570F7-A238-45ED-8082-45B1445DD112}"/>
              </a:ext>
            </a:extLst>
          </p:cNvPr>
          <p:cNvSpPr>
            <a:spLocks xmlns:a="http://schemas.openxmlformats.org/drawingml/2006/main" noGrp="1"/>
          </p:cNvSpPr>
          <p:nvPr/>
        </p:nvSpPr>
        <p:spPr>
          <a:xfrm xmlns:a="http://schemas.openxmlformats.org/drawingml/2006/main">
            <a:off x="9239250" y="36576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3" name="">
            <a:extLst xmlns:a="http://schemas.openxmlformats.org/drawingml/2006/main">
              <a:ext uri="{FF2B5EF4-FFF2-40B4-BE49-F238E27FC236}">
                <a16:creationId xmlns:a16="http://schemas.microsoft.com/office/drawing/2014/main" id="{7F18D500-E142-471C-8119-F73685733D54}"/>
              </a:ext>
            </a:extLst>
          </p:cNvPr>
          <p:cNvSpPr>
            <a:spLocks xmlns:a="http://schemas.openxmlformats.org/drawingml/2006/main" noGrp="1"/>
          </p:cNvSpPr>
          <p:nvPr/>
        </p:nvSpPr>
        <p:spPr>
          <a:xfrm xmlns:a="http://schemas.openxmlformats.org/drawingml/2006/main">
            <a:off x="9239250" y="439102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4" name="">
            <a:extLst xmlns:a="http://schemas.openxmlformats.org/drawingml/2006/main">
              <a:ext uri="{FF2B5EF4-FFF2-40B4-BE49-F238E27FC236}">
                <a16:creationId xmlns:a16="http://schemas.microsoft.com/office/drawing/2014/main" id="{D5821D2B-8A78-4C4E-BA69-32C90B86EE77}"/>
              </a:ext>
            </a:extLst>
          </p:cNvPr>
          <p:cNvSpPr>
            <a:spLocks xmlns:a="http://schemas.openxmlformats.org/drawingml/2006/main" noGrp="1"/>
          </p:cNvSpPr>
          <p:nvPr/>
        </p:nvSpPr>
        <p:spPr>
          <a:xfrm xmlns:a="http://schemas.openxmlformats.org/drawingml/2006/main">
            <a:off x="10306050" y="24765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5" name="">
            <a:extLst xmlns:a="http://schemas.openxmlformats.org/drawingml/2006/main">
              <a:ext uri="{FF2B5EF4-FFF2-40B4-BE49-F238E27FC236}">
                <a16:creationId xmlns:a16="http://schemas.microsoft.com/office/drawing/2014/main" id="{1195C8EA-2836-42F4-88EC-6DC634DD65E6}"/>
              </a:ext>
            </a:extLst>
          </p:cNvPr>
          <p:cNvSpPr>
            <a:spLocks xmlns:a="http://schemas.openxmlformats.org/drawingml/2006/main" noGrp="1"/>
          </p:cNvSpPr>
          <p:nvPr/>
        </p:nvSpPr>
        <p:spPr>
          <a:xfrm xmlns:a="http://schemas.openxmlformats.org/drawingml/2006/main">
            <a:off x="10306050" y="33718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6" name="">
            <a:extLst xmlns:a="http://schemas.openxmlformats.org/drawingml/2006/main">
              <a:ext uri="{FF2B5EF4-FFF2-40B4-BE49-F238E27FC236}">
                <a16:creationId xmlns:a16="http://schemas.microsoft.com/office/drawing/2014/main" id="{5F255E5D-AF1C-4AF6-AC92-E593525A88A2}"/>
              </a:ext>
            </a:extLst>
          </p:cNvPr>
          <p:cNvSpPr>
            <a:spLocks xmlns:a="http://schemas.openxmlformats.org/drawingml/2006/main" noGrp="1"/>
          </p:cNvSpPr>
          <p:nvPr/>
        </p:nvSpPr>
        <p:spPr>
          <a:xfrm xmlns:a="http://schemas.openxmlformats.org/drawingml/2006/main">
            <a:off x="10306050" y="42672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7" name="">
            <a:extLst xmlns:a="http://schemas.openxmlformats.org/drawingml/2006/main">
              <a:ext uri="{FF2B5EF4-FFF2-40B4-BE49-F238E27FC236}">
                <a16:creationId xmlns:a16="http://schemas.microsoft.com/office/drawing/2014/main" id="{20187B7A-5276-43A6-8BF7-439C8AF94EB5}"/>
              </a:ext>
            </a:extLst>
          </p:cNvPr>
          <p:cNvSpPr>
            <a:spLocks xmlns:a="http://schemas.openxmlformats.org/drawingml/2006/main" noGrp="1"/>
          </p:cNvSpPr>
          <p:nvPr/>
        </p:nvSpPr>
        <p:spPr>
          <a:xfrm xmlns:a="http://schemas.openxmlformats.org/drawingml/2006/main">
            <a:off x="11144250" y="26860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8" name="">
            <a:extLst xmlns:a="http://schemas.openxmlformats.org/drawingml/2006/main">
              <a:ext uri="{FF2B5EF4-FFF2-40B4-BE49-F238E27FC236}">
                <a16:creationId xmlns:a16="http://schemas.microsoft.com/office/drawing/2014/main" id="{92718558-8E99-464A-BCF3-9B72ADBD3B9A}"/>
              </a:ext>
            </a:extLst>
          </p:cNvPr>
          <p:cNvSpPr>
            <a:spLocks xmlns:a="http://schemas.openxmlformats.org/drawingml/2006/main" noGrp="1"/>
          </p:cNvSpPr>
          <p:nvPr/>
        </p:nvSpPr>
        <p:spPr>
          <a:xfrm xmlns:a="http://schemas.openxmlformats.org/drawingml/2006/main">
            <a:off x="11144250" y="36004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9" name="">
            <a:extLst xmlns:a="http://schemas.openxmlformats.org/drawingml/2006/main">
              <a:ext uri="{FF2B5EF4-FFF2-40B4-BE49-F238E27FC236}">
                <a16:creationId xmlns:a16="http://schemas.microsoft.com/office/drawing/2014/main" id="{719703CD-37E8-4ED4-B4E8-E8196BD116CA}"/>
              </a:ext>
            </a:extLst>
          </p:cNvPr>
          <p:cNvSpPr>
            <a:spLocks xmlns:a="http://schemas.openxmlformats.org/drawingml/2006/main" noGrp="1"/>
          </p:cNvSpPr>
          <p:nvPr/>
        </p:nvSpPr>
        <p:spPr>
          <a:xfrm xmlns:a="http://schemas.openxmlformats.org/drawingml/2006/main">
            <a:off x="11144250" y="45148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60" name="">
            <a:extLst xmlns:a="http://schemas.openxmlformats.org/drawingml/2006/main">
              <a:ext uri="{FF2B5EF4-FFF2-40B4-BE49-F238E27FC236}">
                <a16:creationId xmlns:a16="http://schemas.microsoft.com/office/drawing/2014/main" id="{5DC9F6C0-5B02-4D42-B2CE-4F6C9AB0F0C3}"/>
              </a:ext>
            </a:extLst>
          </p:cNvPr>
          <p:cNvSpPr>
            <a:spLocks xmlns:a="http://schemas.openxmlformats.org/drawingml/2006/main" noGrp="1"/>
          </p:cNvSpPr>
          <p:nvPr/>
        </p:nvSpPr>
        <p:spPr>
          <a:xfrm xmlns:a="http://schemas.openxmlformats.org/drawingml/2006/main">
            <a:off x="8001000" y="50673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PROMPT</a:t>
            </a:r>
          </a:p>
        </p:txBody>
      </p:sp>
      <p:sp>
        <p:nvSpPr>
          <p:cNvPr id="61" name="">
            <a:extLst xmlns:a="http://schemas.openxmlformats.org/drawingml/2006/main">
              <a:ext uri="{FF2B5EF4-FFF2-40B4-BE49-F238E27FC236}">
                <a16:creationId xmlns:a16="http://schemas.microsoft.com/office/drawing/2014/main" id="{FEFD73DC-6DB3-4CB4-AE7E-DAE8B864E860}"/>
              </a:ext>
            </a:extLst>
          </p:cNvPr>
          <p:cNvSpPr>
            <a:spLocks xmlns:a="http://schemas.openxmlformats.org/drawingml/2006/main" noGrp="1"/>
          </p:cNvSpPr>
          <p:nvPr/>
        </p:nvSpPr>
        <p:spPr>
          <a:xfrm xmlns:a="http://schemas.openxmlformats.org/drawingml/2006/main">
            <a:off x="9182100" y="50673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HIDDEN LAYERS</a:t>
            </a:r>
          </a:p>
        </p:txBody>
      </p:sp>
      <p:sp>
        <p:nvSpPr>
          <p:cNvPr id="62" name="">
            <a:extLst xmlns:a="http://schemas.openxmlformats.org/drawingml/2006/main">
              <a:ext uri="{FF2B5EF4-FFF2-40B4-BE49-F238E27FC236}">
                <a16:creationId xmlns:a16="http://schemas.microsoft.com/office/drawing/2014/main" id="{0E9F6C31-88C1-43AF-A10B-E78911093E8B}"/>
              </a:ext>
            </a:extLst>
          </p:cNvPr>
          <p:cNvSpPr>
            <a:spLocks xmlns:a="http://schemas.openxmlformats.org/drawingml/2006/main" noGrp="1"/>
          </p:cNvSpPr>
          <p:nvPr/>
        </p:nvSpPr>
        <p:spPr>
          <a:xfrm xmlns:a="http://schemas.openxmlformats.org/drawingml/2006/main">
            <a:off x="10858500" y="50673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ANSWER</a:t>
            </a:r>
          </a:p>
        </p:txBody>
      </p:sp>
      <p:sp>
        <p:nvSpPr>
          <p:cNvPr id="63" name="">
            <a:extLst xmlns:a="http://schemas.openxmlformats.org/drawingml/2006/main">
              <a:ext uri="{FF2B5EF4-FFF2-40B4-BE49-F238E27FC236}">
                <a16:creationId xmlns:a16="http://schemas.microsoft.com/office/drawing/2014/main" id="{2B8699A0-FA47-42A9-BEBC-237EE51AD063}"/>
              </a:ext>
            </a:extLst>
          </p:cNvPr>
          <p:cNvSpPr>
            <a:spLocks xmlns:a="http://schemas.openxmlformats.org/drawingml/2006/main" noGrp="1"/>
          </p:cNvSpPr>
          <p:nvPr/>
        </p:nvSpPr>
        <p:spPr>
          <a:xfrm xmlns:a="http://schemas.openxmlformats.org/drawingml/2006/main">
            <a:off x="7810500" y="5886450"/>
            <a:ext cx="352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36477"/>
                </a:solidFill>
                <a:latin typeface="Helvetica Neue"/>
                <a:ea typeface="Helvetica Neue"/>
                <a:cs typeface="Helvetica Neue"/>
              </a:defRPr>
            </a:defPPr>
          </a:lstStyle>
          <a:p xmlns:a="http://schemas.openxmlformats.org/drawingml/2006/main">
            <a:pPr algn="r">
              <a:lnSpc>
                <a:spcPct val="105000"/>
              </a:lnSpc>
              <a:buNone/>
              <a:defRPr sz="975" b="0">
                <a:solidFill>
                  <a:srgbClr val="536477"/>
                </a:solidFill>
                <a:latin typeface="Helvetica Neue"/>
                <a:ea typeface="Helvetica Neue"/>
                <a:cs typeface="Helvetica Neue"/>
              </a:defRPr>
            </a:pPr>
            <a:r>
              <a:rPr sz="975" b="0">
                <a:solidFill>
                  <a:srgbClr val="536477"/>
                </a:solidFill>
                <a:latin typeface="Helvetica Neue"/>
                <a:ea typeface="Helvetica Neue"/>
                <a:cs typeface="Helvetica Neue"/>
              </a:rPr>
              <a:t>Presentation title shown as a placeholder until the official capstone title is confirmed.</a:t>
            </a:r>
          </a:p>
        </p:txBody>
      </p:sp>
    </p:spTree>
    <p:extLst>
      <p:ext uri="{BB962C8B-B14F-4D97-AF65-F5344CB8AC3E}">
        <p14:creationId xmlns:p14="http://schemas.microsoft.com/office/powerpoint/2010/main" val="466341881"/>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058A360-A25A-4F18-8210-609E08206C67}"/>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E6148C-2607-4BFA-8F42-EBC349C88674}"/>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Overview</a:t>
            </a:r>
          </a:p>
        </p:txBody>
      </p:sp>
      <p:sp>
        <p:nvSpPr>
          <p:cNvPr id="3" name="">
            <a:extLst xmlns:a="http://schemas.openxmlformats.org/drawingml/2006/main">
              <a:ext uri="{FF2B5EF4-FFF2-40B4-BE49-F238E27FC236}">
                <a16:creationId xmlns:a16="http://schemas.microsoft.com/office/drawing/2014/main" id="{8141B3B1-37A9-4B67-9B3B-7FBBF0F512CE}"/>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A small language model can answer questions. This project studies how decoding and uncertainty signals can help evaluate those answers.</a:t>
            </a:r>
          </a:p>
        </p:txBody>
      </p:sp>
      <p:sp>
        <p:nvSpPr>
          <p:cNvPr id="4" name="">
            <a:extLst xmlns:a="http://schemas.openxmlformats.org/drawingml/2006/main">
              <a:ext uri="{FF2B5EF4-FFF2-40B4-BE49-F238E27FC236}">
                <a16:creationId xmlns:a16="http://schemas.microsoft.com/office/drawing/2014/main" id="{5FC58B18-58D2-4A1D-B3C2-F3C975B47F4D}"/>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438E9712-3180-4955-BFB0-200080685E81}"/>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3C819ED5-D162-4239-8157-FB2F7C0DC365}"/>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ECBC19CD-1DF1-4767-96A2-6D35AE070562}"/>
              </a:ext>
            </a:extLst>
          </p:cNvPr>
          <p:cNvSpPr>
            <a:spLocks xmlns:a="http://schemas.openxmlformats.org/drawingml/2006/main" noGrp="1"/>
          </p:cNvSpPr>
          <p:nvPr/>
        </p:nvSpPr>
        <p:spPr>
          <a:xfrm xmlns:a="http://schemas.openxmlformats.org/drawingml/2006/main">
            <a:off x="647700" y="14859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PROJECT IN ONE LINE</a:t>
            </a:r>
          </a:p>
        </p:txBody>
      </p:sp>
      <p:sp>
        <p:nvSpPr>
          <p:cNvPr id="8" name="">
            <a:extLst xmlns:a="http://schemas.openxmlformats.org/drawingml/2006/main">
              <a:ext uri="{FF2B5EF4-FFF2-40B4-BE49-F238E27FC236}">
                <a16:creationId xmlns:a16="http://schemas.microsoft.com/office/drawing/2014/main" id="{7F4FCC9C-6257-4286-A88D-F068C183C468}"/>
              </a:ext>
            </a:extLst>
          </p:cNvPr>
          <p:cNvSpPr>
            <a:spLocks xmlns:a="http://schemas.openxmlformats.org/drawingml/2006/main" noGrp="1"/>
          </p:cNvSpPr>
          <p:nvPr/>
        </p:nvSpPr>
        <p:spPr>
          <a:xfrm xmlns:a="http://schemas.openxmlformats.org/drawingml/2006/main">
            <a:off x="647700" y="175260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0253F"/>
                </a:solidFill>
                <a:latin typeface="Helvetica Neue"/>
                <a:ea typeface="Helvetica Neue"/>
                <a:cs typeface="Helvetica Neue"/>
              </a:defRPr>
            </a:defPPr>
          </a:lstStyle>
          <a:p xmlns:a="http://schemas.openxmlformats.org/drawingml/2006/main">
            <a:pPr algn="l">
              <a:lnSpc>
                <a:spcPct val="105000"/>
              </a:lnSpc>
              <a:buNone/>
              <a:defRPr sz="1950" b="1">
                <a:solidFill>
                  <a:srgbClr val="10253F"/>
                </a:solidFill>
                <a:latin typeface="Helvetica Neue"/>
                <a:ea typeface="Helvetica Neue"/>
                <a:cs typeface="Helvetica Neue"/>
              </a:defRPr>
            </a:pPr>
            <a:r>
              <a:rPr sz="1950" b="1">
                <a:solidFill>
                  <a:srgbClr val="10253F"/>
                </a:solidFill>
                <a:latin typeface="Helvetica Neue"/>
                <a:ea typeface="Helvetica Neue"/>
                <a:cs typeface="Helvetica Neue"/>
              </a:rPr>
              <a:t>Compare layer-contrastive decoding and Epinet-based uncertainty for TinyLlama answer generation.</a:t>
            </a:r>
          </a:p>
        </p:txBody>
      </p:sp>
      <p:sp>
        <p:nvSpPr>
          <p:cNvPr id="9" name="">
            <a:extLst xmlns:a="http://schemas.openxmlformats.org/drawingml/2006/main">
              <a:ext uri="{FF2B5EF4-FFF2-40B4-BE49-F238E27FC236}">
                <a16:creationId xmlns:a16="http://schemas.microsoft.com/office/drawing/2014/main" id="{F71FF1D5-04FB-421F-BE5B-93352505E280}"/>
              </a:ext>
            </a:extLst>
          </p:cNvPr>
          <p:cNvSpPr>
            <a:spLocks xmlns:a="http://schemas.openxmlformats.org/drawingml/2006/main" noGrp="1"/>
          </p:cNvSpPr>
          <p:nvPr/>
        </p:nvSpPr>
        <p:spPr>
          <a:xfrm xmlns:a="http://schemas.openxmlformats.org/drawingml/2006/main">
            <a:off x="7429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0" name="">
            <a:extLst xmlns:a="http://schemas.openxmlformats.org/drawingml/2006/main">
              <a:ext uri="{FF2B5EF4-FFF2-40B4-BE49-F238E27FC236}">
                <a16:creationId xmlns:a16="http://schemas.microsoft.com/office/drawing/2014/main" id="{2DF75ED3-E04E-4EAC-9BB5-47B0EE1335E0}"/>
              </a:ext>
            </a:extLst>
          </p:cNvPr>
          <p:cNvSpPr>
            <a:spLocks xmlns:a="http://schemas.openxmlformats.org/drawingml/2006/main" noGrp="1"/>
          </p:cNvSpPr>
          <p:nvPr/>
        </p:nvSpPr>
        <p:spPr>
          <a:xfrm xmlns:a="http://schemas.openxmlformats.org/drawingml/2006/main">
            <a:off x="742950" y="3009900"/>
            <a:ext cx="47625" cy="12382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CBB36BC-F479-4F01-9118-3B2182FD0380}"/>
              </a:ext>
            </a:extLst>
          </p:cNvPr>
          <p:cNvSpPr>
            <a:spLocks xmlns:a="http://schemas.openxmlformats.org/drawingml/2006/main" noGrp="1"/>
          </p:cNvSpPr>
          <p:nvPr/>
        </p:nvSpPr>
        <p:spPr>
          <a:xfrm xmlns:a="http://schemas.openxmlformats.org/drawingml/2006/main">
            <a:off x="9144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12" name="">
            <a:extLst xmlns:a="http://schemas.openxmlformats.org/drawingml/2006/main">
              <a:ext uri="{FF2B5EF4-FFF2-40B4-BE49-F238E27FC236}">
                <a16:creationId xmlns:a16="http://schemas.microsoft.com/office/drawing/2014/main" id="{DFE81541-766A-428B-A307-6E7E00AF03E5}"/>
              </a:ext>
            </a:extLst>
          </p:cNvPr>
          <p:cNvSpPr>
            <a:spLocks xmlns:a="http://schemas.openxmlformats.org/drawingml/2006/main" noGrp="1"/>
          </p:cNvSpPr>
          <p:nvPr/>
        </p:nvSpPr>
        <p:spPr>
          <a:xfrm xmlns:a="http://schemas.openxmlformats.org/drawingml/2006/main">
            <a:off x="9144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A user asks a short factual question.</a:t>
            </a:r>
          </a:p>
        </p:txBody>
      </p:sp>
      <p:sp>
        <p:nvSpPr>
          <p:cNvPr id="13" name="">
            <a:extLst xmlns:a="http://schemas.openxmlformats.org/drawingml/2006/main">
              <a:ext uri="{FF2B5EF4-FFF2-40B4-BE49-F238E27FC236}">
                <a16:creationId xmlns:a16="http://schemas.microsoft.com/office/drawing/2014/main" id="{6C020AFA-F6EB-4C9F-9307-2AA8CAF85335}"/>
              </a:ext>
            </a:extLst>
          </p:cNvPr>
          <p:cNvSpPr>
            <a:spLocks xmlns:a="http://schemas.openxmlformats.org/drawingml/2006/main" noGrp="1"/>
          </p:cNvSpPr>
          <p:nvPr/>
        </p:nvSpPr>
        <p:spPr>
          <a:xfrm xmlns:a="http://schemas.openxmlformats.org/drawingml/2006/main">
            <a:off x="46672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D30612E7-9504-47F0-B535-04915F1C41F4}"/>
              </a:ext>
            </a:extLst>
          </p:cNvPr>
          <p:cNvSpPr>
            <a:spLocks xmlns:a="http://schemas.openxmlformats.org/drawingml/2006/main" noGrp="1"/>
          </p:cNvSpPr>
          <p:nvPr/>
        </p:nvSpPr>
        <p:spPr>
          <a:xfrm xmlns:a="http://schemas.openxmlformats.org/drawingml/2006/main">
            <a:off x="4667250" y="3009900"/>
            <a:ext cx="47625" cy="12382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91B2D4C-21B7-4C11-BE1A-4C5B132BACAF}"/>
              </a:ext>
            </a:extLst>
          </p:cNvPr>
          <p:cNvSpPr>
            <a:spLocks xmlns:a="http://schemas.openxmlformats.org/drawingml/2006/main" noGrp="1"/>
          </p:cNvSpPr>
          <p:nvPr/>
        </p:nvSpPr>
        <p:spPr>
          <a:xfrm xmlns:a="http://schemas.openxmlformats.org/drawingml/2006/main">
            <a:off x="48387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TinyLlama + DoLa</a:t>
            </a:r>
          </a:p>
        </p:txBody>
      </p:sp>
      <p:sp>
        <p:nvSpPr>
          <p:cNvPr id="16" name="">
            <a:extLst xmlns:a="http://schemas.openxmlformats.org/drawingml/2006/main">
              <a:ext uri="{FF2B5EF4-FFF2-40B4-BE49-F238E27FC236}">
                <a16:creationId xmlns:a16="http://schemas.microsoft.com/office/drawing/2014/main" id="{1EF6F14B-A422-42A5-A0F3-81B551E9D21A}"/>
              </a:ext>
            </a:extLst>
          </p:cNvPr>
          <p:cNvSpPr>
            <a:spLocks xmlns:a="http://schemas.openxmlformats.org/drawingml/2006/main" noGrp="1"/>
          </p:cNvSpPr>
          <p:nvPr/>
        </p:nvSpPr>
        <p:spPr>
          <a:xfrm xmlns:a="http://schemas.openxmlformats.org/drawingml/2006/main">
            <a:off x="48387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Contrast final-layer scores with a selected earlier layer.</a:t>
            </a:r>
          </a:p>
        </p:txBody>
      </p:sp>
      <p:sp>
        <p:nvSpPr>
          <p:cNvPr id="17" name="">
            <a:extLst xmlns:a="http://schemas.openxmlformats.org/drawingml/2006/main">
              <a:ext uri="{FF2B5EF4-FFF2-40B4-BE49-F238E27FC236}">
                <a16:creationId xmlns:a16="http://schemas.microsoft.com/office/drawing/2014/main" id="{375E16E4-5829-4B60-8382-11F8A29C70E7}"/>
              </a:ext>
            </a:extLst>
          </p:cNvPr>
          <p:cNvSpPr>
            <a:spLocks xmlns:a="http://schemas.openxmlformats.org/drawingml/2006/main" noGrp="1"/>
          </p:cNvSpPr>
          <p:nvPr/>
        </p:nvSpPr>
        <p:spPr>
          <a:xfrm xmlns:a="http://schemas.openxmlformats.org/drawingml/2006/main">
            <a:off x="85915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8" name="">
            <a:extLst xmlns:a="http://schemas.openxmlformats.org/drawingml/2006/main">
              <a:ext uri="{FF2B5EF4-FFF2-40B4-BE49-F238E27FC236}">
                <a16:creationId xmlns:a16="http://schemas.microsoft.com/office/drawing/2014/main" id="{4E6130A9-E65C-4DAE-89CD-80934797F9F9}"/>
              </a:ext>
            </a:extLst>
          </p:cNvPr>
          <p:cNvSpPr>
            <a:spLocks xmlns:a="http://schemas.openxmlformats.org/drawingml/2006/main" noGrp="1"/>
          </p:cNvSpPr>
          <p:nvPr/>
        </p:nvSpPr>
        <p:spPr>
          <a:xfrm xmlns:a="http://schemas.openxmlformats.org/drawingml/2006/main">
            <a:off x="8591550" y="3009900"/>
            <a:ext cx="47625" cy="12382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F517F0E-EAF1-494C-A445-A20056765DD2}"/>
              </a:ext>
            </a:extLst>
          </p:cNvPr>
          <p:cNvSpPr>
            <a:spLocks xmlns:a="http://schemas.openxmlformats.org/drawingml/2006/main" noGrp="1"/>
          </p:cNvSpPr>
          <p:nvPr/>
        </p:nvSpPr>
        <p:spPr>
          <a:xfrm xmlns:a="http://schemas.openxmlformats.org/drawingml/2006/main">
            <a:off x="87630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Answer + signals</a:t>
            </a:r>
          </a:p>
        </p:txBody>
      </p:sp>
      <p:sp>
        <p:nvSpPr>
          <p:cNvPr id="20" name="">
            <a:extLst xmlns:a="http://schemas.openxmlformats.org/drawingml/2006/main">
              <a:ext uri="{FF2B5EF4-FFF2-40B4-BE49-F238E27FC236}">
                <a16:creationId xmlns:a16="http://schemas.microsoft.com/office/drawing/2014/main" id="{B9978012-B21E-4D11-AD32-367A3F6E169E}"/>
              </a:ext>
            </a:extLst>
          </p:cNvPr>
          <p:cNvSpPr>
            <a:spLocks xmlns:a="http://schemas.openxmlformats.org/drawingml/2006/main" noGrp="1"/>
          </p:cNvSpPr>
          <p:nvPr/>
        </p:nvSpPr>
        <p:spPr>
          <a:xfrm xmlns:a="http://schemas.openxmlformats.org/drawingml/2006/main">
            <a:off x="87630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a response and inspect uncertainty or candidate agreement.</a:t>
            </a:r>
          </a:p>
        </p:txBody>
      </p:sp>
      <p:sp>
        <p:nvSpPr>
          <p:cNvPr id="21" name="">
            <a:extLst xmlns:a="http://schemas.openxmlformats.org/drawingml/2006/main">
              <a:ext uri="{FF2B5EF4-FFF2-40B4-BE49-F238E27FC236}">
                <a16:creationId xmlns:a16="http://schemas.microsoft.com/office/drawing/2014/main" id="{74A6D801-329D-4EE6-978E-890BD7C1427F}"/>
              </a:ext>
            </a:extLst>
          </p:cNvPr>
          <p:cNvSpPr>
            <a:spLocks xmlns:a="http://schemas.openxmlformats.org/drawingml/2006/main" noGrp="1"/>
          </p:cNvSpPr>
          <p:nvPr/>
        </p:nvSpPr>
        <p:spPr>
          <a:xfrm xmlns:a="http://schemas.openxmlformats.org/drawingml/2006/main" flipV="0">
            <a:off x="36004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2" name="">
            <a:extLst xmlns:a="http://schemas.openxmlformats.org/drawingml/2006/main">
              <a:ext uri="{FF2B5EF4-FFF2-40B4-BE49-F238E27FC236}">
                <a16:creationId xmlns:a16="http://schemas.microsoft.com/office/drawing/2014/main" id="{911EAB53-8CBC-4783-8AC9-E9472B9B4615}"/>
              </a:ext>
            </a:extLst>
          </p:cNvPr>
          <p:cNvSpPr>
            <a:spLocks xmlns:a="http://schemas.openxmlformats.org/drawingml/2006/main" noGrp="1"/>
          </p:cNvSpPr>
          <p:nvPr/>
        </p:nvSpPr>
        <p:spPr>
          <a:xfrm xmlns:a="http://schemas.openxmlformats.org/drawingml/2006/main" rot="5400000">
            <a:off x="44767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4E5B694-F29E-4021-8701-5DC1BEDDAFEC}"/>
              </a:ext>
            </a:extLst>
          </p:cNvPr>
          <p:cNvSpPr>
            <a:spLocks xmlns:a="http://schemas.openxmlformats.org/drawingml/2006/main" noGrp="1"/>
          </p:cNvSpPr>
          <p:nvPr/>
        </p:nvSpPr>
        <p:spPr>
          <a:xfrm xmlns:a="http://schemas.openxmlformats.org/drawingml/2006/main" flipV="0">
            <a:off x="75247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4" name="">
            <a:extLst xmlns:a="http://schemas.openxmlformats.org/drawingml/2006/main">
              <a:ext uri="{FF2B5EF4-FFF2-40B4-BE49-F238E27FC236}">
                <a16:creationId xmlns:a16="http://schemas.microsoft.com/office/drawing/2014/main" id="{588949D0-4B36-4403-A1C3-A8C6DAB78127}"/>
              </a:ext>
            </a:extLst>
          </p:cNvPr>
          <p:cNvSpPr>
            <a:spLocks xmlns:a="http://schemas.openxmlformats.org/drawingml/2006/main" noGrp="1"/>
          </p:cNvSpPr>
          <p:nvPr/>
        </p:nvSpPr>
        <p:spPr>
          <a:xfrm xmlns:a="http://schemas.openxmlformats.org/drawingml/2006/main" rot="5400000">
            <a:off x="84010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8E59C09-3946-4628-9380-81D46B80208C}"/>
              </a:ext>
            </a:extLst>
          </p:cNvPr>
          <p:cNvSpPr>
            <a:spLocks xmlns:a="http://schemas.openxmlformats.org/drawingml/2006/main" noGrp="1"/>
          </p:cNvSpPr>
          <p:nvPr/>
        </p:nvSpPr>
        <p:spPr>
          <a:xfrm xmlns:a="http://schemas.openxmlformats.org/drawingml/2006/main">
            <a:off x="647700" y="4857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IMPLEMENTED TECHNOLOGIES</a:t>
            </a:r>
          </a:p>
        </p:txBody>
      </p:sp>
      <p:sp>
        <p:nvSpPr>
          <p:cNvPr id="26" name="">
            <a:extLst xmlns:a="http://schemas.openxmlformats.org/drawingml/2006/main">
              <a:ext uri="{FF2B5EF4-FFF2-40B4-BE49-F238E27FC236}">
                <a16:creationId xmlns:a16="http://schemas.microsoft.com/office/drawing/2014/main" id="{68B8AF4D-7774-48ED-B09D-9CD522143FAE}"/>
              </a:ext>
            </a:extLst>
          </p:cNvPr>
          <p:cNvSpPr>
            <a:spLocks xmlns:a="http://schemas.openxmlformats.org/drawingml/2006/main" noGrp="1"/>
          </p:cNvSpPr>
          <p:nvPr/>
        </p:nvSpPr>
        <p:spPr>
          <a:xfrm xmlns:a="http://schemas.openxmlformats.org/drawingml/2006/main">
            <a:off x="647700" y="51625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36477"/>
                </a:solidFill>
                <a:latin typeface="Helvetica Neue"/>
                <a:ea typeface="Helvetica Neue"/>
                <a:cs typeface="Helvetica Neue"/>
              </a:defRPr>
            </a:defPPr>
          </a:lstStyle>
          <a:p xmlns:a="http://schemas.openxmlformats.org/drawingml/2006/main">
            <a:pPr algn="l">
              <a:lnSpc>
                <a:spcPct val="105000"/>
              </a:lnSpc>
              <a:buNone/>
              <a:defRPr sz="1350" b="1">
                <a:solidFill>
                  <a:srgbClr val="536477"/>
                </a:solidFill>
                <a:latin typeface="Helvetica Neue"/>
                <a:ea typeface="Helvetica Neue"/>
                <a:cs typeface="Helvetica Neue"/>
              </a:defRPr>
            </a:pPr>
            <a:r>
              <a:rPr sz="1350" b="1">
                <a:solidFill>
                  <a:srgbClr val="536477"/>
                </a:solidFill>
                <a:latin typeface="Helvetica Neue"/>
                <a:ea typeface="Helvetica Neue"/>
                <a:cs typeface="Helvetica Neue"/>
              </a:rPr>
              <a:t>Python   /   PyTorch   /   Hugging Face Transformers &amp; Datasets   /   NumPy</a:t>
            </a:r>
          </a:p>
        </p:txBody>
      </p:sp>
      <p:sp>
        <p:nvSpPr>
          <p:cNvPr id="27" name="">
            <a:extLst xmlns:a="http://schemas.openxmlformats.org/drawingml/2006/main">
              <a:ext uri="{FF2B5EF4-FFF2-40B4-BE49-F238E27FC236}">
                <a16:creationId xmlns:a16="http://schemas.microsoft.com/office/drawing/2014/main" id="{0B18788E-0C26-4129-A045-E8F7D92E0FBB}"/>
              </a:ext>
            </a:extLst>
          </p:cNvPr>
          <p:cNvSpPr>
            <a:spLocks xmlns:a="http://schemas.openxmlformats.org/drawingml/2006/main" noGrp="1"/>
          </p:cNvSpPr>
          <p:nvPr/>
        </p:nvSpPr>
        <p:spPr>
          <a:xfrm xmlns:a="http://schemas.openxmlformats.org/drawingml/2006/main">
            <a:off x="647700" y="5619750"/>
            <a:ext cx="1076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Methods: TinyLlama   ·   DoLa   ·   Epistemic Neural Network (Epinet)   ·   Self-consistency</a:t>
            </a:r>
          </a:p>
        </p:txBody>
      </p:sp>
    </p:spTree>
    <p:extLst>
      <p:ext uri="{BB962C8B-B14F-4D97-AF65-F5344CB8AC3E}">
        <p14:creationId xmlns:p14="http://schemas.microsoft.com/office/powerpoint/2010/main" val="1986500017"/>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FEFD4D5-2B2B-4F79-BE74-4C3709698E7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7F9829-479E-476F-A0C1-B2992D7ACF53}"/>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Problem Statement &amp; Motivation</a:t>
            </a:r>
          </a:p>
        </p:txBody>
      </p:sp>
      <p:sp>
        <p:nvSpPr>
          <p:cNvPr id="3" name="">
            <a:extLst xmlns:a="http://schemas.openxmlformats.org/drawingml/2006/main">
              <a:ext uri="{FF2B5EF4-FFF2-40B4-BE49-F238E27FC236}">
                <a16:creationId xmlns:a16="http://schemas.microsoft.com/office/drawing/2014/main" id="{EDA00676-F231-4B0E-8102-29B865A6EE22}"/>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Fluent language generation does not by itself show whether a response is correct or reliable.</a:t>
            </a:r>
          </a:p>
        </p:txBody>
      </p:sp>
      <p:sp>
        <p:nvSpPr>
          <p:cNvPr id="4" name="">
            <a:extLst xmlns:a="http://schemas.openxmlformats.org/drawingml/2006/main">
              <a:ext uri="{FF2B5EF4-FFF2-40B4-BE49-F238E27FC236}">
                <a16:creationId xmlns:a16="http://schemas.microsoft.com/office/drawing/2014/main" id="{EAB0B9AF-1E4C-4988-BD60-691F93429234}"/>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6E7A1764-85F6-4E76-8468-2F8F3CEB52D8}"/>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AE6CF3AA-F8AE-42A6-BDD0-39260E91BB28}"/>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07D080E4-F36A-4D5B-8927-19659A66F54C}"/>
              </a:ext>
            </a:extLst>
          </p:cNvPr>
          <p:cNvSpPr>
            <a:spLocks xmlns:a="http://schemas.openxmlformats.org/drawingml/2006/main" noGrp="1"/>
          </p:cNvSpPr>
          <p:nvPr/>
        </p:nvSpPr>
        <p:spPr>
          <a:xfrm xmlns:a="http://schemas.openxmlformats.org/drawingml/2006/main">
            <a:off x="685800" y="1466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PROBLEM</a:t>
            </a:r>
          </a:p>
        </p:txBody>
      </p:sp>
      <p:sp>
        <p:nvSpPr>
          <p:cNvPr id="8" name="">
            <a:extLst xmlns:a="http://schemas.openxmlformats.org/drawingml/2006/main">
              <a:ext uri="{FF2B5EF4-FFF2-40B4-BE49-F238E27FC236}">
                <a16:creationId xmlns:a16="http://schemas.microsoft.com/office/drawing/2014/main" id="{13E44F6A-7203-4159-8D6D-EAA62121B541}"/>
              </a:ext>
            </a:extLst>
          </p:cNvPr>
          <p:cNvSpPr>
            <a:spLocks xmlns:a="http://schemas.openxmlformats.org/drawingml/2006/main" noGrp="1"/>
          </p:cNvSpPr>
          <p:nvPr/>
        </p:nvSpPr>
        <p:spPr>
          <a:xfrm xmlns:a="http://schemas.openxmlformats.org/drawingml/2006/main">
            <a:off x="685800" y="1752600"/>
            <a:ext cx="4619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57"/>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A single model response offers limited evidence about answer reliability.</a:t>
            </a:r>
          </a:p>
        </p:txBody>
      </p:sp>
      <p:sp>
        <p:nvSpPr>
          <p:cNvPr id="9" name="">
            <a:extLst xmlns:a="http://schemas.openxmlformats.org/drawingml/2006/main">
              <a:ext uri="{FF2B5EF4-FFF2-40B4-BE49-F238E27FC236}">
                <a16:creationId xmlns:a16="http://schemas.microsoft.com/office/drawing/2014/main" id="{D01B6CA1-2E45-46B5-8836-CAA152736B2F}"/>
              </a:ext>
            </a:extLst>
          </p:cNvPr>
          <p:cNvSpPr>
            <a:spLocks xmlns:a="http://schemas.openxmlformats.org/drawingml/2006/main" noGrp="1"/>
          </p:cNvSpPr>
          <p:nvPr/>
        </p:nvSpPr>
        <p:spPr>
          <a:xfrm xmlns:a="http://schemas.openxmlformats.org/drawingml/2006/main">
            <a:off x="685800" y="2571750"/>
            <a:ext cx="4619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36477"/>
                </a:solidFill>
                <a:latin typeface="Helvetica Neue"/>
                <a:ea typeface="Helvetica Neue"/>
                <a:cs typeface="Helvetica Neue"/>
              </a:defRPr>
            </a:defPPr>
          </a:lstStyle>
          <a:p xmlns:a="http://schemas.openxmlformats.org/drawingml/2006/main">
            <a:pPr algn="l">
              <a:lnSpc>
                <a:spcPct val="105000"/>
              </a:lnSpc>
              <a:buNone/>
              <a:defRPr sz="1425" b="0">
                <a:solidFill>
                  <a:srgbClr val="536477"/>
                </a:solidFill>
                <a:latin typeface="Helvetica Neue"/>
                <a:ea typeface="Helvetica Neue"/>
                <a:cs typeface="Helvetica Neue"/>
              </a:defRPr>
            </a:pPr>
            <a:r>
              <a:rPr sz="1425" b="0">
                <a:solidFill>
                  <a:srgbClr val="536477"/>
                </a:solidFill>
                <a:latin typeface="Helvetica Neue"/>
                <a:ea typeface="Helvetica Neue"/>
                <a:cs typeface="Helvetica Neue"/>
              </a:rPr>
              <a:t>The project tests complementary signals at two levels: token scores across model layers and agreement across sampled answers.</a:t>
            </a:r>
          </a:p>
        </p:txBody>
      </p:sp>
      <p:sp>
        <p:nvSpPr>
          <p:cNvPr id="10" name="">
            <a:extLst xmlns:a="http://schemas.openxmlformats.org/drawingml/2006/main">
              <a:ext uri="{FF2B5EF4-FFF2-40B4-BE49-F238E27FC236}">
                <a16:creationId xmlns:a16="http://schemas.microsoft.com/office/drawing/2014/main" id="{AB924A64-D2A0-4AF4-90B1-50834F571896}"/>
              </a:ext>
            </a:extLst>
          </p:cNvPr>
          <p:cNvSpPr>
            <a:spLocks xmlns:a="http://schemas.openxmlformats.org/drawingml/2006/main" noGrp="1"/>
          </p:cNvSpPr>
          <p:nvPr/>
        </p:nvSpPr>
        <p:spPr>
          <a:xfrm xmlns:a="http://schemas.openxmlformats.org/drawingml/2006/main">
            <a:off x="6477000" y="1428750"/>
            <a:ext cx="48768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7E486C18-A241-4D28-A90F-1D3079FC0B62}"/>
              </a:ext>
            </a:extLst>
          </p:cNvPr>
          <p:cNvSpPr>
            <a:spLocks xmlns:a="http://schemas.openxmlformats.org/drawingml/2006/main" noGrp="1"/>
          </p:cNvSpPr>
          <p:nvPr/>
        </p:nvSpPr>
        <p:spPr>
          <a:xfrm xmlns:a="http://schemas.openxmlformats.org/drawingml/2006/main">
            <a:off x="6781800" y="16954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GENERATION CAN SOUND CERTAIN</a:t>
            </a:r>
          </a:p>
        </p:txBody>
      </p:sp>
      <p:sp>
        <p:nvSpPr>
          <p:cNvPr id="12" name="">
            <a:extLst xmlns:a="http://schemas.openxmlformats.org/drawingml/2006/main">
              <a:ext uri="{FF2B5EF4-FFF2-40B4-BE49-F238E27FC236}">
                <a16:creationId xmlns:a16="http://schemas.microsoft.com/office/drawing/2014/main" id="{600D7D96-9C40-458C-BF25-51BDD8E421EE}"/>
              </a:ext>
            </a:extLst>
          </p:cNvPr>
          <p:cNvSpPr>
            <a:spLocks xmlns:a="http://schemas.openxmlformats.org/drawingml/2006/main" noGrp="1"/>
          </p:cNvSpPr>
          <p:nvPr/>
        </p:nvSpPr>
        <p:spPr>
          <a:xfrm xmlns:a="http://schemas.openxmlformats.org/drawingml/2006/main">
            <a:off x="6781800" y="2057400"/>
            <a:ext cx="3981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“The answer is …”</a:t>
            </a:r>
          </a:p>
        </p:txBody>
      </p:sp>
      <p:sp>
        <p:nvSpPr>
          <p:cNvPr id="13" name="">
            <a:extLst xmlns:a="http://schemas.openxmlformats.org/drawingml/2006/main">
              <a:ext uri="{FF2B5EF4-FFF2-40B4-BE49-F238E27FC236}">
                <a16:creationId xmlns:a16="http://schemas.microsoft.com/office/drawing/2014/main" id="{B742EE92-0CB0-4ADE-B955-D89998F115B3}"/>
              </a:ext>
            </a:extLst>
          </p:cNvPr>
          <p:cNvSpPr>
            <a:spLocks xmlns:a="http://schemas.openxmlformats.org/drawingml/2006/main" noGrp="1"/>
          </p:cNvSpPr>
          <p:nvPr/>
        </p:nvSpPr>
        <p:spPr>
          <a:xfrm xmlns:a="http://schemas.openxmlformats.org/drawingml/2006/main" flipV="0">
            <a:off x="6781800" y="2600325"/>
            <a:ext cx="42481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91336F7B-0107-45DF-BECC-7FFC31024A8E}"/>
              </a:ext>
            </a:extLst>
          </p:cNvPr>
          <p:cNvSpPr>
            <a:spLocks xmlns:a="http://schemas.openxmlformats.org/drawingml/2006/main" noGrp="1"/>
          </p:cNvSpPr>
          <p:nvPr/>
        </p:nvSpPr>
        <p:spPr>
          <a:xfrm xmlns:a="http://schemas.openxmlformats.org/drawingml/2006/main">
            <a:off x="6781800" y="28194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9B4B49"/>
                </a:solidFill>
                <a:latin typeface="Helvetica Neue"/>
                <a:ea typeface="Helvetica Neue"/>
                <a:cs typeface="Helvetica Neue"/>
              </a:defRPr>
            </a:defPPr>
          </a:lstStyle>
          <a:p xmlns:a="http://schemas.openxmlformats.org/drawingml/2006/main">
            <a:pPr algn="l">
              <a:lnSpc>
                <a:spcPct val="105000"/>
              </a:lnSpc>
              <a:buNone/>
              <a:defRPr sz="1350" b="1">
                <a:solidFill>
                  <a:srgbClr val="9B4B49"/>
                </a:solidFill>
                <a:latin typeface="Helvetica Neue"/>
                <a:ea typeface="Helvetica Neue"/>
                <a:cs typeface="Helvetica Neue"/>
              </a:defRPr>
            </a:pPr>
            <a:r>
              <a:rPr sz="1350" b="1">
                <a:solidFill>
                  <a:srgbClr val="9B4B49"/>
                </a:solidFill>
                <a:latin typeface="Helvetica Neue"/>
                <a:ea typeface="Helvetica Neue"/>
                <a:cs typeface="Helvetica Neue"/>
              </a:rPr>
              <a:t>Surface fluency  ≠  measured correctness</a:t>
            </a:r>
          </a:p>
        </p:txBody>
      </p:sp>
      <p:sp>
        <p:nvSpPr>
          <p:cNvPr id="15" name="">
            <a:extLst xmlns:a="http://schemas.openxmlformats.org/drawingml/2006/main">
              <a:ext uri="{FF2B5EF4-FFF2-40B4-BE49-F238E27FC236}">
                <a16:creationId xmlns:a16="http://schemas.microsoft.com/office/drawing/2014/main" id="{BEA10384-F003-4123-A172-86FB8BD7C2F7}"/>
              </a:ext>
            </a:extLst>
          </p:cNvPr>
          <p:cNvSpPr>
            <a:spLocks xmlns:a="http://schemas.openxmlformats.org/drawingml/2006/main" noGrp="1"/>
          </p:cNvSpPr>
          <p:nvPr/>
        </p:nvSpPr>
        <p:spPr>
          <a:xfrm xmlns:a="http://schemas.openxmlformats.org/drawingml/2006/main">
            <a:off x="685800" y="39433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CHALLENGES ADDRESSED BY THE IMPLEMENTATION</a:t>
            </a:r>
          </a:p>
        </p:txBody>
      </p:sp>
      <p:sp>
        <p:nvSpPr>
          <p:cNvPr id="16" name="">
            <a:extLst xmlns:a="http://schemas.openxmlformats.org/drawingml/2006/main">
              <a:ext uri="{FF2B5EF4-FFF2-40B4-BE49-F238E27FC236}">
                <a16:creationId xmlns:a16="http://schemas.microsoft.com/office/drawing/2014/main" id="{E5049A70-83B8-4E52-9A11-33CC2318C286}"/>
              </a:ext>
            </a:extLst>
          </p:cNvPr>
          <p:cNvSpPr>
            <a:spLocks xmlns:a="http://schemas.openxmlformats.org/drawingml/2006/main" noGrp="1"/>
          </p:cNvSpPr>
          <p:nvPr/>
        </p:nvSpPr>
        <p:spPr>
          <a:xfrm xmlns:a="http://schemas.openxmlformats.org/drawingml/2006/main">
            <a:off x="723900" y="432435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B2C94F6-0B4D-4C6E-871E-7BA730BE5895}"/>
              </a:ext>
            </a:extLst>
          </p:cNvPr>
          <p:cNvSpPr>
            <a:spLocks xmlns:a="http://schemas.openxmlformats.org/drawingml/2006/main" noGrp="1"/>
          </p:cNvSpPr>
          <p:nvPr/>
        </p:nvSpPr>
        <p:spPr>
          <a:xfrm xmlns:a="http://schemas.openxmlformats.org/drawingml/2006/main">
            <a:off x="723900" y="43719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1</a:t>
            </a:r>
          </a:p>
        </p:txBody>
      </p:sp>
      <p:sp>
        <p:nvSpPr>
          <p:cNvPr id="18" name="">
            <a:extLst xmlns:a="http://schemas.openxmlformats.org/drawingml/2006/main">
              <a:ext uri="{FF2B5EF4-FFF2-40B4-BE49-F238E27FC236}">
                <a16:creationId xmlns:a16="http://schemas.microsoft.com/office/drawing/2014/main" id="{3D4651D7-FF5D-4898-918D-555E673F75D4}"/>
              </a:ext>
            </a:extLst>
          </p:cNvPr>
          <p:cNvSpPr>
            <a:spLocks xmlns:a="http://schemas.openxmlformats.org/drawingml/2006/main" noGrp="1"/>
          </p:cNvSpPr>
          <p:nvPr/>
        </p:nvSpPr>
        <p:spPr>
          <a:xfrm xmlns:a="http://schemas.openxmlformats.org/drawingml/2006/main">
            <a:off x="1143000" y="43053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One-shot decoding</a:t>
            </a:r>
          </a:p>
        </p:txBody>
      </p:sp>
      <p:sp>
        <p:nvSpPr>
          <p:cNvPr id="19" name="">
            <a:extLst xmlns:a="http://schemas.openxmlformats.org/drawingml/2006/main">
              <a:ext uri="{FF2B5EF4-FFF2-40B4-BE49-F238E27FC236}">
                <a16:creationId xmlns:a16="http://schemas.microsoft.com/office/drawing/2014/main" id="{BF796260-F4B4-4AF5-9AF9-5A308336F67C}"/>
              </a:ext>
            </a:extLst>
          </p:cNvPr>
          <p:cNvSpPr>
            <a:spLocks xmlns:a="http://schemas.openxmlformats.org/drawingml/2006/main" noGrp="1"/>
          </p:cNvSpPr>
          <p:nvPr/>
        </p:nvSpPr>
        <p:spPr>
          <a:xfrm xmlns:a="http://schemas.openxmlformats.org/drawingml/2006/main">
            <a:off x="3009900" y="43053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No answer aggregation across candidates</a:t>
            </a:r>
          </a:p>
        </p:txBody>
      </p:sp>
      <p:sp>
        <p:nvSpPr>
          <p:cNvPr id="20" name="">
            <a:extLst xmlns:a="http://schemas.openxmlformats.org/drawingml/2006/main">
              <a:ext uri="{FF2B5EF4-FFF2-40B4-BE49-F238E27FC236}">
                <a16:creationId xmlns:a16="http://schemas.microsoft.com/office/drawing/2014/main" id="{DC94DA5F-B4B7-4C1E-9CE4-C939150E5471}"/>
              </a:ext>
            </a:extLst>
          </p:cNvPr>
          <p:cNvSpPr>
            <a:spLocks xmlns:a="http://schemas.openxmlformats.org/drawingml/2006/main" noGrp="1"/>
          </p:cNvSpPr>
          <p:nvPr/>
        </p:nvSpPr>
        <p:spPr>
          <a:xfrm xmlns:a="http://schemas.openxmlformats.org/drawingml/2006/main">
            <a:off x="723900" y="487680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AA47E03-578F-416B-BDEC-131D0F42FA74}"/>
              </a:ext>
            </a:extLst>
          </p:cNvPr>
          <p:cNvSpPr>
            <a:spLocks xmlns:a="http://schemas.openxmlformats.org/drawingml/2006/main" noGrp="1"/>
          </p:cNvSpPr>
          <p:nvPr/>
        </p:nvSpPr>
        <p:spPr>
          <a:xfrm xmlns:a="http://schemas.openxmlformats.org/drawingml/2006/main">
            <a:off x="723900" y="49244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2</a:t>
            </a:r>
          </a:p>
        </p:txBody>
      </p:sp>
      <p:sp>
        <p:nvSpPr>
          <p:cNvPr id="22" name="">
            <a:extLst xmlns:a="http://schemas.openxmlformats.org/drawingml/2006/main">
              <a:ext uri="{FF2B5EF4-FFF2-40B4-BE49-F238E27FC236}">
                <a16:creationId xmlns:a16="http://schemas.microsoft.com/office/drawing/2014/main" id="{ECB8E985-6302-40A7-821F-E0F803D78945}"/>
              </a:ext>
            </a:extLst>
          </p:cNvPr>
          <p:cNvSpPr>
            <a:spLocks xmlns:a="http://schemas.openxmlformats.org/drawingml/2006/main" noGrp="1"/>
          </p:cNvSpPr>
          <p:nvPr/>
        </p:nvSpPr>
        <p:spPr>
          <a:xfrm xmlns:a="http://schemas.openxmlformats.org/drawingml/2006/main">
            <a:off x="1143000" y="485775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Layer disagreement</a:t>
            </a:r>
          </a:p>
        </p:txBody>
      </p:sp>
      <p:sp>
        <p:nvSpPr>
          <p:cNvPr id="23" name="">
            <a:extLst xmlns:a="http://schemas.openxmlformats.org/drawingml/2006/main">
              <a:ext uri="{FF2B5EF4-FFF2-40B4-BE49-F238E27FC236}">
                <a16:creationId xmlns:a16="http://schemas.microsoft.com/office/drawing/2014/main" id="{BC9D3EF4-E4E9-44DF-820E-9CE612D52111}"/>
              </a:ext>
            </a:extLst>
          </p:cNvPr>
          <p:cNvSpPr>
            <a:spLocks xmlns:a="http://schemas.openxmlformats.org/drawingml/2006/main" noGrp="1"/>
          </p:cNvSpPr>
          <p:nvPr/>
        </p:nvSpPr>
        <p:spPr>
          <a:xfrm xmlns:a="http://schemas.openxmlformats.org/drawingml/2006/main">
            <a:off x="3009900" y="485775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Intermediate and final predictions can differ</a:t>
            </a:r>
          </a:p>
        </p:txBody>
      </p:sp>
      <p:sp>
        <p:nvSpPr>
          <p:cNvPr id="24" name="">
            <a:extLst xmlns:a="http://schemas.openxmlformats.org/drawingml/2006/main">
              <a:ext uri="{FF2B5EF4-FFF2-40B4-BE49-F238E27FC236}">
                <a16:creationId xmlns:a16="http://schemas.microsoft.com/office/drawing/2014/main" id="{6C137419-5786-402D-83B3-2A59E6F50C11}"/>
              </a:ext>
            </a:extLst>
          </p:cNvPr>
          <p:cNvSpPr>
            <a:spLocks xmlns:a="http://schemas.openxmlformats.org/drawingml/2006/main" noGrp="1"/>
          </p:cNvSpPr>
          <p:nvPr/>
        </p:nvSpPr>
        <p:spPr>
          <a:xfrm xmlns:a="http://schemas.openxmlformats.org/drawingml/2006/main">
            <a:off x="723900" y="5429250"/>
            <a:ext cx="266700" cy="266700"/>
          </a:xfrm>
          <a:prstGeom xmlns:a="http://schemas.openxmlformats.org/drawingml/2006/main" prst="ellipse">
            <a:avLst/>
          </a:prstGeom>
          <a:solidFill xmlns:a="http://schemas.openxmlformats.org/drawingml/2006/main">
            <a:srgbClr val="F5EBD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74B3164-2C77-4EB4-BD0A-86DA06CF581E}"/>
              </a:ext>
            </a:extLst>
          </p:cNvPr>
          <p:cNvSpPr>
            <a:spLocks xmlns:a="http://schemas.openxmlformats.org/drawingml/2006/main" noGrp="1"/>
          </p:cNvSpPr>
          <p:nvPr/>
        </p:nvSpPr>
        <p:spPr>
          <a:xfrm xmlns:a="http://schemas.openxmlformats.org/drawingml/2006/main">
            <a:off x="723900" y="54768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DCCBACAB-5D3C-4B18-AC92-A3608FA69BA4}"/>
              </a:ext>
            </a:extLst>
          </p:cNvPr>
          <p:cNvSpPr>
            <a:spLocks xmlns:a="http://schemas.openxmlformats.org/drawingml/2006/main" noGrp="1"/>
          </p:cNvSpPr>
          <p:nvPr/>
        </p:nvSpPr>
        <p:spPr>
          <a:xfrm xmlns:a="http://schemas.openxmlformats.org/drawingml/2006/main">
            <a:off x="1143000" y="54102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Uncertainty meaning</a:t>
            </a:r>
          </a:p>
        </p:txBody>
      </p:sp>
      <p:sp>
        <p:nvSpPr>
          <p:cNvPr id="27" name="">
            <a:extLst xmlns:a="http://schemas.openxmlformats.org/drawingml/2006/main">
              <a:ext uri="{FF2B5EF4-FFF2-40B4-BE49-F238E27FC236}">
                <a16:creationId xmlns:a16="http://schemas.microsoft.com/office/drawing/2014/main" id="{D6613769-C547-4C80-9B03-56C3F0EB85BF}"/>
              </a:ext>
            </a:extLst>
          </p:cNvPr>
          <p:cNvSpPr>
            <a:spLocks xmlns:a="http://schemas.openxmlformats.org/drawingml/2006/main" noGrp="1"/>
          </p:cNvSpPr>
          <p:nvPr/>
        </p:nvSpPr>
        <p:spPr>
          <a:xfrm xmlns:a="http://schemas.openxmlformats.org/drawingml/2006/main">
            <a:off x="3009900" y="54102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Entropy is not automatically correctness probability</a:t>
            </a:r>
          </a:p>
        </p:txBody>
      </p:sp>
    </p:spTree>
    <p:extLst>
      <p:ext uri="{BB962C8B-B14F-4D97-AF65-F5344CB8AC3E}">
        <p14:creationId xmlns:p14="http://schemas.microsoft.com/office/powerpoint/2010/main" val="660994453"/>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09018C2-C226-471D-A6C1-29F0A17AE05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BE3F32-3D1F-4DA4-AD9D-F2075C21AF1C}"/>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Objectives</a:t>
            </a:r>
          </a:p>
        </p:txBody>
      </p:sp>
      <p:sp>
        <p:nvSpPr>
          <p:cNvPr id="3" name="">
            <a:extLst xmlns:a="http://schemas.openxmlformats.org/drawingml/2006/main">
              <a:ext uri="{FF2B5EF4-FFF2-40B4-BE49-F238E27FC236}">
                <a16:creationId xmlns:a16="http://schemas.microsoft.com/office/drawing/2014/main" id="{306B0CD6-882F-4407-9939-61BD51C61A81}"/>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implementation connects decoding, uncertainty estimation, and answer-level comparison.</a:t>
            </a:r>
          </a:p>
        </p:txBody>
      </p:sp>
      <p:sp>
        <p:nvSpPr>
          <p:cNvPr id="4" name="">
            <a:extLst xmlns:a="http://schemas.openxmlformats.org/drawingml/2006/main">
              <a:ext uri="{FF2B5EF4-FFF2-40B4-BE49-F238E27FC236}">
                <a16:creationId xmlns:a16="http://schemas.microsoft.com/office/drawing/2014/main" id="{280E3F3B-A8A5-49B5-A238-85EB3AC5B79C}"/>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F74C57EC-E384-475E-B3AB-7AAA3FEA9BDE}"/>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373708FA-228F-4FAC-86E5-ADF143D87DD9}"/>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34DC959F-9D24-4338-82D5-E7E0D8A22CB2}"/>
              </a:ext>
            </a:extLst>
          </p:cNvPr>
          <p:cNvSpPr>
            <a:spLocks xmlns:a="http://schemas.openxmlformats.org/drawingml/2006/main" noGrp="1"/>
          </p:cNvSpPr>
          <p:nvPr/>
        </p:nvSpPr>
        <p:spPr>
          <a:xfrm xmlns:a="http://schemas.openxmlformats.org/drawingml/2006/main">
            <a:off x="68580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073613E-FAE1-4557-A720-70E2F457EB20}"/>
              </a:ext>
            </a:extLst>
          </p:cNvPr>
          <p:cNvSpPr>
            <a:spLocks xmlns:a="http://schemas.openxmlformats.org/drawingml/2006/main" noGrp="1"/>
          </p:cNvSpPr>
          <p:nvPr/>
        </p:nvSpPr>
        <p:spPr>
          <a:xfrm xmlns:a="http://schemas.openxmlformats.org/drawingml/2006/main">
            <a:off x="68580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D8986D46-06D8-4C08-AF84-210D9C992217}"/>
              </a:ext>
            </a:extLst>
          </p:cNvPr>
          <p:cNvSpPr>
            <a:spLocks xmlns:a="http://schemas.openxmlformats.org/drawingml/2006/main" noGrp="1"/>
          </p:cNvSpPr>
          <p:nvPr/>
        </p:nvSpPr>
        <p:spPr>
          <a:xfrm xmlns:a="http://schemas.openxmlformats.org/drawingml/2006/main">
            <a:off x="127635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Establish a Base baseline</a:t>
            </a:r>
          </a:p>
        </p:txBody>
      </p:sp>
      <p:sp>
        <p:nvSpPr>
          <p:cNvPr id="10" name="">
            <a:extLst xmlns:a="http://schemas.openxmlformats.org/drawingml/2006/main">
              <a:ext uri="{FF2B5EF4-FFF2-40B4-BE49-F238E27FC236}">
                <a16:creationId xmlns:a16="http://schemas.microsoft.com/office/drawing/2014/main" id="{BBFE6EE0-7466-4E0A-87A7-5BDA723E140B}"/>
              </a:ext>
            </a:extLst>
          </p:cNvPr>
          <p:cNvSpPr>
            <a:spLocks xmlns:a="http://schemas.openxmlformats.org/drawingml/2006/main" noGrp="1"/>
          </p:cNvSpPr>
          <p:nvPr/>
        </p:nvSpPr>
        <p:spPr>
          <a:xfrm xmlns:a="http://schemas.openxmlformats.org/drawingml/2006/main">
            <a:off x="127635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Use the local TinyLlama chat model for question answering.</a:t>
            </a:r>
          </a:p>
        </p:txBody>
      </p:sp>
      <p:sp>
        <p:nvSpPr>
          <p:cNvPr id="11" name="">
            <a:extLst xmlns:a="http://schemas.openxmlformats.org/drawingml/2006/main">
              <a:ext uri="{FF2B5EF4-FFF2-40B4-BE49-F238E27FC236}">
                <a16:creationId xmlns:a16="http://schemas.microsoft.com/office/drawing/2014/main" id="{1139D947-FE6B-446F-AFAA-2CC0FCF1F52C}"/>
              </a:ext>
            </a:extLst>
          </p:cNvPr>
          <p:cNvSpPr>
            <a:spLocks xmlns:a="http://schemas.openxmlformats.org/drawingml/2006/main" noGrp="1"/>
          </p:cNvSpPr>
          <p:nvPr/>
        </p:nvSpPr>
        <p:spPr>
          <a:xfrm xmlns:a="http://schemas.openxmlformats.org/drawingml/2006/main">
            <a:off x="630555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A991814-E242-4E85-A054-CD83F823E6F3}"/>
              </a:ext>
            </a:extLst>
          </p:cNvPr>
          <p:cNvSpPr>
            <a:spLocks xmlns:a="http://schemas.openxmlformats.org/drawingml/2006/main" noGrp="1"/>
          </p:cNvSpPr>
          <p:nvPr/>
        </p:nvSpPr>
        <p:spPr>
          <a:xfrm xmlns:a="http://schemas.openxmlformats.org/drawingml/2006/main">
            <a:off x="630555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6A7890A3-9209-4E86-97F7-77642C211EE3}"/>
              </a:ext>
            </a:extLst>
          </p:cNvPr>
          <p:cNvSpPr>
            <a:spLocks xmlns:a="http://schemas.openxmlformats.org/drawingml/2006/main" noGrp="1"/>
          </p:cNvSpPr>
          <p:nvPr/>
        </p:nvSpPr>
        <p:spPr>
          <a:xfrm xmlns:a="http://schemas.openxmlformats.org/drawingml/2006/main">
            <a:off x="689610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Add layer contrast</a:t>
            </a:r>
          </a:p>
        </p:txBody>
      </p:sp>
      <p:sp>
        <p:nvSpPr>
          <p:cNvPr id="14" name="">
            <a:extLst xmlns:a="http://schemas.openxmlformats.org/drawingml/2006/main">
              <a:ext uri="{FF2B5EF4-FFF2-40B4-BE49-F238E27FC236}">
                <a16:creationId xmlns:a16="http://schemas.microsoft.com/office/drawing/2014/main" id="{206DFFC5-42DD-42DA-B8A3-17C14C14AB73}"/>
              </a:ext>
            </a:extLst>
          </p:cNvPr>
          <p:cNvSpPr>
            <a:spLocks xmlns:a="http://schemas.openxmlformats.org/drawingml/2006/main" noGrp="1"/>
          </p:cNvSpPr>
          <p:nvPr/>
        </p:nvSpPr>
        <p:spPr>
          <a:xfrm xmlns:a="http://schemas.openxmlformats.org/drawingml/2006/main">
            <a:off x="689610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Select an earlier layer using Jensen–Shannon divergence and apply DoLa.</a:t>
            </a:r>
          </a:p>
        </p:txBody>
      </p:sp>
      <p:sp>
        <p:nvSpPr>
          <p:cNvPr id="15" name="">
            <a:extLst xmlns:a="http://schemas.openxmlformats.org/drawingml/2006/main">
              <a:ext uri="{FF2B5EF4-FFF2-40B4-BE49-F238E27FC236}">
                <a16:creationId xmlns:a16="http://schemas.microsoft.com/office/drawing/2014/main" id="{15E24F2D-0F58-4A08-9589-CC374E08B0AD}"/>
              </a:ext>
            </a:extLst>
          </p:cNvPr>
          <p:cNvSpPr>
            <a:spLocks xmlns:a="http://schemas.openxmlformats.org/drawingml/2006/main" noGrp="1"/>
          </p:cNvSpPr>
          <p:nvPr/>
        </p:nvSpPr>
        <p:spPr>
          <a:xfrm xmlns:a="http://schemas.openxmlformats.org/drawingml/2006/main">
            <a:off x="68580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0901F08-6654-47AB-8CFF-B0112A556AC1}"/>
              </a:ext>
            </a:extLst>
          </p:cNvPr>
          <p:cNvSpPr>
            <a:spLocks xmlns:a="http://schemas.openxmlformats.org/drawingml/2006/main" noGrp="1"/>
          </p:cNvSpPr>
          <p:nvPr/>
        </p:nvSpPr>
        <p:spPr>
          <a:xfrm xmlns:a="http://schemas.openxmlformats.org/drawingml/2006/main">
            <a:off x="68580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DE2DDC56-7B60-4118-90E9-58708C8A7D21}"/>
              </a:ext>
            </a:extLst>
          </p:cNvPr>
          <p:cNvSpPr>
            <a:spLocks xmlns:a="http://schemas.openxmlformats.org/drawingml/2006/main" noGrp="1"/>
          </p:cNvSpPr>
          <p:nvPr/>
        </p:nvSpPr>
        <p:spPr>
          <a:xfrm xmlns:a="http://schemas.openxmlformats.org/drawingml/2006/main">
            <a:off x="127635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Train an Epinet</a:t>
            </a:r>
          </a:p>
        </p:txBody>
      </p:sp>
      <p:sp>
        <p:nvSpPr>
          <p:cNvPr id="18" name="">
            <a:extLst xmlns:a="http://schemas.openxmlformats.org/drawingml/2006/main">
              <a:ext uri="{FF2B5EF4-FFF2-40B4-BE49-F238E27FC236}">
                <a16:creationId xmlns:a16="http://schemas.microsoft.com/office/drawing/2014/main" id="{C30CCAC7-14F5-428E-AC98-A726CAC2B2F0}"/>
              </a:ext>
            </a:extLst>
          </p:cNvPr>
          <p:cNvSpPr>
            <a:spLocks xmlns:a="http://schemas.openxmlformats.org/drawingml/2006/main" noGrp="1"/>
          </p:cNvSpPr>
          <p:nvPr/>
        </p:nvSpPr>
        <p:spPr>
          <a:xfrm xmlns:a="http://schemas.openxmlformats.org/drawingml/2006/main">
            <a:off x="127635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Learn a next-token correction from C4 features while keeping the base model fixed.</a:t>
            </a:r>
          </a:p>
        </p:txBody>
      </p:sp>
      <p:sp>
        <p:nvSpPr>
          <p:cNvPr id="19" name="">
            <a:extLst xmlns:a="http://schemas.openxmlformats.org/drawingml/2006/main">
              <a:ext uri="{FF2B5EF4-FFF2-40B4-BE49-F238E27FC236}">
                <a16:creationId xmlns:a16="http://schemas.microsoft.com/office/drawing/2014/main" id="{A8279045-9FA5-42FA-B6D7-5C2ECF15E238}"/>
              </a:ext>
            </a:extLst>
          </p:cNvPr>
          <p:cNvSpPr>
            <a:spLocks xmlns:a="http://schemas.openxmlformats.org/drawingml/2006/main" noGrp="1"/>
          </p:cNvSpPr>
          <p:nvPr/>
        </p:nvSpPr>
        <p:spPr>
          <a:xfrm xmlns:a="http://schemas.openxmlformats.org/drawingml/2006/main">
            <a:off x="630555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F8F23B7-FC7F-424F-B650-31FC66049C11}"/>
              </a:ext>
            </a:extLst>
          </p:cNvPr>
          <p:cNvSpPr>
            <a:spLocks xmlns:a="http://schemas.openxmlformats.org/drawingml/2006/main" noGrp="1"/>
          </p:cNvSpPr>
          <p:nvPr/>
        </p:nvSpPr>
        <p:spPr>
          <a:xfrm xmlns:a="http://schemas.openxmlformats.org/drawingml/2006/main">
            <a:off x="630555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2EFDB022-AB30-42D8-9279-95EA2E992871}"/>
              </a:ext>
            </a:extLst>
          </p:cNvPr>
          <p:cNvSpPr>
            <a:spLocks xmlns:a="http://schemas.openxmlformats.org/drawingml/2006/main" noGrp="1"/>
          </p:cNvSpPr>
          <p:nvPr/>
        </p:nvSpPr>
        <p:spPr>
          <a:xfrm xmlns:a="http://schemas.openxmlformats.org/drawingml/2006/main">
            <a:off x="689610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Aggregate candidate answers</a:t>
            </a:r>
          </a:p>
        </p:txBody>
      </p:sp>
      <p:sp>
        <p:nvSpPr>
          <p:cNvPr id="22" name="">
            <a:extLst xmlns:a="http://schemas.openxmlformats.org/drawingml/2006/main">
              <a:ext uri="{FF2B5EF4-FFF2-40B4-BE49-F238E27FC236}">
                <a16:creationId xmlns:a16="http://schemas.microsoft.com/office/drawing/2014/main" id="{1A4B84B8-D7D9-4D0F-8DD5-61AEAD4D346E}"/>
              </a:ext>
            </a:extLst>
          </p:cNvPr>
          <p:cNvSpPr>
            <a:spLocks xmlns:a="http://schemas.openxmlformats.org/drawingml/2006/main" noGrp="1"/>
          </p:cNvSpPr>
          <p:nvPr/>
        </p:nvSpPr>
        <p:spPr>
          <a:xfrm xmlns:a="http://schemas.openxmlformats.org/drawingml/2006/main">
            <a:off x="689610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Compare plurality voting with ENN-entropy-weighted voting.</a:t>
            </a:r>
          </a:p>
        </p:txBody>
      </p:sp>
      <p:sp>
        <p:nvSpPr>
          <p:cNvPr id="23" name="">
            <a:extLst xmlns:a="http://schemas.openxmlformats.org/drawingml/2006/main">
              <a:ext uri="{FF2B5EF4-FFF2-40B4-BE49-F238E27FC236}">
                <a16:creationId xmlns:a16="http://schemas.microsoft.com/office/drawing/2014/main" id="{73D97E95-A800-46C1-9BD4-3C15423DE0A2}"/>
              </a:ext>
            </a:extLst>
          </p:cNvPr>
          <p:cNvSpPr>
            <a:spLocks xmlns:a="http://schemas.openxmlformats.org/drawingml/2006/main" noGrp="1"/>
          </p:cNvSpPr>
          <p:nvPr/>
        </p:nvSpPr>
        <p:spPr>
          <a:xfrm xmlns:a="http://schemas.openxmlformats.org/drawingml/2006/main">
            <a:off x="685800" y="4343400"/>
            <a:ext cx="400050" cy="400050"/>
          </a:xfrm>
          <a:prstGeom xmlns:a="http://schemas.openxmlformats.org/drawingml/2006/main" prst="ellipse">
            <a:avLst/>
          </a:prstGeom>
          <a:solidFill xmlns:a="http://schemas.openxmlformats.org/drawingml/2006/main">
            <a:srgbClr val="148A8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DEEED77-2588-4C1A-8CAB-71DE5521D629}"/>
              </a:ext>
            </a:extLst>
          </p:cNvPr>
          <p:cNvSpPr>
            <a:spLocks xmlns:a="http://schemas.openxmlformats.org/drawingml/2006/main" noGrp="1"/>
          </p:cNvSpPr>
          <p:nvPr/>
        </p:nvSpPr>
        <p:spPr>
          <a:xfrm xmlns:a="http://schemas.openxmlformats.org/drawingml/2006/main">
            <a:off x="685800" y="44481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05</a:t>
            </a:r>
          </a:p>
        </p:txBody>
      </p:sp>
      <p:sp>
        <p:nvSpPr>
          <p:cNvPr id="25" name="">
            <a:extLst xmlns:a="http://schemas.openxmlformats.org/drawingml/2006/main">
              <a:ext uri="{FF2B5EF4-FFF2-40B4-BE49-F238E27FC236}">
                <a16:creationId xmlns:a16="http://schemas.microsoft.com/office/drawing/2014/main" id="{A307CE1D-B34C-408E-9444-E250A8D62818}"/>
              </a:ext>
            </a:extLst>
          </p:cNvPr>
          <p:cNvSpPr>
            <a:spLocks xmlns:a="http://schemas.openxmlformats.org/drawingml/2006/main" noGrp="1"/>
          </p:cNvSpPr>
          <p:nvPr/>
        </p:nvSpPr>
        <p:spPr>
          <a:xfrm xmlns:a="http://schemas.openxmlformats.org/drawingml/2006/main">
            <a:off x="1276350" y="43053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Measure quality and confidence</a:t>
            </a:r>
          </a:p>
        </p:txBody>
      </p:sp>
      <p:sp>
        <p:nvSpPr>
          <p:cNvPr id="26" name="">
            <a:extLst xmlns:a="http://schemas.openxmlformats.org/drawingml/2006/main">
              <a:ext uri="{FF2B5EF4-FFF2-40B4-BE49-F238E27FC236}">
                <a16:creationId xmlns:a16="http://schemas.microsoft.com/office/drawing/2014/main" id="{4E58F804-5121-481A-B679-A51FEC788EB8}"/>
              </a:ext>
            </a:extLst>
          </p:cNvPr>
          <p:cNvSpPr>
            <a:spLocks xmlns:a="http://schemas.openxmlformats.org/drawingml/2006/main" noGrp="1"/>
          </p:cNvSpPr>
          <p:nvPr/>
        </p:nvSpPr>
        <p:spPr>
          <a:xfrm xmlns:a="http://schemas.openxmlformats.org/drawingml/2006/main">
            <a:off x="1276350" y="46863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Evaluate exact match and calibration metrics when run outputs are available.</a:t>
            </a:r>
          </a:p>
        </p:txBody>
      </p:sp>
      <p:sp>
        <p:nvSpPr>
          <p:cNvPr id="27" name="">
            <a:extLst xmlns:a="http://schemas.openxmlformats.org/drawingml/2006/main">
              <a:ext uri="{FF2B5EF4-FFF2-40B4-BE49-F238E27FC236}">
                <a16:creationId xmlns:a16="http://schemas.microsoft.com/office/drawing/2014/main" id="{5D74322E-44A0-4DA2-BDDA-2AA4441B7995}"/>
              </a:ext>
            </a:extLst>
          </p:cNvPr>
          <p:cNvSpPr>
            <a:spLocks xmlns:a="http://schemas.openxmlformats.org/drawingml/2006/main" noGrp="1"/>
          </p:cNvSpPr>
          <p:nvPr/>
        </p:nvSpPr>
        <p:spPr>
          <a:xfrm xmlns:a="http://schemas.openxmlformats.org/drawingml/2006/main">
            <a:off x="6305550" y="4305300"/>
            <a:ext cx="4876800" cy="895350"/>
          </a:xfrm>
          <a:prstGeom xmlns:a="http://schemas.openxmlformats.org/drawingml/2006/main" prst="roundRect">
            <a:avLst>
              <a:gd name="adj" fmla="val 8511"/>
            </a:avLst>
          </a:prstGeom>
          <a:solidFill xmlns:a="http://schemas.openxmlformats.org/drawingml/2006/main">
            <a:srgbClr val="DDF3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CB2B303-EBCB-4AE2-B899-937FCE1C72A4}"/>
              </a:ext>
            </a:extLst>
          </p:cNvPr>
          <p:cNvSpPr>
            <a:spLocks xmlns:a="http://schemas.openxmlformats.org/drawingml/2006/main" noGrp="1"/>
          </p:cNvSpPr>
          <p:nvPr/>
        </p:nvSpPr>
        <p:spPr>
          <a:xfrm xmlns:a="http://schemas.openxmlformats.org/drawingml/2006/main">
            <a:off x="6534150" y="4476750"/>
            <a:ext cx="4419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Evaluation is part of the objective. Saved runs are small and do not establish a general performance gain.</a:t>
            </a:r>
          </a:p>
        </p:txBody>
      </p:sp>
    </p:spTree>
    <p:extLst>
      <p:ext uri="{BB962C8B-B14F-4D97-AF65-F5344CB8AC3E}">
        <p14:creationId xmlns:p14="http://schemas.microsoft.com/office/powerpoint/2010/main" val="873289929"/>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019D26B-1AED-484E-9D1A-3FC1722DBF5B}"/>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195CE2D-0694-45DB-B7F2-6CA03D3044C1}"/>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Existing Methods &amp; Research Gap</a:t>
            </a:r>
          </a:p>
        </p:txBody>
      </p:sp>
      <p:sp>
        <p:nvSpPr>
          <p:cNvPr id="3" name="">
            <a:extLst xmlns:a="http://schemas.openxmlformats.org/drawingml/2006/main">
              <a:ext uri="{FF2B5EF4-FFF2-40B4-BE49-F238E27FC236}">
                <a16:creationId xmlns:a16="http://schemas.microsoft.com/office/drawing/2014/main" id="{6BABE54C-497C-47B2-B93C-E489DB747E0E}"/>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project combines established ideas for a local small-model evaluation pipeline.</a:t>
            </a:r>
          </a:p>
        </p:txBody>
      </p:sp>
      <p:sp>
        <p:nvSpPr>
          <p:cNvPr id="4" name="">
            <a:extLst xmlns:a="http://schemas.openxmlformats.org/drawingml/2006/main">
              <a:ext uri="{FF2B5EF4-FFF2-40B4-BE49-F238E27FC236}">
                <a16:creationId xmlns:a16="http://schemas.microsoft.com/office/drawing/2014/main" id="{B41FDCA2-B9DF-40EC-89AA-0C5D66E15059}"/>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EC532C8E-3356-42CC-AF9E-6AE4650FB2FC}"/>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4EBD94C4-9F68-4FC2-9E9B-10101DF50EBC}"/>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4B37643F-C0AF-4045-841C-31384749E46A}"/>
              </a:ext>
            </a:extLst>
          </p:cNvPr>
          <p:cNvSpPr>
            <a:spLocks xmlns:a="http://schemas.openxmlformats.org/drawingml/2006/main" noGrp="1"/>
          </p:cNvSpPr>
          <p:nvPr/>
        </p:nvSpPr>
        <p:spPr>
          <a:xfrm xmlns:a="http://schemas.openxmlformats.org/drawingml/2006/main">
            <a:off x="6667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8" name="">
            <a:extLst xmlns:a="http://schemas.openxmlformats.org/drawingml/2006/main">
              <a:ext uri="{FF2B5EF4-FFF2-40B4-BE49-F238E27FC236}">
                <a16:creationId xmlns:a16="http://schemas.microsoft.com/office/drawing/2014/main" id="{369B2C9A-C6FE-4A89-ABF3-3CB34B0D9996}"/>
              </a:ext>
            </a:extLst>
          </p:cNvPr>
          <p:cNvSpPr>
            <a:spLocks xmlns:a="http://schemas.openxmlformats.org/drawingml/2006/main" noGrp="1"/>
          </p:cNvSpPr>
          <p:nvPr/>
        </p:nvSpPr>
        <p:spPr>
          <a:xfrm xmlns:a="http://schemas.openxmlformats.org/drawingml/2006/main">
            <a:off x="66675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0EF5AF2-BD52-411E-8BA8-1B4D022FC11F}"/>
              </a:ext>
            </a:extLst>
          </p:cNvPr>
          <p:cNvSpPr>
            <a:spLocks xmlns:a="http://schemas.openxmlformats.org/drawingml/2006/main" noGrp="1"/>
          </p:cNvSpPr>
          <p:nvPr/>
        </p:nvSpPr>
        <p:spPr>
          <a:xfrm xmlns:a="http://schemas.openxmlformats.org/drawingml/2006/main">
            <a:off x="8382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language model</a:t>
            </a:r>
          </a:p>
        </p:txBody>
      </p:sp>
      <p:sp>
        <p:nvSpPr>
          <p:cNvPr id="10" name="">
            <a:extLst xmlns:a="http://schemas.openxmlformats.org/drawingml/2006/main">
              <a:ext uri="{FF2B5EF4-FFF2-40B4-BE49-F238E27FC236}">
                <a16:creationId xmlns:a16="http://schemas.microsoft.com/office/drawing/2014/main" id="{F309FFE9-780A-45BB-91E6-39C541705BED}"/>
              </a:ext>
            </a:extLst>
          </p:cNvPr>
          <p:cNvSpPr>
            <a:spLocks xmlns:a="http://schemas.openxmlformats.org/drawingml/2006/main" noGrp="1"/>
          </p:cNvSpPr>
          <p:nvPr/>
        </p:nvSpPr>
        <p:spPr>
          <a:xfrm xmlns:a="http://schemas.openxmlformats.org/drawingml/2006/main">
            <a:off x="8382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Next-token prediction</a:t>
            </a:r>
          </a:p>
        </p:txBody>
      </p:sp>
      <p:sp>
        <p:nvSpPr>
          <p:cNvPr id="11" name="">
            <a:extLst xmlns:a="http://schemas.openxmlformats.org/drawingml/2006/main">
              <a:ext uri="{FF2B5EF4-FFF2-40B4-BE49-F238E27FC236}">
                <a16:creationId xmlns:a16="http://schemas.microsoft.com/office/drawing/2014/main" id="{6455B433-45E2-44E5-A544-D8181C4144EE}"/>
              </a:ext>
            </a:extLst>
          </p:cNvPr>
          <p:cNvSpPr>
            <a:spLocks xmlns:a="http://schemas.openxmlformats.org/drawingml/2006/main" noGrp="1"/>
          </p:cNvSpPr>
          <p:nvPr/>
        </p:nvSpPr>
        <p:spPr>
          <a:xfrm xmlns:a="http://schemas.openxmlformats.org/drawingml/2006/main">
            <a:off x="8382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Produces a single continuation under greedy decoding or sampling.</a:t>
            </a:r>
          </a:p>
        </p:txBody>
      </p:sp>
      <p:sp>
        <p:nvSpPr>
          <p:cNvPr id="12" name="">
            <a:extLst xmlns:a="http://schemas.openxmlformats.org/drawingml/2006/main">
              <a:ext uri="{FF2B5EF4-FFF2-40B4-BE49-F238E27FC236}">
                <a16:creationId xmlns:a16="http://schemas.microsoft.com/office/drawing/2014/main" id="{9EA2A107-2570-46D8-8CED-D5E77562F94A}"/>
              </a:ext>
            </a:extLst>
          </p:cNvPr>
          <p:cNvSpPr>
            <a:spLocks xmlns:a="http://schemas.openxmlformats.org/drawingml/2006/main" noGrp="1"/>
          </p:cNvSpPr>
          <p:nvPr/>
        </p:nvSpPr>
        <p:spPr>
          <a:xfrm xmlns:a="http://schemas.openxmlformats.org/drawingml/2006/main">
            <a:off x="8382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Zhang et al., 2024</a:t>
            </a:r>
          </a:p>
        </p:txBody>
      </p:sp>
      <p:sp>
        <p:nvSpPr>
          <p:cNvPr id="13" name="">
            <a:extLst xmlns:a="http://schemas.openxmlformats.org/drawingml/2006/main">
              <a:ext uri="{FF2B5EF4-FFF2-40B4-BE49-F238E27FC236}">
                <a16:creationId xmlns:a16="http://schemas.microsoft.com/office/drawing/2014/main" id="{F7876632-1F22-4033-B391-77E96108A33F}"/>
              </a:ext>
            </a:extLst>
          </p:cNvPr>
          <p:cNvSpPr>
            <a:spLocks xmlns:a="http://schemas.openxmlformats.org/drawingml/2006/main" noGrp="1"/>
          </p:cNvSpPr>
          <p:nvPr/>
        </p:nvSpPr>
        <p:spPr>
          <a:xfrm xmlns:a="http://schemas.openxmlformats.org/drawingml/2006/main">
            <a:off x="35052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68F4CEB8-86AA-4131-8E14-3A8A275EEE8D}"/>
              </a:ext>
            </a:extLst>
          </p:cNvPr>
          <p:cNvSpPr>
            <a:spLocks xmlns:a="http://schemas.openxmlformats.org/drawingml/2006/main" noGrp="1"/>
          </p:cNvSpPr>
          <p:nvPr/>
        </p:nvSpPr>
        <p:spPr>
          <a:xfrm xmlns:a="http://schemas.openxmlformats.org/drawingml/2006/main">
            <a:off x="3505200" y="1543050"/>
            <a:ext cx="2324100" cy="47625"/>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B63FF9E-4688-463E-9499-36061E83A549}"/>
              </a:ext>
            </a:extLst>
          </p:cNvPr>
          <p:cNvSpPr>
            <a:spLocks xmlns:a="http://schemas.openxmlformats.org/drawingml/2006/main" noGrp="1"/>
          </p:cNvSpPr>
          <p:nvPr/>
        </p:nvSpPr>
        <p:spPr>
          <a:xfrm xmlns:a="http://schemas.openxmlformats.org/drawingml/2006/main">
            <a:off x="36766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DoLa</a:t>
            </a:r>
          </a:p>
        </p:txBody>
      </p:sp>
      <p:sp>
        <p:nvSpPr>
          <p:cNvPr id="16" name="">
            <a:extLst xmlns:a="http://schemas.openxmlformats.org/drawingml/2006/main">
              <a:ext uri="{FF2B5EF4-FFF2-40B4-BE49-F238E27FC236}">
                <a16:creationId xmlns:a16="http://schemas.microsoft.com/office/drawing/2014/main" id="{91EF7705-87E6-4B29-AC3D-BDDAD9B760E4}"/>
              </a:ext>
            </a:extLst>
          </p:cNvPr>
          <p:cNvSpPr>
            <a:spLocks xmlns:a="http://schemas.openxmlformats.org/drawingml/2006/main" noGrp="1"/>
          </p:cNvSpPr>
          <p:nvPr/>
        </p:nvSpPr>
        <p:spPr>
          <a:xfrm xmlns:a="http://schemas.openxmlformats.org/drawingml/2006/main">
            <a:off x="36766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48A8A"/>
                </a:solidFill>
                <a:latin typeface="Helvetica Neue"/>
                <a:ea typeface="Helvetica Neue"/>
                <a:cs typeface="Helvetica Neue"/>
              </a:defRPr>
            </a:defPPr>
          </a:lstStyle>
          <a:p xmlns:a="http://schemas.openxmlformats.org/drawingml/2006/main">
            <a:pPr algn="l">
              <a:lnSpc>
                <a:spcPct val="105000"/>
              </a:lnSpc>
              <a:buNone/>
              <a:defRPr sz="1050" b="1">
                <a:solidFill>
                  <a:srgbClr val="148A8A"/>
                </a:solidFill>
                <a:latin typeface="Helvetica Neue"/>
                <a:ea typeface="Helvetica Neue"/>
                <a:cs typeface="Helvetica Neue"/>
              </a:defRPr>
            </a:pPr>
            <a:r>
              <a:rPr sz="1050" b="1">
                <a:solidFill>
                  <a:srgbClr val="148A8A"/>
                </a:solidFill>
                <a:latin typeface="Helvetica Neue"/>
                <a:ea typeface="Helvetica Neue"/>
                <a:cs typeface="Helvetica Neue"/>
              </a:rPr>
              <a:t>Layer-level contrast</a:t>
            </a:r>
          </a:p>
        </p:txBody>
      </p:sp>
      <p:sp>
        <p:nvSpPr>
          <p:cNvPr id="17" name="">
            <a:extLst xmlns:a="http://schemas.openxmlformats.org/drawingml/2006/main">
              <a:ext uri="{FF2B5EF4-FFF2-40B4-BE49-F238E27FC236}">
                <a16:creationId xmlns:a16="http://schemas.microsoft.com/office/drawing/2014/main" id="{32E79FCB-0C0C-4877-A7EA-E1D21724D195}"/>
              </a:ext>
            </a:extLst>
          </p:cNvPr>
          <p:cNvSpPr>
            <a:spLocks xmlns:a="http://schemas.openxmlformats.org/drawingml/2006/main" noGrp="1"/>
          </p:cNvSpPr>
          <p:nvPr/>
        </p:nvSpPr>
        <p:spPr>
          <a:xfrm xmlns:a="http://schemas.openxmlformats.org/drawingml/2006/main">
            <a:off x="36766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Contrasts mature and premature layer distributions during decoding.</a:t>
            </a:r>
          </a:p>
        </p:txBody>
      </p:sp>
      <p:sp>
        <p:nvSpPr>
          <p:cNvPr id="18" name="">
            <a:extLst xmlns:a="http://schemas.openxmlformats.org/drawingml/2006/main">
              <a:ext uri="{FF2B5EF4-FFF2-40B4-BE49-F238E27FC236}">
                <a16:creationId xmlns:a16="http://schemas.microsoft.com/office/drawing/2014/main" id="{A792F541-2941-4F12-B39E-444C07873816}"/>
              </a:ext>
            </a:extLst>
          </p:cNvPr>
          <p:cNvSpPr>
            <a:spLocks xmlns:a="http://schemas.openxmlformats.org/drawingml/2006/main" noGrp="1"/>
          </p:cNvSpPr>
          <p:nvPr/>
        </p:nvSpPr>
        <p:spPr>
          <a:xfrm xmlns:a="http://schemas.openxmlformats.org/drawingml/2006/main">
            <a:off x="36766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Chuang et al., ICLR 2024</a:t>
            </a:r>
          </a:p>
        </p:txBody>
      </p:sp>
      <p:sp>
        <p:nvSpPr>
          <p:cNvPr id="19" name="">
            <a:extLst xmlns:a="http://schemas.openxmlformats.org/drawingml/2006/main">
              <a:ext uri="{FF2B5EF4-FFF2-40B4-BE49-F238E27FC236}">
                <a16:creationId xmlns:a16="http://schemas.microsoft.com/office/drawing/2014/main" id="{E2A9F4AE-E933-48FB-A290-6A4F11759B50}"/>
              </a:ext>
            </a:extLst>
          </p:cNvPr>
          <p:cNvSpPr>
            <a:spLocks xmlns:a="http://schemas.openxmlformats.org/drawingml/2006/main" noGrp="1"/>
          </p:cNvSpPr>
          <p:nvPr/>
        </p:nvSpPr>
        <p:spPr>
          <a:xfrm xmlns:a="http://schemas.openxmlformats.org/drawingml/2006/main">
            <a:off x="63436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0" name="">
            <a:extLst xmlns:a="http://schemas.openxmlformats.org/drawingml/2006/main">
              <a:ext uri="{FF2B5EF4-FFF2-40B4-BE49-F238E27FC236}">
                <a16:creationId xmlns:a16="http://schemas.microsoft.com/office/drawing/2014/main" id="{4C5F4265-A0E9-4B07-9EE0-70376887AF73}"/>
              </a:ext>
            </a:extLst>
          </p:cNvPr>
          <p:cNvSpPr>
            <a:spLocks xmlns:a="http://schemas.openxmlformats.org/drawingml/2006/main" noGrp="1"/>
          </p:cNvSpPr>
          <p:nvPr/>
        </p:nvSpPr>
        <p:spPr>
          <a:xfrm xmlns:a="http://schemas.openxmlformats.org/drawingml/2006/main">
            <a:off x="6343650" y="1543050"/>
            <a:ext cx="2324100" cy="47625"/>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3B11291-0CDA-4ACA-A3C3-163EDE5B4A7A}"/>
              </a:ext>
            </a:extLst>
          </p:cNvPr>
          <p:cNvSpPr>
            <a:spLocks xmlns:a="http://schemas.openxmlformats.org/drawingml/2006/main" noGrp="1"/>
          </p:cNvSpPr>
          <p:nvPr/>
        </p:nvSpPr>
        <p:spPr>
          <a:xfrm xmlns:a="http://schemas.openxmlformats.org/drawingml/2006/main">
            <a:off x="65151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Epinet / ENN</a:t>
            </a:r>
          </a:p>
        </p:txBody>
      </p:sp>
      <p:sp>
        <p:nvSpPr>
          <p:cNvPr id="22" name="">
            <a:extLst xmlns:a="http://schemas.openxmlformats.org/drawingml/2006/main">
              <a:ext uri="{FF2B5EF4-FFF2-40B4-BE49-F238E27FC236}">
                <a16:creationId xmlns:a16="http://schemas.microsoft.com/office/drawing/2014/main" id="{C3AE7217-2F9C-4839-86D6-1A0D27BC335F}"/>
              </a:ext>
            </a:extLst>
          </p:cNvPr>
          <p:cNvSpPr>
            <a:spLocks xmlns:a="http://schemas.openxmlformats.org/drawingml/2006/main" noGrp="1"/>
          </p:cNvSpPr>
          <p:nvPr/>
        </p:nvSpPr>
        <p:spPr>
          <a:xfrm xmlns:a="http://schemas.openxmlformats.org/drawingml/2006/main">
            <a:off x="65151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782B"/>
                </a:solidFill>
                <a:latin typeface="Helvetica Neue"/>
                <a:ea typeface="Helvetica Neue"/>
                <a:cs typeface="Helvetica Neue"/>
              </a:defRPr>
            </a:defPPr>
          </a:lstStyle>
          <a:p xmlns:a="http://schemas.openxmlformats.org/drawingml/2006/main">
            <a:pPr algn="l">
              <a:lnSpc>
                <a:spcPct val="105000"/>
              </a:lnSpc>
              <a:buNone/>
              <a:defRPr sz="1050" b="1">
                <a:solidFill>
                  <a:srgbClr val="C7782B"/>
                </a:solidFill>
                <a:latin typeface="Helvetica Neue"/>
                <a:ea typeface="Helvetica Neue"/>
                <a:cs typeface="Helvetica Neue"/>
              </a:defRPr>
            </a:pPr>
            <a:r>
              <a:rPr sz="1050" b="1">
                <a:solidFill>
                  <a:srgbClr val="C7782B"/>
                </a:solidFill>
                <a:latin typeface="Helvetica Neue"/>
                <a:ea typeface="Helvetica Neue"/>
                <a:cs typeface="Helvetica Neue"/>
              </a:rPr>
              <a:t>Epistemic signal</a:t>
            </a:r>
          </a:p>
        </p:txBody>
      </p:sp>
      <p:sp>
        <p:nvSpPr>
          <p:cNvPr id="23" name="">
            <a:extLst xmlns:a="http://schemas.openxmlformats.org/drawingml/2006/main">
              <a:ext uri="{FF2B5EF4-FFF2-40B4-BE49-F238E27FC236}">
                <a16:creationId xmlns:a16="http://schemas.microsoft.com/office/drawing/2014/main" id="{0157064B-2F5D-43C9-AA46-FE48A0C6E58F}"/>
              </a:ext>
            </a:extLst>
          </p:cNvPr>
          <p:cNvSpPr>
            <a:spLocks xmlns:a="http://schemas.openxmlformats.org/drawingml/2006/main" noGrp="1"/>
          </p:cNvSpPr>
          <p:nvPr/>
        </p:nvSpPr>
        <p:spPr>
          <a:xfrm xmlns:a="http://schemas.openxmlformats.org/drawingml/2006/main">
            <a:off x="65151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Indexes predictions by a sampled epistemic variable to expose model uncertainty.</a:t>
            </a:r>
          </a:p>
        </p:txBody>
      </p:sp>
      <p:sp>
        <p:nvSpPr>
          <p:cNvPr id="24" name="">
            <a:extLst xmlns:a="http://schemas.openxmlformats.org/drawingml/2006/main">
              <a:ext uri="{FF2B5EF4-FFF2-40B4-BE49-F238E27FC236}">
                <a16:creationId xmlns:a16="http://schemas.microsoft.com/office/drawing/2014/main" id="{27FC059F-30A6-4CE7-B4D0-81DED9C691E7}"/>
              </a:ext>
            </a:extLst>
          </p:cNvPr>
          <p:cNvSpPr>
            <a:spLocks xmlns:a="http://schemas.openxmlformats.org/drawingml/2006/main" noGrp="1"/>
          </p:cNvSpPr>
          <p:nvPr/>
        </p:nvSpPr>
        <p:spPr>
          <a:xfrm xmlns:a="http://schemas.openxmlformats.org/drawingml/2006/main">
            <a:off x="65151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Osband et al., 2021</a:t>
            </a:r>
          </a:p>
        </p:txBody>
      </p:sp>
      <p:sp>
        <p:nvSpPr>
          <p:cNvPr id="25" name="">
            <a:extLst xmlns:a="http://schemas.openxmlformats.org/drawingml/2006/main">
              <a:ext uri="{FF2B5EF4-FFF2-40B4-BE49-F238E27FC236}">
                <a16:creationId xmlns:a16="http://schemas.microsoft.com/office/drawing/2014/main" id="{846C1CD7-A305-4B85-BD18-6534E12D9E8C}"/>
              </a:ext>
            </a:extLst>
          </p:cNvPr>
          <p:cNvSpPr>
            <a:spLocks xmlns:a="http://schemas.openxmlformats.org/drawingml/2006/main" noGrp="1"/>
          </p:cNvSpPr>
          <p:nvPr/>
        </p:nvSpPr>
        <p:spPr>
          <a:xfrm xmlns:a="http://schemas.openxmlformats.org/drawingml/2006/main">
            <a:off x="91821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6" name="">
            <a:extLst xmlns:a="http://schemas.openxmlformats.org/drawingml/2006/main">
              <a:ext uri="{FF2B5EF4-FFF2-40B4-BE49-F238E27FC236}">
                <a16:creationId xmlns:a16="http://schemas.microsoft.com/office/drawing/2014/main" id="{74C97771-7184-4BF4-9840-B7ECA6B440D6}"/>
              </a:ext>
            </a:extLst>
          </p:cNvPr>
          <p:cNvSpPr>
            <a:spLocks xmlns:a="http://schemas.openxmlformats.org/drawingml/2006/main" noGrp="1"/>
          </p:cNvSpPr>
          <p:nvPr/>
        </p:nvSpPr>
        <p:spPr>
          <a:xfrm xmlns:a="http://schemas.openxmlformats.org/drawingml/2006/main">
            <a:off x="918210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1F1C03A-7CCD-499A-80CA-D87DBC15AF51}"/>
              </a:ext>
            </a:extLst>
          </p:cNvPr>
          <p:cNvSpPr>
            <a:spLocks xmlns:a="http://schemas.openxmlformats.org/drawingml/2006/main" noGrp="1"/>
          </p:cNvSpPr>
          <p:nvPr/>
        </p:nvSpPr>
        <p:spPr>
          <a:xfrm xmlns:a="http://schemas.openxmlformats.org/drawingml/2006/main">
            <a:off x="93535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Self-consistency</a:t>
            </a:r>
          </a:p>
        </p:txBody>
      </p:sp>
      <p:sp>
        <p:nvSpPr>
          <p:cNvPr id="28" name="">
            <a:extLst xmlns:a="http://schemas.openxmlformats.org/drawingml/2006/main">
              <a:ext uri="{FF2B5EF4-FFF2-40B4-BE49-F238E27FC236}">
                <a16:creationId xmlns:a16="http://schemas.microsoft.com/office/drawing/2014/main" id="{517024DE-A041-4ED8-A636-07D37B78CA2C}"/>
              </a:ext>
            </a:extLst>
          </p:cNvPr>
          <p:cNvSpPr>
            <a:spLocks xmlns:a="http://schemas.openxmlformats.org/drawingml/2006/main" noGrp="1"/>
          </p:cNvSpPr>
          <p:nvPr/>
        </p:nvSpPr>
        <p:spPr>
          <a:xfrm xmlns:a="http://schemas.openxmlformats.org/drawingml/2006/main">
            <a:off x="93535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Answer aggregation</a:t>
            </a:r>
          </a:p>
        </p:txBody>
      </p:sp>
      <p:sp>
        <p:nvSpPr>
          <p:cNvPr id="29" name="">
            <a:extLst xmlns:a="http://schemas.openxmlformats.org/drawingml/2006/main">
              <a:ext uri="{FF2B5EF4-FFF2-40B4-BE49-F238E27FC236}">
                <a16:creationId xmlns:a16="http://schemas.microsoft.com/office/drawing/2014/main" id="{21AB71BB-9816-496E-898C-8408CB4CE654}"/>
              </a:ext>
            </a:extLst>
          </p:cNvPr>
          <p:cNvSpPr>
            <a:spLocks xmlns:a="http://schemas.openxmlformats.org/drawingml/2006/main" noGrp="1"/>
          </p:cNvSpPr>
          <p:nvPr/>
        </p:nvSpPr>
        <p:spPr>
          <a:xfrm xmlns:a="http://schemas.openxmlformats.org/drawingml/2006/main">
            <a:off x="93535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Samples several candidates and selects a normalized plurality answer.</a:t>
            </a:r>
          </a:p>
        </p:txBody>
      </p:sp>
      <p:sp>
        <p:nvSpPr>
          <p:cNvPr id="30" name="">
            <a:extLst xmlns:a="http://schemas.openxmlformats.org/drawingml/2006/main">
              <a:ext uri="{FF2B5EF4-FFF2-40B4-BE49-F238E27FC236}">
                <a16:creationId xmlns:a16="http://schemas.microsoft.com/office/drawing/2014/main" id="{A4D3D093-C0F2-4AA2-9550-E0F0049610A1}"/>
              </a:ext>
            </a:extLst>
          </p:cNvPr>
          <p:cNvSpPr>
            <a:spLocks xmlns:a="http://schemas.openxmlformats.org/drawingml/2006/main" noGrp="1"/>
          </p:cNvSpPr>
          <p:nvPr/>
        </p:nvSpPr>
        <p:spPr>
          <a:xfrm xmlns:a="http://schemas.openxmlformats.org/drawingml/2006/main">
            <a:off x="93535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Wang et al., ICLR 2023</a:t>
            </a:r>
          </a:p>
        </p:txBody>
      </p:sp>
      <p:sp>
        <p:nvSpPr>
          <p:cNvPr id="31" name="">
            <a:extLst xmlns:a="http://schemas.openxmlformats.org/drawingml/2006/main">
              <a:ext uri="{FF2B5EF4-FFF2-40B4-BE49-F238E27FC236}">
                <a16:creationId xmlns:a16="http://schemas.microsoft.com/office/drawing/2014/main" id="{5813F1DA-B1D8-4994-8A63-D47FF65F975A}"/>
              </a:ext>
            </a:extLst>
          </p:cNvPr>
          <p:cNvSpPr>
            <a:spLocks xmlns:a="http://schemas.openxmlformats.org/drawingml/2006/main" noGrp="1"/>
          </p:cNvSpPr>
          <p:nvPr/>
        </p:nvSpPr>
        <p:spPr>
          <a:xfrm xmlns:a="http://schemas.openxmlformats.org/drawingml/2006/main">
            <a:off x="685800" y="41148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RESEARCH GAP IN THIS CAPSTONE</a:t>
            </a:r>
          </a:p>
        </p:txBody>
      </p:sp>
      <p:sp>
        <p:nvSpPr>
          <p:cNvPr id="32" name="">
            <a:extLst xmlns:a="http://schemas.openxmlformats.org/drawingml/2006/main">
              <a:ext uri="{FF2B5EF4-FFF2-40B4-BE49-F238E27FC236}">
                <a16:creationId xmlns:a16="http://schemas.microsoft.com/office/drawing/2014/main" id="{B851828B-604D-48C1-80C2-F9273E56A9EC}"/>
              </a:ext>
            </a:extLst>
          </p:cNvPr>
          <p:cNvSpPr>
            <a:spLocks xmlns:a="http://schemas.openxmlformats.org/drawingml/2006/main" noGrp="1"/>
          </p:cNvSpPr>
          <p:nvPr/>
        </p:nvSpPr>
        <p:spPr>
          <a:xfrm xmlns:a="http://schemas.openxmlformats.org/drawingml/2006/main">
            <a:off x="685800" y="4400550"/>
            <a:ext cx="1062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0253F"/>
                </a:solidFill>
                <a:latin typeface="Helvetica Neue"/>
                <a:ea typeface="Helvetica Neue"/>
                <a:cs typeface="Helvetica Neue"/>
              </a:defRPr>
            </a:defPPr>
          </a:lstStyle>
          <a:p xmlns:a="http://schemas.openxmlformats.org/drawingml/2006/main">
            <a:pPr algn="l">
              <a:lnSpc>
                <a:spcPct val="105000"/>
              </a:lnSpc>
              <a:buNone/>
              <a:defRPr sz="1650" b="1">
                <a:solidFill>
                  <a:srgbClr val="10253F"/>
                </a:solidFill>
                <a:latin typeface="Helvetica Neue"/>
                <a:ea typeface="Helvetica Neue"/>
                <a:cs typeface="Helvetica Neue"/>
              </a:defRPr>
            </a:pPr>
            <a:r>
              <a:rPr sz="1650" b="1">
                <a:solidFill>
                  <a:srgbClr val="10253F"/>
                </a:solidFill>
                <a:latin typeface="Helvetica Neue"/>
                <a:ea typeface="Helvetica Neue"/>
                <a:cs typeface="Helvetica Neue"/>
              </a:rPr>
              <a:t>The repository brings these components together. Small C4 and TruthfulQA runs are recorded, but they do not establish a general reliability gain.</a:t>
            </a:r>
          </a:p>
        </p:txBody>
      </p:sp>
      <p:sp>
        <p:nvSpPr>
          <p:cNvPr id="33" name="">
            <a:extLst xmlns:a="http://schemas.openxmlformats.org/drawingml/2006/main">
              <a:ext uri="{FF2B5EF4-FFF2-40B4-BE49-F238E27FC236}">
                <a16:creationId xmlns:a16="http://schemas.microsoft.com/office/drawing/2014/main" id="{C3DFA9E5-C570-4F12-85AC-C5A0AED40892}"/>
              </a:ext>
            </a:extLst>
          </p:cNvPr>
          <p:cNvSpPr>
            <a:spLocks xmlns:a="http://schemas.openxmlformats.org/drawingml/2006/main" noGrp="1"/>
          </p:cNvSpPr>
          <p:nvPr/>
        </p:nvSpPr>
        <p:spPr>
          <a:xfrm xmlns:a="http://schemas.openxmlformats.org/drawingml/2006/main" flipV="0">
            <a:off x="685800" y="5391150"/>
            <a:ext cx="106870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4" name="">
            <a:extLst xmlns:a="http://schemas.openxmlformats.org/drawingml/2006/main">
              <a:ext uri="{FF2B5EF4-FFF2-40B4-BE49-F238E27FC236}">
                <a16:creationId xmlns:a16="http://schemas.microsoft.com/office/drawing/2014/main" id="{4A53B316-BB56-4B6B-8A6C-A2B787C43804}"/>
              </a:ext>
            </a:extLst>
          </p:cNvPr>
          <p:cNvSpPr>
            <a:spLocks xmlns:a="http://schemas.openxmlformats.org/drawingml/2006/main" noGrp="1"/>
          </p:cNvSpPr>
          <p:nvPr/>
        </p:nvSpPr>
        <p:spPr>
          <a:xfrm xmlns:a="http://schemas.openxmlformats.org/drawingml/2006/main">
            <a:off x="685800" y="5572125"/>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References: TinyLlama (Zhang et al., 2024)  ·  DoLa (Chuang et al., 2024)  ·  ENN (Osband et al., 2021)  ·  Self-consistency (Wang et al., 2023)</a:t>
            </a:r>
          </a:p>
        </p:txBody>
      </p:sp>
    </p:spTree>
    <p:extLst>
      <p:ext uri="{BB962C8B-B14F-4D97-AF65-F5344CB8AC3E}">
        <p14:creationId xmlns:p14="http://schemas.microsoft.com/office/powerpoint/2010/main" val="263992121"/>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D6BFC1F9-A1C3-4A0A-BD39-D3516C45A96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5B8F230-3CA1-4E69-8A61-B562F800AE74}"/>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Proposed System &amp; Methodology</a:t>
            </a:r>
          </a:p>
        </p:txBody>
      </p:sp>
      <p:sp>
        <p:nvSpPr>
          <p:cNvPr id="3" name="">
            <a:extLst xmlns:a="http://schemas.openxmlformats.org/drawingml/2006/main">
              <a:ext uri="{FF2B5EF4-FFF2-40B4-BE49-F238E27FC236}">
                <a16:creationId xmlns:a16="http://schemas.microsoft.com/office/drawing/2014/main" id="{9183A52A-F3F3-4D15-9C9C-D13467F31113}"/>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Two paths meet at evaluation: C4 trains the Epinet; questions exercise answer generation and voting.</a:t>
            </a:r>
          </a:p>
        </p:txBody>
      </p:sp>
      <p:sp>
        <p:nvSpPr>
          <p:cNvPr id="4" name="">
            <a:extLst xmlns:a="http://schemas.openxmlformats.org/drawingml/2006/main">
              <a:ext uri="{FF2B5EF4-FFF2-40B4-BE49-F238E27FC236}">
                <a16:creationId xmlns:a16="http://schemas.microsoft.com/office/drawing/2014/main" id="{AC31C042-5CFE-4CF0-ACCE-672971921356}"/>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73BB94CA-8F73-445F-971A-737A044B5479}"/>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B56EAF0B-9BD4-4261-BA87-71A2A907B85A}"/>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063F6414-C770-41C9-A0BD-58C5E5C98FA4}"/>
              </a:ext>
            </a:extLst>
          </p:cNvPr>
          <p:cNvSpPr>
            <a:spLocks xmlns:a="http://schemas.openxmlformats.org/drawingml/2006/main" noGrp="1"/>
          </p:cNvSpPr>
          <p:nvPr/>
        </p:nvSpPr>
        <p:spPr>
          <a:xfrm xmlns:a="http://schemas.openxmlformats.org/drawingml/2006/main">
            <a:off x="666750" y="13906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FEATURE TRAINING PATH</a:t>
            </a:r>
          </a:p>
        </p:txBody>
      </p:sp>
      <p:sp>
        <p:nvSpPr>
          <p:cNvPr id="8" name="">
            <a:extLst xmlns:a="http://schemas.openxmlformats.org/drawingml/2006/main">
              <a:ext uri="{FF2B5EF4-FFF2-40B4-BE49-F238E27FC236}">
                <a16:creationId xmlns:a16="http://schemas.microsoft.com/office/drawing/2014/main" id="{36E789A3-8C19-47D2-8E6E-0E99BFE652FF}"/>
              </a:ext>
            </a:extLst>
          </p:cNvPr>
          <p:cNvSpPr>
            <a:spLocks xmlns:a="http://schemas.openxmlformats.org/drawingml/2006/main" noGrp="1"/>
          </p:cNvSpPr>
          <p:nvPr/>
        </p:nvSpPr>
        <p:spPr>
          <a:xfrm xmlns:a="http://schemas.openxmlformats.org/drawingml/2006/main">
            <a:off x="6667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9" name="">
            <a:extLst xmlns:a="http://schemas.openxmlformats.org/drawingml/2006/main">
              <a:ext uri="{FF2B5EF4-FFF2-40B4-BE49-F238E27FC236}">
                <a16:creationId xmlns:a16="http://schemas.microsoft.com/office/drawing/2014/main" id="{7CD7A064-D55C-484B-80A8-688E184394F3}"/>
              </a:ext>
            </a:extLst>
          </p:cNvPr>
          <p:cNvSpPr>
            <a:spLocks xmlns:a="http://schemas.openxmlformats.org/drawingml/2006/main" noGrp="1"/>
          </p:cNvSpPr>
          <p:nvPr/>
        </p:nvSpPr>
        <p:spPr>
          <a:xfrm xmlns:a="http://schemas.openxmlformats.org/drawingml/2006/main">
            <a:off x="6667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CA9C91E-25DF-4FE0-A33E-C82520A63138}"/>
              </a:ext>
            </a:extLst>
          </p:cNvPr>
          <p:cNvSpPr>
            <a:spLocks xmlns:a="http://schemas.openxmlformats.org/drawingml/2006/main" noGrp="1"/>
          </p:cNvSpPr>
          <p:nvPr/>
        </p:nvSpPr>
        <p:spPr>
          <a:xfrm xmlns:a="http://schemas.openxmlformats.org/drawingml/2006/main">
            <a:off x="8382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English C4</a:t>
            </a:r>
          </a:p>
        </p:txBody>
      </p:sp>
      <p:sp>
        <p:nvSpPr>
          <p:cNvPr id="11" name="">
            <a:extLst xmlns:a="http://schemas.openxmlformats.org/drawingml/2006/main">
              <a:ext uri="{FF2B5EF4-FFF2-40B4-BE49-F238E27FC236}">
                <a16:creationId xmlns:a16="http://schemas.microsoft.com/office/drawing/2014/main" id="{BD1D3C2C-6E00-4026-BE0E-587F6C1E9C49}"/>
              </a:ext>
            </a:extLst>
          </p:cNvPr>
          <p:cNvSpPr>
            <a:spLocks xmlns:a="http://schemas.openxmlformats.org/drawingml/2006/main" noGrp="1"/>
          </p:cNvSpPr>
          <p:nvPr/>
        </p:nvSpPr>
        <p:spPr>
          <a:xfrm xmlns:a="http://schemas.openxmlformats.org/drawingml/2006/main">
            <a:off x="8382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Stream or local shard</a:t>
            </a:r>
          </a:p>
        </p:txBody>
      </p:sp>
      <p:sp>
        <p:nvSpPr>
          <p:cNvPr id="12" name="">
            <a:extLst xmlns:a="http://schemas.openxmlformats.org/drawingml/2006/main">
              <a:ext uri="{FF2B5EF4-FFF2-40B4-BE49-F238E27FC236}">
                <a16:creationId xmlns:a16="http://schemas.microsoft.com/office/drawing/2014/main" id="{4BBBC72B-1BA1-4451-B3A5-717A9BE944CA}"/>
              </a:ext>
            </a:extLst>
          </p:cNvPr>
          <p:cNvSpPr>
            <a:spLocks xmlns:a="http://schemas.openxmlformats.org/drawingml/2006/main" noGrp="1"/>
          </p:cNvSpPr>
          <p:nvPr/>
        </p:nvSpPr>
        <p:spPr>
          <a:xfrm xmlns:a="http://schemas.openxmlformats.org/drawingml/2006/main">
            <a:off x="34861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3" name="">
            <a:extLst xmlns:a="http://schemas.openxmlformats.org/drawingml/2006/main">
              <a:ext uri="{FF2B5EF4-FFF2-40B4-BE49-F238E27FC236}">
                <a16:creationId xmlns:a16="http://schemas.microsoft.com/office/drawing/2014/main" id="{D045F2B6-208A-48B5-B0F3-9E7BE660AF34}"/>
              </a:ext>
            </a:extLst>
          </p:cNvPr>
          <p:cNvSpPr>
            <a:spLocks xmlns:a="http://schemas.openxmlformats.org/drawingml/2006/main" noGrp="1"/>
          </p:cNvSpPr>
          <p:nvPr/>
        </p:nvSpPr>
        <p:spPr>
          <a:xfrm xmlns:a="http://schemas.openxmlformats.org/drawingml/2006/main">
            <a:off x="34861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EBA3EF6-2D66-494D-963B-28841AEA0547}"/>
              </a:ext>
            </a:extLst>
          </p:cNvPr>
          <p:cNvSpPr>
            <a:spLocks xmlns:a="http://schemas.openxmlformats.org/drawingml/2006/main" noGrp="1"/>
          </p:cNvSpPr>
          <p:nvPr/>
        </p:nvSpPr>
        <p:spPr>
          <a:xfrm xmlns:a="http://schemas.openxmlformats.org/drawingml/2006/main">
            <a:off x="36576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Feature extraction</a:t>
            </a:r>
          </a:p>
        </p:txBody>
      </p:sp>
      <p:sp>
        <p:nvSpPr>
          <p:cNvPr id="15" name="">
            <a:extLst xmlns:a="http://schemas.openxmlformats.org/drawingml/2006/main">
              <a:ext uri="{FF2B5EF4-FFF2-40B4-BE49-F238E27FC236}">
                <a16:creationId xmlns:a16="http://schemas.microsoft.com/office/drawing/2014/main" id="{FC381683-BEF8-4874-8E02-8CBC5F52E934}"/>
              </a:ext>
            </a:extLst>
          </p:cNvPr>
          <p:cNvSpPr>
            <a:spLocks xmlns:a="http://schemas.openxmlformats.org/drawingml/2006/main" noGrp="1"/>
          </p:cNvSpPr>
          <p:nvPr/>
        </p:nvSpPr>
        <p:spPr>
          <a:xfrm xmlns:a="http://schemas.openxmlformats.org/drawingml/2006/main">
            <a:off x="36576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TinyLlama hidden states</a:t>
            </a:r>
          </a:p>
        </p:txBody>
      </p:sp>
      <p:sp>
        <p:nvSpPr>
          <p:cNvPr id="16" name="">
            <a:extLst xmlns:a="http://schemas.openxmlformats.org/drawingml/2006/main">
              <a:ext uri="{FF2B5EF4-FFF2-40B4-BE49-F238E27FC236}">
                <a16:creationId xmlns:a16="http://schemas.microsoft.com/office/drawing/2014/main" id="{404B2782-C35C-47B7-95EA-2FD246594EDF}"/>
              </a:ext>
            </a:extLst>
          </p:cNvPr>
          <p:cNvSpPr>
            <a:spLocks xmlns:a="http://schemas.openxmlformats.org/drawingml/2006/main" noGrp="1"/>
          </p:cNvSpPr>
          <p:nvPr/>
        </p:nvSpPr>
        <p:spPr>
          <a:xfrm xmlns:a="http://schemas.openxmlformats.org/drawingml/2006/main">
            <a:off x="63055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6AFA4F62-CA59-492D-9B10-17E3712A5FE8}"/>
              </a:ext>
            </a:extLst>
          </p:cNvPr>
          <p:cNvSpPr>
            <a:spLocks xmlns:a="http://schemas.openxmlformats.org/drawingml/2006/main" noGrp="1"/>
          </p:cNvSpPr>
          <p:nvPr/>
        </p:nvSpPr>
        <p:spPr>
          <a:xfrm xmlns:a="http://schemas.openxmlformats.org/drawingml/2006/main">
            <a:off x="63055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8FDFE66-6CBD-4A2D-B7B4-1F1C9E009BDC}"/>
              </a:ext>
            </a:extLst>
          </p:cNvPr>
          <p:cNvSpPr>
            <a:spLocks xmlns:a="http://schemas.openxmlformats.org/drawingml/2006/main" noGrp="1"/>
          </p:cNvSpPr>
          <p:nvPr/>
        </p:nvSpPr>
        <p:spPr>
          <a:xfrm xmlns:a="http://schemas.openxmlformats.org/drawingml/2006/main">
            <a:off x="64770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Document split</a:t>
            </a:r>
          </a:p>
        </p:txBody>
      </p:sp>
      <p:sp>
        <p:nvSpPr>
          <p:cNvPr id="19" name="">
            <a:extLst xmlns:a="http://schemas.openxmlformats.org/drawingml/2006/main">
              <a:ext uri="{FF2B5EF4-FFF2-40B4-BE49-F238E27FC236}">
                <a16:creationId xmlns:a16="http://schemas.microsoft.com/office/drawing/2014/main" id="{0AA2063B-FFE1-4517-986C-6FCA4EFCC20E}"/>
              </a:ext>
            </a:extLst>
          </p:cNvPr>
          <p:cNvSpPr>
            <a:spLocks xmlns:a="http://schemas.openxmlformats.org/drawingml/2006/main" noGrp="1"/>
          </p:cNvSpPr>
          <p:nvPr/>
        </p:nvSpPr>
        <p:spPr>
          <a:xfrm xmlns:a="http://schemas.openxmlformats.org/drawingml/2006/main">
            <a:off x="64770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90/10 train/validation</a:t>
            </a:r>
          </a:p>
        </p:txBody>
      </p:sp>
      <p:sp>
        <p:nvSpPr>
          <p:cNvPr id="20" name="">
            <a:extLst xmlns:a="http://schemas.openxmlformats.org/drawingml/2006/main">
              <a:ext uri="{FF2B5EF4-FFF2-40B4-BE49-F238E27FC236}">
                <a16:creationId xmlns:a16="http://schemas.microsoft.com/office/drawing/2014/main" id="{B6C45E81-30B2-4764-8275-12483733E0D3}"/>
              </a:ext>
            </a:extLst>
          </p:cNvPr>
          <p:cNvSpPr>
            <a:spLocks xmlns:a="http://schemas.openxmlformats.org/drawingml/2006/main" noGrp="1"/>
          </p:cNvSpPr>
          <p:nvPr/>
        </p:nvSpPr>
        <p:spPr>
          <a:xfrm xmlns:a="http://schemas.openxmlformats.org/drawingml/2006/main">
            <a:off x="91249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21" name="">
            <a:extLst xmlns:a="http://schemas.openxmlformats.org/drawingml/2006/main">
              <a:ext uri="{FF2B5EF4-FFF2-40B4-BE49-F238E27FC236}">
                <a16:creationId xmlns:a16="http://schemas.microsoft.com/office/drawing/2014/main" id="{AD13527F-DBB0-450D-8078-1842C718D007}"/>
              </a:ext>
            </a:extLst>
          </p:cNvPr>
          <p:cNvSpPr>
            <a:spLocks xmlns:a="http://schemas.openxmlformats.org/drawingml/2006/main" noGrp="1"/>
          </p:cNvSpPr>
          <p:nvPr/>
        </p:nvSpPr>
        <p:spPr>
          <a:xfrm xmlns:a="http://schemas.openxmlformats.org/drawingml/2006/main">
            <a:off x="91249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2FFACDD-E54D-45DA-B2A4-B03D8084904B}"/>
              </a:ext>
            </a:extLst>
          </p:cNvPr>
          <p:cNvSpPr>
            <a:spLocks xmlns:a="http://schemas.openxmlformats.org/drawingml/2006/main" noGrp="1"/>
          </p:cNvSpPr>
          <p:nvPr/>
        </p:nvSpPr>
        <p:spPr>
          <a:xfrm xmlns:a="http://schemas.openxmlformats.org/drawingml/2006/main">
            <a:off x="92964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Train Epinet</a:t>
            </a:r>
          </a:p>
        </p:txBody>
      </p:sp>
      <p:sp>
        <p:nvSpPr>
          <p:cNvPr id="23" name="">
            <a:extLst xmlns:a="http://schemas.openxmlformats.org/drawingml/2006/main">
              <a:ext uri="{FF2B5EF4-FFF2-40B4-BE49-F238E27FC236}">
                <a16:creationId xmlns:a16="http://schemas.microsoft.com/office/drawing/2014/main" id="{8B81C2E2-8148-4198-8BF1-C3BDF3A0050C}"/>
              </a:ext>
            </a:extLst>
          </p:cNvPr>
          <p:cNvSpPr>
            <a:spLocks xmlns:a="http://schemas.openxmlformats.org/drawingml/2006/main" noGrp="1"/>
          </p:cNvSpPr>
          <p:nvPr/>
        </p:nvSpPr>
        <p:spPr>
          <a:xfrm xmlns:a="http://schemas.openxmlformats.org/drawingml/2006/main">
            <a:off x="92964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Next-token cross-entropy</a:t>
            </a:r>
          </a:p>
        </p:txBody>
      </p:sp>
      <p:sp>
        <p:nvSpPr>
          <p:cNvPr id="24" name="">
            <a:extLst xmlns:a="http://schemas.openxmlformats.org/drawingml/2006/main">
              <a:ext uri="{FF2B5EF4-FFF2-40B4-BE49-F238E27FC236}">
                <a16:creationId xmlns:a16="http://schemas.microsoft.com/office/drawing/2014/main" id="{4C884A92-6E47-42F5-8EF8-BAAA54D87138}"/>
              </a:ext>
            </a:extLst>
          </p:cNvPr>
          <p:cNvSpPr>
            <a:spLocks xmlns:a="http://schemas.openxmlformats.org/drawingml/2006/main" noGrp="1"/>
          </p:cNvSpPr>
          <p:nvPr/>
        </p:nvSpPr>
        <p:spPr>
          <a:xfrm xmlns:a="http://schemas.openxmlformats.org/drawingml/2006/main" flipV="0">
            <a:off x="30099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5" name="">
            <a:extLst xmlns:a="http://schemas.openxmlformats.org/drawingml/2006/main">
              <a:ext uri="{FF2B5EF4-FFF2-40B4-BE49-F238E27FC236}">
                <a16:creationId xmlns:a16="http://schemas.microsoft.com/office/drawing/2014/main" id="{7682461B-D8EF-4F9B-B5FB-6EBB5F041E5C}"/>
              </a:ext>
            </a:extLst>
          </p:cNvPr>
          <p:cNvSpPr>
            <a:spLocks xmlns:a="http://schemas.openxmlformats.org/drawingml/2006/main" noGrp="1"/>
          </p:cNvSpPr>
          <p:nvPr/>
        </p:nvSpPr>
        <p:spPr>
          <a:xfrm xmlns:a="http://schemas.openxmlformats.org/drawingml/2006/main" rot="5400000">
            <a:off x="32956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280B877-4317-4FE2-9A2B-63441F2E5A19}"/>
              </a:ext>
            </a:extLst>
          </p:cNvPr>
          <p:cNvSpPr>
            <a:spLocks xmlns:a="http://schemas.openxmlformats.org/drawingml/2006/main" noGrp="1"/>
          </p:cNvSpPr>
          <p:nvPr/>
        </p:nvSpPr>
        <p:spPr>
          <a:xfrm xmlns:a="http://schemas.openxmlformats.org/drawingml/2006/main" flipV="0">
            <a:off x="58293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7" name="">
            <a:extLst xmlns:a="http://schemas.openxmlformats.org/drawingml/2006/main">
              <a:ext uri="{FF2B5EF4-FFF2-40B4-BE49-F238E27FC236}">
                <a16:creationId xmlns:a16="http://schemas.microsoft.com/office/drawing/2014/main" id="{A57C6974-1928-43FA-ADCA-88FB0EF34A7B}"/>
              </a:ext>
            </a:extLst>
          </p:cNvPr>
          <p:cNvSpPr>
            <a:spLocks xmlns:a="http://schemas.openxmlformats.org/drawingml/2006/main" noGrp="1"/>
          </p:cNvSpPr>
          <p:nvPr/>
        </p:nvSpPr>
        <p:spPr>
          <a:xfrm xmlns:a="http://schemas.openxmlformats.org/drawingml/2006/main" rot="5400000">
            <a:off x="61150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8B204EE-F2EF-4C98-8070-C88156269630}"/>
              </a:ext>
            </a:extLst>
          </p:cNvPr>
          <p:cNvSpPr>
            <a:spLocks xmlns:a="http://schemas.openxmlformats.org/drawingml/2006/main" noGrp="1"/>
          </p:cNvSpPr>
          <p:nvPr/>
        </p:nvSpPr>
        <p:spPr>
          <a:xfrm xmlns:a="http://schemas.openxmlformats.org/drawingml/2006/main" flipV="0">
            <a:off x="86487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9" name="">
            <a:extLst xmlns:a="http://schemas.openxmlformats.org/drawingml/2006/main">
              <a:ext uri="{FF2B5EF4-FFF2-40B4-BE49-F238E27FC236}">
                <a16:creationId xmlns:a16="http://schemas.microsoft.com/office/drawing/2014/main" id="{A3AD93E8-B54D-4EF9-BAEA-64ABC66442AB}"/>
              </a:ext>
            </a:extLst>
          </p:cNvPr>
          <p:cNvSpPr>
            <a:spLocks xmlns:a="http://schemas.openxmlformats.org/drawingml/2006/main" noGrp="1"/>
          </p:cNvSpPr>
          <p:nvPr/>
        </p:nvSpPr>
        <p:spPr>
          <a:xfrm xmlns:a="http://schemas.openxmlformats.org/drawingml/2006/main" rot="5400000">
            <a:off x="89344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60C6C24-A724-4D79-95E7-E7AF04EDB3EB}"/>
              </a:ext>
            </a:extLst>
          </p:cNvPr>
          <p:cNvSpPr>
            <a:spLocks xmlns:a="http://schemas.openxmlformats.org/drawingml/2006/main" noGrp="1"/>
          </p:cNvSpPr>
          <p:nvPr/>
        </p:nvSpPr>
        <p:spPr>
          <a:xfrm xmlns:a="http://schemas.openxmlformats.org/drawingml/2006/main" flipV="0">
            <a:off x="666750" y="3028950"/>
            <a:ext cx="108013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1" name="">
            <a:extLst xmlns:a="http://schemas.openxmlformats.org/drawingml/2006/main">
              <a:ext uri="{FF2B5EF4-FFF2-40B4-BE49-F238E27FC236}">
                <a16:creationId xmlns:a16="http://schemas.microsoft.com/office/drawing/2014/main" id="{F0A12F64-A1C6-4BD6-A0AB-90A7456C6D0C}"/>
              </a:ext>
            </a:extLst>
          </p:cNvPr>
          <p:cNvSpPr>
            <a:spLocks xmlns:a="http://schemas.openxmlformats.org/drawingml/2006/main" noGrp="1"/>
          </p:cNvSpPr>
          <p:nvPr/>
        </p:nvSpPr>
        <p:spPr>
          <a:xfrm xmlns:a="http://schemas.openxmlformats.org/drawingml/2006/main">
            <a:off x="666750" y="3314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QUESTION-ANSWERING PATH</a:t>
            </a:r>
          </a:p>
        </p:txBody>
      </p:sp>
      <p:sp>
        <p:nvSpPr>
          <p:cNvPr id="32" name="">
            <a:extLst xmlns:a="http://schemas.openxmlformats.org/drawingml/2006/main">
              <a:ext uri="{FF2B5EF4-FFF2-40B4-BE49-F238E27FC236}">
                <a16:creationId xmlns:a16="http://schemas.microsoft.com/office/drawing/2014/main" id="{E85FD280-FCEF-49E4-B37C-8A90CD9488F5}"/>
              </a:ext>
            </a:extLst>
          </p:cNvPr>
          <p:cNvSpPr>
            <a:spLocks xmlns:a="http://schemas.openxmlformats.org/drawingml/2006/main" noGrp="1"/>
          </p:cNvSpPr>
          <p:nvPr/>
        </p:nvSpPr>
        <p:spPr>
          <a:xfrm xmlns:a="http://schemas.openxmlformats.org/drawingml/2006/main">
            <a:off x="6667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885811B1-8A9D-41FC-932F-CA6DC576B0A0}"/>
              </a:ext>
            </a:extLst>
          </p:cNvPr>
          <p:cNvSpPr>
            <a:spLocks xmlns:a="http://schemas.openxmlformats.org/drawingml/2006/main" noGrp="1"/>
          </p:cNvSpPr>
          <p:nvPr/>
        </p:nvSpPr>
        <p:spPr>
          <a:xfrm xmlns:a="http://schemas.openxmlformats.org/drawingml/2006/main">
            <a:off x="6667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7F86876-396A-412F-BFB0-0F12F7A299BA}"/>
              </a:ext>
            </a:extLst>
          </p:cNvPr>
          <p:cNvSpPr>
            <a:spLocks xmlns:a="http://schemas.openxmlformats.org/drawingml/2006/main" noGrp="1"/>
          </p:cNvSpPr>
          <p:nvPr/>
        </p:nvSpPr>
        <p:spPr>
          <a:xfrm xmlns:a="http://schemas.openxmlformats.org/drawingml/2006/main">
            <a:off x="8382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35" name="">
            <a:extLst xmlns:a="http://schemas.openxmlformats.org/drawingml/2006/main">
              <a:ext uri="{FF2B5EF4-FFF2-40B4-BE49-F238E27FC236}">
                <a16:creationId xmlns:a16="http://schemas.microsoft.com/office/drawing/2014/main" id="{A8D901EA-C4ED-4DE0-893D-761D1E9329CC}"/>
              </a:ext>
            </a:extLst>
          </p:cNvPr>
          <p:cNvSpPr>
            <a:spLocks xmlns:a="http://schemas.openxmlformats.org/drawingml/2006/main" noGrp="1"/>
          </p:cNvSpPr>
          <p:nvPr/>
        </p:nvSpPr>
        <p:spPr>
          <a:xfrm xmlns:a="http://schemas.openxmlformats.org/drawingml/2006/main">
            <a:off x="8382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Local QA set or TruthfulQA</a:t>
            </a:r>
          </a:p>
        </p:txBody>
      </p:sp>
      <p:sp>
        <p:nvSpPr>
          <p:cNvPr id="36" name="">
            <a:extLst xmlns:a="http://schemas.openxmlformats.org/drawingml/2006/main">
              <a:ext uri="{FF2B5EF4-FFF2-40B4-BE49-F238E27FC236}">
                <a16:creationId xmlns:a16="http://schemas.microsoft.com/office/drawing/2014/main" id="{BEC89CCA-C7BC-4E23-83FE-911DE3663DD8}"/>
              </a:ext>
            </a:extLst>
          </p:cNvPr>
          <p:cNvSpPr>
            <a:spLocks xmlns:a="http://schemas.openxmlformats.org/drawingml/2006/main" noGrp="1"/>
          </p:cNvSpPr>
          <p:nvPr/>
        </p:nvSpPr>
        <p:spPr>
          <a:xfrm xmlns:a="http://schemas.openxmlformats.org/drawingml/2006/main">
            <a:off x="34861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169B608D-F767-4F72-9E0C-DF41F3C2C865}"/>
              </a:ext>
            </a:extLst>
          </p:cNvPr>
          <p:cNvSpPr>
            <a:spLocks xmlns:a="http://schemas.openxmlformats.org/drawingml/2006/main" noGrp="1"/>
          </p:cNvSpPr>
          <p:nvPr/>
        </p:nvSpPr>
        <p:spPr>
          <a:xfrm xmlns:a="http://schemas.openxmlformats.org/drawingml/2006/main">
            <a:off x="34861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7810AB5-CCEC-4ACA-952A-08058FDE18B1}"/>
              </a:ext>
            </a:extLst>
          </p:cNvPr>
          <p:cNvSpPr>
            <a:spLocks xmlns:a="http://schemas.openxmlformats.org/drawingml/2006/main" noGrp="1"/>
          </p:cNvSpPr>
          <p:nvPr/>
        </p:nvSpPr>
        <p:spPr>
          <a:xfrm xmlns:a="http://schemas.openxmlformats.org/drawingml/2006/main">
            <a:off x="36576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 DoLa</a:t>
            </a:r>
          </a:p>
        </p:txBody>
      </p:sp>
      <p:sp>
        <p:nvSpPr>
          <p:cNvPr id="39" name="">
            <a:extLst xmlns:a="http://schemas.openxmlformats.org/drawingml/2006/main">
              <a:ext uri="{FF2B5EF4-FFF2-40B4-BE49-F238E27FC236}">
                <a16:creationId xmlns:a16="http://schemas.microsoft.com/office/drawing/2014/main" id="{384DB428-8F14-418F-BA43-3A5F77F60412}"/>
              </a:ext>
            </a:extLst>
          </p:cNvPr>
          <p:cNvSpPr>
            <a:spLocks xmlns:a="http://schemas.openxmlformats.org/drawingml/2006/main" noGrp="1"/>
          </p:cNvSpPr>
          <p:nvPr/>
        </p:nvSpPr>
        <p:spPr>
          <a:xfrm xmlns:a="http://schemas.openxmlformats.org/drawingml/2006/main">
            <a:off x="36576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candidate answer(s)</a:t>
            </a:r>
          </a:p>
        </p:txBody>
      </p:sp>
      <p:sp>
        <p:nvSpPr>
          <p:cNvPr id="40" name="">
            <a:extLst xmlns:a="http://schemas.openxmlformats.org/drawingml/2006/main">
              <a:ext uri="{FF2B5EF4-FFF2-40B4-BE49-F238E27FC236}">
                <a16:creationId xmlns:a16="http://schemas.microsoft.com/office/drawing/2014/main" id="{560B07AC-DA6C-4B21-84AB-726ED14F9145}"/>
              </a:ext>
            </a:extLst>
          </p:cNvPr>
          <p:cNvSpPr>
            <a:spLocks xmlns:a="http://schemas.openxmlformats.org/drawingml/2006/main" noGrp="1"/>
          </p:cNvSpPr>
          <p:nvPr/>
        </p:nvSpPr>
        <p:spPr>
          <a:xfrm xmlns:a="http://schemas.openxmlformats.org/drawingml/2006/main">
            <a:off x="63055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1" name="">
            <a:extLst xmlns:a="http://schemas.openxmlformats.org/drawingml/2006/main">
              <a:ext uri="{FF2B5EF4-FFF2-40B4-BE49-F238E27FC236}">
                <a16:creationId xmlns:a16="http://schemas.microsoft.com/office/drawing/2014/main" id="{EE02931C-D2B6-4375-B8CC-8BF9A551E813}"/>
              </a:ext>
            </a:extLst>
          </p:cNvPr>
          <p:cNvSpPr>
            <a:spLocks xmlns:a="http://schemas.openxmlformats.org/drawingml/2006/main" noGrp="1"/>
          </p:cNvSpPr>
          <p:nvPr/>
        </p:nvSpPr>
        <p:spPr>
          <a:xfrm xmlns:a="http://schemas.openxmlformats.org/drawingml/2006/main">
            <a:off x="6305550" y="3619500"/>
            <a:ext cx="47625" cy="10477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82A17098-C7FC-44F3-9A01-04FA5733F786}"/>
              </a:ext>
            </a:extLst>
          </p:cNvPr>
          <p:cNvSpPr>
            <a:spLocks xmlns:a="http://schemas.openxmlformats.org/drawingml/2006/main" noGrp="1"/>
          </p:cNvSpPr>
          <p:nvPr/>
        </p:nvSpPr>
        <p:spPr>
          <a:xfrm xmlns:a="http://schemas.openxmlformats.org/drawingml/2006/main">
            <a:off x="64770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ENN scoring</a:t>
            </a:r>
          </a:p>
        </p:txBody>
      </p:sp>
      <p:sp>
        <p:nvSpPr>
          <p:cNvPr id="43" name="">
            <a:extLst xmlns:a="http://schemas.openxmlformats.org/drawingml/2006/main">
              <a:ext uri="{FF2B5EF4-FFF2-40B4-BE49-F238E27FC236}">
                <a16:creationId xmlns:a16="http://schemas.microsoft.com/office/drawing/2014/main" id="{D4CE374F-5883-41D6-ADCD-83645ED040EC}"/>
              </a:ext>
            </a:extLst>
          </p:cNvPr>
          <p:cNvSpPr>
            <a:spLocks xmlns:a="http://schemas.openxmlformats.org/drawingml/2006/main" noGrp="1"/>
          </p:cNvSpPr>
          <p:nvPr/>
        </p:nvSpPr>
        <p:spPr>
          <a:xfrm xmlns:a="http://schemas.openxmlformats.org/drawingml/2006/main">
            <a:off x="64770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Predictive entropy per answer</a:t>
            </a:r>
          </a:p>
        </p:txBody>
      </p:sp>
      <p:sp>
        <p:nvSpPr>
          <p:cNvPr id="44" name="">
            <a:extLst xmlns:a="http://schemas.openxmlformats.org/drawingml/2006/main">
              <a:ext uri="{FF2B5EF4-FFF2-40B4-BE49-F238E27FC236}">
                <a16:creationId xmlns:a16="http://schemas.microsoft.com/office/drawing/2014/main" id="{96586B5F-5144-4D91-B4FC-3DE0F61F37BD}"/>
              </a:ext>
            </a:extLst>
          </p:cNvPr>
          <p:cNvSpPr>
            <a:spLocks xmlns:a="http://schemas.openxmlformats.org/drawingml/2006/main" noGrp="1"/>
          </p:cNvSpPr>
          <p:nvPr/>
        </p:nvSpPr>
        <p:spPr>
          <a:xfrm xmlns:a="http://schemas.openxmlformats.org/drawingml/2006/main">
            <a:off x="91249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5" name="">
            <a:extLst xmlns:a="http://schemas.openxmlformats.org/drawingml/2006/main">
              <a:ext uri="{FF2B5EF4-FFF2-40B4-BE49-F238E27FC236}">
                <a16:creationId xmlns:a16="http://schemas.microsoft.com/office/drawing/2014/main" id="{D8B63B53-9B3C-4E06-B022-8669ACC52ABE}"/>
              </a:ext>
            </a:extLst>
          </p:cNvPr>
          <p:cNvSpPr>
            <a:spLocks xmlns:a="http://schemas.openxmlformats.org/drawingml/2006/main" noGrp="1"/>
          </p:cNvSpPr>
          <p:nvPr/>
        </p:nvSpPr>
        <p:spPr>
          <a:xfrm xmlns:a="http://schemas.openxmlformats.org/drawingml/2006/main">
            <a:off x="91249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74F14972-A1DA-4FDA-B545-729FC6734C0C}"/>
              </a:ext>
            </a:extLst>
          </p:cNvPr>
          <p:cNvSpPr>
            <a:spLocks xmlns:a="http://schemas.openxmlformats.org/drawingml/2006/main" noGrp="1"/>
          </p:cNvSpPr>
          <p:nvPr/>
        </p:nvSpPr>
        <p:spPr>
          <a:xfrm xmlns:a="http://schemas.openxmlformats.org/drawingml/2006/main">
            <a:off x="92964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Voting + evaluation</a:t>
            </a:r>
          </a:p>
        </p:txBody>
      </p:sp>
      <p:sp>
        <p:nvSpPr>
          <p:cNvPr id="47" name="">
            <a:extLst xmlns:a="http://schemas.openxmlformats.org/drawingml/2006/main">
              <a:ext uri="{FF2B5EF4-FFF2-40B4-BE49-F238E27FC236}">
                <a16:creationId xmlns:a16="http://schemas.microsoft.com/office/drawing/2014/main" id="{067E73C0-A3F7-490D-BC38-2E738CCC55AA}"/>
              </a:ext>
            </a:extLst>
          </p:cNvPr>
          <p:cNvSpPr>
            <a:spLocks xmlns:a="http://schemas.openxmlformats.org/drawingml/2006/main" noGrp="1"/>
          </p:cNvSpPr>
          <p:nvPr/>
        </p:nvSpPr>
        <p:spPr>
          <a:xfrm xmlns:a="http://schemas.openxmlformats.org/drawingml/2006/main">
            <a:off x="92964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Plurality / weighted vote</a:t>
            </a:r>
          </a:p>
        </p:txBody>
      </p:sp>
      <p:sp>
        <p:nvSpPr>
          <p:cNvPr id="48" name="">
            <a:extLst xmlns:a="http://schemas.openxmlformats.org/drawingml/2006/main">
              <a:ext uri="{FF2B5EF4-FFF2-40B4-BE49-F238E27FC236}">
                <a16:creationId xmlns:a16="http://schemas.microsoft.com/office/drawing/2014/main" id="{4D86F4BF-B0D8-4D35-ADD7-B77B2D4C4355}"/>
              </a:ext>
            </a:extLst>
          </p:cNvPr>
          <p:cNvSpPr>
            <a:spLocks xmlns:a="http://schemas.openxmlformats.org/drawingml/2006/main" noGrp="1"/>
          </p:cNvSpPr>
          <p:nvPr/>
        </p:nvSpPr>
        <p:spPr>
          <a:xfrm xmlns:a="http://schemas.openxmlformats.org/drawingml/2006/main" flipV="0">
            <a:off x="30099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49" name="">
            <a:extLst xmlns:a="http://schemas.openxmlformats.org/drawingml/2006/main">
              <a:ext uri="{FF2B5EF4-FFF2-40B4-BE49-F238E27FC236}">
                <a16:creationId xmlns:a16="http://schemas.microsoft.com/office/drawing/2014/main" id="{7E9B5AA3-59E5-490A-9098-525934243218}"/>
              </a:ext>
            </a:extLst>
          </p:cNvPr>
          <p:cNvSpPr>
            <a:spLocks xmlns:a="http://schemas.openxmlformats.org/drawingml/2006/main" noGrp="1"/>
          </p:cNvSpPr>
          <p:nvPr/>
        </p:nvSpPr>
        <p:spPr>
          <a:xfrm xmlns:a="http://schemas.openxmlformats.org/drawingml/2006/main" rot="5400000">
            <a:off x="32956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ACA90DD7-13E8-4D6F-9553-267059FA4A28}"/>
              </a:ext>
            </a:extLst>
          </p:cNvPr>
          <p:cNvSpPr>
            <a:spLocks xmlns:a="http://schemas.openxmlformats.org/drawingml/2006/main" noGrp="1"/>
          </p:cNvSpPr>
          <p:nvPr/>
        </p:nvSpPr>
        <p:spPr>
          <a:xfrm xmlns:a="http://schemas.openxmlformats.org/drawingml/2006/main" flipV="0">
            <a:off x="58293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1" name="">
            <a:extLst xmlns:a="http://schemas.openxmlformats.org/drawingml/2006/main">
              <a:ext uri="{FF2B5EF4-FFF2-40B4-BE49-F238E27FC236}">
                <a16:creationId xmlns:a16="http://schemas.microsoft.com/office/drawing/2014/main" id="{2DBE1885-BA33-4D7C-B445-A7A1E33030EA}"/>
              </a:ext>
            </a:extLst>
          </p:cNvPr>
          <p:cNvSpPr>
            <a:spLocks xmlns:a="http://schemas.openxmlformats.org/drawingml/2006/main" noGrp="1"/>
          </p:cNvSpPr>
          <p:nvPr/>
        </p:nvSpPr>
        <p:spPr>
          <a:xfrm xmlns:a="http://schemas.openxmlformats.org/drawingml/2006/main" rot="5400000">
            <a:off x="61150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2B2B084A-D5AB-4FA1-8771-32E649FAFA07}"/>
              </a:ext>
            </a:extLst>
          </p:cNvPr>
          <p:cNvSpPr>
            <a:spLocks xmlns:a="http://schemas.openxmlformats.org/drawingml/2006/main" noGrp="1"/>
          </p:cNvSpPr>
          <p:nvPr/>
        </p:nvSpPr>
        <p:spPr>
          <a:xfrm xmlns:a="http://schemas.openxmlformats.org/drawingml/2006/main" flipV="0">
            <a:off x="86487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3" name="">
            <a:extLst xmlns:a="http://schemas.openxmlformats.org/drawingml/2006/main">
              <a:ext uri="{FF2B5EF4-FFF2-40B4-BE49-F238E27FC236}">
                <a16:creationId xmlns:a16="http://schemas.microsoft.com/office/drawing/2014/main" id="{8F590202-3D0E-4B4E-9470-D37D58AEBA2C}"/>
              </a:ext>
            </a:extLst>
          </p:cNvPr>
          <p:cNvSpPr>
            <a:spLocks xmlns:a="http://schemas.openxmlformats.org/drawingml/2006/main" noGrp="1"/>
          </p:cNvSpPr>
          <p:nvPr/>
        </p:nvSpPr>
        <p:spPr>
          <a:xfrm xmlns:a="http://schemas.openxmlformats.org/drawingml/2006/main" rot="5400000">
            <a:off x="89344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2F145CB0-5A4E-4F04-AD32-8CE16BA71E89}"/>
              </a:ext>
            </a:extLst>
          </p:cNvPr>
          <p:cNvSpPr>
            <a:spLocks xmlns:a="http://schemas.openxmlformats.org/drawingml/2006/main" noGrp="1"/>
          </p:cNvSpPr>
          <p:nvPr/>
        </p:nvSpPr>
        <p:spPr>
          <a:xfrm xmlns:a="http://schemas.openxmlformats.org/drawingml/2006/main" flipV="0">
            <a:off x="10287000" y="2667000"/>
            <a:ext cx="0" cy="8096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55" name="">
            <a:extLst xmlns:a="http://schemas.openxmlformats.org/drawingml/2006/main">
              <a:ext uri="{FF2B5EF4-FFF2-40B4-BE49-F238E27FC236}">
                <a16:creationId xmlns:a16="http://schemas.microsoft.com/office/drawing/2014/main" id="{685C9A47-D7E8-48A7-9F48-D6C2FD1E38DF}"/>
              </a:ext>
            </a:extLst>
          </p:cNvPr>
          <p:cNvSpPr>
            <a:spLocks xmlns:a="http://schemas.openxmlformats.org/drawingml/2006/main" noGrp="1"/>
          </p:cNvSpPr>
          <p:nvPr/>
        </p:nvSpPr>
        <p:spPr>
          <a:xfrm xmlns:a="http://schemas.openxmlformats.org/drawingml/2006/main" rot="10800000">
            <a:off x="10229850" y="342900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735FFF26-E2EA-484D-97C5-1370FC34E6AD}"/>
              </a:ext>
            </a:extLst>
          </p:cNvPr>
          <p:cNvSpPr>
            <a:spLocks xmlns:a="http://schemas.openxmlformats.org/drawingml/2006/main" noGrp="1"/>
          </p:cNvSpPr>
          <p:nvPr/>
        </p:nvSpPr>
        <p:spPr>
          <a:xfrm xmlns:a="http://schemas.openxmlformats.org/drawingml/2006/main">
            <a:off x="685800" y="5143500"/>
            <a:ext cx="10629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ENN confidence weight is an entropy heuristic. Calibration against correctness must be measured.</a:t>
            </a:r>
          </a:p>
        </p:txBody>
      </p:sp>
    </p:spTree>
    <p:extLst>
      <p:ext uri="{BB962C8B-B14F-4D97-AF65-F5344CB8AC3E}">
        <p14:creationId xmlns:p14="http://schemas.microsoft.com/office/powerpoint/2010/main" val="1561861580"/>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532A19A8-E73F-4168-93C9-BEF9543AB40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59C6828-F101-4304-9775-AF6AE8E96E57}"/>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Model &amp; System Architecture</a:t>
            </a:r>
          </a:p>
        </p:txBody>
      </p:sp>
      <p:sp>
        <p:nvSpPr>
          <p:cNvPr id="3" name="">
            <a:extLst xmlns:a="http://schemas.openxmlformats.org/drawingml/2006/main">
              <a:ext uri="{FF2B5EF4-FFF2-40B4-BE49-F238E27FC236}">
                <a16:creationId xmlns:a16="http://schemas.microsoft.com/office/drawing/2014/main" id="{6F3895CA-E97D-46D0-9079-2BCDBA7014A8}"/>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DoLa changes token scores. The Epinet samples token distributions. Voting combines answer strings.</a:t>
            </a:r>
          </a:p>
        </p:txBody>
      </p:sp>
      <p:sp>
        <p:nvSpPr>
          <p:cNvPr id="4" name="">
            <a:extLst xmlns:a="http://schemas.openxmlformats.org/drawingml/2006/main">
              <a:ext uri="{FF2B5EF4-FFF2-40B4-BE49-F238E27FC236}">
                <a16:creationId xmlns:a16="http://schemas.microsoft.com/office/drawing/2014/main" id="{E3A785F3-736E-4F64-8C74-F45B37F79B37}"/>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F94F00E2-49BF-4A5E-8D7B-6B0FDDAAB2F4}"/>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1FDDBFE4-CE75-4AF2-A8C3-2ECCBC982AF8}"/>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23F2122B-1D4E-4F41-AF56-AAD626F9B782}"/>
              </a:ext>
            </a:extLst>
          </p:cNvPr>
          <p:cNvSpPr>
            <a:spLocks xmlns:a="http://schemas.openxmlformats.org/drawingml/2006/main" noGrp="1"/>
          </p:cNvSpPr>
          <p:nvPr/>
        </p:nvSpPr>
        <p:spPr>
          <a:xfrm xmlns:a="http://schemas.openxmlformats.org/drawingml/2006/main">
            <a:off x="628650" y="13906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A  LAYER-CONTRASTIVE DECODING</a:t>
            </a:r>
          </a:p>
        </p:txBody>
      </p:sp>
      <p:sp>
        <p:nvSpPr>
          <p:cNvPr id="8" name="">
            <a:extLst xmlns:a="http://schemas.openxmlformats.org/drawingml/2006/main">
              <a:ext uri="{FF2B5EF4-FFF2-40B4-BE49-F238E27FC236}">
                <a16:creationId xmlns:a16="http://schemas.microsoft.com/office/drawing/2014/main" id="{2D822F58-20C8-4794-A70B-737F22612DE9}"/>
              </a:ext>
            </a:extLst>
          </p:cNvPr>
          <p:cNvSpPr>
            <a:spLocks xmlns:a="http://schemas.openxmlformats.org/drawingml/2006/main" noGrp="1"/>
          </p:cNvSpPr>
          <p:nvPr/>
        </p:nvSpPr>
        <p:spPr>
          <a:xfrm xmlns:a="http://schemas.openxmlformats.org/drawingml/2006/main">
            <a:off x="723900" y="2076450"/>
            <a:ext cx="2209800" cy="552450"/>
          </a:xfrm>
          <a:prstGeom xmlns:a="http://schemas.openxmlformats.org/drawingml/2006/main" prst="roundRect">
            <a:avLst>
              <a:gd name="adj" fmla="val 13793"/>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86CD6E0-3648-448A-8EA8-B3C7E52F831C}"/>
              </a:ext>
            </a:extLst>
          </p:cNvPr>
          <p:cNvSpPr>
            <a:spLocks xmlns:a="http://schemas.openxmlformats.org/drawingml/2006/main" noGrp="1"/>
          </p:cNvSpPr>
          <p:nvPr/>
        </p:nvSpPr>
        <p:spPr>
          <a:xfrm xmlns:a="http://schemas.openxmlformats.org/drawingml/2006/main">
            <a:off x="876300" y="215265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Mature block 21</a:t>
            </a:r>
          </a:p>
        </p:txBody>
      </p:sp>
      <p:sp>
        <p:nvSpPr>
          <p:cNvPr id="10" name="">
            <a:extLst xmlns:a="http://schemas.openxmlformats.org/drawingml/2006/main">
              <a:ext uri="{FF2B5EF4-FFF2-40B4-BE49-F238E27FC236}">
                <a16:creationId xmlns:a16="http://schemas.microsoft.com/office/drawing/2014/main" id="{129C6D9F-5EBA-41A7-8699-D68304A10044}"/>
              </a:ext>
            </a:extLst>
          </p:cNvPr>
          <p:cNvSpPr>
            <a:spLocks xmlns:a="http://schemas.openxmlformats.org/drawingml/2006/main" noGrp="1"/>
          </p:cNvSpPr>
          <p:nvPr/>
        </p:nvSpPr>
        <p:spPr>
          <a:xfrm xmlns:a="http://schemas.openxmlformats.org/drawingml/2006/main">
            <a:off x="876300" y="2390775"/>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Final-layer logits</a:t>
            </a:r>
          </a:p>
        </p:txBody>
      </p:sp>
      <p:sp>
        <p:nvSpPr>
          <p:cNvPr id="11" name="">
            <a:extLst xmlns:a="http://schemas.openxmlformats.org/drawingml/2006/main">
              <a:ext uri="{FF2B5EF4-FFF2-40B4-BE49-F238E27FC236}">
                <a16:creationId xmlns:a16="http://schemas.microsoft.com/office/drawing/2014/main" id="{FE072292-2A72-47D4-A195-3C1799F5F98E}"/>
              </a:ext>
            </a:extLst>
          </p:cNvPr>
          <p:cNvSpPr>
            <a:spLocks xmlns:a="http://schemas.openxmlformats.org/drawingml/2006/main" noGrp="1"/>
          </p:cNvSpPr>
          <p:nvPr/>
        </p:nvSpPr>
        <p:spPr>
          <a:xfrm xmlns:a="http://schemas.openxmlformats.org/drawingml/2006/main">
            <a:off x="723900" y="2857500"/>
            <a:ext cx="2209800" cy="552450"/>
          </a:xfrm>
          <a:prstGeom xmlns:a="http://schemas.openxmlformats.org/drawingml/2006/main" prst="roundRect">
            <a:avLst>
              <a:gd name="adj" fmla="val 13793"/>
            </a:avLst>
          </a:prstGeom>
          <a:solidFill xmlns:a="http://schemas.openxmlformats.org/drawingml/2006/main">
            <a:srgbClr val="148A8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C9D4610-62C5-457B-B2C4-D22B2B9DABE0}"/>
              </a:ext>
            </a:extLst>
          </p:cNvPr>
          <p:cNvSpPr>
            <a:spLocks xmlns:a="http://schemas.openxmlformats.org/drawingml/2006/main" noGrp="1"/>
          </p:cNvSpPr>
          <p:nvPr/>
        </p:nvSpPr>
        <p:spPr>
          <a:xfrm xmlns:a="http://schemas.openxmlformats.org/drawingml/2006/main">
            <a:off x="876300" y="293370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Candidate blocks</a:t>
            </a:r>
          </a:p>
        </p:txBody>
      </p:sp>
      <p:sp>
        <p:nvSpPr>
          <p:cNvPr id="13" name="">
            <a:extLst xmlns:a="http://schemas.openxmlformats.org/drawingml/2006/main">
              <a:ext uri="{FF2B5EF4-FFF2-40B4-BE49-F238E27FC236}">
                <a16:creationId xmlns:a16="http://schemas.microsoft.com/office/drawing/2014/main" id="{EA7A5752-B982-4723-BC28-D75E343D0FD7}"/>
              </a:ext>
            </a:extLst>
          </p:cNvPr>
          <p:cNvSpPr>
            <a:spLocks xmlns:a="http://schemas.openxmlformats.org/drawingml/2006/main" noGrp="1"/>
          </p:cNvSpPr>
          <p:nvPr/>
        </p:nvSpPr>
        <p:spPr>
          <a:xfrm xmlns:a="http://schemas.openxmlformats.org/drawingml/2006/main">
            <a:off x="876300" y="3171825"/>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0, 4, 8, 12, 16, 20</a:t>
            </a:r>
          </a:p>
        </p:txBody>
      </p:sp>
      <p:sp>
        <p:nvSpPr>
          <p:cNvPr id="14" name="">
            <a:extLst xmlns:a="http://schemas.openxmlformats.org/drawingml/2006/main">
              <a:ext uri="{FF2B5EF4-FFF2-40B4-BE49-F238E27FC236}">
                <a16:creationId xmlns:a16="http://schemas.microsoft.com/office/drawing/2014/main" id="{7F8146AF-EF66-43CE-97BD-6FCDA6C930CB}"/>
              </a:ext>
            </a:extLst>
          </p:cNvPr>
          <p:cNvSpPr>
            <a:spLocks xmlns:a="http://schemas.openxmlformats.org/drawingml/2006/main" noGrp="1"/>
          </p:cNvSpPr>
          <p:nvPr/>
        </p:nvSpPr>
        <p:spPr>
          <a:xfrm xmlns:a="http://schemas.openxmlformats.org/drawingml/2006/main">
            <a:off x="3219450" y="2190750"/>
            <a:ext cx="3257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JSD selects the premature block</a:t>
            </a:r>
          </a:p>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Then: mature logits − α × premature logits</a:t>
            </a:r>
          </a:p>
        </p:txBody>
      </p:sp>
      <p:sp>
        <p:nvSpPr>
          <p:cNvPr id="15" name="">
            <a:extLst xmlns:a="http://schemas.openxmlformats.org/drawingml/2006/main">
              <a:ext uri="{FF2B5EF4-FFF2-40B4-BE49-F238E27FC236}">
                <a16:creationId xmlns:a16="http://schemas.microsoft.com/office/drawing/2014/main" id="{CCDD5207-5A86-4AC6-8A81-0708C4F3B9F4}"/>
              </a:ext>
            </a:extLst>
          </p:cNvPr>
          <p:cNvSpPr>
            <a:spLocks xmlns:a="http://schemas.openxmlformats.org/drawingml/2006/main" noGrp="1"/>
          </p:cNvSpPr>
          <p:nvPr/>
        </p:nvSpPr>
        <p:spPr>
          <a:xfrm xmlns:a="http://schemas.openxmlformats.org/drawingml/2006/main" flipV="0">
            <a:off x="2933700" y="2352675"/>
            <a:ext cx="12382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16" name="">
            <a:extLst xmlns:a="http://schemas.openxmlformats.org/drawingml/2006/main">
              <a:ext uri="{FF2B5EF4-FFF2-40B4-BE49-F238E27FC236}">
                <a16:creationId xmlns:a16="http://schemas.microsoft.com/office/drawing/2014/main" id="{05AB9DCA-8F1A-4990-BE24-234301C2DFFB}"/>
              </a:ext>
            </a:extLst>
          </p:cNvPr>
          <p:cNvSpPr>
            <a:spLocks xmlns:a="http://schemas.openxmlformats.org/drawingml/2006/main" noGrp="1"/>
          </p:cNvSpPr>
          <p:nvPr/>
        </p:nvSpPr>
        <p:spPr>
          <a:xfrm xmlns:a="http://schemas.openxmlformats.org/drawingml/2006/main" rot="5400000">
            <a:off x="3009900" y="22955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BE8A117-16D6-45B8-9710-A396A077FFF7}"/>
              </a:ext>
            </a:extLst>
          </p:cNvPr>
          <p:cNvSpPr>
            <a:spLocks xmlns:a="http://schemas.openxmlformats.org/drawingml/2006/main" noGrp="1"/>
          </p:cNvSpPr>
          <p:nvPr/>
        </p:nvSpPr>
        <p:spPr>
          <a:xfrm xmlns:a="http://schemas.openxmlformats.org/drawingml/2006/main" flipV="0">
            <a:off x="2933700" y="3133725"/>
            <a:ext cx="12382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18" name="">
            <a:extLst xmlns:a="http://schemas.openxmlformats.org/drawingml/2006/main">
              <a:ext uri="{FF2B5EF4-FFF2-40B4-BE49-F238E27FC236}">
                <a16:creationId xmlns:a16="http://schemas.microsoft.com/office/drawing/2014/main" id="{214E3DD6-583B-4453-8522-5EA85DBF2E8C}"/>
              </a:ext>
            </a:extLst>
          </p:cNvPr>
          <p:cNvSpPr>
            <a:spLocks xmlns:a="http://schemas.openxmlformats.org/drawingml/2006/main" noGrp="1"/>
          </p:cNvSpPr>
          <p:nvPr/>
        </p:nvSpPr>
        <p:spPr>
          <a:xfrm xmlns:a="http://schemas.openxmlformats.org/drawingml/2006/main" rot="5400000">
            <a:off x="3009900" y="307657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05A3CF7-84E7-47E7-8F1E-1A77F8E40886}"/>
              </a:ext>
            </a:extLst>
          </p:cNvPr>
          <p:cNvSpPr>
            <a:spLocks xmlns:a="http://schemas.openxmlformats.org/drawingml/2006/main" noGrp="1"/>
          </p:cNvSpPr>
          <p:nvPr/>
        </p:nvSpPr>
        <p:spPr>
          <a:xfrm xmlns:a="http://schemas.openxmlformats.org/drawingml/2006/main">
            <a:off x="723900" y="3752850"/>
            <a:ext cx="5753100" cy="809625"/>
          </a:xfrm>
          <a:prstGeom xmlns:a="http://schemas.openxmlformats.org/drawingml/2006/main" prst="roundRect">
            <a:avLst>
              <a:gd name="adj" fmla="val 9412"/>
            </a:avLst>
          </a:prstGeom>
          <a:solidFill xmlns:a="http://schemas.openxmlformats.org/drawingml/2006/main">
            <a:srgbClr val="E8F0F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447F23F-D601-48D6-BF53-CCF811A776B3}"/>
              </a:ext>
            </a:extLst>
          </p:cNvPr>
          <p:cNvSpPr>
            <a:spLocks xmlns:a="http://schemas.openxmlformats.org/drawingml/2006/main" noGrp="1"/>
          </p:cNvSpPr>
          <p:nvPr/>
        </p:nvSpPr>
        <p:spPr>
          <a:xfrm xmlns:a="http://schemas.openxmlformats.org/drawingml/2006/main">
            <a:off x="914400" y="391477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53F"/>
                </a:solidFill>
                <a:latin typeface="Helvetica Neue"/>
                <a:ea typeface="Helvetica Neue"/>
                <a:cs typeface="Helvetica Neue"/>
              </a:defRPr>
            </a:defPPr>
          </a:lstStyle>
          <a:p xmlns:a="http://schemas.openxmlformats.org/drawingml/2006/main">
            <a:pPr algn="l">
              <a:lnSpc>
                <a:spcPct val="105000"/>
              </a:lnSpc>
              <a:buNone/>
              <a:defRPr sz="1350" b="1">
                <a:solidFill>
                  <a:srgbClr val="10253F"/>
                </a:solidFill>
                <a:latin typeface="Helvetica Neue"/>
                <a:ea typeface="Helvetica Neue"/>
                <a:cs typeface="Helvetica Neue"/>
              </a:defRPr>
            </a:pPr>
            <a:r>
              <a:rPr sz="1350" b="1">
                <a:solidFill>
                  <a:srgbClr val="10253F"/>
                </a:solidFill>
                <a:latin typeface="Helvetica Neue"/>
                <a:ea typeface="Helvetica Neue"/>
                <a:cs typeface="Helvetica Neue"/>
              </a:rPr>
              <a:t>Next-token distribution</a:t>
            </a:r>
          </a:p>
        </p:txBody>
      </p:sp>
      <p:sp>
        <p:nvSpPr>
          <p:cNvPr id="21" name="">
            <a:extLst xmlns:a="http://schemas.openxmlformats.org/drawingml/2006/main">
              <a:ext uri="{FF2B5EF4-FFF2-40B4-BE49-F238E27FC236}">
                <a16:creationId xmlns:a16="http://schemas.microsoft.com/office/drawing/2014/main" id="{58191F3F-6B94-40C7-B88B-9FB4243D79E1}"/>
              </a:ext>
            </a:extLst>
          </p:cNvPr>
          <p:cNvSpPr>
            <a:spLocks xmlns:a="http://schemas.openxmlformats.org/drawingml/2006/main" noGrp="1"/>
          </p:cNvSpPr>
          <p:nvPr/>
        </p:nvSpPr>
        <p:spPr>
          <a:xfrm xmlns:a="http://schemas.openxmlformats.org/drawingml/2006/main">
            <a:off x="914400" y="421957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softmax(contrastive logits)</a:t>
            </a:r>
          </a:p>
        </p:txBody>
      </p:sp>
      <p:sp>
        <p:nvSpPr>
          <p:cNvPr id="22" name="">
            <a:extLst xmlns:a="http://schemas.openxmlformats.org/drawingml/2006/main">
              <a:ext uri="{FF2B5EF4-FFF2-40B4-BE49-F238E27FC236}">
                <a16:creationId xmlns:a16="http://schemas.microsoft.com/office/drawing/2014/main" id="{D4213E87-3649-41A1-989C-B97ED2426C80}"/>
              </a:ext>
            </a:extLst>
          </p:cNvPr>
          <p:cNvSpPr>
            <a:spLocks xmlns:a="http://schemas.openxmlformats.org/drawingml/2006/main" noGrp="1"/>
          </p:cNvSpPr>
          <p:nvPr/>
        </p:nvSpPr>
        <p:spPr>
          <a:xfrm xmlns:a="http://schemas.openxmlformats.org/drawingml/2006/main" flipV="0">
            <a:off x="4895850" y="3209925"/>
            <a:ext cx="0" cy="39052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23" name="">
            <a:extLst xmlns:a="http://schemas.openxmlformats.org/drawingml/2006/main">
              <a:ext uri="{FF2B5EF4-FFF2-40B4-BE49-F238E27FC236}">
                <a16:creationId xmlns:a16="http://schemas.microsoft.com/office/drawing/2014/main" id="{4814E394-0C18-426C-8F06-FABB6078CD84}"/>
              </a:ext>
            </a:extLst>
          </p:cNvPr>
          <p:cNvSpPr>
            <a:spLocks xmlns:a="http://schemas.openxmlformats.org/drawingml/2006/main" noGrp="1"/>
          </p:cNvSpPr>
          <p:nvPr/>
        </p:nvSpPr>
        <p:spPr>
          <a:xfrm xmlns:a="http://schemas.openxmlformats.org/drawingml/2006/main" rot="10800000">
            <a:off x="4838700" y="35528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22FF2DA-4E61-4B34-AB1A-9CEEF8353817}"/>
              </a:ext>
            </a:extLst>
          </p:cNvPr>
          <p:cNvSpPr>
            <a:spLocks xmlns:a="http://schemas.openxmlformats.org/drawingml/2006/main" noGrp="1"/>
          </p:cNvSpPr>
          <p:nvPr/>
        </p:nvSpPr>
        <p:spPr>
          <a:xfrm xmlns:a="http://schemas.openxmlformats.org/drawingml/2006/main" flipV="0">
            <a:off x="6781800" y="1390650"/>
            <a:ext cx="0" cy="35433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1BCAB78F-12E2-40FE-BC96-C5564E64EFEA}"/>
              </a:ext>
            </a:extLst>
          </p:cNvPr>
          <p:cNvSpPr>
            <a:spLocks xmlns:a="http://schemas.openxmlformats.org/drawingml/2006/main" noGrp="1"/>
          </p:cNvSpPr>
          <p:nvPr/>
        </p:nvSpPr>
        <p:spPr>
          <a:xfrm xmlns:a="http://schemas.openxmlformats.org/drawingml/2006/main">
            <a:off x="7124700" y="13906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B  EPISTEMIC NEURAL NETWORK</a:t>
            </a:r>
          </a:p>
        </p:txBody>
      </p:sp>
      <p:sp>
        <p:nvSpPr>
          <p:cNvPr id="26" name="">
            <a:extLst xmlns:a="http://schemas.openxmlformats.org/drawingml/2006/main">
              <a:ext uri="{FF2B5EF4-FFF2-40B4-BE49-F238E27FC236}">
                <a16:creationId xmlns:a16="http://schemas.microsoft.com/office/drawing/2014/main" id="{2434E5D8-873A-4617-A2BF-307061A06716}"/>
              </a:ext>
            </a:extLst>
          </p:cNvPr>
          <p:cNvSpPr>
            <a:spLocks xmlns:a="http://schemas.openxmlformats.org/drawingml/2006/main" noGrp="1"/>
          </p:cNvSpPr>
          <p:nvPr/>
        </p:nvSpPr>
        <p:spPr>
          <a:xfrm xmlns:a="http://schemas.openxmlformats.org/drawingml/2006/main">
            <a:off x="7143750" y="1809750"/>
            <a:ext cx="390525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a:solidFill>
              <a:srgbClr val="D6DEE8"/>
            </a:solidFill>
            <a:prstDash val="solid"/>
          </a:ln>
        </p:spPr>
      </p:sp>
      <p:sp>
        <p:nvSpPr>
          <p:cNvPr id="27" name="">
            <a:extLst xmlns:a="http://schemas.openxmlformats.org/drawingml/2006/main">
              <a:ext uri="{FF2B5EF4-FFF2-40B4-BE49-F238E27FC236}">
                <a16:creationId xmlns:a16="http://schemas.microsoft.com/office/drawing/2014/main" id="{2907C9A0-9F98-4D72-9508-C180B565A4E9}"/>
              </a:ext>
            </a:extLst>
          </p:cNvPr>
          <p:cNvSpPr>
            <a:spLocks xmlns:a="http://schemas.openxmlformats.org/drawingml/2006/main" noGrp="1"/>
          </p:cNvSpPr>
          <p:nvPr/>
        </p:nvSpPr>
        <p:spPr>
          <a:xfrm xmlns:a="http://schemas.openxmlformats.org/drawingml/2006/main">
            <a:off x="7143750" y="1809750"/>
            <a:ext cx="47625" cy="63817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4F86372-8FF4-4516-9560-A0E9C6D62560}"/>
              </a:ext>
            </a:extLst>
          </p:cNvPr>
          <p:cNvSpPr>
            <a:spLocks xmlns:a="http://schemas.openxmlformats.org/drawingml/2006/main" noGrp="1"/>
          </p:cNvSpPr>
          <p:nvPr/>
        </p:nvSpPr>
        <p:spPr>
          <a:xfrm xmlns:a="http://schemas.openxmlformats.org/drawingml/2006/main">
            <a:off x="7315200" y="195262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Input feature x</a:t>
            </a:r>
          </a:p>
        </p:txBody>
      </p:sp>
      <p:sp>
        <p:nvSpPr>
          <p:cNvPr id="29" name="">
            <a:extLst xmlns:a="http://schemas.openxmlformats.org/drawingml/2006/main">
              <a:ext uri="{FF2B5EF4-FFF2-40B4-BE49-F238E27FC236}">
                <a16:creationId xmlns:a16="http://schemas.microsoft.com/office/drawing/2014/main" id="{D8843ECF-1C25-4CE9-ADC7-425402809FFC}"/>
              </a:ext>
            </a:extLst>
          </p:cNvPr>
          <p:cNvSpPr>
            <a:spLocks xmlns:a="http://schemas.openxmlformats.org/drawingml/2006/main" noGrp="1"/>
          </p:cNvSpPr>
          <p:nvPr/>
        </p:nvSpPr>
        <p:spPr>
          <a:xfrm xmlns:a="http://schemas.openxmlformats.org/drawingml/2006/main">
            <a:off x="7315200" y="2266950"/>
            <a:ext cx="35814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6689"/>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Concatenate mature + premature (2 × 2,048)</a:t>
            </a:r>
          </a:p>
        </p:txBody>
      </p:sp>
      <p:sp>
        <p:nvSpPr>
          <p:cNvPr id="30" name="">
            <a:extLst xmlns:a="http://schemas.openxmlformats.org/drawingml/2006/main">
              <a:ext uri="{FF2B5EF4-FFF2-40B4-BE49-F238E27FC236}">
                <a16:creationId xmlns:a16="http://schemas.microsoft.com/office/drawing/2014/main" id="{26B3940C-42EB-405E-B399-08FEE2E6B997}"/>
              </a:ext>
            </a:extLst>
          </p:cNvPr>
          <p:cNvSpPr>
            <a:spLocks xmlns:a="http://schemas.openxmlformats.org/drawingml/2006/main" noGrp="1"/>
          </p:cNvSpPr>
          <p:nvPr/>
        </p:nvSpPr>
        <p:spPr>
          <a:xfrm xmlns:a="http://schemas.openxmlformats.org/drawingml/2006/main" flipV="0">
            <a:off x="9029700" y="2447925"/>
            <a:ext cx="66675" cy="21907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31" name="">
            <a:extLst xmlns:a="http://schemas.openxmlformats.org/drawingml/2006/main">
              <a:ext uri="{FF2B5EF4-FFF2-40B4-BE49-F238E27FC236}">
                <a16:creationId xmlns:a16="http://schemas.microsoft.com/office/drawing/2014/main" id="{118AAC1B-D9E6-40E2-8B6E-F11D171F6502}"/>
              </a:ext>
            </a:extLst>
          </p:cNvPr>
          <p:cNvSpPr>
            <a:spLocks xmlns:a="http://schemas.openxmlformats.org/drawingml/2006/main" noGrp="1"/>
          </p:cNvSpPr>
          <p:nvPr/>
        </p:nvSpPr>
        <p:spPr>
          <a:xfrm xmlns:a="http://schemas.openxmlformats.org/drawingml/2006/main" rot="5400000">
            <a:off x="8982075" y="260985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616AA60-F9E2-40E0-BAB7-17B118A5F415}"/>
              </a:ext>
            </a:extLst>
          </p:cNvPr>
          <p:cNvSpPr>
            <a:spLocks xmlns:a="http://schemas.openxmlformats.org/drawingml/2006/main" noGrp="1"/>
          </p:cNvSpPr>
          <p:nvPr/>
        </p:nvSpPr>
        <p:spPr>
          <a:xfrm xmlns:a="http://schemas.openxmlformats.org/drawingml/2006/main">
            <a:off x="714375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EFAA7ED7-C33E-457C-B200-A45AFDF2C4D2}"/>
              </a:ext>
            </a:extLst>
          </p:cNvPr>
          <p:cNvSpPr>
            <a:spLocks xmlns:a="http://schemas.openxmlformats.org/drawingml/2006/main" noGrp="1"/>
          </p:cNvSpPr>
          <p:nvPr/>
        </p:nvSpPr>
        <p:spPr>
          <a:xfrm xmlns:a="http://schemas.openxmlformats.org/drawingml/2006/main">
            <a:off x="7143750" y="2714625"/>
            <a:ext cx="47625" cy="895350"/>
          </a:xfrm>
          <a:prstGeom xmlns:a="http://schemas.openxmlformats.org/drawingml/2006/main" prst="rect">
            <a:avLst/>
          </a:prstGeom>
          <a:solidFill xmlns:a="http://schemas.openxmlformats.org/drawingml/2006/main">
            <a:srgbClr val="53647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EDA053D-A529-4537-86E8-B9B49DFA38BB}"/>
              </a:ext>
            </a:extLst>
          </p:cNvPr>
          <p:cNvSpPr>
            <a:spLocks xmlns:a="http://schemas.openxmlformats.org/drawingml/2006/main" noGrp="1"/>
          </p:cNvSpPr>
          <p:nvPr/>
        </p:nvSpPr>
        <p:spPr>
          <a:xfrm xmlns:a="http://schemas.openxmlformats.org/drawingml/2006/main">
            <a:off x="731520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Frozen prior</a:t>
            </a:r>
          </a:p>
        </p:txBody>
      </p:sp>
      <p:sp>
        <p:nvSpPr>
          <p:cNvPr id="35" name="">
            <a:extLst xmlns:a="http://schemas.openxmlformats.org/drawingml/2006/main">
              <a:ext uri="{FF2B5EF4-FFF2-40B4-BE49-F238E27FC236}">
                <a16:creationId xmlns:a16="http://schemas.microsoft.com/office/drawing/2014/main" id="{BAF9AC58-8292-4420-BABB-EFD2B4A76C89}"/>
              </a:ext>
            </a:extLst>
          </p:cNvPr>
          <p:cNvSpPr>
            <a:spLocks xmlns:a="http://schemas.openxmlformats.org/drawingml/2006/main" noGrp="1"/>
          </p:cNvSpPr>
          <p:nvPr/>
        </p:nvSpPr>
        <p:spPr>
          <a:xfrm xmlns:a="http://schemas.openxmlformats.org/drawingml/2006/main">
            <a:off x="731520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Random indexed MLP</a:t>
            </a:r>
          </a:p>
        </p:txBody>
      </p:sp>
      <p:sp>
        <p:nvSpPr>
          <p:cNvPr id="36" name="">
            <a:extLst xmlns:a="http://schemas.openxmlformats.org/drawingml/2006/main">
              <a:ext uri="{FF2B5EF4-FFF2-40B4-BE49-F238E27FC236}">
                <a16:creationId xmlns:a16="http://schemas.microsoft.com/office/drawing/2014/main" id="{66801D5D-B3F6-4D62-BC25-D92CE51DDDD8}"/>
              </a:ext>
            </a:extLst>
          </p:cNvPr>
          <p:cNvSpPr>
            <a:spLocks xmlns:a="http://schemas.openxmlformats.org/drawingml/2006/main" noGrp="1"/>
          </p:cNvSpPr>
          <p:nvPr/>
        </p:nvSpPr>
        <p:spPr>
          <a:xfrm xmlns:a="http://schemas.openxmlformats.org/drawingml/2006/main">
            <a:off x="918210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67D0A73F-F3D0-4E6E-AC86-C1F2424AFAC1}"/>
              </a:ext>
            </a:extLst>
          </p:cNvPr>
          <p:cNvSpPr>
            <a:spLocks xmlns:a="http://schemas.openxmlformats.org/drawingml/2006/main" noGrp="1"/>
          </p:cNvSpPr>
          <p:nvPr/>
        </p:nvSpPr>
        <p:spPr>
          <a:xfrm xmlns:a="http://schemas.openxmlformats.org/drawingml/2006/main">
            <a:off x="9182100" y="2714625"/>
            <a:ext cx="47625" cy="8953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F639046-4A0B-4B37-A8B3-6A17145F8470}"/>
              </a:ext>
            </a:extLst>
          </p:cNvPr>
          <p:cNvSpPr>
            <a:spLocks xmlns:a="http://schemas.openxmlformats.org/drawingml/2006/main" noGrp="1"/>
          </p:cNvSpPr>
          <p:nvPr/>
        </p:nvSpPr>
        <p:spPr>
          <a:xfrm xmlns:a="http://schemas.openxmlformats.org/drawingml/2006/main">
            <a:off x="935355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Learnable branch</a:t>
            </a:r>
          </a:p>
        </p:txBody>
      </p:sp>
      <p:sp>
        <p:nvSpPr>
          <p:cNvPr id="39" name="">
            <a:extLst xmlns:a="http://schemas.openxmlformats.org/drawingml/2006/main">
              <a:ext uri="{FF2B5EF4-FFF2-40B4-BE49-F238E27FC236}">
                <a16:creationId xmlns:a16="http://schemas.microsoft.com/office/drawing/2014/main" id="{49E55BAB-44BA-4CC1-9FD8-2BBBA321B1B7}"/>
              </a:ext>
            </a:extLst>
          </p:cNvPr>
          <p:cNvSpPr>
            <a:spLocks xmlns:a="http://schemas.openxmlformats.org/drawingml/2006/main" noGrp="1"/>
          </p:cNvSpPr>
          <p:nvPr/>
        </p:nvSpPr>
        <p:spPr>
          <a:xfrm xmlns:a="http://schemas.openxmlformats.org/drawingml/2006/main">
            <a:off x="935355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Indexed MLP, width 512</a:t>
            </a:r>
          </a:p>
        </p:txBody>
      </p:sp>
      <p:sp>
        <p:nvSpPr>
          <p:cNvPr id="40" name="">
            <a:extLst xmlns:a="http://schemas.openxmlformats.org/drawingml/2006/main">
              <a:ext uri="{FF2B5EF4-FFF2-40B4-BE49-F238E27FC236}">
                <a16:creationId xmlns:a16="http://schemas.microsoft.com/office/drawing/2014/main" id="{87A8DB36-EA93-4FCE-9CFC-0411152C3A22}"/>
              </a:ext>
            </a:extLst>
          </p:cNvPr>
          <p:cNvSpPr>
            <a:spLocks xmlns:a="http://schemas.openxmlformats.org/drawingml/2006/main" noGrp="1"/>
          </p:cNvSpPr>
          <p:nvPr/>
        </p:nvSpPr>
        <p:spPr>
          <a:xfrm xmlns:a="http://schemas.openxmlformats.org/drawingml/2006/main">
            <a:off x="9077325" y="3648075"/>
            <a:ext cx="2019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a:solidFill>
                  <a:srgbClr val="536477"/>
                </a:solidFill>
                <a:latin typeface="Helvetica Neue"/>
                <a:ea typeface="Helvetica Neue"/>
                <a:cs typeface="Helvetica Neue"/>
              </a:defRPr>
            </a:defPPr>
          </a:lstStyle>
          <a:p xmlns:a="http://schemas.openxmlformats.org/drawingml/2006/main">
            <a:pPr algn="ctr">
              <a:lnSpc>
                <a:spcPct val="105000"/>
              </a:lnSpc>
              <a:buNone/>
              <a:defRPr sz="975" b="0">
                <a:solidFill>
                  <a:srgbClr val="536477"/>
                </a:solidFill>
                <a:latin typeface="Helvetica Neue"/>
                <a:ea typeface="Helvetica Neue"/>
                <a:cs typeface="Helvetica Neue"/>
              </a:defRPr>
            </a:pPr>
            <a:r>
              <a:rPr sz="975" b="0">
                <a:solidFill>
                  <a:srgbClr val="536477"/>
                </a:solidFill>
                <a:latin typeface="Helvetica Neue"/>
                <a:ea typeface="Helvetica Neue"/>
                <a:cs typeface="Helvetica Neue"/>
              </a:rPr>
              <a:t>same sampled index z</a:t>
            </a:r>
          </a:p>
        </p:txBody>
      </p:sp>
      <p:sp>
        <p:nvSpPr>
          <p:cNvPr id="41" name="">
            <a:extLst xmlns:a="http://schemas.openxmlformats.org/drawingml/2006/main">
              <a:ext uri="{FF2B5EF4-FFF2-40B4-BE49-F238E27FC236}">
                <a16:creationId xmlns:a16="http://schemas.microsoft.com/office/drawing/2014/main" id="{F03B3812-2A42-4CDA-BE1F-8F0958F00FAF}"/>
              </a:ext>
            </a:extLst>
          </p:cNvPr>
          <p:cNvSpPr>
            <a:spLocks xmlns:a="http://schemas.openxmlformats.org/drawingml/2006/main" noGrp="1"/>
          </p:cNvSpPr>
          <p:nvPr/>
        </p:nvSpPr>
        <p:spPr>
          <a:xfrm xmlns:a="http://schemas.openxmlformats.org/drawingml/2006/main">
            <a:off x="7143750" y="4000500"/>
            <a:ext cx="39052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42" name="">
            <a:extLst xmlns:a="http://schemas.openxmlformats.org/drawingml/2006/main">
              <a:ext uri="{FF2B5EF4-FFF2-40B4-BE49-F238E27FC236}">
                <a16:creationId xmlns:a16="http://schemas.microsoft.com/office/drawing/2014/main" id="{9C81A763-8926-4848-8E4A-F909E0A0BFB6}"/>
              </a:ext>
            </a:extLst>
          </p:cNvPr>
          <p:cNvSpPr>
            <a:spLocks xmlns:a="http://schemas.openxmlformats.org/drawingml/2006/main" noGrp="1"/>
          </p:cNvSpPr>
          <p:nvPr/>
        </p:nvSpPr>
        <p:spPr>
          <a:xfrm xmlns:a="http://schemas.openxmlformats.org/drawingml/2006/main">
            <a:off x="7143750" y="4000500"/>
            <a:ext cx="47625" cy="68580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7F37F566-1220-4228-8389-1351F18FB0AE}"/>
              </a:ext>
            </a:extLst>
          </p:cNvPr>
          <p:cNvSpPr>
            <a:spLocks xmlns:a="http://schemas.openxmlformats.org/drawingml/2006/main" noGrp="1"/>
          </p:cNvSpPr>
          <p:nvPr/>
        </p:nvSpPr>
        <p:spPr>
          <a:xfrm xmlns:a="http://schemas.openxmlformats.org/drawingml/2006/main">
            <a:off x="7315200" y="414337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Combined correction → vocabulary logits</a:t>
            </a:r>
          </a:p>
        </p:txBody>
      </p:sp>
      <p:sp>
        <p:nvSpPr>
          <p:cNvPr id="44" name="">
            <a:extLst xmlns:a="http://schemas.openxmlformats.org/drawingml/2006/main">
              <a:ext uri="{FF2B5EF4-FFF2-40B4-BE49-F238E27FC236}">
                <a16:creationId xmlns:a16="http://schemas.microsoft.com/office/drawing/2014/main" id="{2E9E5FFB-02E1-41EC-8E1F-134EBF06A13E}"/>
              </a:ext>
            </a:extLst>
          </p:cNvPr>
          <p:cNvSpPr>
            <a:spLocks xmlns:a="http://schemas.openxmlformats.org/drawingml/2006/main" noGrp="1"/>
          </p:cNvSpPr>
          <p:nvPr/>
        </p:nvSpPr>
        <p:spPr>
          <a:xfrm xmlns:a="http://schemas.openxmlformats.org/drawingml/2006/main">
            <a:off x="7315200" y="4457700"/>
            <a:ext cx="3581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034"/>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K = 3 epistemic samples by default</a:t>
            </a:r>
          </a:p>
        </p:txBody>
      </p:sp>
      <p:sp>
        <p:nvSpPr>
          <p:cNvPr id="45" name="">
            <a:extLst xmlns:a="http://schemas.openxmlformats.org/drawingml/2006/main">
              <a:ext uri="{FF2B5EF4-FFF2-40B4-BE49-F238E27FC236}">
                <a16:creationId xmlns:a16="http://schemas.microsoft.com/office/drawing/2014/main" id="{DAD2D5FF-378F-40EB-9EBF-230F7C121A1A}"/>
              </a:ext>
            </a:extLst>
          </p:cNvPr>
          <p:cNvSpPr>
            <a:spLocks xmlns:a="http://schemas.openxmlformats.org/drawingml/2006/main" noGrp="1"/>
          </p:cNvSpPr>
          <p:nvPr/>
        </p:nvSpPr>
        <p:spPr>
          <a:xfrm xmlns:a="http://schemas.openxmlformats.org/drawingml/2006/main" flipV="0">
            <a:off x="8115300" y="3609975"/>
            <a:ext cx="0" cy="238125"/>
          </a:xfrm>
          <a:prstGeom xmlns:a="http://schemas.openxmlformats.org/drawingml/2006/main" prst="line">
            <a:avLst/>
          </a:prstGeom>
          <a:noFill xmlns:a="http://schemas.openxmlformats.org/drawingml/2006/main"/>
          <a:ln xmlns:a="http://schemas.openxmlformats.org/drawingml/2006/main" w="19050">
            <a:solidFill>
              <a:srgbClr val="536477"/>
            </a:solidFill>
            <a:prstDash val="solid"/>
          </a:ln>
        </p:spPr>
      </p:sp>
      <p:sp>
        <p:nvSpPr>
          <p:cNvPr id="46" name="">
            <a:extLst xmlns:a="http://schemas.openxmlformats.org/drawingml/2006/main">
              <a:ext uri="{FF2B5EF4-FFF2-40B4-BE49-F238E27FC236}">
                <a16:creationId xmlns:a16="http://schemas.microsoft.com/office/drawing/2014/main" id="{827250B0-B81D-43DB-896E-A27ABC02D653}"/>
              </a:ext>
            </a:extLst>
          </p:cNvPr>
          <p:cNvSpPr>
            <a:spLocks xmlns:a="http://schemas.openxmlformats.org/drawingml/2006/main" noGrp="1"/>
          </p:cNvSpPr>
          <p:nvPr/>
        </p:nvSpPr>
        <p:spPr>
          <a:xfrm xmlns:a="http://schemas.openxmlformats.org/drawingml/2006/main" rot="10800000">
            <a:off x="8058150" y="3800475"/>
            <a:ext cx="114300" cy="114300"/>
          </a:xfrm>
          <a:prstGeom xmlns:a="http://schemas.openxmlformats.org/drawingml/2006/main" prst="triangle">
            <a:avLst/>
          </a:prstGeom>
          <a:solidFill xmlns:a="http://schemas.openxmlformats.org/drawingml/2006/main">
            <a:srgbClr val="536477"/>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3AAD9C31-EFBD-47F8-A66F-DF651FFC0A57}"/>
              </a:ext>
            </a:extLst>
          </p:cNvPr>
          <p:cNvSpPr>
            <a:spLocks xmlns:a="http://schemas.openxmlformats.org/drawingml/2006/main" noGrp="1"/>
          </p:cNvSpPr>
          <p:nvPr/>
        </p:nvSpPr>
        <p:spPr>
          <a:xfrm xmlns:a="http://schemas.openxmlformats.org/drawingml/2006/main" flipV="0">
            <a:off x="10096500" y="3609975"/>
            <a:ext cx="0" cy="2381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48" name="">
            <a:extLst xmlns:a="http://schemas.openxmlformats.org/drawingml/2006/main">
              <a:ext uri="{FF2B5EF4-FFF2-40B4-BE49-F238E27FC236}">
                <a16:creationId xmlns:a16="http://schemas.microsoft.com/office/drawing/2014/main" id="{31635EB2-6269-4A32-9268-0B1BA805A937}"/>
              </a:ext>
            </a:extLst>
          </p:cNvPr>
          <p:cNvSpPr>
            <a:spLocks xmlns:a="http://schemas.openxmlformats.org/drawingml/2006/main" noGrp="1"/>
          </p:cNvSpPr>
          <p:nvPr/>
        </p:nvSpPr>
        <p:spPr>
          <a:xfrm xmlns:a="http://schemas.openxmlformats.org/drawingml/2006/main" rot="10800000">
            <a:off x="10039350" y="380047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E76D4D50-51FD-455F-B89F-36E99B1EA05C}"/>
              </a:ext>
            </a:extLst>
          </p:cNvPr>
          <p:cNvSpPr>
            <a:spLocks xmlns:a="http://schemas.openxmlformats.org/drawingml/2006/main" noGrp="1"/>
          </p:cNvSpPr>
          <p:nvPr/>
        </p:nvSpPr>
        <p:spPr>
          <a:xfrm xmlns:a="http://schemas.openxmlformats.org/drawingml/2006/main">
            <a:off x="7143750" y="5105400"/>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Output: predictive entropy and an epistemic proxy. These describe token distributions, not answer correctness directly. Audit record: 8.66M trainable Epinet parameters.</a:t>
            </a:r>
          </a:p>
        </p:txBody>
      </p:sp>
    </p:spTree>
    <p:extLst>
      <p:ext uri="{BB962C8B-B14F-4D97-AF65-F5344CB8AC3E}">
        <p14:creationId xmlns:p14="http://schemas.microsoft.com/office/powerpoint/2010/main" val="2080946268"/>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E5A77F1-7F4E-415B-91AB-7ACCD68CE50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0BAD53F-9AA6-4148-AB50-3A4FC93B643F}"/>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Implementation &amp; Experimental Setup</a:t>
            </a:r>
          </a:p>
        </p:txBody>
      </p:sp>
      <p:sp>
        <p:nvSpPr>
          <p:cNvPr id="3" name="">
            <a:extLst xmlns:a="http://schemas.openxmlformats.org/drawingml/2006/main">
              <a:ext uri="{FF2B5EF4-FFF2-40B4-BE49-F238E27FC236}">
                <a16:creationId xmlns:a16="http://schemas.microsoft.com/office/drawing/2014/main" id="{1FD78410-8A64-463B-B2D3-5E773265E995}"/>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Configured defaults and available artifacts are separated from completed experimental evidence.</a:t>
            </a:r>
          </a:p>
        </p:txBody>
      </p:sp>
      <p:sp>
        <p:nvSpPr>
          <p:cNvPr id="4" name="">
            <a:extLst xmlns:a="http://schemas.openxmlformats.org/drawingml/2006/main">
              <a:ext uri="{FF2B5EF4-FFF2-40B4-BE49-F238E27FC236}">
                <a16:creationId xmlns:a16="http://schemas.microsoft.com/office/drawing/2014/main" id="{CE45C887-B9A0-40F7-A054-07947A7EEEDC}"/>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98494E93-925B-4A75-85C9-D86229EE52C1}"/>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600C315F-0D38-4D66-A3F9-55EDBD1AFC94}"/>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86D27D2F-CA0A-4AE9-BE8E-08B129D665F5}"/>
              </a:ext>
            </a:extLst>
          </p:cNvPr>
          <p:cNvSpPr>
            <a:spLocks xmlns:a="http://schemas.openxmlformats.org/drawingml/2006/main" noGrp="1"/>
          </p:cNvSpPr>
          <p:nvPr/>
        </p:nvSpPr>
        <p:spPr>
          <a:xfrm xmlns:a="http://schemas.openxmlformats.org/drawingml/2006/main">
            <a:off x="685800" y="1428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SOFTWARE STACK</a:t>
            </a:r>
          </a:p>
        </p:txBody>
      </p:sp>
      <p:sp>
        <p:nvSpPr>
          <p:cNvPr id="8" name="">
            <a:extLst xmlns:a="http://schemas.openxmlformats.org/drawingml/2006/main">
              <a:ext uri="{FF2B5EF4-FFF2-40B4-BE49-F238E27FC236}">
                <a16:creationId xmlns:a16="http://schemas.microsoft.com/office/drawing/2014/main" id="{CA1B3778-8507-4517-9CA6-E8DB86D5D1FC}"/>
              </a:ext>
            </a:extLst>
          </p:cNvPr>
          <p:cNvSpPr>
            <a:spLocks xmlns:a="http://schemas.openxmlformats.org/drawingml/2006/main" noGrp="1"/>
          </p:cNvSpPr>
          <p:nvPr/>
        </p:nvSpPr>
        <p:spPr>
          <a:xfrm xmlns:a="http://schemas.openxmlformats.org/drawingml/2006/main">
            <a:off x="685800" y="17145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Python  ·  PyTorch  ·  Transformers</a:t>
            </a:r>
          </a:p>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Datasets  ·  NumPy</a:t>
            </a:r>
          </a:p>
        </p:txBody>
      </p:sp>
      <p:sp>
        <p:nvSpPr>
          <p:cNvPr id="9" name="">
            <a:extLst xmlns:a="http://schemas.openxmlformats.org/drawingml/2006/main">
              <a:ext uri="{FF2B5EF4-FFF2-40B4-BE49-F238E27FC236}">
                <a16:creationId xmlns:a16="http://schemas.microsoft.com/office/drawing/2014/main" id="{8B3C02AC-764B-49EE-8536-6CAC7A4BFC50}"/>
              </a:ext>
            </a:extLst>
          </p:cNvPr>
          <p:cNvSpPr>
            <a:spLocks xmlns:a="http://schemas.openxmlformats.org/drawingml/2006/main" noGrp="1"/>
          </p:cNvSpPr>
          <p:nvPr/>
        </p:nvSpPr>
        <p:spPr>
          <a:xfrm xmlns:a="http://schemas.openxmlformats.org/drawingml/2006/main">
            <a:off x="685800" y="27241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DATA ARTIFACTS</a:t>
            </a:r>
          </a:p>
        </p:txBody>
      </p:sp>
      <p:sp>
        <p:nvSpPr>
          <p:cNvPr id="10" name="">
            <a:extLst xmlns:a="http://schemas.openxmlformats.org/drawingml/2006/main">
              <a:ext uri="{FF2B5EF4-FFF2-40B4-BE49-F238E27FC236}">
                <a16:creationId xmlns:a16="http://schemas.microsoft.com/office/drawing/2014/main" id="{12652E61-E254-4D4F-A027-A41191C1101B}"/>
              </a:ext>
            </a:extLst>
          </p:cNvPr>
          <p:cNvSpPr>
            <a:spLocks xmlns:a="http://schemas.openxmlformats.org/drawingml/2006/main" noGrp="1"/>
          </p:cNvSpPr>
          <p:nvPr/>
        </p:nvSpPr>
        <p:spPr>
          <a:xfrm xmlns:a="http://schemas.openxmlformats.org/drawingml/2006/main">
            <a:off x="685800" y="30289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C4 feature cache</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1,841 token examples  /  20 document IDs</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1,637  /  validation 204</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2,048 dimensions  /  max length 128</a:t>
            </a:r>
          </a:p>
        </p:txBody>
      </p:sp>
      <p:sp>
        <p:nvSpPr>
          <p:cNvPr id="11" name="">
            <a:extLst xmlns:a="http://schemas.openxmlformats.org/drawingml/2006/main">
              <a:ext uri="{FF2B5EF4-FFF2-40B4-BE49-F238E27FC236}">
                <a16:creationId xmlns:a16="http://schemas.microsoft.com/office/drawing/2014/main" id="{67621C51-A77E-41F0-ADEB-C45E08D1A05D}"/>
              </a:ext>
            </a:extLst>
          </p:cNvPr>
          <p:cNvSpPr>
            <a:spLocks xmlns:a="http://schemas.openxmlformats.org/drawingml/2006/main" noGrp="1"/>
          </p:cNvSpPr>
          <p:nvPr/>
        </p:nvSpPr>
        <p:spPr>
          <a:xfrm xmlns:a="http://schemas.openxmlformats.org/drawingml/2006/main">
            <a:off x="685800" y="42672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36477"/>
                </a:solidFill>
                <a:latin typeface="Helvetica Neue"/>
                <a:ea typeface="Helvetica Neue"/>
                <a:cs typeface="Helvetica Neue"/>
              </a:defRPr>
            </a:defPPr>
          </a:lstStyle>
          <a:p xmlns:a="http://schemas.openxmlformats.org/drawingml/2006/main">
            <a:pPr algn="l">
              <a:lnSpc>
                <a:spcPct val="105000"/>
              </a:lnSpc>
              <a:buNone/>
              <a:defRPr sz="1200" b="1">
                <a:solidFill>
                  <a:srgbClr val="536477"/>
                </a:solidFill>
                <a:latin typeface="Helvetica Neue"/>
                <a:ea typeface="Helvetica Neue"/>
                <a:cs typeface="Helvetica Neue"/>
              </a:defRPr>
            </a:pPr>
            <a:r>
              <a:rPr sz="1200" b="1">
                <a:solidFill>
                  <a:srgbClr val="536477"/>
                </a:solidFill>
                <a:latin typeface="Helvetica Neue"/>
                <a:ea typeface="Helvetica Neue"/>
                <a:cs typeface="Helvetica Neue"/>
              </a:rPr>
              <a:t>Local QA file: 10 labeled questions</a:t>
            </a:r>
          </a:p>
        </p:txBody>
      </p:sp>
      <p:sp>
        <p:nvSpPr>
          <p:cNvPr id="12" name="">
            <a:extLst xmlns:a="http://schemas.openxmlformats.org/drawingml/2006/main">
              <a:ext uri="{FF2B5EF4-FFF2-40B4-BE49-F238E27FC236}">
                <a16:creationId xmlns:a16="http://schemas.microsoft.com/office/drawing/2014/main" id="{9920416B-2880-4F0D-94A1-1597E8090A80}"/>
              </a:ext>
            </a:extLst>
          </p:cNvPr>
          <p:cNvSpPr>
            <a:spLocks xmlns:a="http://schemas.openxmlformats.org/drawingml/2006/main" noGrp="1"/>
          </p:cNvSpPr>
          <p:nvPr/>
        </p:nvSpPr>
        <p:spPr>
          <a:xfrm xmlns:a="http://schemas.openxmlformats.org/drawingml/2006/main">
            <a:off x="6496050" y="1428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ENN TRAINING CONFIGURATION</a:t>
            </a:r>
          </a:p>
        </p:txBody>
      </p:sp>
      <p:sp>
        <p:nvSpPr>
          <p:cNvPr id="13" name="">
            <a:extLst xmlns:a="http://schemas.openxmlformats.org/drawingml/2006/main">
              <a:ext uri="{FF2B5EF4-FFF2-40B4-BE49-F238E27FC236}">
                <a16:creationId xmlns:a16="http://schemas.microsoft.com/office/drawing/2014/main" id="{155248FF-14B0-4F92-94D5-AC92C7C8BAC2}"/>
              </a:ext>
            </a:extLst>
          </p:cNvPr>
          <p:cNvSpPr>
            <a:spLocks xmlns:a="http://schemas.openxmlformats.org/drawingml/2006/main" noGrp="1"/>
          </p:cNvSpPr>
          <p:nvPr/>
        </p:nvSpPr>
        <p:spPr>
          <a:xfrm xmlns:a="http://schemas.openxmlformats.org/drawingml/2006/main">
            <a:off x="6496050" y="1714500"/>
            <a:ext cx="5010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3283F"/>
                </a:solidFill>
                <a:latin typeface="Helvetica Neue"/>
                <a:ea typeface="Helvetica Neue"/>
                <a:cs typeface="Helvetica Neue"/>
              </a:defRPr>
            </a:defPPr>
          </a:lstStyle>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AdamW  /  learning rate 1 × 10⁻⁴</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Batch size 1  /  2 epochs  /  3 z-samples</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Cross-entropy  /  weight decay 1 × 10⁻⁴</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Final train loss 2.3298  /  validation 2.5698</a:t>
            </a:r>
          </a:p>
        </p:txBody>
      </p:sp>
      <p:sp>
        <p:nvSpPr>
          <p:cNvPr id="14" name="">
            <a:extLst xmlns:a="http://schemas.openxmlformats.org/drawingml/2006/main">
              <a:ext uri="{FF2B5EF4-FFF2-40B4-BE49-F238E27FC236}">
                <a16:creationId xmlns:a16="http://schemas.microsoft.com/office/drawing/2014/main" id="{0FE762B2-3BC4-4225-B566-95A56CF48DF6}"/>
              </a:ext>
            </a:extLst>
          </p:cNvPr>
          <p:cNvSpPr>
            <a:spLocks xmlns:a="http://schemas.openxmlformats.org/drawingml/2006/main" noGrp="1"/>
          </p:cNvSpPr>
          <p:nvPr/>
        </p:nvSpPr>
        <p:spPr>
          <a:xfrm xmlns:a="http://schemas.openxmlformats.org/drawingml/2006/main">
            <a:off x="6496050" y="2952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EVALUATION AND AVAILABILITY</a:t>
            </a:r>
          </a:p>
        </p:txBody>
      </p:sp>
      <p:sp>
        <p:nvSpPr>
          <p:cNvPr id="15" name="">
            <a:extLst xmlns:a="http://schemas.openxmlformats.org/drawingml/2006/main">
              <a:ext uri="{FF2B5EF4-FFF2-40B4-BE49-F238E27FC236}">
                <a16:creationId xmlns:a16="http://schemas.microsoft.com/office/drawing/2014/main" id="{ACD7FE5D-0941-488A-9BA2-F971D24394CF}"/>
              </a:ext>
            </a:extLst>
          </p:cNvPr>
          <p:cNvSpPr>
            <a:spLocks xmlns:a="http://schemas.openxmlformats.org/drawingml/2006/main" noGrp="1"/>
          </p:cNvSpPr>
          <p:nvPr/>
        </p:nvSpPr>
        <p:spPr>
          <a:xfrm xmlns:a="http://schemas.openxmlformats.org/drawingml/2006/main">
            <a:off x="6496050" y="3257550"/>
            <a:ext cx="5010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13283F"/>
                </a:solidFill>
                <a:latin typeface="Helvetica Neue"/>
                <a:ea typeface="Helvetica Neue"/>
                <a:cs typeface="Helvetica Neue"/>
              </a:defRPr>
            </a:defPPr>
          </a:lstStyle>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TruthfulQA MC1/MC2 and C4 token metrics are saved.</a:t>
            </a:r>
          </a:p>
          <a:p xmlns:a="http://schemas.openxmlformats.org/drawingml/2006/main">
            <a:r>
              <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ENN checkpoint: checkpoints/enn_best.pt</a:t>
            </a:r>
          </a:p>
          <a:p xmlns:a="http://schemas.openxmlformats.org/drawingml/2006/main">
            <a:pPr algn="l">
              <a:lnSpc>
                <a:spcPct val="105000"/>
              </a:lnSpc>
              <a:buNone/>
              <a:defRPr sz="1200" b="0">
                <a:solidFill>
                  <a:srgbClr val="13283F"/>
                </a:solidFill>
                <a:latin typeface="Helvetica Neue"/>
                <a:ea typeface="Helvetica Neue"/>
                <a:cs typeface="Helvetica Neue"/>
              </a:defRPr>
            </a:pPr>
            <a:r>
              <a:rPr sz="1200" b="0">
                <a:solidFill>
                  <a:srgbClr val="13283F"/>
                </a:solidFill>
                <a:latin typeface="Helvetica Neue"/>
                <a:ea typeface="Helvetica Neue"/>
                <a:cs typeface="Helvetica Neue"/>
              </a:rPr>
              <a:t>Recorded backend: MPS  /  device model and RAM: [TO BE PROVIDED]</a:t>
            </a:r>
          </a:p>
        </p:txBody>
      </p:sp>
      <p:sp>
        <p:nvSpPr>
          <p:cNvPr id="16" name="">
            <a:extLst xmlns:a="http://schemas.openxmlformats.org/drawingml/2006/main">
              <a:ext uri="{FF2B5EF4-FFF2-40B4-BE49-F238E27FC236}">
                <a16:creationId xmlns:a16="http://schemas.microsoft.com/office/drawing/2014/main" id="{8C973094-BAF7-44D9-981C-64E26A9AAF62}"/>
              </a:ext>
            </a:extLst>
          </p:cNvPr>
          <p:cNvSpPr>
            <a:spLocks xmlns:a="http://schemas.openxmlformats.org/drawingml/2006/main" noGrp="1"/>
          </p:cNvSpPr>
          <p:nvPr/>
        </p:nvSpPr>
        <p:spPr>
          <a:xfrm xmlns:a="http://schemas.openxmlformats.org/drawingml/2006/main">
            <a:off x="685800" y="4972050"/>
            <a:ext cx="10668000" cy="838200"/>
          </a:xfrm>
          <a:prstGeom xmlns:a="http://schemas.openxmlformats.org/drawingml/2006/main" prst="roundRect">
            <a:avLst>
              <a:gd name="adj" fmla="val 9091"/>
            </a:avLst>
          </a:prstGeom>
          <a:solidFill xmlns:a="http://schemas.openxmlformats.org/drawingml/2006/main">
            <a:srgbClr val="F5EBD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DE46966-D4A3-487A-9E87-3C4A3362AFDC}"/>
              </a:ext>
            </a:extLst>
          </p:cNvPr>
          <p:cNvSpPr>
            <a:spLocks xmlns:a="http://schemas.openxmlformats.org/drawingml/2006/main" noGrp="1"/>
          </p:cNvSpPr>
          <p:nvPr/>
        </p:nvSpPr>
        <p:spPr>
          <a:xfrm xmlns:a="http://schemas.openxmlformats.org/drawingml/2006/main">
            <a:off x="914400" y="5181600"/>
            <a:ext cx="1015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53F"/>
                </a:solidFill>
                <a:latin typeface="Helvetica Neue"/>
                <a:ea typeface="Helvetica Neue"/>
                <a:cs typeface="Helvetica Neue"/>
              </a:defRPr>
            </a:defPPr>
          </a:lstStyle>
          <a:p xmlns:a="http://schemas.openxmlformats.org/drawingml/2006/main">
            <a:pPr algn="l">
              <a:lnSpc>
                <a:spcPct val="105000"/>
              </a:lnSpc>
              <a:buNone/>
              <a:defRPr sz="1350" b="1">
                <a:solidFill>
                  <a:srgbClr val="10253F"/>
                </a:solidFill>
                <a:latin typeface="Helvetica Neue"/>
                <a:ea typeface="Helvetica Neue"/>
                <a:cs typeface="Helvetica Neue"/>
              </a:defRPr>
            </a:pPr>
            <a:r>
              <a:rPr sz="1350" b="1">
                <a:solidFill>
                  <a:srgbClr val="10253F"/>
                </a:solidFill>
                <a:latin typeface="Helvetica Neue"/>
                <a:ea typeface="Helvetica Neue"/>
                <a:cs typeface="Helvetica Neue"/>
              </a:rPr>
              <a:t>Recorded software: Python 3.10.20  /  PyTorch 2.11.0  /  Transformers 5.17.0</a:t>
            </a:r>
          </a:p>
        </p:txBody>
      </p:sp>
      <p:sp>
        <p:nvSpPr>
          <p:cNvPr id="18" name="">
            <a:extLst xmlns:a="http://schemas.openxmlformats.org/drawingml/2006/main">
              <a:ext uri="{FF2B5EF4-FFF2-40B4-BE49-F238E27FC236}">
                <a16:creationId xmlns:a16="http://schemas.microsoft.com/office/drawing/2014/main" id="{A7CCA8D0-D3E7-43FD-811F-9355DCEEF00D}"/>
              </a:ext>
            </a:extLst>
          </p:cNvPr>
          <p:cNvSpPr>
            <a:spLocks xmlns:a="http://schemas.openxmlformats.org/drawingml/2006/main" noGrp="1"/>
          </p:cNvSpPr>
          <p:nvPr/>
        </p:nvSpPr>
        <p:spPr>
          <a:xfrm xmlns:a="http://schemas.openxmlformats.org/drawingml/2006/main">
            <a:off x="914400" y="54959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Training history is saved. Exact C4 source revision, machine model and RAM are not recorded.</a:t>
            </a:r>
          </a:p>
        </p:txBody>
      </p:sp>
    </p:spTree>
    <p:extLst>
      <p:ext uri="{BB962C8B-B14F-4D97-AF65-F5344CB8AC3E}">
        <p14:creationId xmlns:p14="http://schemas.microsoft.com/office/powerpoint/2010/main" val="1235703760"/>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106E360-516A-400B-B6D3-4DEF9190015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393EB32-8DE0-42D2-82AD-999DD9D7479F}"/>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Results &amp; Performance Analysis</a:t>
            </a:r>
          </a:p>
        </p:txBody>
      </p:sp>
      <p:sp>
        <p:nvSpPr>
          <p:cNvPr id="3" name="">
            <a:extLst xmlns:a="http://schemas.openxmlformats.org/drawingml/2006/main">
              <a:ext uri="{FF2B5EF4-FFF2-40B4-BE49-F238E27FC236}">
                <a16:creationId xmlns:a16="http://schemas.microsoft.com/office/drawing/2014/main" id="{836DDECF-1016-4B94-87BC-D382B3C77047}"/>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Saved evaluations show small and mixed effects. Each comparison below keeps its evaluation slice and settings visible.</a:t>
            </a:r>
          </a:p>
        </p:txBody>
      </p:sp>
      <p:sp>
        <p:nvSpPr>
          <p:cNvPr id="4" name="">
            <a:extLst xmlns:a="http://schemas.openxmlformats.org/drawingml/2006/main">
              <a:ext uri="{FF2B5EF4-FFF2-40B4-BE49-F238E27FC236}">
                <a16:creationId xmlns:a16="http://schemas.microsoft.com/office/drawing/2014/main" id="{7C2C945F-241C-4A00-805D-657B3C89E48E}"/>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765B5E3A-B19A-4A76-AF09-47C44649F136}"/>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3107AF89-C045-4965-B3DA-FB8FCF8E5593}"/>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9DC2BEBB-AEDE-4F57-A60B-68A8B425C212}"/>
              </a:ext>
            </a:extLst>
          </p:cNvPr>
          <p:cNvSpPr>
            <a:spLocks xmlns:a="http://schemas.openxmlformats.org/drawingml/2006/main" noGrp="1"/>
          </p:cNvSpPr>
          <p:nvPr/>
        </p:nvSpPr>
        <p:spPr>
          <a:xfrm xmlns:a="http://schemas.openxmlformats.org/drawingml/2006/main">
            <a:off x="704850" y="1381125"/>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10253F"/>
                </a:solidFill>
                <a:latin typeface="Helvetica Neue"/>
                <a:ea typeface="Helvetica Neue"/>
                <a:cs typeface="Helvetica Neue"/>
              </a:defRPr>
            </a:defPPr>
          </a:lstStyle>
          <a:p xmlns:a="http://schemas.openxmlformats.org/drawingml/2006/main">
            <a:pPr algn="l">
              <a:lnSpc>
                <a:spcPct val="105000"/>
              </a:lnSpc>
              <a:buNone/>
              <a:defRPr sz="1575" b="1">
                <a:solidFill>
                  <a:srgbClr val="10253F"/>
                </a:solidFill>
                <a:latin typeface="Helvetica Neue"/>
                <a:ea typeface="Helvetica Neue"/>
                <a:cs typeface="Helvetica Neue"/>
              </a:defRPr>
            </a:pPr>
            <a:r>
              <a:rPr sz="1575" b="1">
                <a:solidFill>
                  <a:srgbClr val="10253F"/>
                </a:solidFill>
                <a:latin typeface="Helvetica Neue"/>
                <a:ea typeface="Helvetica Neue"/>
                <a:cs typeface="Helvetica Neue"/>
              </a:rPr>
              <a:t>Held-out C4 next-token evaluation</a:t>
            </a:r>
          </a:p>
        </p:txBody>
      </p:sp>
      <p:sp>
        <p:nvSpPr>
          <p:cNvPr id="8" name="">
            <a:extLst xmlns:a="http://schemas.openxmlformats.org/drawingml/2006/main">
              <a:ext uri="{FF2B5EF4-FFF2-40B4-BE49-F238E27FC236}">
                <a16:creationId xmlns:a16="http://schemas.microsoft.com/office/drawing/2014/main" id="{522F61A9-13B9-4061-A6F3-7D998D9299E5}"/>
              </a:ext>
            </a:extLst>
          </p:cNvPr>
          <p:cNvSpPr>
            <a:spLocks xmlns:a="http://schemas.openxmlformats.org/drawingml/2006/main" noGrp="1"/>
          </p:cNvSpPr>
          <p:nvPr/>
        </p:nvSpPr>
        <p:spPr>
          <a:xfrm xmlns:a="http://schemas.openxmlformats.org/drawingml/2006/main">
            <a:off x="704850" y="1685925"/>
            <a:ext cx="10325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100 texts  /  9,431 tokens  /  α = 0.05</a:t>
            </a:r>
          </a:p>
        </p:txBody>
      </p:sp>
      <p:graphicFrame>
        <p:nvGraphicFramePr>
          <p:cNvPr id="9" name="">
            <a:extLst xmlns:a="http://schemas.openxmlformats.org/drawingml/2006/main">
              <a:ext uri="{FF2B5EF4-FFF2-40B4-BE49-F238E27FC236}">
                <a16:creationId xmlns:a16="http://schemas.microsoft.com/office/drawing/2014/main" id="{3D1BAAC4-4B94-4622-972D-FEB1CCEF2980}"/>
              </a:ext>
            </a:extLst>
          </p:cNvPr>
          <p:cNvGraphicFramePr/>
          <p:nvPr/>
        </p:nvGraphicFramePr>
        <p:xfrm>
          <a:off xmlns:a="http://schemas.openxmlformats.org/drawingml/2006/main" x="685800" y="2019300"/>
          <a:ext xmlns:a="http://schemas.openxmlformats.org/drawingml/2006/main" cx="10706100" cy="1352550"/>
        </p:xfrm>
        <a:graphic xmlns:a="http://schemas.openxmlformats.org/drawingml/2006/main">
          <a:graphicData uri="http://schemas.openxmlformats.org/drawingml/2006/table">
            <a:tbl>
              <a:tblPr firstRow="1" firstCol="1" bandRow="1"/>
              <a:tblGrid>
                <a:gridCol w="1784350"/>
                <a:gridCol w="1784350"/>
                <a:gridCol w="1784350"/>
                <a:gridCol w="1784350"/>
                <a:gridCol w="1784350"/>
                <a:gridCol w="1784350"/>
              </a:tblGrid>
              <a:tr h="450850">
                <a:tc>
                  <a:txBody>
                    <a:bodyPr wrap="square">
                      <a:normAutofit/>
                    </a:bodyPr>
                    <a:lstStyle/>
                    <a:p>
                      <a:pPr algn="l"/>
                      <a:r>
                        <a:rPr sz="1200" b="1">
                          <a:solidFill>
                            <a:srgbClr val="FFFFFF"/>
                          </a:solidFill>
                          <a:latin typeface="Helvetica Neue"/>
                          <a:ea typeface="Helvetica Neue"/>
                          <a:cs typeface="Helvetica Neue"/>
                        </a:rPr>
                        <a:t>Method</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ENN weight</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Top-1</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Top-5</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Perplexity</a:t>
                      </a:r>
                    </a:p>
                  </a:txBody>
                  <a:tcPr marL="91440" marR="91440" marT="45720" marB="45720" anchor="ctr">
                    <a:solidFill>
                      <a:srgbClr val="10253F"/>
                    </a:solidFill>
                  </a:tcPr>
                </a:tc>
                <a:tc>
                  <a:txBody>
                    <a:bodyPr wrap="square">
                      <a:normAutofit/>
                    </a:bodyPr>
                    <a:lstStyle/>
                    <a:p>
                      <a:pPr algn="ctr"/>
                      <a:r>
                        <a:rPr sz="1200" b="1">
                          <a:solidFill>
                            <a:srgbClr val="FFFFFF"/>
                          </a:solidFill>
                          <a:latin typeface="Helvetica Neue"/>
                          <a:ea typeface="Helvetica Neue"/>
                          <a:cs typeface="Helvetica Neue"/>
                        </a:rPr>
                        <a:t>Tokens</a:t>
                      </a:r>
                    </a:p>
                  </a:txBody>
                  <a:tcPr marL="91440" marR="91440" marT="45720" marB="45720" anchor="ctr">
                    <a:solidFill>
                      <a:srgbClr val="10253F"/>
                    </a:solidFill>
                  </a:tcPr>
                </a:tc>
              </a:tr>
              <a:tr h="450850">
                <a:tc>
                  <a:txBody>
                    <a:bodyPr wrap="square">
                      <a:normAutofit/>
                    </a:bodyPr>
                    <a:lstStyle/>
                    <a:p>
                      <a:pPr algn="l"/>
                      <a:r>
                        <a:rPr sz="1200" b="1">
                          <a:solidFill>
                            <a:srgbClr val="10253F"/>
                          </a:solidFill>
                          <a:latin typeface="Helvetica Neue"/>
                          <a:ea typeface="Helvetica Neue"/>
                          <a:cs typeface="Helvetica Neue"/>
                        </a:rPr>
                        <a:t>DoLa</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0.0</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50.22%</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72.84%</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10.7034</a:t>
                      </a:r>
                    </a:p>
                  </a:txBody>
                  <a:tcPr marL="91440" marR="91440" marT="45720" marB="45720" anchor="ctr">
                    <a:solidFill>
                      <a:srgbClr val="FFFFFF"/>
                    </a:solidFill>
                  </a:tcPr>
                </a:tc>
                <a:tc>
                  <a:txBody>
                    <a:bodyPr wrap="square">
                      <a:normAutofit/>
                    </a:bodyPr>
                    <a:lstStyle/>
                    <a:p>
                      <a:pPr algn="ctr"/>
                      <a:r>
                        <a:rPr sz="1200" b="0">
                          <a:solidFill>
                            <a:srgbClr val="536477"/>
                          </a:solidFill>
                          <a:latin typeface="Helvetica Neue"/>
                          <a:ea typeface="Helvetica Neue"/>
                          <a:cs typeface="Helvetica Neue"/>
                        </a:rPr>
                        <a:t>9,431</a:t>
                      </a:r>
                    </a:p>
                  </a:txBody>
                  <a:tcPr marL="91440" marR="91440" marT="45720" marB="45720" anchor="ctr">
                    <a:solidFill>
                      <a:srgbClr val="FFFFFF"/>
                    </a:solidFill>
                  </a:tcPr>
                </a:tc>
              </a:tr>
              <a:tr h="450850">
                <a:tc>
                  <a:txBody>
                    <a:bodyPr wrap="square">
                      <a:normAutofit/>
                    </a:bodyPr>
                    <a:lstStyle/>
                    <a:p>
                      <a:pPr algn="l"/>
                      <a:r>
                        <a:rPr sz="1200" b="1">
                          <a:solidFill>
                            <a:srgbClr val="10253F"/>
                          </a:solidFill>
                          <a:latin typeface="Helvetica Neue"/>
                          <a:ea typeface="Helvetica Neue"/>
                          <a:cs typeface="Helvetica Neue"/>
                        </a:rPr>
                        <a:t>DoLa + ENN</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0.2</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50.31%</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72.89%</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10.7189</a:t>
                      </a:r>
                    </a:p>
                  </a:txBody>
                  <a:tcPr marL="91440" marR="91440" marT="45720" marB="45720" anchor="ctr">
                    <a:solidFill>
                      <a:srgbClr val="E8F0FC"/>
                    </a:solidFill>
                  </a:tcPr>
                </a:tc>
                <a:tc>
                  <a:txBody>
                    <a:bodyPr wrap="square">
                      <a:normAutofit/>
                    </a:bodyPr>
                    <a:lstStyle/>
                    <a:p>
                      <a:pPr algn="ctr"/>
                      <a:r>
                        <a:rPr sz="1200" b="0">
                          <a:solidFill>
                            <a:srgbClr val="536477"/>
                          </a:solidFill>
                          <a:latin typeface="Helvetica Neue"/>
                          <a:ea typeface="Helvetica Neue"/>
                          <a:cs typeface="Helvetica Neue"/>
                        </a:rPr>
                        <a:t>9,431</a:t>
                      </a:r>
                    </a:p>
                  </a:txBody>
                  <a:tcPr marL="91440" marR="91440" marT="45720" marB="45720" anchor="ctr">
                    <a:solidFill>
                      <a:srgbClr val="E8F0FC"/>
                    </a:solidFill>
                  </a:tcPr>
                </a:tc>
              </a:tr>
            </a:tbl>
          </a:graphicData>
        </a:graphic>
      </p:graphicFrame>
      <p:sp>
        <p:nvSpPr>
          <p:cNvPr id="10" name="">
            <a:extLst xmlns:a="http://schemas.openxmlformats.org/drawingml/2006/main">
              <a:ext uri="{FF2B5EF4-FFF2-40B4-BE49-F238E27FC236}">
                <a16:creationId xmlns:a16="http://schemas.microsoft.com/office/drawing/2014/main" id="{EF3419FB-71D1-4F77-BE6D-4C0D535D2346}"/>
              </a:ext>
            </a:extLst>
          </p:cNvPr>
          <p:cNvSpPr>
            <a:spLocks xmlns:a="http://schemas.openxmlformats.org/drawingml/2006/main" noGrp="1"/>
          </p:cNvSpPr>
          <p:nvPr/>
        </p:nvSpPr>
        <p:spPr>
          <a:xfrm xmlns:a="http://schemas.openxmlformats.org/drawingml/2006/main">
            <a:off x="723900" y="350520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On this slice, ENN weight 0.2 raised top-1 by 0.09 percentage points and top-5 by 0.05 points, while perplexity rose by 0.0155. Differences are descriptive only.</a:t>
            </a:r>
          </a:p>
        </p:txBody>
      </p:sp>
      <p:sp>
        <p:nvSpPr>
          <p:cNvPr id="11" name="">
            <a:extLst xmlns:a="http://schemas.openxmlformats.org/drawingml/2006/main">
              <a:ext uri="{FF2B5EF4-FFF2-40B4-BE49-F238E27FC236}">
                <a16:creationId xmlns:a16="http://schemas.microsoft.com/office/drawing/2014/main" id="{296E5CC7-5683-4E7A-92D9-79E797A69577}"/>
              </a:ext>
            </a:extLst>
          </p:cNvPr>
          <p:cNvSpPr>
            <a:spLocks xmlns:a="http://schemas.openxmlformats.org/drawingml/2006/main" noGrp="1"/>
          </p:cNvSpPr>
          <p:nvPr/>
        </p:nvSpPr>
        <p:spPr>
          <a:xfrm xmlns:a="http://schemas.openxmlformats.org/drawingml/2006/main" flipV="0">
            <a:off x="704850" y="40576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2" name="">
            <a:extLst xmlns:a="http://schemas.openxmlformats.org/drawingml/2006/main">
              <a:ext uri="{FF2B5EF4-FFF2-40B4-BE49-F238E27FC236}">
                <a16:creationId xmlns:a16="http://schemas.microsoft.com/office/drawing/2014/main" id="{41A7881D-2656-4B7B-A69B-BA1321AB1547}"/>
              </a:ext>
            </a:extLst>
          </p:cNvPr>
          <p:cNvSpPr>
            <a:spLocks xmlns:a="http://schemas.openxmlformats.org/drawingml/2006/main" noGrp="1"/>
          </p:cNvSpPr>
          <p:nvPr/>
        </p:nvSpPr>
        <p:spPr>
          <a:xfrm xmlns:a="http://schemas.openxmlformats.org/drawingml/2006/main">
            <a:off x="704850" y="4210050"/>
            <a:ext cx="666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TruthfulQA MC1 / MC2  ·  10 questions per slice</a:t>
            </a:r>
          </a:p>
        </p:txBody>
      </p:sp>
      <p:sp>
        <p:nvSpPr>
          <p:cNvPr id="13" name="">
            <a:extLst xmlns:a="http://schemas.openxmlformats.org/drawingml/2006/main">
              <a:ext uri="{FF2B5EF4-FFF2-40B4-BE49-F238E27FC236}">
                <a16:creationId xmlns:a16="http://schemas.microsoft.com/office/drawing/2014/main" id="{84F14CA2-42BC-49D6-A551-CE3AE727CCDE}"/>
              </a:ext>
            </a:extLst>
          </p:cNvPr>
          <p:cNvSpPr>
            <a:spLocks xmlns:a="http://schemas.openxmlformats.org/drawingml/2006/main" noGrp="1"/>
          </p:cNvSpPr>
          <p:nvPr/>
        </p:nvSpPr>
        <p:spPr>
          <a:xfrm xmlns:a="http://schemas.openxmlformats.org/drawingml/2006/main">
            <a:off x="723900" y="45720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3283F"/>
                </a:solidFill>
                <a:latin typeface="Helvetica Neue"/>
                <a:ea typeface="Helvetica Neue"/>
                <a:cs typeface="Helvetica Neue"/>
              </a:defRPr>
            </a:defPPr>
          </a:lstStyle>
          <a:p xmlns:a="http://schemas.openxmlformats.org/drawingml/2006/main">
            <a:pPr algn="l">
              <a:lnSpc>
                <a:spcPct val="105000"/>
              </a:lnSpc>
              <a:buNone/>
              <a:defRPr sz="1050" b="0">
                <a:solidFill>
                  <a:srgbClr val="13283F"/>
                </a:solidFill>
                <a:latin typeface="Helvetica Neue"/>
                <a:ea typeface="Helvetica Neue"/>
                <a:cs typeface="Helvetica Neue"/>
              </a:defRPr>
            </a:pPr>
            <a:r>
              <a:rPr sz="1050" b="0">
                <a:solidFill>
                  <a:srgbClr val="13283F"/>
                </a:solidFill>
                <a:latin typeface="Helvetica Neue"/>
                <a:ea typeface="Helvetica Neue"/>
                <a:cs typeface="Helvetica Neue"/>
              </a:rPr>
              <a:t>Questions 0–9  |  α=1, ENN weight=1  |  MC1: Base 0.70, DoLa 0.40, DoLa+ENN 0.40  |  MC2: 0.4931, 0.4546, 0.4511</a:t>
            </a:r>
          </a:p>
        </p:txBody>
      </p:sp>
      <p:sp>
        <p:nvSpPr>
          <p:cNvPr id="14" name="">
            <a:extLst xmlns:a="http://schemas.openxmlformats.org/drawingml/2006/main">
              <a:ext uri="{FF2B5EF4-FFF2-40B4-BE49-F238E27FC236}">
                <a16:creationId xmlns:a16="http://schemas.microsoft.com/office/drawing/2014/main" id="{94DB35D0-238B-4502-BDAE-5C7B32833AA1}"/>
              </a:ext>
            </a:extLst>
          </p:cNvPr>
          <p:cNvSpPr>
            <a:spLocks xmlns:a="http://schemas.openxmlformats.org/drawingml/2006/main" noGrp="1"/>
          </p:cNvSpPr>
          <p:nvPr/>
        </p:nvSpPr>
        <p:spPr>
          <a:xfrm xmlns:a="http://schemas.openxmlformats.org/drawingml/2006/main">
            <a:off x="723900" y="4981575"/>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13283F"/>
                </a:solidFill>
                <a:latin typeface="Helvetica Neue"/>
                <a:ea typeface="Helvetica Neue"/>
                <a:cs typeface="Helvetica Neue"/>
              </a:defRPr>
            </a:defPPr>
          </a:lstStyle>
          <a:p xmlns:a="http://schemas.openxmlformats.org/drawingml/2006/main">
            <a:pPr algn="l">
              <a:lnSpc>
                <a:spcPct val="105000"/>
              </a:lnSpc>
              <a:buNone/>
              <a:defRPr sz="1050" b="0">
                <a:solidFill>
                  <a:srgbClr val="13283F"/>
                </a:solidFill>
                <a:latin typeface="Helvetica Neue"/>
                <a:ea typeface="Helvetica Neue"/>
                <a:cs typeface="Helvetica Neue"/>
              </a:defRPr>
            </a:pPr>
            <a:r>
              <a:rPr sz="1050" b="0">
                <a:solidFill>
                  <a:srgbClr val="13283F"/>
                </a:solidFill>
                <a:latin typeface="Helvetica Neue"/>
                <a:ea typeface="Helvetica Neue"/>
                <a:cs typeface="Helvetica Neue"/>
              </a:rPr>
              <a:t>Questions 10–19  |  α=0.05, ENN weight=0  |  MC1: 0.30, 0.30, 0.30  |  MC2: 0.4076, 0.4066, 0.4066</a:t>
            </a:r>
          </a:p>
        </p:txBody>
      </p:sp>
      <p:sp>
        <p:nvSpPr>
          <p:cNvPr id="15" name="">
            <a:extLst xmlns:a="http://schemas.openxmlformats.org/drawingml/2006/main">
              <a:ext uri="{FF2B5EF4-FFF2-40B4-BE49-F238E27FC236}">
                <a16:creationId xmlns:a16="http://schemas.microsoft.com/office/drawing/2014/main" id="{11645617-10AB-4B6E-A40E-64E3C08DC84B}"/>
              </a:ext>
            </a:extLst>
          </p:cNvPr>
          <p:cNvSpPr>
            <a:spLocks xmlns:a="http://schemas.openxmlformats.org/drawingml/2006/main" noGrp="1"/>
          </p:cNvSpPr>
          <p:nvPr/>
        </p:nvSpPr>
        <p:spPr>
          <a:xfrm xmlns:a="http://schemas.openxmlformats.org/drawingml/2006/main">
            <a:off x="685800" y="5524500"/>
            <a:ext cx="10706100" cy="495300"/>
          </a:xfrm>
          <a:prstGeom xmlns:a="http://schemas.openxmlformats.org/drawingml/2006/main" prst="roundRect">
            <a:avLst>
              <a:gd name="adj" fmla="val 15385"/>
            </a:avLst>
          </a:prstGeom>
          <a:solidFill xmlns:a="http://schemas.openxmlformats.org/drawingml/2006/main">
            <a:srgbClr val="F5EBD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D8D75EE-0FB9-4FE4-8D5E-4B68E2889290}"/>
              </a:ext>
            </a:extLst>
          </p:cNvPr>
          <p:cNvSpPr>
            <a:spLocks xmlns:a="http://schemas.openxmlformats.org/drawingml/2006/main" noGrp="1"/>
          </p:cNvSpPr>
          <p:nvPr/>
        </p:nvSpPr>
        <p:spPr>
          <a:xfrm xmlns:a="http://schemas.openxmlformats.org/drawingml/2006/main">
            <a:off x="876300" y="5638800"/>
            <a:ext cx="10306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Small, differently configured slices. No reliable overall improvement can be concluded.</a:t>
            </a:r>
          </a:p>
        </p:txBody>
      </p:sp>
    </p:spTree>
    <p:extLst>
      <p:ext uri="{BB962C8B-B14F-4D97-AF65-F5344CB8AC3E}">
        <p14:creationId xmlns:p14="http://schemas.microsoft.com/office/powerpoint/2010/main" val="1170165983"/>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E07DDDE-22A9-46EC-AD79-B953AABC279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EE4D961-C70A-4451-9562-0F8468390130}"/>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Conclusion &amp; Future Work</a:t>
            </a:r>
          </a:p>
        </p:txBody>
      </p:sp>
      <p:sp>
        <p:nvSpPr>
          <p:cNvPr id="3" name="">
            <a:extLst xmlns:a="http://schemas.openxmlformats.org/drawingml/2006/main">
              <a:ext uri="{FF2B5EF4-FFF2-40B4-BE49-F238E27FC236}">
                <a16:creationId xmlns:a16="http://schemas.microsoft.com/office/drawing/2014/main" id="{28448A98-479C-43C2-BC25-8542911C7EE4}"/>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current contribution is an implementable comparison pipeline; empirical conclusions require the next evaluation run.</a:t>
            </a:r>
          </a:p>
        </p:txBody>
      </p:sp>
      <p:sp>
        <p:nvSpPr>
          <p:cNvPr id="4" name="">
            <a:extLst xmlns:a="http://schemas.openxmlformats.org/drawingml/2006/main">
              <a:ext uri="{FF2B5EF4-FFF2-40B4-BE49-F238E27FC236}">
                <a16:creationId xmlns:a16="http://schemas.microsoft.com/office/drawing/2014/main" id="{4F4FB657-857F-47E8-A44A-41E8E64E0228}"/>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3F767960-7913-413D-B696-982D4DE89D19}"/>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52F67271-DAA8-42DF-BCE3-2133457ED460}"/>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EC5E7943-9FA2-4D46-854D-B47D35789D28}"/>
              </a:ext>
            </a:extLst>
          </p:cNvPr>
          <p:cNvSpPr>
            <a:spLocks xmlns:a="http://schemas.openxmlformats.org/drawingml/2006/main" noGrp="1"/>
          </p:cNvSpPr>
          <p:nvPr/>
        </p:nvSpPr>
        <p:spPr>
          <a:xfrm xmlns:a="http://schemas.openxmlformats.org/drawingml/2006/main">
            <a:off x="685800" y="1466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CONCLUSION</a:t>
            </a:r>
          </a:p>
        </p:txBody>
      </p:sp>
      <p:sp>
        <p:nvSpPr>
          <p:cNvPr id="8" name="">
            <a:extLst xmlns:a="http://schemas.openxmlformats.org/drawingml/2006/main">
              <a:ext uri="{FF2B5EF4-FFF2-40B4-BE49-F238E27FC236}">
                <a16:creationId xmlns:a16="http://schemas.microsoft.com/office/drawing/2014/main" id="{B1AEA8BC-C06D-4AC4-B07A-90270010ED4B}"/>
              </a:ext>
            </a:extLst>
          </p:cNvPr>
          <p:cNvSpPr>
            <a:spLocks xmlns:a="http://schemas.openxmlformats.org/drawingml/2006/main" noGrp="1"/>
          </p:cNvSpPr>
          <p:nvPr/>
        </p:nvSpPr>
        <p:spPr>
          <a:xfrm xmlns:a="http://schemas.openxmlformats.org/drawingml/2006/main">
            <a:off x="685800" y="1790700"/>
            <a:ext cx="4857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53F"/>
                </a:solidFill>
                <a:latin typeface="Helvetica Neue"/>
                <a:ea typeface="Helvetica Neue"/>
                <a:cs typeface="Helvetica Neue"/>
              </a:defRPr>
            </a:defPPr>
          </a:lstStyle>
          <a:p xmlns:a="http://schemas.openxmlformats.org/drawingml/2006/main">
            <a:pPr algn="l">
              <a:lnSpc>
                <a:spcPct val="105000"/>
              </a:lnSpc>
              <a:buNone/>
              <a:defRPr sz="1725" b="1">
                <a:solidFill>
                  <a:srgbClr val="10253F"/>
                </a:solidFill>
                <a:latin typeface="Helvetica Neue"/>
                <a:ea typeface="Helvetica Neue"/>
                <a:cs typeface="Helvetica Neue"/>
              </a:defRPr>
            </a:pPr>
            <a:r>
              <a:rPr sz="1725" b="1">
                <a:solidFill>
                  <a:srgbClr val="10253F"/>
                </a:solidFill>
                <a:latin typeface="Helvetica Neue"/>
                <a:ea typeface="Helvetica Neue"/>
                <a:cs typeface="Helvetica Neue"/>
              </a:rPr>
              <a:t>The system combines TinyLlama, dynamic DoLa layer contrast, an Epinet trained on C4 next-token features, and answer-level voting.</a:t>
            </a:r>
          </a:p>
        </p:txBody>
      </p:sp>
      <p:sp>
        <p:nvSpPr>
          <p:cNvPr id="9" name="">
            <a:extLst xmlns:a="http://schemas.openxmlformats.org/drawingml/2006/main">
              <a:ext uri="{FF2B5EF4-FFF2-40B4-BE49-F238E27FC236}">
                <a16:creationId xmlns:a16="http://schemas.microsoft.com/office/drawing/2014/main" id="{EF48EAAC-6192-4445-9965-9D899C42518B}"/>
              </a:ext>
            </a:extLst>
          </p:cNvPr>
          <p:cNvSpPr>
            <a:spLocks xmlns:a="http://schemas.openxmlformats.org/drawingml/2006/main" noGrp="1"/>
          </p:cNvSpPr>
          <p:nvPr/>
        </p:nvSpPr>
        <p:spPr>
          <a:xfrm xmlns:a="http://schemas.openxmlformats.org/drawingml/2006/main">
            <a:off x="685800" y="3028950"/>
            <a:ext cx="485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Recorded C4 and TruthfulQA evaluations show mixed results. The small slices do not establish a general factuality or reliability gain.</a:t>
            </a:r>
          </a:p>
        </p:txBody>
      </p:sp>
      <p:sp>
        <p:nvSpPr>
          <p:cNvPr id="10" name="">
            <a:extLst xmlns:a="http://schemas.openxmlformats.org/drawingml/2006/main">
              <a:ext uri="{FF2B5EF4-FFF2-40B4-BE49-F238E27FC236}">
                <a16:creationId xmlns:a16="http://schemas.microsoft.com/office/drawing/2014/main" id="{EF1A9130-12A5-46E4-B5EF-177F9346531C}"/>
              </a:ext>
            </a:extLst>
          </p:cNvPr>
          <p:cNvSpPr>
            <a:spLocks xmlns:a="http://schemas.openxmlformats.org/drawingml/2006/main" noGrp="1"/>
          </p:cNvSpPr>
          <p:nvPr/>
        </p:nvSpPr>
        <p:spPr>
          <a:xfrm xmlns:a="http://schemas.openxmlformats.org/drawingml/2006/main" flipV="0">
            <a:off x="6000750" y="1466850"/>
            <a:ext cx="0" cy="34290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C5D330BA-2121-46D0-86A7-846F7DBBD8FD}"/>
              </a:ext>
            </a:extLst>
          </p:cNvPr>
          <p:cNvSpPr>
            <a:spLocks xmlns:a="http://schemas.openxmlformats.org/drawingml/2006/main" noGrp="1"/>
          </p:cNvSpPr>
          <p:nvPr/>
        </p:nvSpPr>
        <p:spPr>
          <a:xfrm xmlns:a="http://schemas.openxmlformats.org/drawingml/2006/main">
            <a:off x="6457950" y="14668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FUTURE WORK</a:t>
            </a:r>
          </a:p>
        </p:txBody>
      </p:sp>
      <p:sp>
        <p:nvSpPr>
          <p:cNvPr id="12" name="">
            <a:extLst xmlns:a="http://schemas.openxmlformats.org/drawingml/2006/main">
              <a:ext uri="{FF2B5EF4-FFF2-40B4-BE49-F238E27FC236}">
                <a16:creationId xmlns:a16="http://schemas.microsoft.com/office/drawing/2014/main" id="{B1C8D2E3-D501-47E5-8B30-2705A3C14D63}"/>
              </a:ext>
            </a:extLst>
          </p:cNvPr>
          <p:cNvSpPr>
            <a:spLocks xmlns:a="http://schemas.openxmlformats.org/drawingml/2006/main" noGrp="1"/>
          </p:cNvSpPr>
          <p:nvPr/>
        </p:nvSpPr>
        <p:spPr>
          <a:xfrm xmlns:a="http://schemas.openxmlformats.org/drawingml/2006/main">
            <a:off x="6477000" y="18573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2EA8F67-0E21-4858-9C0F-9A0F294EDF70}"/>
              </a:ext>
            </a:extLst>
          </p:cNvPr>
          <p:cNvSpPr>
            <a:spLocks xmlns:a="http://schemas.openxmlformats.org/drawingml/2006/main" noGrp="1"/>
          </p:cNvSpPr>
          <p:nvPr/>
        </p:nvSpPr>
        <p:spPr>
          <a:xfrm xmlns:a="http://schemas.openxmlformats.org/drawingml/2006/main">
            <a:off x="6477000" y="19050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EC13E53E-0830-4EE0-9AB0-28F5109B33F2}"/>
              </a:ext>
            </a:extLst>
          </p:cNvPr>
          <p:cNvSpPr>
            <a:spLocks xmlns:a="http://schemas.openxmlformats.org/drawingml/2006/main" noGrp="1"/>
          </p:cNvSpPr>
          <p:nvPr/>
        </p:nvSpPr>
        <p:spPr>
          <a:xfrm xmlns:a="http://schemas.openxmlformats.org/drawingml/2006/main">
            <a:off x="6896100" y="18478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and archive the active PyTorch ENN checkpoint</a:t>
            </a:r>
          </a:p>
        </p:txBody>
      </p:sp>
      <p:sp>
        <p:nvSpPr>
          <p:cNvPr id="15" name="">
            <a:extLst xmlns:a="http://schemas.openxmlformats.org/drawingml/2006/main">
              <a:ext uri="{FF2B5EF4-FFF2-40B4-BE49-F238E27FC236}">
                <a16:creationId xmlns:a16="http://schemas.microsoft.com/office/drawing/2014/main" id="{DF3C343C-3924-4085-90BA-D4C947BF55DF}"/>
              </a:ext>
            </a:extLst>
          </p:cNvPr>
          <p:cNvSpPr>
            <a:spLocks xmlns:a="http://schemas.openxmlformats.org/drawingml/2006/main" noGrp="1"/>
          </p:cNvSpPr>
          <p:nvPr/>
        </p:nvSpPr>
        <p:spPr>
          <a:xfrm xmlns:a="http://schemas.openxmlformats.org/drawingml/2006/main">
            <a:off x="6477000" y="25241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1042271-7FAF-4D8C-BA3F-1807F1F337B9}"/>
              </a:ext>
            </a:extLst>
          </p:cNvPr>
          <p:cNvSpPr>
            <a:spLocks xmlns:a="http://schemas.openxmlformats.org/drawingml/2006/main" noGrp="1"/>
          </p:cNvSpPr>
          <p:nvPr/>
        </p:nvSpPr>
        <p:spPr>
          <a:xfrm xmlns:a="http://schemas.openxmlformats.org/drawingml/2006/main">
            <a:off x="6477000" y="25717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4F080168-B03B-4AFD-9C98-66FA928F6B2A}"/>
              </a:ext>
            </a:extLst>
          </p:cNvPr>
          <p:cNvSpPr>
            <a:spLocks xmlns:a="http://schemas.openxmlformats.org/drawingml/2006/main" noGrp="1"/>
          </p:cNvSpPr>
          <p:nvPr/>
        </p:nvSpPr>
        <p:spPr>
          <a:xfrm xmlns:a="http://schemas.openxmlformats.org/drawingml/2006/main">
            <a:off x="6896100" y="25146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Run held-out TruthfulQA and larger QA evaluations</a:t>
            </a:r>
          </a:p>
        </p:txBody>
      </p:sp>
      <p:sp>
        <p:nvSpPr>
          <p:cNvPr id="18" name="">
            <a:extLst xmlns:a="http://schemas.openxmlformats.org/drawingml/2006/main">
              <a:ext uri="{FF2B5EF4-FFF2-40B4-BE49-F238E27FC236}">
                <a16:creationId xmlns:a16="http://schemas.microsoft.com/office/drawing/2014/main" id="{2562831A-37D5-49E9-AAD6-EBE040DF9F44}"/>
              </a:ext>
            </a:extLst>
          </p:cNvPr>
          <p:cNvSpPr>
            <a:spLocks xmlns:a="http://schemas.openxmlformats.org/drawingml/2006/main" noGrp="1"/>
          </p:cNvSpPr>
          <p:nvPr/>
        </p:nvSpPr>
        <p:spPr>
          <a:xfrm xmlns:a="http://schemas.openxmlformats.org/drawingml/2006/main">
            <a:off x="6477000" y="31908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2EBB7FD-88C9-4AE8-B566-D4DE4310C88C}"/>
              </a:ext>
            </a:extLst>
          </p:cNvPr>
          <p:cNvSpPr>
            <a:spLocks xmlns:a="http://schemas.openxmlformats.org/drawingml/2006/main" noGrp="1"/>
          </p:cNvSpPr>
          <p:nvPr/>
        </p:nvSpPr>
        <p:spPr>
          <a:xfrm xmlns:a="http://schemas.openxmlformats.org/drawingml/2006/main">
            <a:off x="6477000" y="32385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A78DB3A7-76F8-4F17-9259-55BCEA765B0B}"/>
              </a:ext>
            </a:extLst>
          </p:cNvPr>
          <p:cNvSpPr>
            <a:spLocks xmlns:a="http://schemas.openxmlformats.org/drawingml/2006/main" noGrp="1"/>
          </p:cNvSpPr>
          <p:nvPr/>
        </p:nvSpPr>
        <p:spPr>
          <a:xfrm xmlns:a="http://schemas.openxmlformats.org/drawingml/2006/main">
            <a:off x="6896100" y="31813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Report repeated seeds, calibration, and risk–coverage</a:t>
            </a:r>
          </a:p>
        </p:txBody>
      </p:sp>
      <p:sp>
        <p:nvSpPr>
          <p:cNvPr id="21" name="">
            <a:extLst xmlns:a="http://schemas.openxmlformats.org/drawingml/2006/main">
              <a:ext uri="{FF2B5EF4-FFF2-40B4-BE49-F238E27FC236}">
                <a16:creationId xmlns:a16="http://schemas.microsoft.com/office/drawing/2014/main" id="{1EFA4331-F598-4FC7-982A-25381371F4BC}"/>
              </a:ext>
            </a:extLst>
          </p:cNvPr>
          <p:cNvSpPr>
            <a:spLocks xmlns:a="http://schemas.openxmlformats.org/drawingml/2006/main" noGrp="1"/>
          </p:cNvSpPr>
          <p:nvPr/>
        </p:nvSpPr>
        <p:spPr>
          <a:xfrm xmlns:a="http://schemas.openxmlformats.org/drawingml/2006/main">
            <a:off x="6477000" y="38576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5AB996AD-2B10-47D2-9B57-A5EA5BE8AF8F}"/>
              </a:ext>
            </a:extLst>
          </p:cNvPr>
          <p:cNvSpPr>
            <a:spLocks xmlns:a="http://schemas.openxmlformats.org/drawingml/2006/main" noGrp="1"/>
          </p:cNvSpPr>
          <p:nvPr/>
        </p:nvSpPr>
        <p:spPr>
          <a:xfrm xmlns:a="http://schemas.openxmlformats.org/drawingml/2006/main">
            <a:off x="6477000" y="39052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C733F950-0D96-4DD0-8789-C87FAE70E874}"/>
              </a:ext>
            </a:extLst>
          </p:cNvPr>
          <p:cNvSpPr>
            <a:spLocks xmlns:a="http://schemas.openxmlformats.org/drawingml/2006/main" noGrp="1"/>
          </p:cNvSpPr>
          <p:nvPr/>
        </p:nvSpPr>
        <p:spPr>
          <a:xfrm xmlns:a="http://schemas.openxmlformats.org/drawingml/2006/main">
            <a:off x="6896100" y="38481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Profile inference time and memory on documented hardware</a:t>
            </a:r>
          </a:p>
        </p:txBody>
      </p:sp>
      <p:sp>
        <p:nvSpPr>
          <p:cNvPr id="24" name="">
            <a:extLst xmlns:a="http://schemas.openxmlformats.org/drawingml/2006/main">
              <a:ext uri="{FF2B5EF4-FFF2-40B4-BE49-F238E27FC236}">
                <a16:creationId xmlns:a16="http://schemas.microsoft.com/office/drawing/2014/main" id="{3774327C-2F06-4DBE-A7C9-4CD727095516}"/>
              </a:ext>
            </a:extLst>
          </p:cNvPr>
          <p:cNvSpPr>
            <a:spLocks xmlns:a="http://schemas.openxmlformats.org/drawingml/2006/main" noGrp="1"/>
          </p:cNvSpPr>
          <p:nvPr/>
        </p:nvSpPr>
        <p:spPr>
          <a:xfrm xmlns:a="http://schemas.openxmlformats.org/drawingml/2006/main" flipV="0">
            <a:off x="685800" y="53149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DD966A26-DF5A-43DB-A474-467456FDCCA9}"/>
              </a:ext>
            </a:extLst>
          </p:cNvPr>
          <p:cNvSpPr>
            <a:spLocks xmlns:a="http://schemas.openxmlformats.org/drawingml/2006/main" noGrp="1"/>
          </p:cNvSpPr>
          <p:nvPr/>
        </p:nvSpPr>
        <p:spPr>
          <a:xfrm xmlns:a="http://schemas.openxmlformats.org/drawingml/2006/main">
            <a:off x="685800" y="55245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0253F"/>
                </a:solidFill>
                <a:latin typeface="Helvetica Neue"/>
                <a:ea typeface="Helvetica Neue"/>
                <a:cs typeface="Helvetica Neue"/>
              </a:defRPr>
            </a:defPPr>
          </a:lstStyle>
          <a:p xmlns:a="http://schemas.openxmlformats.org/drawingml/2006/main">
            <a:pPr algn="l">
              <a:lnSpc>
                <a:spcPct val="105000"/>
              </a:lnSpc>
              <a:buNone/>
              <a:defRPr sz="2250" b="1">
                <a:solidFill>
                  <a:srgbClr val="10253F"/>
                </a:solidFill>
                <a:latin typeface="Helvetica Neue"/>
                <a:ea typeface="Helvetica Neue"/>
                <a:cs typeface="Helvetica Neue"/>
              </a:defRPr>
            </a:pPr>
            <a:r>
              <a:rPr sz="2250" b="1">
                <a:solidFill>
                  <a:srgbClr val="10253F"/>
                </a:solidFill>
                <a:latin typeface="Helvetica Neue"/>
                <a:ea typeface="Helvetica Neue"/>
                <a:cs typeface="Helvetica Neue"/>
              </a:rPr>
              <a:t>Thank You</a:t>
            </a:r>
          </a:p>
        </p:txBody>
      </p:sp>
      <p:sp>
        <p:nvSpPr>
          <p:cNvPr id="26" name="">
            <a:extLst xmlns:a="http://schemas.openxmlformats.org/drawingml/2006/main">
              <a:ext uri="{FF2B5EF4-FFF2-40B4-BE49-F238E27FC236}">
                <a16:creationId xmlns:a16="http://schemas.microsoft.com/office/drawing/2014/main" id="{07CB1E34-BE12-480C-BDA0-1A23AD2A2BDA}"/>
              </a:ext>
            </a:extLst>
          </p:cNvPr>
          <p:cNvSpPr>
            <a:spLocks xmlns:a="http://schemas.openxmlformats.org/drawingml/2006/main" noGrp="1"/>
          </p:cNvSpPr>
          <p:nvPr/>
        </p:nvSpPr>
        <p:spPr>
          <a:xfrm xmlns:a="http://schemas.openxmlformats.org/drawingml/2006/main">
            <a:off x="685800" y="596265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864C5"/>
                </a:solidFill>
                <a:latin typeface="Helvetica Neue"/>
                <a:ea typeface="Helvetica Neue"/>
                <a:cs typeface="Helvetica Neue"/>
              </a:defRPr>
            </a:defPPr>
          </a:lstStyle>
          <a:p xmlns:a="http://schemas.openxmlformats.org/drawingml/2006/main">
            <a:pPr algn="l">
              <a:lnSpc>
                <a:spcPct val="105000"/>
              </a:lnSpc>
              <a:buNone/>
              <a:defRPr sz="1350" b="1">
                <a:solidFill>
                  <a:srgbClr val="2864C5"/>
                </a:solidFill>
                <a:latin typeface="Helvetica Neue"/>
                <a:ea typeface="Helvetica Neue"/>
                <a:cs typeface="Helvetica Neue"/>
              </a:defRPr>
            </a:pPr>
            <a:r>
              <a:rPr sz="1350" b="1">
                <a:solidFill>
                  <a:srgbClr val="2864C5"/>
                </a:solidFill>
                <a:latin typeface="Helvetica Neue"/>
                <a:ea typeface="Helvetica Neue"/>
                <a:cs typeface="Helvetica Neue"/>
              </a:rPr>
              <a:t>Questions &amp; Discussion</a:t>
            </a:r>
          </a:p>
        </p:txBody>
      </p:sp>
      <p:sp>
        <p:nvSpPr>
          <p:cNvPr id="27" name="">
            <a:extLst xmlns:a="http://schemas.openxmlformats.org/drawingml/2006/main">
              <a:ext uri="{FF2B5EF4-FFF2-40B4-BE49-F238E27FC236}">
                <a16:creationId xmlns:a16="http://schemas.microsoft.com/office/drawing/2014/main" id="{FC068D05-FF2E-4DC4-9448-528DCC726BC2}"/>
              </a:ext>
            </a:extLst>
          </p:cNvPr>
          <p:cNvSpPr>
            <a:spLocks xmlns:a="http://schemas.openxmlformats.org/drawingml/2006/main" noGrp="1"/>
          </p:cNvSpPr>
          <p:nvPr/>
        </p:nvSpPr>
        <p:spPr>
          <a:xfrm xmlns:a="http://schemas.openxmlformats.org/drawingml/2006/main">
            <a:off x="7467600" y="576262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536477"/>
                </a:solidFill>
                <a:latin typeface="Helvetica Neue"/>
                <a:ea typeface="Helvetica Neue"/>
                <a:cs typeface="Helvetica Neue"/>
              </a:defRPr>
            </a:defPPr>
          </a:lstStyle>
          <a:p xmlns:a="http://schemas.openxmlformats.org/drawingml/2006/main">
            <a:pPr algn="r">
              <a:lnSpc>
                <a:spcPct val="105000"/>
              </a:lnSpc>
              <a:buNone/>
              <a:defRPr sz="1125" b="1">
                <a:solidFill>
                  <a:srgbClr val="536477"/>
                </a:solidFill>
                <a:latin typeface="Helvetica Neue"/>
                <a:ea typeface="Helvetica Neue"/>
                <a:cs typeface="Helvetica Neue"/>
              </a:defRPr>
            </a:pPr>
            <a:r>
              <a:rPr sz="1125" b="1">
                <a:solidFill>
                  <a:srgbClr val="536477"/>
                </a:solidFill>
                <a:latin typeface="Helvetica Neue"/>
                <a:ea typeface="Helvetica Neue"/>
                <a:cs typeface="Helvetica Neue"/>
              </a:rPr>
              <a:t>SCOPE  ·  VIT-AP UNIVERSITY</a:t>
            </a:r>
          </a:p>
        </p:txBody>
      </p:sp>
    </p:spTree>
    <p:extLst>
      <p:ext uri="{BB962C8B-B14F-4D97-AF65-F5344CB8AC3E}">
        <p14:creationId xmlns:p14="http://schemas.microsoft.com/office/powerpoint/2010/main" val="8042105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2026-10-02T12:15:28.0430000Z</dcterms:created>
  <dcterms:modified xsi:type="dcterms:W3CDTF">2026-10-02T12:15:28.0430000Z</dcterms:modified>
</coreProperties>
</file>