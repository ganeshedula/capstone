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2e6971519f8c4acd" /><Relationship Type="http://schemas.openxmlformats.org/officeDocument/2006/relationships/extended-properties" Target="/docProps/app.xml" Id="R49eba074940144e9" /><Relationship Type="http://schemas.openxmlformats.org/officeDocument/2006/relationships/officeDocument" Target="/ppt/presentation.xml" Id="Rb5e42aa3cf6b4c6f" /></Relationships>
</file>

<file path=ppt/presentation.xml><?xml version="1.0" encoding="utf-8"?>
<p:presentation xmlns:p="http://schemas.openxmlformats.org/presentationml/2006/main">
  <p:sldMasterIdLst>
    <p:sldMasterId xmlns:r="http://schemas.openxmlformats.org/officeDocument/2006/relationships" id="2147483648" r:id="Rfc3cf612bbc7486f"/>
  </p:sldMasterIdLst>
  <p:notesMasterIdLst>
    <p:notesMasterId xmlns:r="http://schemas.openxmlformats.org/officeDocument/2006/relationships" r:id="Rb25d6e3273ce428a"/>
  </p:notesMasterIdLst>
  <p:sldIdLst>
    <p:sldId xmlns:r="http://schemas.openxmlformats.org/officeDocument/2006/relationships" id="256" r:id="R47d72ec64b18466f"/>
    <p:sldId xmlns:r="http://schemas.openxmlformats.org/officeDocument/2006/relationships" id="257" r:id="R42ca5b90904745ee"/>
    <p:sldId xmlns:r="http://schemas.openxmlformats.org/officeDocument/2006/relationships" id="258" r:id="R8e36bbe5dd834150"/>
    <p:sldId xmlns:r="http://schemas.openxmlformats.org/officeDocument/2006/relationships" id="259" r:id="R99990c2eb65b4d56"/>
    <p:sldId xmlns:r="http://schemas.openxmlformats.org/officeDocument/2006/relationships" id="260" r:id="R2fed3d60962c4997"/>
    <p:sldId xmlns:r="http://schemas.openxmlformats.org/officeDocument/2006/relationships" id="261" r:id="R712694d9a75b48ea"/>
    <p:sldId xmlns:r="http://schemas.openxmlformats.org/officeDocument/2006/relationships" id="262" r:id="Rabbd108bdfaf4e17"/>
    <p:sldId xmlns:r="http://schemas.openxmlformats.org/officeDocument/2006/relationships" id="263" r:id="R81ec0b5ce8b94d97"/>
    <p:sldId xmlns:r="http://schemas.openxmlformats.org/officeDocument/2006/relationships" id="264" r:id="R69b8500cc5ac420a"/>
    <p:sldId xmlns:r="http://schemas.openxmlformats.org/officeDocument/2006/relationships" id="265" r:id="Rbdca02c479c7488d"/>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3988f60b4d29465c" /><Relationship Type="http://schemas.openxmlformats.org/officeDocument/2006/relationships/slideMaster" Target="/ppt/slideMasters/slideMaster1.xml" Id="Rfc3cf612bbc7486f" /><Relationship Type="http://schemas.openxmlformats.org/officeDocument/2006/relationships/notesMaster" Target="/ppt/notesMasters/notesMaster1.xml" Id="Rb25d6e3273ce428a" /><Relationship Type="http://schemas.openxmlformats.org/officeDocument/2006/relationships/presProps" Target="/ppt/presProps.xml" Id="R620d0013cc7a4f01" /><Relationship Type="http://schemas.openxmlformats.org/officeDocument/2006/relationships/tableStyles" Target="/ppt/tableStyles.xml" Id="R2a98ce5cefcf4d3e" /><Relationship Type="http://schemas.openxmlformats.org/officeDocument/2006/relationships/slide" Target="/ppt/slides/slide1.xml" Id="R47d72ec64b18466f" /><Relationship Type="http://schemas.openxmlformats.org/officeDocument/2006/relationships/slide" Target="/ppt/slides/slide2.xml" Id="R42ca5b90904745ee" /><Relationship Type="http://schemas.openxmlformats.org/officeDocument/2006/relationships/slide" Target="/ppt/slides/slide3.xml" Id="R8e36bbe5dd834150" /><Relationship Type="http://schemas.openxmlformats.org/officeDocument/2006/relationships/slide" Target="/ppt/slides/slide4.xml" Id="R99990c2eb65b4d56" /><Relationship Type="http://schemas.openxmlformats.org/officeDocument/2006/relationships/slide" Target="/ppt/slides/slide5.xml" Id="R2fed3d60962c4997" /><Relationship Type="http://schemas.openxmlformats.org/officeDocument/2006/relationships/slide" Target="/ppt/slides/slide6.xml" Id="R712694d9a75b48ea" /><Relationship Type="http://schemas.openxmlformats.org/officeDocument/2006/relationships/slide" Target="/ppt/slides/slide7.xml" Id="Rabbd108bdfaf4e17" /><Relationship Type="http://schemas.openxmlformats.org/officeDocument/2006/relationships/slide" Target="/ppt/slides/slide8.xml" Id="R81ec0b5ce8b94d97" /><Relationship Type="http://schemas.openxmlformats.org/officeDocument/2006/relationships/slide" Target="/ppt/slides/slide9.xml" Id="R69b8500cc5ac420a" /><Relationship Type="http://schemas.openxmlformats.org/officeDocument/2006/relationships/slide" Target="/ppt/slides/slide10.xml" Id="Rbdca02c479c7488d"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9188323caac34528"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87d7ef96858a49ca" /><Relationship Type="http://schemas.openxmlformats.org/officeDocument/2006/relationships/notesMaster" Target="/ppt/notesMasters/notesMaster1.xml" Id="Ra4977f65a4084780" /></Relationships>
</file>

<file path=ppt/notesSlides/_rels/notesSlide2.xml.rels>&#65279;<?xml version="1.0" encoding="utf-8"?><Relationships xmlns="http://schemas.openxmlformats.org/package/2006/relationships"><Relationship Type="http://schemas.openxmlformats.org/officeDocument/2006/relationships/slide" Target="/ppt/slides/slide2.xml" Id="Rcb7d365124954869" /><Relationship Type="http://schemas.openxmlformats.org/officeDocument/2006/relationships/notesMaster" Target="/ppt/notesMasters/notesMaster1.xml" Id="R4c22cc66056549a0" /></Relationships>
</file>

<file path=ppt/notesSlides/_rels/notesSlide3.xml.rels>&#65279;<?xml version="1.0" encoding="utf-8"?><Relationships xmlns="http://schemas.openxmlformats.org/package/2006/relationships"><Relationship Type="http://schemas.openxmlformats.org/officeDocument/2006/relationships/slide" Target="/ppt/slides/slide3.xml" Id="R984f85dc63ef4426" /><Relationship Type="http://schemas.openxmlformats.org/officeDocument/2006/relationships/notesMaster" Target="/ppt/notesMasters/notesMaster1.xml" Id="R84f7f76544334108" /></Relationships>
</file>

<file path=ppt/notesSlides/_rels/notesSlide4.xml.rels>&#65279;<?xml version="1.0" encoding="utf-8"?><Relationships xmlns="http://schemas.openxmlformats.org/package/2006/relationships"><Relationship Type="http://schemas.openxmlformats.org/officeDocument/2006/relationships/slide" Target="/ppt/slides/slide4.xml" Id="R9df9b8c1509d4a1f" /><Relationship Type="http://schemas.openxmlformats.org/officeDocument/2006/relationships/notesMaster" Target="/ppt/notesMasters/notesMaster1.xml" Id="Rc81b359418924792" /></Relationships>
</file>

<file path=ppt/notesSlides/_rels/notesSlide5.xml.rels>&#65279;<?xml version="1.0" encoding="utf-8"?><Relationships xmlns="http://schemas.openxmlformats.org/package/2006/relationships"><Relationship Type="http://schemas.openxmlformats.org/officeDocument/2006/relationships/slide" Target="/ppt/slides/slide5.xml" Id="Rdf7832f5f14c4544" /><Relationship Type="http://schemas.openxmlformats.org/officeDocument/2006/relationships/notesMaster" Target="/ppt/notesMasters/notesMaster1.xml" Id="Rf87d49c206f246ca" /></Relationships>
</file>

<file path=ppt/notesSlides/_rels/notesSlide6.xml.rels>&#65279;<?xml version="1.0" encoding="utf-8"?><Relationships xmlns="http://schemas.openxmlformats.org/package/2006/relationships"><Relationship Type="http://schemas.openxmlformats.org/officeDocument/2006/relationships/slide" Target="/ppt/slides/slide6.xml" Id="Rd36915ba63664f1b" /><Relationship Type="http://schemas.openxmlformats.org/officeDocument/2006/relationships/notesMaster" Target="/ppt/notesMasters/notesMaster1.xml" Id="R00c5786991d54905" /></Relationships>
</file>

<file path=ppt/notesSlides/_rels/notesSlide7.xml.rels>&#65279;<?xml version="1.0" encoding="utf-8"?><Relationships xmlns="http://schemas.openxmlformats.org/package/2006/relationships"><Relationship Type="http://schemas.openxmlformats.org/officeDocument/2006/relationships/slide" Target="/ppt/slides/slide7.xml" Id="R600ee67133614a32" /><Relationship Type="http://schemas.openxmlformats.org/officeDocument/2006/relationships/notesMaster" Target="/ppt/notesMasters/notesMaster1.xml" Id="Re534cbb22fc84e53" /></Relationships>
</file>

<file path=ppt/notesSlides/_rels/notesSlide8.xml.rels>&#65279;<?xml version="1.0" encoding="utf-8"?><Relationships xmlns="http://schemas.openxmlformats.org/package/2006/relationships"><Relationship Type="http://schemas.openxmlformats.org/officeDocument/2006/relationships/slide" Target="/ppt/slides/slide8.xml" Id="R92e8ca25efb8449e" /><Relationship Type="http://schemas.openxmlformats.org/officeDocument/2006/relationships/notesMaster" Target="/ppt/notesMasters/notesMaster1.xml" Id="R84b16dc8c4924ef6" /></Relationships>
</file>

<file path=ppt/notesSlides/_rels/notesSlide9.xml.rels>&#65279;<?xml version="1.0" encoding="utf-8"?><Relationships xmlns="http://schemas.openxmlformats.org/package/2006/relationships"><Relationship Type="http://schemas.openxmlformats.org/officeDocument/2006/relationships/slide" Target="/ppt/slides/slide9.xml" Id="Rba7ca297494e4186" /><Relationship Type="http://schemas.openxmlformats.org/officeDocument/2006/relationships/notesMaster" Target="/ppt/notesMasters/notesMaster1.xml" Id="R3be77d72af874bd9"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b64d62b4122b465f" /><Relationship Type="http://schemas.openxmlformats.org/officeDocument/2006/relationships/notesMaster" Target="/ppt/notesMasters/notesMaster1.xml" Id="Rcf09c89d88a341d3"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Project-code basis: repository README.md describes this as a DoLa + ENN reliability pipeline. The exact approved capstone title was not present in the supplied materials, so the title placeholder is retained as requested.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Project details are based on README.md, config.yaml, main.py, run_experiment.py, Neural Network/dola.py, and Neural Network/enn_torch.py. No benchmark result is asserted.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Motivation is framed as an evaluation problem, not as a claim that the project already improves reliability. TruthfulQA describes how language models can reproduce common falsehoods: Lin, Hilton, and Evans, ACL 2022, https://aclanthology.org/2022.acl-long.229/.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Objectives reflect the implemented commands and methods in main.py and run_experiment.py. The last objective is intentionally evaluative and makes no claim of achieved improvement.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Zhang et al., “TinyLlama: An Open-Source Small Language Model,” https://arxiv.org/abs/2401.02385. Chuang et al., “DoLa: Decoding by Contrasting Layers Improves Factuality in Large Language Models,” ICLR 2024, https://openreview.net/forum?id=Th6NyL07na. Osband et al., “Epistemic Neural Networks,” https://arxiv.org/abs/2107.08924. Wang et al., “Self-Consistency Improves Chain of Thought Reasoning in Language Models,” ICLR 2023, https://arxiv.org/abs/2203.11171. These references motivate individual methods; the deck does not claim prior work validated this exact combination.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C4 feature preparation and document split: Neural Network/data_prep.py. Model and DoLa decoding: Neural Network/dola.py. Epinet training and sampled entropy: Neural Network/enn_torch.py. Candidate aggregation: run_experiment.py and Neural Network/self_consistency.py. The diagram represents implemented code paths, not evidence of successful trained runs. C4 background reference: Raffel et al., JMLR 2020, https://jmlr.org/papers/v21/20-074.html.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Architecture details are read from Neural Network/dola.py and Neural Network/enn_torch.py. The configured TinyLlama structure uses a mature index of 21, candidate premature indices [0,4,8,12,16,20], hidden width 2,048, Epinet width 512, epistemic index size 6, and three samples by default. The diagram labels configured dimensions, not measured parameter counts.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Values verified from config.yaml, Neural Network/features_cache.npz metadata and arrays, eval_questions.json, README.md, Neural Network/enn_torch.py, and run_experiment.py. Cache metadata: version 4, 20 requested texts, max_length 128, val_fraction 0.1; cached arrays contain 1,841 rows, mature/premature shapes (1841,2048), labels (1841,), and 20 document IDs. The cache does not store an exact C4 source revision. The project README describes English C4 train streaming and current PyTorch checkpoint location; checkpoints/enn_best.pt was absent in this workspace. Hardware for any final run remains unknown.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 result values are included because no saved run outputs were found and the active checkpoint checkpoints/enn_best.pt was absent. Candidate count defaults are from run_experiment.py. The table is editable. Project metric implementations in run_experiment.py include exact-match accuracy, ECE, Brier score and binary NLL.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Conclusion and future work reflect the absence of current benchmark outputs and checkpoint. No accuracy or reliability improvement is claimed.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e457baac41894ba4"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c0293bc63d724286"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1c69078d7c3a4740"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78157df8d2a342a5"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17a13c2b2d974b00"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56b7aa00aded4758"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6DD45B9B-A7E6-4F21-886D-B3402D916087}"/>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BD6EF654-1097-4079-9C09-0012FEA5C58C}"/>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F7AD8680-780B-479D-8B98-EC65C3B9120C}"/>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200F2806-74FF-433A-B2C3-5DFC14B7260A}"/>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3F24E2ED-DC6D-4457-A7CB-68509CA7BE34}"/>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85DBE11F-02ED-49CE-897A-AE9DF370ABB3}"/>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ECB1046B-A69D-4657-8973-32B109668A98}"/>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B5640214-C6CE-4CC8-B7EB-A67504668C2B}"/>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18DB92C3-E308-48C1-86BD-F835439DBC49}"/>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54CBC52C-56D8-49A7-B060-9069F3EC951E}"/>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8adcc984c8174838" /><Relationship Type="http://schemas.openxmlformats.org/officeDocument/2006/relationships/slideLayout" Target="/ppt/slideLayouts/slideLayout1.xml" Id="Rebdd3383bb904216" /><Relationship Type="http://schemas.openxmlformats.org/officeDocument/2006/relationships/slideLayout" Target="/ppt/slideLayouts/slideLayout2.xml" Id="Rb2dad41f6c4146b6" /><Relationship Type="http://schemas.openxmlformats.org/officeDocument/2006/relationships/slideLayout" Target="/ppt/slideLayouts/slideLayout3.xml" Id="Rdcf479b502924cef" /><Relationship Type="http://schemas.openxmlformats.org/officeDocument/2006/relationships/slideLayout" Target="/ppt/slideLayouts/slideLayout4.xml" Id="R937fa64b93494cc4" /><Relationship Type="http://schemas.openxmlformats.org/officeDocument/2006/relationships/slideLayout" Target="/ppt/slideLayouts/slideLayout5.xml" Id="R9d4150a349fc4ef1" /><Relationship Type="http://schemas.openxmlformats.org/officeDocument/2006/relationships/slideLayout" Target="/ppt/slideLayouts/slideLayout6.xml" Id="R799ecac544714c2d"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ebdd3383bb904216"/>
    <p:sldLayoutId xmlns:r="http://schemas.openxmlformats.org/officeDocument/2006/relationships" id="2147483650" r:id="Rb2dad41f6c4146b6"/>
    <p:sldLayoutId xmlns:r="http://schemas.openxmlformats.org/officeDocument/2006/relationships" id="2147483651" r:id="Rdcf479b502924cef"/>
    <p:sldLayoutId xmlns:r="http://schemas.openxmlformats.org/officeDocument/2006/relationships" id="2147483652" r:id="R937fa64b93494cc4"/>
    <p:sldLayoutId xmlns:r="http://schemas.openxmlformats.org/officeDocument/2006/relationships" id="2147483653" r:id="R9d4150a349fc4ef1"/>
    <p:sldLayoutId xmlns:r="http://schemas.openxmlformats.org/officeDocument/2006/relationships" id="2147483654" r:id="R799ecac544714c2d"/>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f2d1456c16154526" /><Relationship Type="http://schemas.openxmlformats.org/officeDocument/2006/relationships/notesSlide" Target="/ppt/notesSlides/notesSlide1.xml" Id="Reca0dcdda021477e"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c941e3c668f0427d" /><Relationship Type="http://schemas.openxmlformats.org/officeDocument/2006/relationships/notesSlide" Target="/ppt/notesSlides/notesSlide2.xml" Id="R82551ba0ef5b4dad"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cc165f1bc8cc40bc" /><Relationship Type="http://schemas.openxmlformats.org/officeDocument/2006/relationships/notesSlide" Target="/ppt/notesSlides/notesSlide3.xml" Id="R880cd0b7b4944678"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0088b05f97684b9d" /><Relationship Type="http://schemas.openxmlformats.org/officeDocument/2006/relationships/notesSlide" Target="/ppt/notesSlides/notesSlide4.xml" Id="R45912bfdbba244b9"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d3ac7376a54a405b" /><Relationship Type="http://schemas.openxmlformats.org/officeDocument/2006/relationships/notesSlide" Target="/ppt/notesSlides/notesSlide5.xml" Id="R751a482f5cf54f81"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41c0e2889ec94d46" /><Relationship Type="http://schemas.openxmlformats.org/officeDocument/2006/relationships/notesSlide" Target="/ppt/notesSlides/notesSlide6.xml" Id="Rf16106a841f84f14"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9a05468243164f30" /><Relationship Type="http://schemas.openxmlformats.org/officeDocument/2006/relationships/notesSlide" Target="/ppt/notesSlides/notesSlide7.xml" Id="Rff43ad55d507402b"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f7abba6bf7444046" /><Relationship Type="http://schemas.openxmlformats.org/officeDocument/2006/relationships/notesSlide" Target="/ppt/notesSlides/notesSlide8.xml" Id="Reb6d8c5e8ddf415a"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90f25da67f624982" /><Relationship Type="http://schemas.openxmlformats.org/officeDocument/2006/relationships/notesSlide" Target="/ppt/notesSlides/notesSlide9.xml" Id="R1447dcb599ca433e"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5b29ef4b6fc24f15" /><Relationship Type="http://schemas.openxmlformats.org/officeDocument/2006/relationships/notesSlide" Target="/ppt/notesSlides/notesSlide10.xml" Id="Rf22b110acf2f4add" /></Relationships>
</file>

<file path=ppt/slides/slide1.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64" name="">
            <a:extLst xmlns:a="http://schemas.openxmlformats.org/drawingml/2006/main">
              <a:ext uri="{FF2B5EF4-FFF2-40B4-BE49-F238E27FC236}">
                <a16:creationId xmlns:a16="http://schemas.microsoft.com/office/drawing/2014/main" id="{C69BEF8C-63C6-4511-94E3-C9D932176113}"/>
              </a:ext>
            </a:extLst>
          </p:cNvPr>
          <p:cNvSpPr>
            <a:spLocks xmlns:a="http://schemas.openxmlformats.org/drawingml/2006/main" noGrp="1"/>
          </p:cNvSpPr>
          <p:nvPr/>
        </p:nvSpPr>
        <p:spPr>
          <a:xfrm xmlns:a="http://schemas.openxmlformats.org/drawingml/2006/main">
            <a:off x="0" y="0"/>
            <a:ext cx="7429500" cy="6858000"/>
          </a:xfrm>
          <a:prstGeom xmlns:a="http://schemas.openxmlformats.org/drawingml/2006/main" prst="rect">
            <a:avLst/>
          </a:prstGeom>
          <a:solidFill xmlns:a="http://schemas.openxmlformats.org/drawingml/2006/main">
            <a:srgbClr val="10253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391B546D-1B79-4B01-9EB1-5A9542E19E2B}"/>
              </a:ext>
            </a:extLst>
          </p:cNvPr>
          <p:cNvSpPr>
            <a:spLocks xmlns:a="http://schemas.openxmlformats.org/drawingml/2006/main" noGrp="1"/>
          </p:cNvSpPr>
          <p:nvPr/>
        </p:nvSpPr>
        <p:spPr>
          <a:xfrm xmlns:a="http://schemas.openxmlformats.org/drawingml/2006/main">
            <a:off x="7429500" y="0"/>
            <a:ext cx="4762500" cy="6858000"/>
          </a:xfrm>
          <a:prstGeom xmlns:a="http://schemas.openxmlformats.org/drawingml/2006/main" prst="rect">
            <a:avLst/>
          </a:prstGeom>
          <a:solidFill xmlns:a="http://schemas.openxmlformats.org/drawingml/2006/main">
            <a:srgbClr val="EEF3F8"/>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98BF6881-4471-49CE-ACF3-C749B7B7581D}"/>
              </a:ext>
            </a:extLst>
          </p:cNvPr>
          <p:cNvSpPr>
            <a:spLocks xmlns:a="http://schemas.openxmlformats.org/drawingml/2006/main" noGrp="1"/>
          </p:cNvSpPr>
          <p:nvPr/>
        </p:nvSpPr>
        <p:spPr>
          <a:xfrm xmlns:a="http://schemas.openxmlformats.org/drawingml/2006/main">
            <a:off x="609600" y="685800"/>
            <a:ext cx="628650" cy="47625"/>
          </a:xfrm>
          <a:prstGeom xmlns:a="http://schemas.openxmlformats.org/drawingml/2006/main" prst="rect">
            <a:avLst/>
          </a:prstGeom>
          <a:solidFill xmlns:a="http://schemas.openxmlformats.org/drawingml/2006/main">
            <a:srgbClr val="56C4BE"/>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F565982F-87E9-4A4C-BFBC-0C326003A889}"/>
              </a:ext>
            </a:extLst>
          </p:cNvPr>
          <p:cNvSpPr>
            <a:spLocks xmlns:a="http://schemas.openxmlformats.org/drawingml/2006/main" noGrp="1"/>
          </p:cNvSpPr>
          <p:nvPr/>
        </p:nvSpPr>
        <p:spPr>
          <a:xfrm xmlns:a="http://schemas.openxmlformats.org/drawingml/2006/main">
            <a:off x="609600" y="1066800"/>
            <a:ext cx="6286500" cy="1085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3450" b="1">
                <a:solidFill>
                  <a:srgbClr val="FFFFFF"/>
                </a:solidFill>
                <a:latin typeface="Helvetica Neue"/>
                <a:ea typeface="Helvetica Neue"/>
                <a:cs typeface="Helvetica Neue"/>
              </a:defRPr>
            </a:defPPr>
          </a:lstStyle>
          <a:p xmlns:a="http://schemas.openxmlformats.org/drawingml/2006/main">
            <a:pPr algn="l">
              <a:lnSpc>
                <a:spcPct val="98000"/>
              </a:lnSpc>
              <a:buNone/>
              <a:defRPr sz="3450" b="1">
                <a:solidFill>
                  <a:srgbClr val="FFFFFF"/>
                </a:solidFill>
                <a:latin typeface="Helvetica Neue"/>
                <a:ea typeface="Helvetica Neue"/>
                <a:cs typeface="Helvetica Neue"/>
              </a:defRPr>
            </a:pPr>
            <a:r>
              <a:rPr sz="3450" b="1">
                <a:solidFill>
                  <a:srgbClr val="FFFFFF"/>
                </a:solidFill>
                <a:latin typeface="Helvetica Neue"/>
                <a:ea typeface="Helvetica Neue"/>
                <a:cs typeface="Helvetica Neue"/>
              </a:rPr>
              <a:t>[PROJECT TITLE TO BE PROVIDED]</a:t>
            </a:r>
          </a:p>
        </p:txBody>
      </p:sp>
      <p:sp>
        <p:nvSpPr>
          <p:cNvPr id="5" name="">
            <a:extLst xmlns:a="http://schemas.openxmlformats.org/drawingml/2006/main">
              <a:ext uri="{FF2B5EF4-FFF2-40B4-BE49-F238E27FC236}">
                <a16:creationId xmlns:a16="http://schemas.microsoft.com/office/drawing/2014/main" id="{5F9D56D6-8BDF-4578-8DD7-D72AEFAC4233}"/>
              </a:ext>
            </a:extLst>
          </p:cNvPr>
          <p:cNvSpPr>
            <a:spLocks xmlns:a="http://schemas.openxmlformats.org/drawingml/2006/main" noGrp="1"/>
          </p:cNvSpPr>
          <p:nvPr/>
        </p:nvSpPr>
        <p:spPr>
          <a:xfrm xmlns:a="http://schemas.openxmlformats.org/drawingml/2006/main">
            <a:off x="628650" y="2295525"/>
            <a:ext cx="60007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875" b="0">
                <a:solidFill>
                  <a:srgbClr val="B9D8F0"/>
                </a:solidFill>
                <a:latin typeface="Helvetica Neue"/>
                <a:ea typeface="Helvetica Neue"/>
                <a:cs typeface="Helvetica Neue"/>
              </a:defRPr>
            </a:defPPr>
          </a:lstStyle>
          <a:p xmlns:a="http://schemas.openxmlformats.org/drawingml/2006/main">
            <a:pPr algn="l">
              <a:lnSpc>
                <a:spcPct val="105000"/>
              </a:lnSpc>
              <a:buNone/>
              <a:defRPr sz="1875" b="0">
                <a:solidFill>
                  <a:srgbClr val="B9D8F0"/>
                </a:solidFill>
                <a:latin typeface="Helvetica Neue"/>
                <a:ea typeface="Helvetica Neue"/>
                <a:cs typeface="Helvetica Neue"/>
              </a:defRPr>
            </a:pPr>
            <a:r>
              <a:rPr sz="1875" b="0">
                <a:solidFill>
                  <a:srgbClr val="B9D8F0"/>
                </a:solidFill>
                <a:latin typeface="Helvetica Neue"/>
                <a:ea typeface="Helvetica Neue"/>
                <a:cs typeface="Helvetica Neue"/>
              </a:rPr>
              <a:t>TinyLlama DoLa + ENN reliability pipeline</a:t>
            </a:r>
          </a:p>
        </p:txBody>
      </p:sp>
      <p:sp>
        <p:nvSpPr>
          <p:cNvPr id="6" name="">
            <a:extLst xmlns:a="http://schemas.openxmlformats.org/drawingml/2006/main">
              <a:ext uri="{FF2B5EF4-FFF2-40B4-BE49-F238E27FC236}">
                <a16:creationId xmlns:a16="http://schemas.microsoft.com/office/drawing/2014/main" id="{EDA0D542-E68F-4A7A-809C-9734A3A0B4B3}"/>
              </a:ext>
            </a:extLst>
          </p:cNvPr>
          <p:cNvSpPr>
            <a:spLocks xmlns:a="http://schemas.openxmlformats.org/drawingml/2006/main" noGrp="1"/>
          </p:cNvSpPr>
          <p:nvPr/>
        </p:nvSpPr>
        <p:spPr>
          <a:xfrm xmlns:a="http://schemas.openxmlformats.org/drawingml/2006/main">
            <a:off x="628650" y="3028950"/>
            <a:ext cx="49530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1">
                <a:solidFill>
                  <a:srgbClr val="FFFFFF"/>
                </a:solidFill>
                <a:latin typeface="Helvetica Neue"/>
                <a:ea typeface="Helvetica Neue"/>
                <a:cs typeface="Helvetica Neue"/>
              </a:defRPr>
            </a:defPPr>
          </a:lstStyle>
          <a:p xmlns:a="http://schemas.openxmlformats.org/drawingml/2006/main">
            <a:pPr algn="l">
              <a:lnSpc>
                <a:spcPct val="105000"/>
              </a:lnSpc>
              <a:buNone/>
              <a:defRPr sz="1350" b="1">
                <a:solidFill>
                  <a:srgbClr val="FFFFFF"/>
                </a:solidFill>
                <a:latin typeface="Helvetica Neue"/>
                <a:ea typeface="Helvetica Neue"/>
                <a:cs typeface="Helvetica Neue"/>
              </a:defRPr>
            </a:pPr>
            <a:r>
              <a:rPr sz="1350" b="1">
                <a:solidFill>
                  <a:srgbClr val="FFFFFF"/>
                </a:solidFill>
                <a:latin typeface="Helvetica Neue"/>
                <a:ea typeface="Helvetica Neue"/>
                <a:cs typeface="Helvetica Neue"/>
              </a:rPr>
              <a:t>B.Tech Capstone Project Review</a:t>
            </a:r>
          </a:p>
        </p:txBody>
      </p:sp>
      <p:sp>
        <p:nvSpPr>
          <p:cNvPr id="7" name="">
            <a:extLst xmlns:a="http://schemas.openxmlformats.org/drawingml/2006/main">
              <a:ext uri="{FF2B5EF4-FFF2-40B4-BE49-F238E27FC236}">
                <a16:creationId xmlns:a16="http://schemas.microsoft.com/office/drawing/2014/main" id="{640B4985-E20B-431B-A797-C526255CD0F7}"/>
              </a:ext>
            </a:extLst>
          </p:cNvPr>
          <p:cNvSpPr>
            <a:spLocks xmlns:a="http://schemas.openxmlformats.org/drawingml/2006/main" noGrp="1"/>
          </p:cNvSpPr>
          <p:nvPr/>
        </p:nvSpPr>
        <p:spPr>
          <a:xfrm xmlns:a="http://schemas.openxmlformats.org/drawingml/2006/main" flipV="0">
            <a:off x="628650" y="3486150"/>
            <a:ext cx="5943600" cy="0"/>
          </a:xfrm>
          <a:prstGeom xmlns:a="http://schemas.openxmlformats.org/drawingml/2006/main" prst="line">
            <a:avLst/>
          </a:prstGeom>
          <a:noFill xmlns:a="http://schemas.openxmlformats.org/drawingml/2006/main"/>
          <a:ln xmlns:a="http://schemas.openxmlformats.org/drawingml/2006/main" w="9525">
            <a:solidFill>
              <a:srgbClr val="54708C"/>
            </a:solidFill>
            <a:prstDash val="solid"/>
          </a:ln>
        </p:spPr>
      </p:sp>
      <p:sp>
        <p:nvSpPr>
          <p:cNvPr id="8" name="">
            <a:extLst xmlns:a="http://schemas.openxmlformats.org/drawingml/2006/main">
              <a:ext uri="{FF2B5EF4-FFF2-40B4-BE49-F238E27FC236}">
                <a16:creationId xmlns:a16="http://schemas.microsoft.com/office/drawing/2014/main" id="{0490DA15-1DCE-48F9-8D0C-71D72812F0B4}"/>
              </a:ext>
            </a:extLst>
          </p:cNvPr>
          <p:cNvSpPr>
            <a:spLocks xmlns:a="http://schemas.openxmlformats.org/drawingml/2006/main" noGrp="1"/>
          </p:cNvSpPr>
          <p:nvPr/>
        </p:nvSpPr>
        <p:spPr>
          <a:xfrm xmlns:a="http://schemas.openxmlformats.org/drawingml/2006/main">
            <a:off x="628650" y="3733800"/>
            <a:ext cx="2095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1">
                <a:solidFill>
                  <a:srgbClr val="72D0C7"/>
                </a:solidFill>
                <a:latin typeface="Helvetica Neue"/>
                <a:ea typeface="Helvetica Neue"/>
                <a:cs typeface="Helvetica Neue"/>
              </a:defRPr>
            </a:defPPr>
          </a:lstStyle>
          <a:p xmlns:a="http://schemas.openxmlformats.org/drawingml/2006/main">
            <a:pPr algn="l">
              <a:lnSpc>
                <a:spcPct val="105000"/>
              </a:lnSpc>
              <a:buNone/>
              <a:defRPr sz="975" b="1">
                <a:solidFill>
                  <a:srgbClr val="72D0C7"/>
                </a:solidFill>
                <a:latin typeface="Helvetica Neue"/>
                <a:ea typeface="Helvetica Neue"/>
                <a:cs typeface="Helvetica Neue"/>
              </a:defRPr>
            </a:pPr>
            <a:r>
              <a:rPr sz="975" b="1">
                <a:solidFill>
                  <a:srgbClr val="72D0C7"/>
                </a:solidFill>
                <a:latin typeface="Helvetica Neue"/>
                <a:ea typeface="Helvetica Neue"/>
                <a:cs typeface="Helvetica Neue"/>
              </a:rPr>
              <a:t>PRESENTED BY</a:t>
            </a:r>
          </a:p>
        </p:txBody>
      </p:sp>
      <p:sp>
        <p:nvSpPr>
          <p:cNvPr id="9" name="">
            <a:extLst xmlns:a="http://schemas.openxmlformats.org/drawingml/2006/main">
              <a:ext uri="{FF2B5EF4-FFF2-40B4-BE49-F238E27FC236}">
                <a16:creationId xmlns:a16="http://schemas.microsoft.com/office/drawing/2014/main" id="{C7B0AEB3-46F9-481C-B2A5-061CFBCC95C5}"/>
              </a:ext>
            </a:extLst>
          </p:cNvPr>
          <p:cNvSpPr>
            <a:spLocks xmlns:a="http://schemas.openxmlformats.org/drawingml/2006/main" noGrp="1"/>
          </p:cNvSpPr>
          <p:nvPr/>
        </p:nvSpPr>
        <p:spPr>
          <a:xfrm xmlns:a="http://schemas.openxmlformats.org/drawingml/2006/main">
            <a:off x="628650" y="4019550"/>
            <a:ext cx="6076950" cy="1314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a:solidFill>
                  <a:srgbClr val="FFFFFF"/>
                </a:solidFill>
                <a:latin typeface="Helvetica Neue"/>
                <a:ea typeface="Helvetica Neue"/>
                <a:cs typeface="Helvetica Neue"/>
              </a:defRPr>
            </a:defPPr>
          </a:lstStyle>
          <a:p xmlns:a="http://schemas.openxmlformats.org/drawingml/2006/main">
            <a:pPr algn="l">
              <a:lnSpc>
                <a:spcPct val="110000"/>
              </a:lnSpc>
              <a:buNone/>
              <a:defRPr sz="1275" b="0">
                <a:solidFill>
                  <a:srgbClr val="FFFFFF"/>
                </a:solidFill>
                <a:latin typeface="Helvetica Neue"/>
                <a:ea typeface="Helvetica Neue"/>
                <a:cs typeface="Helvetica Neue"/>
              </a:defRPr>
            </a:pPr>
            <a:r>
              <a:rPr sz="1275" b="0">
                <a:solidFill>
                  <a:srgbClr val="FFFFFF"/>
                </a:solidFill>
                <a:latin typeface="Helvetica Neue"/>
                <a:ea typeface="Helvetica Neue"/>
                <a:cs typeface="Helvetica Neue"/>
              </a:rPr>
              <a:t>E. Ganesh Kumar Reddy  ·  23BCE8969</a:t>
            </a:r>
          </a:p>
          <a:p xmlns:a="http://schemas.openxmlformats.org/drawingml/2006/main">
            <a:pPr algn="l">
              <a:lnSpc>
                <a:spcPct val="110000"/>
              </a:lnSpc>
              <a:buNone/>
              <a:defRPr sz="1275" b="0">
                <a:solidFill>
                  <a:srgbClr val="FFFFFF"/>
                </a:solidFill>
                <a:latin typeface="Helvetica Neue"/>
                <a:ea typeface="Helvetica Neue"/>
                <a:cs typeface="Helvetica Neue"/>
              </a:defRPr>
            </a:pPr>
            <a:r>
              <a:rPr sz="1275" b="0">
                <a:solidFill>
                  <a:srgbClr val="FFFFFF"/>
                </a:solidFill>
                <a:latin typeface="Helvetica Neue"/>
                <a:ea typeface="Helvetica Neue"/>
                <a:cs typeface="Helvetica Neue"/>
              </a:rPr>
              <a:t>B. Sai Susmitha  ·  23BCE9884</a:t>
            </a:r>
          </a:p>
          <a:p xmlns:a="http://schemas.openxmlformats.org/drawingml/2006/main">
            <a:pPr algn="l">
              <a:lnSpc>
                <a:spcPct val="110000"/>
              </a:lnSpc>
              <a:buNone/>
              <a:defRPr sz="1275" b="0">
                <a:solidFill>
                  <a:srgbClr val="FFFFFF"/>
                </a:solidFill>
                <a:latin typeface="Helvetica Neue"/>
                <a:ea typeface="Helvetica Neue"/>
                <a:cs typeface="Helvetica Neue"/>
              </a:defRPr>
            </a:pPr>
            <a:r>
              <a:rPr sz="1275" b="0">
                <a:solidFill>
                  <a:srgbClr val="FFFFFF"/>
                </a:solidFill>
                <a:latin typeface="Helvetica Neue"/>
                <a:ea typeface="Helvetica Neue"/>
                <a:cs typeface="Helvetica Neue"/>
              </a:rPr>
              <a:t>P. Dhanush Datta  ·  23BCE9258</a:t>
            </a:r>
          </a:p>
          <a:p xmlns:a="http://schemas.openxmlformats.org/drawingml/2006/main">
            <a:pPr algn="l">
              <a:lnSpc>
                <a:spcPct val="110000"/>
              </a:lnSpc>
              <a:buNone/>
              <a:defRPr sz="1275" b="0">
                <a:solidFill>
                  <a:srgbClr val="FFFFFF"/>
                </a:solidFill>
                <a:latin typeface="Helvetica Neue"/>
                <a:ea typeface="Helvetica Neue"/>
                <a:cs typeface="Helvetica Neue"/>
              </a:defRPr>
            </a:pPr>
            <a:r>
              <a:rPr sz="1275" b="0">
                <a:solidFill>
                  <a:srgbClr val="FFFFFF"/>
                </a:solidFill>
                <a:latin typeface="Helvetica Neue"/>
                <a:ea typeface="Helvetica Neue"/>
                <a:cs typeface="Helvetica Neue"/>
              </a:rPr>
              <a:t>E. Sri Vardhan Reddy  ·  23BCE8972</a:t>
            </a:r>
          </a:p>
        </p:txBody>
      </p:sp>
      <p:sp>
        <p:nvSpPr>
          <p:cNvPr id="10" name="">
            <a:extLst xmlns:a="http://schemas.openxmlformats.org/drawingml/2006/main">
              <a:ext uri="{FF2B5EF4-FFF2-40B4-BE49-F238E27FC236}">
                <a16:creationId xmlns:a16="http://schemas.microsoft.com/office/drawing/2014/main" id="{F420EAF3-588E-4E7F-AD86-1DC63325ED5B}"/>
              </a:ext>
            </a:extLst>
          </p:cNvPr>
          <p:cNvSpPr>
            <a:spLocks xmlns:a="http://schemas.openxmlformats.org/drawingml/2006/main" noGrp="1"/>
          </p:cNvSpPr>
          <p:nvPr/>
        </p:nvSpPr>
        <p:spPr>
          <a:xfrm xmlns:a="http://schemas.openxmlformats.org/drawingml/2006/main">
            <a:off x="628650" y="5524500"/>
            <a:ext cx="1619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1">
                <a:solidFill>
                  <a:srgbClr val="72D0C7"/>
                </a:solidFill>
                <a:latin typeface="Helvetica Neue"/>
                <a:ea typeface="Helvetica Neue"/>
                <a:cs typeface="Helvetica Neue"/>
              </a:defRPr>
            </a:defPPr>
          </a:lstStyle>
          <a:p xmlns:a="http://schemas.openxmlformats.org/drawingml/2006/main">
            <a:pPr algn="l">
              <a:lnSpc>
                <a:spcPct val="105000"/>
              </a:lnSpc>
              <a:buNone/>
              <a:defRPr sz="975" b="1">
                <a:solidFill>
                  <a:srgbClr val="72D0C7"/>
                </a:solidFill>
                <a:latin typeface="Helvetica Neue"/>
                <a:ea typeface="Helvetica Neue"/>
                <a:cs typeface="Helvetica Neue"/>
              </a:defRPr>
            </a:pPr>
            <a:r>
              <a:rPr sz="975" b="1">
                <a:solidFill>
                  <a:srgbClr val="72D0C7"/>
                </a:solidFill>
                <a:latin typeface="Helvetica Neue"/>
                <a:ea typeface="Helvetica Neue"/>
                <a:cs typeface="Helvetica Neue"/>
              </a:rPr>
              <a:t>GUIDED BY</a:t>
            </a:r>
          </a:p>
        </p:txBody>
      </p:sp>
      <p:sp>
        <p:nvSpPr>
          <p:cNvPr id="11" name="">
            <a:extLst xmlns:a="http://schemas.openxmlformats.org/drawingml/2006/main">
              <a:ext uri="{FF2B5EF4-FFF2-40B4-BE49-F238E27FC236}">
                <a16:creationId xmlns:a16="http://schemas.microsoft.com/office/drawing/2014/main" id="{D07029C9-4230-41BC-9C57-C1B93A16E03B}"/>
              </a:ext>
            </a:extLst>
          </p:cNvPr>
          <p:cNvSpPr>
            <a:spLocks xmlns:a="http://schemas.openxmlformats.org/drawingml/2006/main" noGrp="1"/>
          </p:cNvSpPr>
          <p:nvPr/>
        </p:nvSpPr>
        <p:spPr>
          <a:xfrm xmlns:a="http://schemas.openxmlformats.org/drawingml/2006/main">
            <a:off x="628650" y="5791200"/>
            <a:ext cx="6096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125" b="0">
                <a:solidFill>
                  <a:srgbClr val="FFFFFF"/>
                </a:solidFill>
                <a:latin typeface="Helvetica Neue"/>
                <a:ea typeface="Helvetica Neue"/>
                <a:cs typeface="Helvetica Neue"/>
              </a:defRPr>
            </a:defPPr>
          </a:lstStyle>
          <a:p xmlns:a="http://schemas.openxmlformats.org/drawingml/2006/main">
            <a:pPr algn="l">
              <a:lnSpc>
                <a:spcPct val="105000"/>
              </a:lnSpc>
              <a:buNone/>
              <a:defRPr sz="1125" b="0">
                <a:solidFill>
                  <a:srgbClr val="FFFFFF"/>
                </a:solidFill>
                <a:latin typeface="Helvetica Neue"/>
                <a:ea typeface="Helvetica Neue"/>
                <a:cs typeface="Helvetica Neue"/>
              </a:defRPr>
            </a:pPr>
            <a:r>
              <a:rPr sz="1125" b="0">
                <a:solidFill>
                  <a:srgbClr val="FFFFFF"/>
                </a:solidFill>
                <a:latin typeface="Helvetica Neue"/>
                <a:ea typeface="Helvetica Neue"/>
                <a:cs typeface="Helvetica Neue"/>
              </a:rPr>
              <a:t>Palacharla Ravi Kumar  |  Assistant Professor Sr. Grade-2</a:t>
            </a:r>
          </a:p>
          <a:p xmlns:a="http://schemas.openxmlformats.org/drawingml/2006/main">
            <a:pPr algn="l">
              <a:lnSpc>
                <a:spcPct val="105000"/>
              </a:lnSpc>
              <a:buNone/>
              <a:defRPr sz="1125" b="0">
                <a:solidFill>
                  <a:srgbClr val="FFFFFF"/>
                </a:solidFill>
                <a:latin typeface="Helvetica Neue"/>
                <a:ea typeface="Helvetica Neue"/>
                <a:cs typeface="Helvetica Neue"/>
              </a:defRPr>
            </a:pPr>
            <a:r>
              <a:rPr sz="1125" b="0">
                <a:solidFill>
                  <a:srgbClr val="FFFFFF"/>
                </a:solidFill>
                <a:latin typeface="Helvetica Neue"/>
                <a:ea typeface="Helvetica Neue"/>
                <a:cs typeface="Helvetica Neue"/>
              </a:rPr>
              <a:t>SCOPE, VIT-AP University</a:t>
            </a:r>
          </a:p>
        </p:txBody>
      </p:sp>
      <p:sp>
        <p:nvSpPr>
          <p:cNvPr id="12" name="">
            <a:extLst xmlns:a="http://schemas.openxmlformats.org/drawingml/2006/main">
              <a:ext uri="{FF2B5EF4-FFF2-40B4-BE49-F238E27FC236}">
                <a16:creationId xmlns:a16="http://schemas.microsoft.com/office/drawing/2014/main" id="{D740D815-C4CF-4CCF-B406-C66768ECAB28}"/>
              </a:ext>
            </a:extLst>
          </p:cNvPr>
          <p:cNvSpPr>
            <a:spLocks xmlns:a="http://schemas.openxmlformats.org/drawingml/2006/main" noGrp="1"/>
          </p:cNvSpPr>
          <p:nvPr/>
        </p:nvSpPr>
        <p:spPr>
          <a:xfrm xmlns:a="http://schemas.openxmlformats.org/drawingml/2006/main">
            <a:off x="7962900" y="552450"/>
            <a:ext cx="342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1125" b="1">
                <a:solidFill>
                  <a:srgbClr val="2864C5"/>
                </a:solidFill>
                <a:latin typeface="Helvetica Neue"/>
                <a:ea typeface="Helvetica Neue"/>
                <a:cs typeface="Helvetica Neue"/>
              </a:defRPr>
            </a:defPPr>
          </a:lstStyle>
          <a:p xmlns:a="http://schemas.openxmlformats.org/drawingml/2006/main">
            <a:pPr algn="r">
              <a:lnSpc>
                <a:spcPct val="105000"/>
              </a:lnSpc>
              <a:buNone/>
              <a:defRPr sz="1125" b="1">
                <a:solidFill>
                  <a:srgbClr val="2864C5"/>
                </a:solidFill>
                <a:latin typeface="Helvetica Neue"/>
                <a:ea typeface="Helvetica Neue"/>
                <a:cs typeface="Helvetica Neue"/>
              </a:defRPr>
            </a:pPr>
            <a:r>
              <a:rPr sz="1125" b="1">
                <a:solidFill>
                  <a:srgbClr val="2864C5"/>
                </a:solidFill>
                <a:latin typeface="Helvetica Neue"/>
                <a:ea typeface="Helvetica Neue"/>
                <a:cs typeface="Helvetica Neue"/>
              </a:rPr>
              <a:t>VIT-AP UNIVERSITY</a:t>
            </a:r>
          </a:p>
        </p:txBody>
      </p:sp>
      <p:sp>
        <p:nvSpPr>
          <p:cNvPr id="13" name="">
            <a:extLst xmlns:a="http://schemas.openxmlformats.org/drawingml/2006/main">
              <a:ext uri="{FF2B5EF4-FFF2-40B4-BE49-F238E27FC236}">
                <a16:creationId xmlns:a16="http://schemas.microsoft.com/office/drawing/2014/main" id="{9AB94732-FC1B-417B-967E-63388DEDE50E}"/>
              </a:ext>
            </a:extLst>
          </p:cNvPr>
          <p:cNvSpPr>
            <a:spLocks xmlns:a="http://schemas.openxmlformats.org/drawingml/2006/main" noGrp="1"/>
          </p:cNvSpPr>
          <p:nvPr/>
        </p:nvSpPr>
        <p:spPr>
          <a:xfrm xmlns:a="http://schemas.openxmlformats.org/drawingml/2006/main">
            <a:off x="7962900" y="1066800"/>
            <a:ext cx="33337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6372"/>
          </a:bodyPr>
          <a:lstStyle xmlns:a="http://schemas.openxmlformats.org/drawingml/2006/main">
            <a:defPPr algn="r">
              <a:defRPr sz="2100" b="1">
                <a:solidFill>
                  <a:srgbClr val="10253F"/>
                </a:solidFill>
                <a:latin typeface="Helvetica Neue"/>
                <a:ea typeface="Helvetica Neue"/>
                <a:cs typeface="Helvetica Neue"/>
              </a:defRPr>
            </a:defPPr>
          </a:lstStyle>
          <a:p xmlns:a="http://schemas.openxmlformats.org/drawingml/2006/main">
            <a:pPr algn="r">
              <a:lnSpc>
                <a:spcPct val="105000"/>
              </a:lnSpc>
              <a:buNone/>
              <a:defRPr sz="2100" b="1">
                <a:solidFill>
                  <a:srgbClr val="10253F"/>
                </a:solidFill>
                <a:latin typeface="Helvetica Neue"/>
                <a:ea typeface="Helvetica Neue"/>
                <a:cs typeface="Helvetica Neue"/>
              </a:defRPr>
            </a:pPr>
            <a:r>
              <a:rPr sz="2100" b="1">
                <a:solidFill>
                  <a:srgbClr val="10253F"/>
                </a:solidFill>
                <a:latin typeface="Helvetica Neue"/>
                <a:ea typeface="Helvetica Neue"/>
                <a:cs typeface="Helvetica Neue"/>
              </a:rPr>
              <a:t>Layer contrast</a:t>
            </a:r>
          </a:p>
          <a:p xmlns:a="http://schemas.openxmlformats.org/drawingml/2006/main">
            <a:pPr algn="r">
              <a:lnSpc>
                <a:spcPct val="105000"/>
              </a:lnSpc>
              <a:buNone/>
              <a:defRPr sz="2100" b="1">
                <a:solidFill>
                  <a:srgbClr val="10253F"/>
                </a:solidFill>
                <a:latin typeface="Helvetica Neue"/>
                <a:ea typeface="Helvetica Neue"/>
                <a:cs typeface="Helvetica Neue"/>
              </a:defRPr>
            </a:pPr>
            <a:r>
              <a:rPr sz="2100" b="1">
                <a:solidFill>
                  <a:srgbClr val="10253F"/>
                </a:solidFill>
                <a:latin typeface="Helvetica Neue"/>
                <a:ea typeface="Helvetica Neue"/>
                <a:cs typeface="Helvetica Neue"/>
              </a:rPr>
              <a:t>and uncertainty</a:t>
            </a:r>
          </a:p>
        </p:txBody>
      </p:sp>
      <p:sp>
        <p:nvSpPr>
          <p:cNvPr id="14" name="">
            <a:extLst xmlns:a="http://schemas.openxmlformats.org/drawingml/2006/main">
              <a:ext uri="{FF2B5EF4-FFF2-40B4-BE49-F238E27FC236}">
                <a16:creationId xmlns:a16="http://schemas.microsoft.com/office/drawing/2014/main" id="{DD525441-3DB1-4D55-AD66-342AC6387FB1}"/>
              </a:ext>
            </a:extLst>
          </p:cNvPr>
          <p:cNvSpPr>
            <a:spLocks xmlns:a="http://schemas.openxmlformats.org/drawingml/2006/main" noGrp="1"/>
          </p:cNvSpPr>
          <p:nvPr/>
        </p:nvSpPr>
        <p:spPr>
          <a:xfrm xmlns:a="http://schemas.openxmlformats.org/drawingml/2006/main" flipV="1">
            <a:off x="8315325" y="2314575"/>
            <a:ext cx="1047750" cy="285750"/>
          </a:xfrm>
          <a:prstGeom xmlns:a="http://schemas.openxmlformats.org/drawingml/2006/main" prst="line">
            <a:avLst/>
          </a:prstGeom>
          <a:noFill xmlns:a="http://schemas.openxmlformats.org/drawingml/2006/main"/>
          <a:ln xmlns:a="http://schemas.openxmlformats.org/drawingml/2006/main" w="9525">
            <a:solidFill>
              <a:srgbClr val="C5D4E1"/>
            </a:solidFill>
            <a:prstDash val="solid"/>
          </a:ln>
        </p:spPr>
      </p:sp>
      <p:sp>
        <p:nvSpPr>
          <p:cNvPr id="15" name="">
            <a:extLst xmlns:a="http://schemas.openxmlformats.org/drawingml/2006/main">
              <a:ext uri="{FF2B5EF4-FFF2-40B4-BE49-F238E27FC236}">
                <a16:creationId xmlns:a16="http://schemas.microsoft.com/office/drawing/2014/main" id="{8A59D4D5-D69A-4006-9402-6565EFAA6D23}"/>
              </a:ext>
            </a:extLst>
          </p:cNvPr>
          <p:cNvSpPr>
            <a:spLocks xmlns:a="http://schemas.openxmlformats.org/drawingml/2006/main" noGrp="1"/>
          </p:cNvSpPr>
          <p:nvPr/>
        </p:nvSpPr>
        <p:spPr>
          <a:xfrm xmlns:a="http://schemas.openxmlformats.org/drawingml/2006/main" flipV="0">
            <a:off x="8315325" y="2600325"/>
            <a:ext cx="1047750" cy="447675"/>
          </a:xfrm>
          <a:prstGeom xmlns:a="http://schemas.openxmlformats.org/drawingml/2006/main" prst="line">
            <a:avLst/>
          </a:prstGeom>
          <a:noFill xmlns:a="http://schemas.openxmlformats.org/drawingml/2006/main"/>
          <a:ln xmlns:a="http://schemas.openxmlformats.org/drawingml/2006/main" w="9525">
            <a:solidFill>
              <a:srgbClr val="C5D4E1"/>
            </a:solidFill>
            <a:prstDash val="solid"/>
          </a:ln>
        </p:spPr>
      </p:sp>
      <p:sp>
        <p:nvSpPr>
          <p:cNvPr id="16" name="">
            <a:extLst xmlns:a="http://schemas.openxmlformats.org/drawingml/2006/main">
              <a:ext uri="{FF2B5EF4-FFF2-40B4-BE49-F238E27FC236}">
                <a16:creationId xmlns:a16="http://schemas.microsoft.com/office/drawing/2014/main" id="{A8861BFA-A771-459D-BF58-A3B9BC348A28}"/>
              </a:ext>
            </a:extLst>
          </p:cNvPr>
          <p:cNvSpPr>
            <a:spLocks xmlns:a="http://schemas.openxmlformats.org/drawingml/2006/main" noGrp="1"/>
          </p:cNvSpPr>
          <p:nvPr/>
        </p:nvSpPr>
        <p:spPr>
          <a:xfrm xmlns:a="http://schemas.openxmlformats.org/drawingml/2006/main" flipV="0">
            <a:off x="8315325" y="2600325"/>
            <a:ext cx="1047750" cy="1181100"/>
          </a:xfrm>
          <a:prstGeom xmlns:a="http://schemas.openxmlformats.org/drawingml/2006/main" prst="line">
            <a:avLst/>
          </a:prstGeom>
          <a:noFill xmlns:a="http://schemas.openxmlformats.org/drawingml/2006/main"/>
          <a:ln xmlns:a="http://schemas.openxmlformats.org/drawingml/2006/main" w="9525">
            <a:solidFill>
              <a:srgbClr val="C5D4E1"/>
            </a:solidFill>
            <a:prstDash val="solid"/>
          </a:ln>
        </p:spPr>
      </p:sp>
      <p:sp>
        <p:nvSpPr>
          <p:cNvPr id="17" name="">
            <a:extLst xmlns:a="http://schemas.openxmlformats.org/drawingml/2006/main">
              <a:ext uri="{FF2B5EF4-FFF2-40B4-BE49-F238E27FC236}">
                <a16:creationId xmlns:a16="http://schemas.microsoft.com/office/drawing/2014/main" id="{6F41C162-72D9-4E2E-AFE8-F2E2D7069387}"/>
              </a:ext>
            </a:extLst>
          </p:cNvPr>
          <p:cNvSpPr>
            <a:spLocks xmlns:a="http://schemas.openxmlformats.org/drawingml/2006/main" noGrp="1"/>
          </p:cNvSpPr>
          <p:nvPr/>
        </p:nvSpPr>
        <p:spPr>
          <a:xfrm xmlns:a="http://schemas.openxmlformats.org/drawingml/2006/main" flipV="0">
            <a:off x="8315325" y="2600325"/>
            <a:ext cx="1047750" cy="1914525"/>
          </a:xfrm>
          <a:prstGeom xmlns:a="http://schemas.openxmlformats.org/drawingml/2006/main" prst="line">
            <a:avLst/>
          </a:prstGeom>
          <a:noFill xmlns:a="http://schemas.openxmlformats.org/drawingml/2006/main"/>
          <a:ln xmlns:a="http://schemas.openxmlformats.org/drawingml/2006/main" w="9525">
            <a:solidFill>
              <a:srgbClr val="C5D4E1"/>
            </a:solidFill>
            <a:prstDash val="solid"/>
          </a:ln>
        </p:spPr>
      </p:sp>
      <p:sp>
        <p:nvSpPr>
          <p:cNvPr id="18" name="">
            <a:extLst xmlns:a="http://schemas.openxmlformats.org/drawingml/2006/main">
              <a:ext uri="{FF2B5EF4-FFF2-40B4-BE49-F238E27FC236}">
                <a16:creationId xmlns:a16="http://schemas.microsoft.com/office/drawing/2014/main" id="{2276C1EF-3B9A-4EA7-8E2A-4CDAC5C4DFA1}"/>
              </a:ext>
            </a:extLst>
          </p:cNvPr>
          <p:cNvSpPr>
            <a:spLocks xmlns:a="http://schemas.openxmlformats.org/drawingml/2006/main" noGrp="1"/>
          </p:cNvSpPr>
          <p:nvPr/>
        </p:nvSpPr>
        <p:spPr>
          <a:xfrm xmlns:a="http://schemas.openxmlformats.org/drawingml/2006/main" flipV="1">
            <a:off x="8315325" y="2314575"/>
            <a:ext cx="1047750" cy="1181100"/>
          </a:xfrm>
          <a:prstGeom xmlns:a="http://schemas.openxmlformats.org/drawingml/2006/main" prst="line">
            <a:avLst/>
          </a:prstGeom>
          <a:noFill xmlns:a="http://schemas.openxmlformats.org/drawingml/2006/main"/>
          <a:ln xmlns:a="http://schemas.openxmlformats.org/drawingml/2006/main" w="9525">
            <a:solidFill>
              <a:srgbClr val="C5D4E1"/>
            </a:solidFill>
            <a:prstDash val="solid"/>
          </a:ln>
        </p:spPr>
      </p:sp>
      <p:sp>
        <p:nvSpPr>
          <p:cNvPr id="19" name="">
            <a:extLst xmlns:a="http://schemas.openxmlformats.org/drawingml/2006/main">
              <a:ext uri="{FF2B5EF4-FFF2-40B4-BE49-F238E27FC236}">
                <a16:creationId xmlns:a16="http://schemas.microsoft.com/office/drawing/2014/main" id="{812B0790-20EF-47B7-BA03-FB5BA6B6EB97}"/>
              </a:ext>
            </a:extLst>
          </p:cNvPr>
          <p:cNvSpPr>
            <a:spLocks xmlns:a="http://schemas.openxmlformats.org/drawingml/2006/main" noGrp="1"/>
          </p:cNvSpPr>
          <p:nvPr/>
        </p:nvSpPr>
        <p:spPr>
          <a:xfrm xmlns:a="http://schemas.openxmlformats.org/drawingml/2006/main" flipV="1">
            <a:off x="8315325" y="3048000"/>
            <a:ext cx="1047750" cy="447675"/>
          </a:xfrm>
          <a:prstGeom xmlns:a="http://schemas.openxmlformats.org/drawingml/2006/main" prst="line">
            <a:avLst/>
          </a:prstGeom>
          <a:noFill xmlns:a="http://schemas.openxmlformats.org/drawingml/2006/main"/>
          <a:ln xmlns:a="http://schemas.openxmlformats.org/drawingml/2006/main" w="9525">
            <a:solidFill>
              <a:srgbClr val="C5D4E1"/>
            </a:solidFill>
            <a:prstDash val="solid"/>
          </a:ln>
        </p:spPr>
      </p:sp>
      <p:sp>
        <p:nvSpPr>
          <p:cNvPr id="20" name="">
            <a:extLst xmlns:a="http://schemas.openxmlformats.org/drawingml/2006/main">
              <a:ext uri="{FF2B5EF4-FFF2-40B4-BE49-F238E27FC236}">
                <a16:creationId xmlns:a16="http://schemas.microsoft.com/office/drawing/2014/main" id="{DF43EAF9-5542-4715-B5A1-3682A7E4E4F0}"/>
              </a:ext>
            </a:extLst>
          </p:cNvPr>
          <p:cNvSpPr>
            <a:spLocks xmlns:a="http://schemas.openxmlformats.org/drawingml/2006/main" noGrp="1"/>
          </p:cNvSpPr>
          <p:nvPr/>
        </p:nvSpPr>
        <p:spPr>
          <a:xfrm xmlns:a="http://schemas.openxmlformats.org/drawingml/2006/main" flipV="0">
            <a:off x="8315325" y="3495675"/>
            <a:ext cx="1047750" cy="285750"/>
          </a:xfrm>
          <a:prstGeom xmlns:a="http://schemas.openxmlformats.org/drawingml/2006/main" prst="line">
            <a:avLst/>
          </a:prstGeom>
          <a:noFill xmlns:a="http://schemas.openxmlformats.org/drawingml/2006/main"/>
          <a:ln xmlns:a="http://schemas.openxmlformats.org/drawingml/2006/main" w="9525">
            <a:solidFill>
              <a:srgbClr val="C5D4E1"/>
            </a:solidFill>
            <a:prstDash val="solid"/>
          </a:ln>
        </p:spPr>
      </p:sp>
      <p:sp>
        <p:nvSpPr>
          <p:cNvPr id="21" name="">
            <a:extLst xmlns:a="http://schemas.openxmlformats.org/drawingml/2006/main">
              <a:ext uri="{FF2B5EF4-FFF2-40B4-BE49-F238E27FC236}">
                <a16:creationId xmlns:a16="http://schemas.microsoft.com/office/drawing/2014/main" id="{3D823E8C-D15A-4E12-8BA7-91C3D828F403}"/>
              </a:ext>
            </a:extLst>
          </p:cNvPr>
          <p:cNvSpPr>
            <a:spLocks xmlns:a="http://schemas.openxmlformats.org/drawingml/2006/main" noGrp="1"/>
          </p:cNvSpPr>
          <p:nvPr/>
        </p:nvSpPr>
        <p:spPr>
          <a:xfrm xmlns:a="http://schemas.openxmlformats.org/drawingml/2006/main" flipV="0">
            <a:off x="8315325" y="3495675"/>
            <a:ext cx="1047750" cy="1019175"/>
          </a:xfrm>
          <a:prstGeom xmlns:a="http://schemas.openxmlformats.org/drawingml/2006/main" prst="line">
            <a:avLst/>
          </a:prstGeom>
          <a:noFill xmlns:a="http://schemas.openxmlformats.org/drawingml/2006/main"/>
          <a:ln xmlns:a="http://schemas.openxmlformats.org/drawingml/2006/main" w="9525">
            <a:solidFill>
              <a:srgbClr val="C5D4E1"/>
            </a:solidFill>
            <a:prstDash val="solid"/>
          </a:ln>
        </p:spPr>
      </p:sp>
      <p:sp>
        <p:nvSpPr>
          <p:cNvPr id="22" name="">
            <a:extLst xmlns:a="http://schemas.openxmlformats.org/drawingml/2006/main">
              <a:ext uri="{FF2B5EF4-FFF2-40B4-BE49-F238E27FC236}">
                <a16:creationId xmlns:a16="http://schemas.microsoft.com/office/drawing/2014/main" id="{955A8075-F1F4-455C-8386-94CE163714BB}"/>
              </a:ext>
            </a:extLst>
          </p:cNvPr>
          <p:cNvSpPr>
            <a:spLocks xmlns:a="http://schemas.openxmlformats.org/drawingml/2006/main" noGrp="1"/>
          </p:cNvSpPr>
          <p:nvPr/>
        </p:nvSpPr>
        <p:spPr>
          <a:xfrm xmlns:a="http://schemas.openxmlformats.org/drawingml/2006/main" flipV="1">
            <a:off x="8315325" y="2314575"/>
            <a:ext cx="1047750" cy="2076450"/>
          </a:xfrm>
          <a:prstGeom xmlns:a="http://schemas.openxmlformats.org/drawingml/2006/main" prst="line">
            <a:avLst/>
          </a:prstGeom>
          <a:noFill xmlns:a="http://schemas.openxmlformats.org/drawingml/2006/main"/>
          <a:ln xmlns:a="http://schemas.openxmlformats.org/drawingml/2006/main" w="9525">
            <a:solidFill>
              <a:srgbClr val="C5D4E1"/>
            </a:solidFill>
            <a:prstDash val="solid"/>
          </a:ln>
        </p:spPr>
      </p:sp>
      <p:sp>
        <p:nvSpPr>
          <p:cNvPr id="23" name="">
            <a:extLst xmlns:a="http://schemas.openxmlformats.org/drawingml/2006/main">
              <a:ext uri="{FF2B5EF4-FFF2-40B4-BE49-F238E27FC236}">
                <a16:creationId xmlns:a16="http://schemas.microsoft.com/office/drawing/2014/main" id="{076CBA88-6EF4-4283-B4E2-DC21ED65C353}"/>
              </a:ext>
            </a:extLst>
          </p:cNvPr>
          <p:cNvSpPr>
            <a:spLocks xmlns:a="http://schemas.openxmlformats.org/drawingml/2006/main" noGrp="1"/>
          </p:cNvSpPr>
          <p:nvPr/>
        </p:nvSpPr>
        <p:spPr>
          <a:xfrm xmlns:a="http://schemas.openxmlformats.org/drawingml/2006/main" flipV="1">
            <a:off x="8315325" y="3048000"/>
            <a:ext cx="1047750" cy="1343025"/>
          </a:xfrm>
          <a:prstGeom xmlns:a="http://schemas.openxmlformats.org/drawingml/2006/main" prst="line">
            <a:avLst/>
          </a:prstGeom>
          <a:noFill xmlns:a="http://schemas.openxmlformats.org/drawingml/2006/main"/>
          <a:ln xmlns:a="http://schemas.openxmlformats.org/drawingml/2006/main" w="9525">
            <a:solidFill>
              <a:srgbClr val="C5D4E1"/>
            </a:solidFill>
            <a:prstDash val="solid"/>
          </a:ln>
        </p:spPr>
      </p:sp>
      <p:sp>
        <p:nvSpPr>
          <p:cNvPr id="24" name="">
            <a:extLst xmlns:a="http://schemas.openxmlformats.org/drawingml/2006/main">
              <a:ext uri="{FF2B5EF4-FFF2-40B4-BE49-F238E27FC236}">
                <a16:creationId xmlns:a16="http://schemas.microsoft.com/office/drawing/2014/main" id="{00979ECD-0C58-4717-9422-BDDABC4E5985}"/>
              </a:ext>
            </a:extLst>
          </p:cNvPr>
          <p:cNvSpPr>
            <a:spLocks xmlns:a="http://schemas.openxmlformats.org/drawingml/2006/main" noGrp="1"/>
          </p:cNvSpPr>
          <p:nvPr/>
        </p:nvSpPr>
        <p:spPr>
          <a:xfrm xmlns:a="http://schemas.openxmlformats.org/drawingml/2006/main" flipV="1">
            <a:off x="8315325" y="3781425"/>
            <a:ext cx="1047750" cy="609600"/>
          </a:xfrm>
          <a:prstGeom xmlns:a="http://schemas.openxmlformats.org/drawingml/2006/main" prst="line">
            <a:avLst/>
          </a:prstGeom>
          <a:noFill xmlns:a="http://schemas.openxmlformats.org/drawingml/2006/main"/>
          <a:ln xmlns:a="http://schemas.openxmlformats.org/drawingml/2006/main" w="9525">
            <a:solidFill>
              <a:srgbClr val="C5D4E1"/>
            </a:solidFill>
            <a:prstDash val="solid"/>
          </a:ln>
        </p:spPr>
      </p:sp>
      <p:sp>
        <p:nvSpPr>
          <p:cNvPr id="25" name="">
            <a:extLst xmlns:a="http://schemas.openxmlformats.org/drawingml/2006/main">
              <a:ext uri="{FF2B5EF4-FFF2-40B4-BE49-F238E27FC236}">
                <a16:creationId xmlns:a16="http://schemas.microsoft.com/office/drawing/2014/main" id="{B9634664-0DAB-4810-B064-136606B2FF71}"/>
              </a:ext>
            </a:extLst>
          </p:cNvPr>
          <p:cNvSpPr>
            <a:spLocks xmlns:a="http://schemas.openxmlformats.org/drawingml/2006/main" noGrp="1"/>
          </p:cNvSpPr>
          <p:nvPr/>
        </p:nvSpPr>
        <p:spPr>
          <a:xfrm xmlns:a="http://schemas.openxmlformats.org/drawingml/2006/main" flipV="0">
            <a:off x="8315325" y="4391025"/>
            <a:ext cx="1047750" cy="123825"/>
          </a:xfrm>
          <a:prstGeom xmlns:a="http://schemas.openxmlformats.org/drawingml/2006/main" prst="line">
            <a:avLst/>
          </a:prstGeom>
          <a:noFill xmlns:a="http://schemas.openxmlformats.org/drawingml/2006/main"/>
          <a:ln xmlns:a="http://schemas.openxmlformats.org/drawingml/2006/main" w="9525">
            <a:solidFill>
              <a:srgbClr val="C5D4E1"/>
            </a:solidFill>
            <a:prstDash val="solid"/>
          </a:ln>
        </p:spPr>
      </p:sp>
      <p:sp>
        <p:nvSpPr>
          <p:cNvPr id="26" name="">
            <a:extLst xmlns:a="http://schemas.openxmlformats.org/drawingml/2006/main">
              <a:ext uri="{FF2B5EF4-FFF2-40B4-BE49-F238E27FC236}">
                <a16:creationId xmlns:a16="http://schemas.microsoft.com/office/drawing/2014/main" id="{A768C85F-6A8E-4D12-A079-55BB937B4A40}"/>
              </a:ext>
            </a:extLst>
          </p:cNvPr>
          <p:cNvSpPr>
            <a:spLocks xmlns:a="http://schemas.openxmlformats.org/drawingml/2006/main" noGrp="1"/>
          </p:cNvSpPr>
          <p:nvPr/>
        </p:nvSpPr>
        <p:spPr>
          <a:xfrm xmlns:a="http://schemas.openxmlformats.org/drawingml/2006/main" flipV="0">
            <a:off x="9363075" y="2314575"/>
            <a:ext cx="1066800" cy="285750"/>
          </a:xfrm>
          <a:prstGeom xmlns:a="http://schemas.openxmlformats.org/drawingml/2006/main" prst="line">
            <a:avLst/>
          </a:prstGeom>
          <a:noFill xmlns:a="http://schemas.openxmlformats.org/drawingml/2006/main"/>
          <a:ln xmlns:a="http://schemas.openxmlformats.org/drawingml/2006/main" w="9525">
            <a:solidFill>
              <a:srgbClr val="C5D4E1"/>
            </a:solidFill>
            <a:prstDash val="solid"/>
          </a:ln>
        </p:spPr>
      </p:sp>
      <p:sp>
        <p:nvSpPr>
          <p:cNvPr id="27" name="">
            <a:extLst xmlns:a="http://schemas.openxmlformats.org/drawingml/2006/main">
              <a:ext uri="{FF2B5EF4-FFF2-40B4-BE49-F238E27FC236}">
                <a16:creationId xmlns:a16="http://schemas.microsoft.com/office/drawing/2014/main" id="{0FBB4BBF-AB4C-40E8-AAB3-254431E88378}"/>
              </a:ext>
            </a:extLst>
          </p:cNvPr>
          <p:cNvSpPr>
            <a:spLocks xmlns:a="http://schemas.openxmlformats.org/drawingml/2006/main" noGrp="1"/>
          </p:cNvSpPr>
          <p:nvPr/>
        </p:nvSpPr>
        <p:spPr>
          <a:xfrm xmlns:a="http://schemas.openxmlformats.org/drawingml/2006/main" flipV="0">
            <a:off x="9363075" y="2314575"/>
            <a:ext cx="1066800" cy="1181100"/>
          </a:xfrm>
          <a:prstGeom xmlns:a="http://schemas.openxmlformats.org/drawingml/2006/main" prst="line">
            <a:avLst/>
          </a:prstGeom>
          <a:noFill xmlns:a="http://schemas.openxmlformats.org/drawingml/2006/main"/>
          <a:ln xmlns:a="http://schemas.openxmlformats.org/drawingml/2006/main" w="9525">
            <a:solidFill>
              <a:srgbClr val="C5D4E1"/>
            </a:solidFill>
            <a:prstDash val="solid"/>
          </a:ln>
        </p:spPr>
      </p:sp>
      <p:sp>
        <p:nvSpPr>
          <p:cNvPr id="28" name="">
            <a:extLst xmlns:a="http://schemas.openxmlformats.org/drawingml/2006/main">
              <a:ext uri="{FF2B5EF4-FFF2-40B4-BE49-F238E27FC236}">
                <a16:creationId xmlns:a16="http://schemas.microsoft.com/office/drawing/2014/main" id="{C7BCA507-E6CD-4924-B722-1D166175B296}"/>
              </a:ext>
            </a:extLst>
          </p:cNvPr>
          <p:cNvSpPr>
            <a:spLocks xmlns:a="http://schemas.openxmlformats.org/drawingml/2006/main" noGrp="1"/>
          </p:cNvSpPr>
          <p:nvPr/>
        </p:nvSpPr>
        <p:spPr>
          <a:xfrm xmlns:a="http://schemas.openxmlformats.org/drawingml/2006/main" flipV="0">
            <a:off x="9363075" y="2314575"/>
            <a:ext cx="1066800" cy="2076450"/>
          </a:xfrm>
          <a:prstGeom xmlns:a="http://schemas.openxmlformats.org/drawingml/2006/main" prst="line">
            <a:avLst/>
          </a:prstGeom>
          <a:noFill xmlns:a="http://schemas.openxmlformats.org/drawingml/2006/main"/>
          <a:ln xmlns:a="http://schemas.openxmlformats.org/drawingml/2006/main" w="9525">
            <a:solidFill>
              <a:srgbClr val="C5D4E1"/>
            </a:solidFill>
            <a:prstDash val="solid"/>
          </a:ln>
        </p:spPr>
      </p:sp>
      <p:sp>
        <p:nvSpPr>
          <p:cNvPr id="29" name="">
            <a:extLst xmlns:a="http://schemas.openxmlformats.org/drawingml/2006/main">
              <a:ext uri="{FF2B5EF4-FFF2-40B4-BE49-F238E27FC236}">
                <a16:creationId xmlns:a16="http://schemas.microsoft.com/office/drawing/2014/main" id="{3A61891C-0CAC-4A20-AC2A-52DDCFE5AB6D}"/>
              </a:ext>
            </a:extLst>
          </p:cNvPr>
          <p:cNvSpPr>
            <a:spLocks xmlns:a="http://schemas.openxmlformats.org/drawingml/2006/main" noGrp="1"/>
          </p:cNvSpPr>
          <p:nvPr/>
        </p:nvSpPr>
        <p:spPr>
          <a:xfrm xmlns:a="http://schemas.openxmlformats.org/drawingml/2006/main" flipV="1">
            <a:off x="9363075" y="2600325"/>
            <a:ext cx="1066800" cy="447675"/>
          </a:xfrm>
          <a:prstGeom xmlns:a="http://schemas.openxmlformats.org/drawingml/2006/main" prst="line">
            <a:avLst/>
          </a:prstGeom>
          <a:noFill xmlns:a="http://schemas.openxmlformats.org/drawingml/2006/main"/>
          <a:ln xmlns:a="http://schemas.openxmlformats.org/drawingml/2006/main" w="9525">
            <a:solidFill>
              <a:srgbClr val="C5D4E1"/>
            </a:solidFill>
            <a:prstDash val="solid"/>
          </a:ln>
        </p:spPr>
      </p:sp>
      <p:sp>
        <p:nvSpPr>
          <p:cNvPr id="30" name="">
            <a:extLst xmlns:a="http://schemas.openxmlformats.org/drawingml/2006/main">
              <a:ext uri="{FF2B5EF4-FFF2-40B4-BE49-F238E27FC236}">
                <a16:creationId xmlns:a16="http://schemas.microsoft.com/office/drawing/2014/main" id="{17C9E54D-F374-46AC-B3DA-998258A79EFC}"/>
              </a:ext>
            </a:extLst>
          </p:cNvPr>
          <p:cNvSpPr>
            <a:spLocks xmlns:a="http://schemas.openxmlformats.org/drawingml/2006/main" noGrp="1"/>
          </p:cNvSpPr>
          <p:nvPr/>
        </p:nvSpPr>
        <p:spPr>
          <a:xfrm xmlns:a="http://schemas.openxmlformats.org/drawingml/2006/main" flipV="0">
            <a:off x="9363075" y="3048000"/>
            <a:ext cx="1066800" cy="447675"/>
          </a:xfrm>
          <a:prstGeom xmlns:a="http://schemas.openxmlformats.org/drawingml/2006/main" prst="line">
            <a:avLst/>
          </a:prstGeom>
          <a:noFill xmlns:a="http://schemas.openxmlformats.org/drawingml/2006/main"/>
          <a:ln xmlns:a="http://schemas.openxmlformats.org/drawingml/2006/main" w="9525">
            <a:solidFill>
              <a:srgbClr val="C5D4E1"/>
            </a:solidFill>
            <a:prstDash val="solid"/>
          </a:ln>
        </p:spPr>
      </p:sp>
      <p:sp>
        <p:nvSpPr>
          <p:cNvPr id="31" name="">
            <a:extLst xmlns:a="http://schemas.openxmlformats.org/drawingml/2006/main">
              <a:ext uri="{FF2B5EF4-FFF2-40B4-BE49-F238E27FC236}">
                <a16:creationId xmlns:a16="http://schemas.microsoft.com/office/drawing/2014/main" id="{EF637A26-C876-4108-B2A6-D9ABBB4F3BC9}"/>
              </a:ext>
            </a:extLst>
          </p:cNvPr>
          <p:cNvSpPr>
            <a:spLocks xmlns:a="http://schemas.openxmlformats.org/drawingml/2006/main" noGrp="1"/>
          </p:cNvSpPr>
          <p:nvPr/>
        </p:nvSpPr>
        <p:spPr>
          <a:xfrm xmlns:a="http://schemas.openxmlformats.org/drawingml/2006/main" flipV="0">
            <a:off x="9363075" y="3048000"/>
            <a:ext cx="1066800" cy="1343025"/>
          </a:xfrm>
          <a:prstGeom xmlns:a="http://schemas.openxmlformats.org/drawingml/2006/main" prst="line">
            <a:avLst/>
          </a:prstGeom>
          <a:noFill xmlns:a="http://schemas.openxmlformats.org/drawingml/2006/main"/>
          <a:ln xmlns:a="http://schemas.openxmlformats.org/drawingml/2006/main" w="9525">
            <a:solidFill>
              <a:srgbClr val="C5D4E1"/>
            </a:solidFill>
            <a:prstDash val="solid"/>
          </a:ln>
        </p:spPr>
      </p:sp>
      <p:sp>
        <p:nvSpPr>
          <p:cNvPr id="32" name="">
            <a:extLst xmlns:a="http://schemas.openxmlformats.org/drawingml/2006/main">
              <a:ext uri="{FF2B5EF4-FFF2-40B4-BE49-F238E27FC236}">
                <a16:creationId xmlns:a16="http://schemas.microsoft.com/office/drawing/2014/main" id="{1DF47FE4-5844-40C6-82C3-DE989814ECC6}"/>
              </a:ext>
            </a:extLst>
          </p:cNvPr>
          <p:cNvSpPr>
            <a:spLocks xmlns:a="http://schemas.openxmlformats.org/drawingml/2006/main" noGrp="1"/>
          </p:cNvSpPr>
          <p:nvPr/>
        </p:nvSpPr>
        <p:spPr>
          <a:xfrm xmlns:a="http://schemas.openxmlformats.org/drawingml/2006/main" flipV="1">
            <a:off x="9363075" y="2600325"/>
            <a:ext cx="1066800" cy="1181100"/>
          </a:xfrm>
          <a:prstGeom xmlns:a="http://schemas.openxmlformats.org/drawingml/2006/main" prst="line">
            <a:avLst/>
          </a:prstGeom>
          <a:noFill xmlns:a="http://schemas.openxmlformats.org/drawingml/2006/main"/>
          <a:ln xmlns:a="http://schemas.openxmlformats.org/drawingml/2006/main" w="9525">
            <a:solidFill>
              <a:srgbClr val="C5D4E1"/>
            </a:solidFill>
            <a:prstDash val="solid"/>
          </a:ln>
        </p:spPr>
      </p:sp>
      <p:sp>
        <p:nvSpPr>
          <p:cNvPr id="33" name="">
            <a:extLst xmlns:a="http://schemas.openxmlformats.org/drawingml/2006/main">
              <a:ext uri="{FF2B5EF4-FFF2-40B4-BE49-F238E27FC236}">
                <a16:creationId xmlns:a16="http://schemas.microsoft.com/office/drawing/2014/main" id="{1F1096D0-4340-481A-A674-AF943F1295DC}"/>
              </a:ext>
            </a:extLst>
          </p:cNvPr>
          <p:cNvSpPr>
            <a:spLocks xmlns:a="http://schemas.openxmlformats.org/drawingml/2006/main" noGrp="1"/>
          </p:cNvSpPr>
          <p:nvPr/>
        </p:nvSpPr>
        <p:spPr>
          <a:xfrm xmlns:a="http://schemas.openxmlformats.org/drawingml/2006/main" flipV="1">
            <a:off x="9363075" y="3495675"/>
            <a:ext cx="1066800" cy="285750"/>
          </a:xfrm>
          <a:prstGeom xmlns:a="http://schemas.openxmlformats.org/drawingml/2006/main" prst="line">
            <a:avLst/>
          </a:prstGeom>
          <a:noFill xmlns:a="http://schemas.openxmlformats.org/drawingml/2006/main"/>
          <a:ln xmlns:a="http://schemas.openxmlformats.org/drawingml/2006/main" w="9525">
            <a:solidFill>
              <a:srgbClr val="C5D4E1"/>
            </a:solidFill>
            <a:prstDash val="solid"/>
          </a:ln>
        </p:spPr>
      </p:sp>
      <p:sp>
        <p:nvSpPr>
          <p:cNvPr id="34" name="">
            <a:extLst xmlns:a="http://schemas.openxmlformats.org/drawingml/2006/main">
              <a:ext uri="{FF2B5EF4-FFF2-40B4-BE49-F238E27FC236}">
                <a16:creationId xmlns:a16="http://schemas.microsoft.com/office/drawing/2014/main" id="{90B7AD48-21D2-43F9-A1FB-E066DE1833B8}"/>
              </a:ext>
            </a:extLst>
          </p:cNvPr>
          <p:cNvSpPr>
            <a:spLocks xmlns:a="http://schemas.openxmlformats.org/drawingml/2006/main" noGrp="1"/>
          </p:cNvSpPr>
          <p:nvPr/>
        </p:nvSpPr>
        <p:spPr>
          <a:xfrm xmlns:a="http://schemas.openxmlformats.org/drawingml/2006/main" flipV="0">
            <a:off x="9363075" y="3781425"/>
            <a:ext cx="1066800" cy="609600"/>
          </a:xfrm>
          <a:prstGeom xmlns:a="http://schemas.openxmlformats.org/drawingml/2006/main" prst="line">
            <a:avLst/>
          </a:prstGeom>
          <a:noFill xmlns:a="http://schemas.openxmlformats.org/drawingml/2006/main"/>
          <a:ln xmlns:a="http://schemas.openxmlformats.org/drawingml/2006/main" w="9525">
            <a:solidFill>
              <a:srgbClr val="C5D4E1"/>
            </a:solidFill>
            <a:prstDash val="solid"/>
          </a:ln>
        </p:spPr>
      </p:sp>
      <p:sp>
        <p:nvSpPr>
          <p:cNvPr id="35" name="">
            <a:extLst xmlns:a="http://schemas.openxmlformats.org/drawingml/2006/main">
              <a:ext uri="{FF2B5EF4-FFF2-40B4-BE49-F238E27FC236}">
                <a16:creationId xmlns:a16="http://schemas.microsoft.com/office/drawing/2014/main" id="{19C23538-50A4-4F9C-8B02-B40F6B7F3E94}"/>
              </a:ext>
            </a:extLst>
          </p:cNvPr>
          <p:cNvSpPr>
            <a:spLocks xmlns:a="http://schemas.openxmlformats.org/drawingml/2006/main" noGrp="1"/>
          </p:cNvSpPr>
          <p:nvPr/>
        </p:nvSpPr>
        <p:spPr>
          <a:xfrm xmlns:a="http://schemas.openxmlformats.org/drawingml/2006/main" flipV="1">
            <a:off x="9363075" y="2600325"/>
            <a:ext cx="1066800" cy="1914525"/>
          </a:xfrm>
          <a:prstGeom xmlns:a="http://schemas.openxmlformats.org/drawingml/2006/main" prst="line">
            <a:avLst/>
          </a:prstGeom>
          <a:noFill xmlns:a="http://schemas.openxmlformats.org/drawingml/2006/main"/>
          <a:ln xmlns:a="http://schemas.openxmlformats.org/drawingml/2006/main" w="9525">
            <a:solidFill>
              <a:srgbClr val="C5D4E1"/>
            </a:solidFill>
            <a:prstDash val="solid"/>
          </a:ln>
        </p:spPr>
      </p:sp>
      <p:sp>
        <p:nvSpPr>
          <p:cNvPr id="36" name="">
            <a:extLst xmlns:a="http://schemas.openxmlformats.org/drawingml/2006/main">
              <a:ext uri="{FF2B5EF4-FFF2-40B4-BE49-F238E27FC236}">
                <a16:creationId xmlns:a16="http://schemas.microsoft.com/office/drawing/2014/main" id="{EBA597C7-AB98-4489-9CA2-AF4E15379F17}"/>
              </a:ext>
            </a:extLst>
          </p:cNvPr>
          <p:cNvSpPr>
            <a:spLocks xmlns:a="http://schemas.openxmlformats.org/drawingml/2006/main" noGrp="1"/>
          </p:cNvSpPr>
          <p:nvPr/>
        </p:nvSpPr>
        <p:spPr>
          <a:xfrm xmlns:a="http://schemas.openxmlformats.org/drawingml/2006/main" flipV="1">
            <a:off x="9363075" y="3495675"/>
            <a:ext cx="1066800" cy="1019175"/>
          </a:xfrm>
          <a:prstGeom xmlns:a="http://schemas.openxmlformats.org/drawingml/2006/main" prst="line">
            <a:avLst/>
          </a:prstGeom>
          <a:noFill xmlns:a="http://schemas.openxmlformats.org/drawingml/2006/main"/>
          <a:ln xmlns:a="http://schemas.openxmlformats.org/drawingml/2006/main" w="9525">
            <a:solidFill>
              <a:srgbClr val="C5D4E1"/>
            </a:solidFill>
            <a:prstDash val="solid"/>
          </a:ln>
        </p:spPr>
      </p:sp>
      <p:sp>
        <p:nvSpPr>
          <p:cNvPr id="37" name="">
            <a:extLst xmlns:a="http://schemas.openxmlformats.org/drawingml/2006/main">
              <a:ext uri="{FF2B5EF4-FFF2-40B4-BE49-F238E27FC236}">
                <a16:creationId xmlns:a16="http://schemas.microsoft.com/office/drawing/2014/main" id="{1EDE1995-AD45-406C-BCFC-843CA9D304AC}"/>
              </a:ext>
            </a:extLst>
          </p:cNvPr>
          <p:cNvSpPr>
            <a:spLocks xmlns:a="http://schemas.openxmlformats.org/drawingml/2006/main" noGrp="1"/>
          </p:cNvSpPr>
          <p:nvPr/>
        </p:nvSpPr>
        <p:spPr>
          <a:xfrm xmlns:a="http://schemas.openxmlformats.org/drawingml/2006/main" flipV="1">
            <a:off x="9363075" y="4391025"/>
            <a:ext cx="1066800" cy="123825"/>
          </a:xfrm>
          <a:prstGeom xmlns:a="http://schemas.openxmlformats.org/drawingml/2006/main" prst="line">
            <a:avLst/>
          </a:prstGeom>
          <a:noFill xmlns:a="http://schemas.openxmlformats.org/drawingml/2006/main"/>
          <a:ln xmlns:a="http://schemas.openxmlformats.org/drawingml/2006/main" w="9525">
            <a:solidFill>
              <a:srgbClr val="C5D4E1"/>
            </a:solidFill>
            <a:prstDash val="solid"/>
          </a:ln>
        </p:spPr>
      </p:sp>
      <p:sp>
        <p:nvSpPr>
          <p:cNvPr id="38" name="">
            <a:extLst xmlns:a="http://schemas.openxmlformats.org/drawingml/2006/main">
              <a:ext uri="{FF2B5EF4-FFF2-40B4-BE49-F238E27FC236}">
                <a16:creationId xmlns:a16="http://schemas.microsoft.com/office/drawing/2014/main" id="{81FB78C9-D0E8-4909-A9BB-73A0C7D620B0}"/>
              </a:ext>
            </a:extLst>
          </p:cNvPr>
          <p:cNvSpPr>
            <a:spLocks xmlns:a="http://schemas.openxmlformats.org/drawingml/2006/main" noGrp="1"/>
          </p:cNvSpPr>
          <p:nvPr/>
        </p:nvSpPr>
        <p:spPr>
          <a:xfrm xmlns:a="http://schemas.openxmlformats.org/drawingml/2006/main" flipV="0">
            <a:off x="10429875" y="2600325"/>
            <a:ext cx="838200" cy="209550"/>
          </a:xfrm>
          <a:prstGeom xmlns:a="http://schemas.openxmlformats.org/drawingml/2006/main" prst="line">
            <a:avLst/>
          </a:prstGeom>
          <a:noFill xmlns:a="http://schemas.openxmlformats.org/drawingml/2006/main"/>
          <a:ln xmlns:a="http://schemas.openxmlformats.org/drawingml/2006/main" w="9525">
            <a:solidFill>
              <a:srgbClr val="C5D4E1"/>
            </a:solidFill>
            <a:prstDash val="solid"/>
          </a:ln>
        </p:spPr>
      </p:sp>
      <p:sp>
        <p:nvSpPr>
          <p:cNvPr id="39" name="">
            <a:extLst xmlns:a="http://schemas.openxmlformats.org/drawingml/2006/main">
              <a:ext uri="{FF2B5EF4-FFF2-40B4-BE49-F238E27FC236}">
                <a16:creationId xmlns:a16="http://schemas.microsoft.com/office/drawing/2014/main" id="{282C9D79-532B-4C45-BA2E-FA7383106C4F}"/>
              </a:ext>
            </a:extLst>
          </p:cNvPr>
          <p:cNvSpPr>
            <a:spLocks xmlns:a="http://schemas.openxmlformats.org/drawingml/2006/main" noGrp="1"/>
          </p:cNvSpPr>
          <p:nvPr/>
        </p:nvSpPr>
        <p:spPr>
          <a:xfrm xmlns:a="http://schemas.openxmlformats.org/drawingml/2006/main" flipV="0">
            <a:off x="10429875" y="2600325"/>
            <a:ext cx="838200" cy="1123950"/>
          </a:xfrm>
          <a:prstGeom xmlns:a="http://schemas.openxmlformats.org/drawingml/2006/main" prst="line">
            <a:avLst/>
          </a:prstGeom>
          <a:noFill xmlns:a="http://schemas.openxmlformats.org/drawingml/2006/main"/>
          <a:ln xmlns:a="http://schemas.openxmlformats.org/drawingml/2006/main" w="9525">
            <a:solidFill>
              <a:srgbClr val="C5D4E1"/>
            </a:solidFill>
            <a:prstDash val="solid"/>
          </a:ln>
        </p:spPr>
      </p:sp>
      <p:sp>
        <p:nvSpPr>
          <p:cNvPr id="40" name="">
            <a:extLst xmlns:a="http://schemas.openxmlformats.org/drawingml/2006/main">
              <a:ext uri="{FF2B5EF4-FFF2-40B4-BE49-F238E27FC236}">
                <a16:creationId xmlns:a16="http://schemas.microsoft.com/office/drawing/2014/main" id="{93919593-9219-45EE-B4E5-51686A75E8F7}"/>
              </a:ext>
            </a:extLst>
          </p:cNvPr>
          <p:cNvSpPr>
            <a:spLocks xmlns:a="http://schemas.openxmlformats.org/drawingml/2006/main" noGrp="1"/>
          </p:cNvSpPr>
          <p:nvPr/>
        </p:nvSpPr>
        <p:spPr>
          <a:xfrm xmlns:a="http://schemas.openxmlformats.org/drawingml/2006/main" flipV="0">
            <a:off x="10429875" y="2600325"/>
            <a:ext cx="838200" cy="2038350"/>
          </a:xfrm>
          <a:prstGeom xmlns:a="http://schemas.openxmlformats.org/drawingml/2006/main" prst="line">
            <a:avLst/>
          </a:prstGeom>
          <a:noFill xmlns:a="http://schemas.openxmlformats.org/drawingml/2006/main"/>
          <a:ln xmlns:a="http://schemas.openxmlformats.org/drawingml/2006/main" w="9525">
            <a:solidFill>
              <a:srgbClr val="C5D4E1"/>
            </a:solidFill>
            <a:prstDash val="solid"/>
          </a:ln>
        </p:spPr>
      </p:sp>
      <p:sp>
        <p:nvSpPr>
          <p:cNvPr id="41" name="">
            <a:extLst xmlns:a="http://schemas.openxmlformats.org/drawingml/2006/main">
              <a:ext uri="{FF2B5EF4-FFF2-40B4-BE49-F238E27FC236}">
                <a16:creationId xmlns:a16="http://schemas.microsoft.com/office/drawing/2014/main" id="{1D678CC2-F2C0-4715-AC3F-833D1B1E871D}"/>
              </a:ext>
            </a:extLst>
          </p:cNvPr>
          <p:cNvSpPr>
            <a:spLocks xmlns:a="http://schemas.openxmlformats.org/drawingml/2006/main" noGrp="1"/>
          </p:cNvSpPr>
          <p:nvPr/>
        </p:nvSpPr>
        <p:spPr>
          <a:xfrm xmlns:a="http://schemas.openxmlformats.org/drawingml/2006/main" flipV="1">
            <a:off x="10429875" y="2809875"/>
            <a:ext cx="838200" cy="685800"/>
          </a:xfrm>
          <a:prstGeom xmlns:a="http://schemas.openxmlformats.org/drawingml/2006/main" prst="line">
            <a:avLst/>
          </a:prstGeom>
          <a:noFill xmlns:a="http://schemas.openxmlformats.org/drawingml/2006/main"/>
          <a:ln xmlns:a="http://schemas.openxmlformats.org/drawingml/2006/main" w="9525">
            <a:solidFill>
              <a:srgbClr val="C5D4E1"/>
            </a:solidFill>
            <a:prstDash val="solid"/>
          </a:ln>
        </p:spPr>
      </p:sp>
      <p:sp>
        <p:nvSpPr>
          <p:cNvPr id="42" name="">
            <a:extLst xmlns:a="http://schemas.openxmlformats.org/drawingml/2006/main">
              <a:ext uri="{FF2B5EF4-FFF2-40B4-BE49-F238E27FC236}">
                <a16:creationId xmlns:a16="http://schemas.microsoft.com/office/drawing/2014/main" id="{800BADEA-B7B5-4D46-9C48-ACF1BF122A57}"/>
              </a:ext>
            </a:extLst>
          </p:cNvPr>
          <p:cNvSpPr>
            <a:spLocks xmlns:a="http://schemas.openxmlformats.org/drawingml/2006/main" noGrp="1"/>
          </p:cNvSpPr>
          <p:nvPr/>
        </p:nvSpPr>
        <p:spPr>
          <a:xfrm xmlns:a="http://schemas.openxmlformats.org/drawingml/2006/main" flipV="0">
            <a:off x="10429875" y="3495675"/>
            <a:ext cx="838200" cy="228600"/>
          </a:xfrm>
          <a:prstGeom xmlns:a="http://schemas.openxmlformats.org/drawingml/2006/main" prst="line">
            <a:avLst/>
          </a:prstGeom>
          <a:noFill xmlns:a="http://schemas.openxmlformats.org/drawingml/2006/main"/>
          <a:ln xmlns:a="http://schemas.openxmlformats.org/drawingml/2006/main" w="9525">
            <a:solidFill>
              <a:srgbClr val="C5D4E1"/>
            </a:solidFill>
            <a:prstDash val="solid"/>
          </a:ln>
        </p:spPr>
      </p:sp>
      <p:sp>
        <p:nvSpPr>
          <p:cNvPr id="43" name="">
            <a:extLst xmlns:a="http://schemas.openxmlformats.org/drawingml/2006/main">
              <a:ext uri="{FF2B5EF4-FFF2-40B4-BE49-F238E27FC236}">
                <a16:creationId xmlns:a16="http://schemas.microsoft.com/office/drawing/2014/main" id="{0B832E91-52DA-45E5-BC2C-8E4FC500F0EA}"/>
              </a:ext>
            </a:extLst>
          </p:cNvPr>
          <p:cNvSpPr>
            <a:spLocks xmlns:a="http://schemas.openxmlformats.org/drawingml/2006/main" noGrp="1"/>
          </p:cNvSpPr>
          <p:nvPr/>
        </p:nvSpPr>
        <p:spPr>
          <a:xfrm xmlns:a="http://schemas.openxmlformats.org/drawingml/2006/main" flipV="0">
            <a:off x="10429875" y="3495675"/>
            <a:ext cx="838200" cy="1143000"/>
          </a:xfrm>
          <a:prstGeom xmlns:a="http://schemas.openxmlformats.org/drawingml/2006/main" prst="line">
            <a:avLst/>
          </a:prstGeom>
          <a:noFill xmlns:a="http://schemas.openxmlformats.org/drawingml/2006/main"/>
          <a:ln xmlns:a="http://schemas.openxmlformats.org/drawingml/2006/main" w="9525">
            <a:solidFill>
              <a:srgbClr val="C5D4E1"/>
            </a:solidFill>
            <a:prstDash val="solid"/>
          </a:ln>
        </p:spPr>
      </p:sp>
      <p:sp>
        <p:nvSpPr>
          <p:cNvPr id="44" name="">
            <a:extLst xmlns:a="http://schemas.openxmlformats.org/drawingml/2006/main">
              <a:ext uri="{FF2B5EF4-FFF2-40B4-BE49-F238E27FC236}">
                <a16:creationId xmlns:a16="http://schemas.microsoft.com/office/drawing/2014/main" id="{77583B9B-3FE6-402E-A672-B05BE32227FB}"/>
              </a:ext>
            </a:extLst>
          </p:cNvPr>
          <p:cNvSpPr>
            <a:spLocks xmlns:a="http://schemas.openxmlformats.org/drawingml/2006/main" noGrp="1"/>
          </p:cNvSpPr>
          <p:nvPr/>
        </p:nvSpPr>
        <p:spPr>
          <a:xfrm xmlns:a="http://schemas.openxmlformats.org/drawingml/2006/main" flipV="1">
            <a:off x="10429875" y="2809875"/>
            <a:ext cx="838200" cy="1581150"/>
          </a:xfrm>
          <a:prstGeom xmlns:a="http://schemas.openxmlformats.org/drawingml/2006/main" prst="line">
            <a:avLst/>
          </a:prstGeom>
          <a:noFill xmlns:a="http://schemas.openxmlformats.org/drawingml/2006/main"/>
          <a:ln xmlns:a="http://schemas.openxmlformats.org/drawingml/2006/main" w="9525">
            <a:solidFill>
              <a:srgbClr val="C5D4E1"/>
            </a:solidFill>
            <a:prstDash val="solid"/>
          </a:ln>
        </p:spPr>
      </p:sp>
      <p:sp>
        <p:nvSpPr>
          <p:cNvPr id="45" name="">
            <a:extLst xmlns:a="http://schemas.openxmlformats.org/drawingml/2006/main">
              <a:ext uri="{FF2B5EF4-FFF2-40B4-BE49-F238E27FC236}">
                <a16:creationId xmlns:a16="http://schemas.microsoft.com/office/drawing/2014/main" id="{A431E6B3-31E8-4188-A881-917CD98EAB23}"/>
              </a:ext>
            </a:extLst>
          </p:cNvPr>
          <p:cNvSpPr>
            <a:spLocks xmlns:a="http://schemas.openxmlformats.org/drawingml/2006/main" noGrp="1"/>
          </p:cNvSpPr>
          <p:nvPr/>
        </p:nvSpPr>
        <p:spPr>
          <a:xfrm xmlns:a="http://schemas.openxmlformats.org/drawingml/2006/main" flipV="1">
            <a:off x="10429875" y="3724275"/>
            <a:ext cx="838200" cy="666750"/>
          </a:xfrm>
          <a:prstGeom xmlns:a="http://schemas.openxmlformats.org/drawingml/2006/main" prst="line">
            <a:avLst/>
          </a:prstGeom>
          <a:noFill xmlns:a="http://schemas.openxmlformats.org/drawingml/2006/main"/>
          <a:ln xmlns:a="http://schemas.openxmlformats.org/drawingml/2006/main" w="9525">
            <a:solidFill>
              <a:srgbClr val="C5D4E1"/>
            </a:solidFill>
            <a:prstDash val="solid"/>
          </a:ln>
        </p:spPr>
      </p:sp>
      <p:sp>
        <p:nvSpPr>
          <p:cNvPr id="46" name="">
            <a:extLst xmlns:a="http://schemas.openxmlformats.org/drawingml/2006/main">
              <a:ext uri="{FF2B5EF4-FFF2-40B4-BE49-F238E27FC236}">
                <a16:creationId xmlns:a16="http://schemas.microsoft.com/office/drawing/2014/main" id="{3037CE00-2069-4359-ACD0-69EABE3C8671}"/>
              </a:ext>
            </a:extLst>
          </p:cNvPr>
          <p:cNvSpPr>
            <a:spLocks xmlns:a="http://schemas.openxmlformats.org/drawingml/2006/main" noGrp="1"/>
          </p:cNvSpPr>
          <p:nvPr/>
        </p:nvSpPr>
        <p:spPr>
          <a:xfrm xmlns:a="http://schemas.openxmlformats.org/drawingml/2006/main" flipV="0">
            <a:off x="10429875" y="4391025"/>
            <a:ext cx="838200" cy="247650"/>
          </a:xfrm>
          <a:prstGeom xmlns:a="http://schemas.openxmlformats.org/drawingml/2006/main" prst="line">
            <a:avLst/>
          </a:prstGeom>
          <a:noFill xmlns:a="http://schemas.openxmlformats.org/drawingml/2006/main"/>
          <a:ln xmlns:a="http://schemas.openxmlformats.org/drawingml/2006/main" w="9525">
            <a:solidFill>
              <a:srgbClr val="C5D4E1"/>
            </a:solidFill>
            <a:prstDash val="solid"/>
          </a:ln>
        </p:spPr>
      </p:sp>
      <p:sp>
        <p:nvSpPr>
          <p:cNvPr id="47" name="">
            <a:extLst xmlns:a="http://schemas.openxmlformats.org/drawingml/2006/main">
              <a:ext uri="{FF2B5EF4-FFF2-40B4-BE49-F238E27FC236}">
                <a16:creationId xmlns:a16="http://schemas.microsoft.com/office/drawing/2014/main" id="{C2D90E46-D64D-4B61-BE9A-0B7115975251}"/>
              </a:ext>
            </a:extLst>
          </p:cNvPr>
          <p:cNvSpPr>
            <a:spLocks xmlns:a="http://schemas.openxmlformats.org/drawingml/2006/main" noGrp="1"/>
          </p:cNvSpPr>
          <p:nvPr/>
        </p:nvSpPr>
        <p:spPr>
          <a:xfrm xmlns:a="http://schemas.openxmlformats.org/drawingml/2006/main">
            <a:off x="8191500" y="2476500"/>
            <a:ext cx="247650" cy="247650"/>
          </a:xfrm>
          <a:prstGeom xmlns:a="http://schemas.openxmlformats.org/drawingml/2006/main" prst="ellipse">
            <a:avLst/>
          </a:prstGeom>
          <a:solidFill xmlns:a="http://schemas.openxmlformats.org/drawingml/2006/main">
            <a:srgbClr val="2864C5"/>
          </a:solidFill>
          <a:ln xmlns:a="http://schemas.openxmlformats.org/drawingml/2006/main" w="19050">
            <a:solidFill>
              <a:srgbClr val="FFFFFF"/>
            </a:solidFill>
            <a:prstDash val="solid"/>
          </a:ln>
        </p:spPr>
      </p:sp>
      <p:sp>
        <p:nvSpPr>
          <p:cNvPr id="48" name="">
            <a:extLst xmlns:a="http://schemas.openxmlformats.org/drawingml/2006/main">
              <a:ext uri="{FF2B5EF4-FFF2-40B4-BE49-F238E27FC236}">
                <a16:creationId xmlns:a16="http://schemas.microsoft.com/office/drawing/2014/main" id="{C5668798-B676-4976-846D-87C1ED7EDAE3}"/>
              </a:ext>
            </a:extLst>
          </p:cNvPr>
          <p:cNvSpPr>
            <a:spLocks xmlns:a="http://schemas.openxmlformats.org/drawingml/2006/main" noGrp="1"/>
          </p:cNvSpPr>
          <p:nvPr/>
        </p:nvSpPr>
        <p:spPr>
          <a:xfrm xmlns:a="http://schemas.openxmlformats.org/drawingml/2006/main">
            <a:off x="8191500" y="3371850"/>
            <a:ext cx="247650" cy="247650"/>
          </a:xfrm>
          <a:prstGeom xmlns:a="http://schemas.openxmlformats.org/drawingml/2006/main" prst="ellipse">
            <a:avLst/>
          </a:prstGeom>
          <a:solidFill xmlns:a="http://schemas.openxmlformats.org/drawingml/2006/main">
            <a:srgbClr val="2864C5"/>
          </a:solidFill>
          <a:ln xmlns:a="http://schemas.openxmlformats.org/drawingml/2006/main" w="19050">
            <a:solidFill>
              <a:srgbClr val="FFFFFF"/>
            </a:solidFill>
            <a:prstDash val="solid"/>
          </a:ln>
        </p:spPr>
      </p:sp>
      <p:sp>
        <p:nvSpPr>
          <p:cNvPr id="49" name="">
            <a:extLst xmlns:a="http://schemas.openxmlformats.org/drawingml/2006/main">
              <a:ext uri="{FF2B5EF4-FFF2-40B4-BE49-F238E27FC236}">
                <a16:creationId xmlns:a16="http://schemas.microsoft.com/office/drawing/2014/main" id="{0DF93F00-9832-475C-9029-21EADEAFB007}"/>
              </a:ext>
            </a:extLst>
          </p:cNvPr>
          <p:cNvSpPr>
            <a:spLocks xmlns:a="http://schemas.openxmlformats.org/drawingml/2006/main" noGrp="1"/>
          </p:cNvSpPr>
          <p:nvPr/>
        </p:nvSpPr>
        <p:spPr>
          <a:xfrm xmlns:a="http://schemas.openxmlformats.org/drawingml/2006/main">
            <a:off x="8191500" y="4267200"/>
            <a:ext cx="247650" cy="247650"/>
          </a:xfrm>
          <a:prstGeom xmlns:a="http://schemas.openxmlformats.org/drawingml/2006/main" prst="ellipse">
            <a:avLst/>
          </a:prstGeom>
          <a:solidFill xmlns:a="http://schemas.openxmlformats.org/drawingml/2006/main">
            <a:srgbClr val="2864C5"/>
          </a:solidFill>
          <a:ln xmlns:a="http://schemas.openxmlformats.org/drawingml/2006/main" w="19050">
            <a:solidFill>
              <a:srgbClr val="FFFFFF"/>
            </a:solidFill>
            <a:prstDash val="solid"/>
          </a:ln>
        </p:spPr>
      </p:sp>
      <p:sp>
        <p:nvSpPr>
          <p:cNvPr id="50" name="">
            <a:extLst xmlns:a="http://schemas.openxmlformats.org/drawingml/2006/main">
              <a:ext uri="{FF2B5EF4-FFF2-40B4-BE49-F238E27FC236}">
                <a16:creationId xmlns:a16="http://schemas.microsoft.com/office/drawing/2014/main" id="{2E417FB0-DDF7-4B16-A046-8B78BFE17003}"/>
              </a:ext>
            </a:extLst>
          </p:cNvPr>
          <p:cNvSpPr>
            <a:spLocks xmlns:a="http://schemas.openxmlformats.org/drawingml/2006/main" noGrp="1"/>
          </p:cNvSpPr>
          <p:nvPr/>
        </p:nvSpPr>
        <p:spPr>
          <a:xfrm xmlns:a="http://schemas.openxmlformats.org/drawingml/2006/main">
            <a:off x="9239250" y="2190750"/>
            <a:ext cx="247650" cy="247650"/>
          </a:xfrm>
          <a:prstGeom xmlns:a="http://schemas.openxmlformats.org/drawingml/2006/main" prst="ellipse">
            <a:avLst/>
          </a:prstGeom>
          <a:solidFill xmlns:a="http://schemas.openxmlformats.org/drawingml/2006/main">
            <a:srgbClr val="7295B8"/>
          </a:solidFill>
          <a:ln xmlns:a="http://schemas.openxmlformats.org/drawingml/2006/main" w="19050">
            <a:solidFill>
              <a:srgbClr val="FFFFFF"/>
            </a:solidFill>
            <a:prstDash val="solid"/>
          </a:ln>
        </p:spPr>
      </p:sp>
      <p:sp>
        <p:nvSpPr>
          <p:cNvPr id="51" name="">
            <a:extLst xmlns:a="http://schemas.openxmlformats.org/drawingml/2006/main">
              <a:ext uri="{FF2B5EF4-FFF2-40B4-BE49-F238E27FC236}">
                <a16:creationId xmlns:a16="http://schemas.microsoft.com/office/drawing/2014/main" id="{CF224A52-65E0-4DC3-9FB6-A64500EDC27C}"/>
              </a:ext>
            </a:extLst>
          </p:cNvPr>
          <p:cNvSpPr>
            <a:spLocks xmlns:a="http://schemas.openxmlformats.org/drawingml/2006/main" noGrp="1"/>
          </p:cNvSpPr>
          <p:nvPr/>
        </p:nvSpPr>
        <p:spPr>
          <a:xfrm xmlns:a="http://schemas.openxmlformats.org/drawingml/2006/main">
            <a:off x="9239250" y="2924175"/>
            <a:ext cx="247650" cy="247650"/>
          </a:xfrm>
          <a:prstGeom xmlns:a="http://schemas.openxmlformats.org/drawingml/2006/main" prst="ellipse">
            <a:avLst/>
          </a:prstGeom>
          <a:solidFill xmlns:a="http://schemas.openxmlformats.org/drawingml/2006/main">
            <a:srgbClr val="7295B8"/>
          </a:solidFill>
          <a:ln xmlns:a="http://schemas.openxmlformats.org/drawingml/2006/main" w="19050">
            <a:solidFill>
              <a:srgbClr val="FFFFFF"/>
            </a:solidFill>
            <a:prstDash val="solid"/>
          </a:ln>
        </p:spPr>
      </p:sp>
      <p:sp>
        <p:nvSpPr>
          <p:cNvPr id="52" name="">
            <a:extLst xmlns:a="http://schemas.openxmlformats.org/drawingml/2006/main">
              <a:ext uri="{FF2B5EF4-FFF2-40B4-BE49-F238E27FC236}">
                <a16:creationId xmlns:a16="http://schemas.microsoft.com/office/drawing/2014/main" id="{EFA7C7DC-F465-4A89-B436-0F02C0FE36ED}"/>
              </a:ext>
            </a:extLst>
          </p:cNvPr>
          <p:cNvSpPr>
            <a:spLocks xmlns:a="http://schemas.openxmlformats.org/drawingml/2006/main" noGrp="1"/>
          </p:cNvSpPr>
          <p:nvPr/>
        </p:nvSpPr>
        <p:spPr>
          <a:xfrm xmlns:a="http://schemas.openxmlformats.org/drawingml/2006/main">
            <a:off x="9239250" y="3657600"/>
            <a:ext cx="247650" cy="247650"/>
          </a:xfrm>
          <a:prstGeom xmlns:a="http://schemas.openxmlformats.org/drawingml/2006/main" prst="ellipse">
            <a:avLst/>
          </a:prstGeom>
          <a:solidFill xmlns:a="http://schemas.openxmlformats.org/drawingml/2006/main">
            <a:srgbClr val="7295B8"/>
          </a:solidFill>
          <a:ln xmlns:a="http://schemas.openxmlformats.org/drawingml/2006/main" w="19050">
            <a:solidFill>
              <a:srgbClr val="FFFFFF"/>
            </a:solidFill>
            <a:prstDash val="solid"/>
          </a:ln>
        </p:spPr>
      </p:sp>
      <p:sp>
        <p:nvSpPr>
          <p:cNvPr id="53" name="">
            <a:extLst xmlns:a="http://schemas.openxmlformats.org/drawingml/2006/main">
              <a:ext uri="{FF2B5EF4-FFF2-40B4-BE49-F238E27FC236}">
                <a16:creationId xmlns:a16="http://schemas.microsoft.com/office/drawing/2014/main" id="{22B73D9B-6EA1-42B2-A9F7-DBA21D12709B}"/>
              </a:ext>
            </a:extLst>
          </p:cNvPr>
          <p:cNvSpPr>
            <a:spLocks xmlns:a="http://schemas.openxmlformats.org/drawingml/2006/main" noGrp="1"/>
          </p:cNvSpPr>
          <p:nvPr/>
        </p:nvSpPr>
        <p:spPr>
          <a:xfrm xmlns:a="http://schemas.openxmlformats.org/drawingml/2006/main">
            <a:off x="9239250" y="4391025"/>
            <a:ext cx="247650" cy="247650"/>
          </a:xfrm>
          <a:prstGeom xmlns:a="http://schemas.openxmlformats.org/drawingml/2006/main" prst="ellipse">
            <a:avLst/>
          </a:prstGeom>
          <a:solidFill xmlns:a="http://schemas.openxmlformats.org/drawingml/2006/main">
            <a:srgbClr val="7295B8"/>
          </a:solidFill>
          <a:ln xmlns:a="http://schemas.openxmlformats.org/drawingml/2006/main" w="19050">
            <a:solidFill>
              <a:srgbClr val="FFFFFF"/>
            </a:solidFill>
            <a:prstDash val="solid"/>
          </a:ln>
        </p:spPr>
      </p:sp>
      <p:sp>
        <p:nvSpPr>
          <p:cNvPr id="54" name="">
            <a:extLst xmlns:a="http://schemas.openxmlformats.org/drawingml/2006/main">
              <a:ext uri="{FF2B5EF4-FFF2-40B4-BE49-F238E27FC236}">
                <a16:creationId xmlns:a16="http://schemas.microsoft.com/office/drawing/2014/main" id="{DAF38D45-4AAF-4330-85B6-4DBEEEFE1984}"/>
              </a:ext>
            </a:extLst>
          </p:cNvPr>
          <p:cNvSpPr>
            <a:spLocks xmlns:a="http://schemas.openxmlformats.org/drawingml/2006/main" noGrp="1"/>
          </p:cNvSpPr>
          <p:nvPr/>
        </p:nvSpPr>
        <p:spPr>
          <a:xfrm xmlns:a="http://schemas.openxmlformats.org/drawingml/2006/main">
            <a:off x="10306050" y="2476500"/>
            <a:ext cx="247650" cy="247650"/>
          </a:xfrm>
          <a:prstGeom xmlns:a="http://schemas.openxmlformats.org/drawingml/2006/main" prst="ellipse">
            <a:avLst/>
          </a:prstGeom>
          <a:solidFill xmlns:a="http://schemas.openxmlformats.org/drawingml/2006/main">
            <a:srgbClr val="7295B8"/>
          </a:solidFill>
          <a:ln xmlns:a="http://schemas.openxmlformats.org/drawingml/2006/main" w="19050">
            <a:solidFill>
              <a:srgbClr val="FFFFFF"/>
            </a:solidFill>
            <a:prstDash val="solid"/>
          </a:ln>
        </p:spPr>
      </p:sp>
      <p:sp>
        <p:nvSpPr>
          <p:cNvPr id="55" name="">
            <a:extLst xmlns:a="http://schemas.openxmlformats.org/drawingml/2006/main">
              <a:ext uri="{FF2B5EF4-FFF2-40B4-BE49-F238E27FC236}">
                <a16:creationId xmlns:a16="http://schemas.microsoft.com/office/drawing/2014/main" id="{6E61C4DC-8025-4AF9-9399-9B34E2B64674}"/>
              </a:ext>
            </a:extLst>
          </p:cNvPr>
          <p:cNvSpPr>
            <a:spLocks xmlns:a="http://schemas.openxmlformats.org/drawingml/2006/main" noGrp="1"/>
          </p:cNvSpPr>
          <p:nvPr/>
        </p:nvSpPr>
        <p:spPr>
          <a:xfrm xmlns:a="http://schemas.openxmlformats.org/drawingml/2006/main">
            <a:off x="10306050" y="3371850"/>
            <a:ext cx="247650" cy="247650"/>
          </a:xfrm>
          <a:prstGeom xmlns:a="http://schemas.openxmlformats.org/drawingml/2006/main" prst="ellipse">
            <a:avLst/>
          </a:prstGeom>
          <a:solidFill xmlns:a="http://schemas.openxmlformats.org/drawingml/2006/main">
            <a:srgbClr val="7295B8"/>
          </a:solidFill>
          <a:ln xmlns:a="http://schemas.openxmlformats.org/drawingml/2006/main" w="19050">
            <a:solidFill>
              <a:srgbClr val="FFFFFF"/>
            </a:solidFill>
            <a:prstDash val="solid"/>
          </a:ln>
        </p:spPr>
      </p:sp>
      <p:sp>
        <p:nvSpPr>
          <p:cNvPr id="56" name="">
            <a:extLst xmlns:a="http://schemas.openxmlformats.org/drawingml/2006/main">
              <a:ext uri="{FF2B5EF4-FFF2-40B4-BE49-F238E27FC236}">
                <a16:creationId xmlns:a16="http://schemas.microsoft.com/office/drawing/2014/main" id="{B0E91539-4F6D-4DA3-B1D6-78DC5AC7E936}"/>
              </a:ext>
            </a:extLst>
          </p:cNvPr>
          <p:cNvSpPr>
            <a:spLocks xmlns:a="http://schemas.openxmlformats.org/drawingml/2006/main" noGrp="1"/>
          </p:cNvSpPr>
          <p:nvPr/>
        </p:nvSpPr>
        <p:spPr>
          <a:xfrm xmlns:a="http://schemas.openxmlformats.org/drawingml/2006/main">
            <a:off x="10306050" y="4267200"/>
            <a:ext cx="247650" cy="247650"/>
          </a:xfrm>
          <a:prstGeom xmlns:a="http://schemas.openxmlformats.org/drawingml/2006/main" prst="ellipse">
            <a:avLst/>
          </a:prstGeom>
          <a:solidFill xmlns:a="http://schemas.openxmlformats.org/drawingml/2006/main">
            <a:srgbClr val="7295B8"/>
          </a:solidFill>
          <a:ln xmlns:a="http://schemas.openxmlformats.org/drawingml/2006/main" w="19050">
            <a:solidFill>
              <a:srgbClr val="FFFFFF"/>
            </a:solidFill>
            <a:prstDash val="solid"/>
          </a:ln>
        </p:spPr>
      </p:sp>
      <p:sp>
        <p:nvSpPr>
          <p:cNvPr id="57" name="">
            <a:extLst xmlns:a="http://schemas.openxmlformats.org/drawingml/2006/main">
              <a:ext uri="{FF2B5EF4-FFF2-40B4-BE49-F238E27FC236}">
                <a16:creationId xmlns:a16="http://schemas.microsoft.com/office/drawing/2014/main" id="{2C9C5E34-FFF0-4A16-9E5F-F6C0A6126D58}"/>
              </a:ext>
            </a:extLst>
          </p:cNvPr>
          <p:cNvSpPr>
            <a:spLocks xmlns:a="http://schemas.openxmlformats.org/drawingml/2006/main" noGrp="1"/>
          </p:cNvSpPr>
          <p:nvPr/>
        </p:nvSpPr>
        <p:spPr>
          <a:xfrm xmlns:a="http://schemas.openxmlformats.org/drawingml/2006/main">
            <a:off x="11144250" y="2686050"/>
            <a:ext cx="247650" cy="247650"/>
          </a:xfrm>
          <a:prstGeom xmlns:a="http://schemas.openxmlformats.org/drawingml/2006/main" prst="ellipse">
            <a:avLst/>
          </a:prstGeom>
          <a:solidFill xmlns:a="http://schemas.openxmlformats.org/drawingml/2006/main">
            <a:srgbClr val="148A8A"/>
          </a:solidFill>
          <a:ln xmlns:a="http://schemas.openxmlformats.org/drawingml/2006/main" w="19050">
            <a:solidFill>
              <a:srgbClr val="FFFFFF"/>
            </a:solidFill>
            <a:prstDash val="solid"/>
          </a:ln>
        </p:spPr>
      </p:sp>
      <p:sp>
        <p:nvSpPr>
          <p:cNvPr id="58" name="">
            <a:extLst xmlns:a="http://schemas.openxmlformats.org/drawingml/2006/main">
              <a:ext uri="{FF2B5EF4-FFF2-40B4-BE49-F238E27FC236}">
                <a16:creationId xmlns:a16="http://schemas.microsoft.com/office/drawing/2014/main" id="{ECCF5BA2-1766-460A-B5CE-4AB65EE6BBA0}"/>
              </a:ext>
            </a:extLst>
          </p:cNvPr>
          <p:cNvSpPr>
            <a:spLocks xmlns:a="http://schemas.openxmlformats.org/drawingml/2006/main" noGrp="1"/>
          </p:cNvSpPr>
          <p:nvPr/>
        </p:nvSpPr>
        <p:spPr>
          <a:xfrm xmlns:a="http://schemas.openxmlformats.org/drawingml/2006/main">
            <a:off x="11144250" y="3600450"/>
            <a:ext cx="247650" cy="247650"/>
          </a:xfrm>
          <a:prstGeom xmlns:a="http://schemas.openxmlformats.org/drawingml/2006/main" prst="ellipse">
            <a:avLst/>
          </a:prstGeom>
          <a:solidFill xmlns:a="http://schemas.openxmlformats.org/drawingml/2006/main">
            <a:srgbClr val="148A8A"/>
          </a:solidFill>
          <a:ln xmlns:a="http://schemas.openxmlformats.org/drawingml/2006/main" w="19050">
            <a:solidFill>
              <a:srgbClr val="FFFFFF"/>
            </a:solidFill>
            <a:prstDash val="solid"/>
          </a:ln>
        </p:spPr>
      </p:sp>
      <p:sp>
        <p:nvSpPr>
          <p:cNvPr id="59" name="">
            <a:extLst xmlns:a="http://schemas.openxmlformats.org/drawingml/2006/main">
              <a:ext uri="{FF2B5EF4-FFF2-40B4-BE49-F238E27FC236}">
                <a16:creationId xmlns:a16="http://schemas.microsoft.com/office/drawing/2014/main" id="{87552C14-7060-4D94-AED6-12728303D531}"/>
              </a:ext>
            </a:extLst>
          </p:cNvPr>
          <p:cNvSpPr>
            <a:spLocks xmlns:a="http://schemas.openxmlformats.org/drawingml/2006/main" noGrp="1"/>
          </p:cNvSpPr>
          <p:nvPr/>
        </p:nvSpPr>
        <p:spPr>
          <a:xfrm xmlns:a="http://schemas.openxmlformats.org/drawingml/2006/main">
            <a:off x="11144250" y="4514850"/>
            <a:ext cx="247650" cy="247650"/>
          </a:xfrm>
          <a:prstGeom xmlns:a="http://schemas.openxmlformats.org/drawingml/2006/main" prst="ellipse">
            <a:avLst/>
          </a:prstGeom>
          <a:solidFill xmlns:a="http://schemas.openxmlformats.org/drawingml/2006/main">
            <a:srgbClr val="148A8A"/>
          </a:solidFill>
          <a:ln xmlns:a="http://schemas.openxmlformats.org/drawingml/2006/main" w="19050">
            <a:solidFill>
              <a:srgbClr val="FFFFFF"/>
            </a:solidFill>
            <a:prstDash val="solid"/>
          </a:ln>
        </p:spPr>
      </p:sp>
      <p:sp>
        <p:nvSpPr>
          <p:cNvPr id="60" name="">
            <a:extLst xmlns:a="http://schemas.openxmlformats.org/drawingml/2006/main">
              <a:ext uri="{FF2B5EF4-FFF2-40B4-BE49-F238E27FC236}">
                <a16:creationId xmlns:a16="http://schemas.microsoft.com/office/drawing/2014/main" id="{88AF6C0A-152D-4CFE-9458-B30CCBCC42C5}"/>
              </a:ext>
            </a:extLst>
          </p:cNvPr>
          <p:cNvSpPr>
            <a:spLocks xmlns:a="http://schemas.openxmlformats.org/drawingml/2006/main" noGrp="1"/>
          </p:cNvSpPr>
          <p:nvPr/>
        </p:nvSpPr>
        <p:spPr>
          <a:xfrm xmlns:a="http://schemas.openxmlformats.org/drawingml/2006/main">
            <a:off x="8001000" y="5067300"/>
            <a:ext cx="114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900" b="1">
                <a:solidFill>
                  <a:srgbClr val="536477"/>
                </a:solidFill>
                <a:latin typeface="Helvetica Neue"/>
                <a:ea typeface="Helvetica Neue"/>
                <a:cs typeface="Helvetica Neue"/>
              </a:defRPr>
            </a:defPPr>
          </a:lstStyle>
          <a:p xmlns:a="http://schemas.openxmlformats.org/drawingml/2006/main">
            <a:pPr algn="ctr">
              <a:lnSpc>
                <a:spcPct val="105000"/>
              </a:lnSpc>
              <a:buNone/>
              <a:defRPr sz="900" b="1">
                <a:solidFill>
                  <a:srgbClr val="536477"/>
                </a:solidFill>
                <a:latin typeface="Helvetica Neue"/>
                <a:ea typeface="Helvetica Neue"/>
                <a:cs typeface="Helvetica Neue"/>
              </a:defRPr>
            </a:pPr>
            <a:r>
              <a:rPr sz="900" b="1">
                <a:solidFill>
                  <a:srgbClr val="536477"/>
                </a:solidFill>
                <a:latin typeface="Helvetica Neue"/>
                <a:ea typeface="Helvetica Neue"/>
                <a:cs typeface="Helvetica Neue"/>
              </a:rPr>
              <a:t>PROMPT</a:t>
            </a:r>
          </a:p>
        </p:txBody>
      </p:sp>
      <p:sp>
        <p:nvSpPr>
          <p:cNvPr id="61" name="">
            <a:extLst xmlns:a="http://schemas.openxmlformats.org/drawingml/2006/main">
              <a:ext uri="{FF2B5EF4-FFF2-40B4-BE49-F238E27FC236}">
                <a16:creationId xmlns:a16="http://schemas.microsoft.com/office/drawing/2014/main" id="{33948D47-5F46-4AD8-8281-F5537902E3EC}"/>
              </a:ext>
            </a:extLst>
          </p:cNvPr>
          <p:cNvSpPr>
            <a:spLocks xmlns:a="http://schemas.openxmlformats.org/drawingml/2006/main" noGrp="1"/>
          </p:cNvSpPr>
          <p:nvPr/>
        </p:nvSpPr>
        <p:spPr>
          <a:xfrm xmlns:a="http://schemas.openxmlformats.org/drawingml/2006/main">
            <a:off x="9182100" y="5067300"/>
            <a:ext cx="1657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900" b="1">
                <a:solidFill>
                  <a:srgbClr val="536477"/>
                </a:solidFill>
                <a:latin typeface="Helvetica Neue"/>
                <a:ea typeface="Helvetica Neue"/>
                <a:cs typeface="Helvetica Neue"/>
              </a:defRPr>
            </a:defPPr>
          </a:lstStyle>
          <a:p xmlns:a="http://schemas.openxmlformats.org/drawingml/2006/main">
            <a:pPr algn="ctr">
              <a:lnSpc>
                <a:spcPct val="105000"/>
              </a:lnSpc>
              <a:buNone/>
              <a:defRPr sz="900" b="1">
                <a:solidFill>
                  <a:srgbClr val="536477"/>
                </a:solidFill>
                <a:latin typeface="Helvetica Neue"/>
                <a:ea typeface="Helvetica Neue"/>
                <a:cs typeface="Helvetica Neue"/>
              </a:defRPr>
            </a:pPr>
            <a:r>
              <a:rPr sz="900" b="1">
                <a:solidFill>
                  <a:srgbClr val="536477"/>
                </a:solidFill>
                <a:latin typeface="Helvetica Neue"/>
                <a:ea typeface="Helvetica Neue"/>
                <a:cs typeface="Helvetica Neue"/>
              </a:rPr>
              <a:t>HIDDEN LAYERS</a:t>
            </a:r>
          </a:p>
        </p:txBody>
      </p:sp>
      <p:sp>
        <p:nvSpPr>
          <p:cNvPr id="62" name="">
            <a:extLst xmlns:a="http://schemas.openxmlformats.org/drawingml/2006/main">
              <a:ext uri="{FF2B5EF4-FFF2-40B4-BE49-F238E27FC236}">
                <a16:creationId xmlns:a16="http://schemas.microsoft.com/office/drawing/2014/main" id="{EAC1C8DF-FB41-46E5-9395-E51C1622488C}"/>
              </a:ext>
            </a:extLst>
          </p:cNvPr>
          <p:cNvSpPr>
            <a:spLocks xmlns:a="http://schemas.openxmlformats.org/drawingml/2006/main" noGrp="1"/>
          </p:cNvSpPr>
          <p:nvPr/>
        </p:nvSpPr>
        <p:spPr>
          <a:xfrm xmlns:a="http://schemas.openxmlformats.org/drawingml/2006/main">
            <a:off x="10858500" y="5067300"/>
            <a:ext cx="95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900" b="1">
                <a:solidFill>
                  <a:srgbClr val="536477"/>
                </a:solidFill>
                <a:latin typeface="Helvetica Neue"/>
                <a:ea typeface="Helvetica Neue"/>
                <a:cs typeface="Helvetica Neue"/>
              </a:defRPr>
            </a:defPPr>
          </a:lstStyle>
          <a:p xmlns:a="http://schemas.openxmlformats.org/drawingml/2006/main">
            <a:pPr algn="ctr">
              <a:lnSpc>
                <a:spcPct val="105000"/>
              </a:lnSpc>
              <a:buNone/>
              <a:defRPr sz="900" b="1">
                <a:solidFill>
                  <a:srgbClr val="536477"/>
                </a:solidFill>
                <a:latin typeface="Helvetica Neue"/>
                <a:ea typeface="Helvetica Neue"/>
                <a:cs typeface="Helvetica Neue"/>
              </a:defRPr>
            </a:pPr>
            <a:r>
              <a:rPr sz="900" b="1">
                <a:solidFill>
                  <a:srgbClr val="536477"/>
                </a:solidFill>
                <a:latin typeface="Helvetica Neue"/>
                <a:ea typeface="Helvetica Neue"/>
                <a:cs typeface="Helvetica Neue"/>
              </a:rPr>
              <a:t>ANSWER</a:t>
            </a:r>
          </a:p>
        </p:txBody>
      </p:sp>
      <p:sp>
        <p:nvSpPr>
          <p:cNvPr id="63" name="">
            <a:extLst xmlns:a="http://schemas.openxmlformats.org/drawingml/2006/main">
              <a:ext uri="{FF2B5EF4-FFF2-40B4-BE49-F238E27FC236}">
                <a16:creationId xmlns:a16="http://schemas.microsoft.com/office/drawing/2014/main" id="{420DDD6E-1F3F-4CA5-A995-28FD09066C20}"/>
              </a:ext>
            </a:extLst>
          </p:cNvPr>
          <p:cNvSpPr>
            <a:spLocks xmlns:a="http://schemas.openxmlformats.org/drawingml/2006/main" noGrp="1"/>
          </p:cNvSpPr>
          <p:nvPr/>
        </p:nvSpPr>
        <p:spPr>
          <a:xfrm xmlns:a="http://schemas.openxmlformats.org/drawingml/2006/main">
            <a:off x="7810500" y="5886450"/>
            <a:ext cx="3524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975" b="0">
                <a:solidFill>
                  <a:srgbClr val="536477"/>
                </a:solidFill>
                <a:latin typeface="Helvetica Neue"/>
                <a:ea typeface="Helvetica Neue"/>
                <a:cs typeface="Helvetica Neue"/>
              </a:defRPr>
            </a:defPPr>
          </a:lstStyle>
          <a:p xmlns:a="http://schemas.openxmlformats.org/drawingml/2006/main">
            <a:pPr algn="r">
              <a:lnSpc>
                <a:spcPct val="105000"/>
              </a:lnSpc>
              <a:buNone/>
              <a:defRPr sz="975" b="0">
                <a:solidFill>
                  <a:srgbClr val="536477"/>
                </a:solidFill>
                <a:latin typeface="Helvetica Neue"/>
                <a:ea typeface="Helvetica Neue"/>
                <a:cs typeface="Helvetica Neue"/>
              </a:defRPr>
            </a:pPr>
            <a:r>
              <a:rPr sz="975" b="0">
                <a:solidFill>
                  <a:srgbClr val="536477"/>
                </a:solidFill>
                <a:latin typeface="Helvetica Neue"/>
                <a:ea typeface="Helvetica Neue"/>
                <a:cs typeface="Helvetica Neue"/>
              </a:rPr>
              <a:t>Presentation title shown as a placeholder until the official capstone title is confirmed.</a:t>
            </a:r>
          </a:p>
        </p:txBody>
      </p:sp>
    </p:spTree>
    <p:extLst>
      <p:ext uri="{BB962C8B-B14F-4D97-AF65-F5344CB8AC3E}">
        <p14:creationId xmlns:p14="http://schemas.microsoft.com/office/powerpoint/2010/main" val="607052613"/>
      </p:ext>
    </p:extLst>
  </p:cSld>
</p:sld>
</file>

<file path=ppt/slides/slide2.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28" name="">
            <a:extLst xmlns:a="http://schemas.openxmlformats.org/drawingml/2006/main">
              <a:ext uri="{FF2B5EF4-FFF2-40B4-BE49-F238E27FC236}">
                <a16:creationId xmlns:a16="http://schemas.microsoft.com/office/drawing/2014/main" id="{BA515D6A-F443-4992-A42A-4CE774847E47}"/>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2864C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F62DE2BF-83A0-414B-9D51-675382A8E0A2}"/>
              </a:ext>
            </a:extLst>
          </p:cNvPr>
          <p:cNvSpPr>
            <a:spLocks xmlns:a="http://schemas.openxmlformats.org/drawingml/2006/main" noGrp="1"/>
          </p:cNvSpPr>
          <p:nvPr/>
        </p:nvSpPr>
        <p:spPr>
          <a:xfrm xmlns:a="http://schemas.openxmlformats.org/drawingml/2006/main">
            <a:off x="552450" y="361950"/>
            <a:ext cx="11049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550" b="1">
                <a:solidFill>
                  <a:srgbClr val="10253F"/>
                </a:solidFill>
                <a:latin typeface="Helvetica Neue"/>
                <a:ea typeface="Helvetica Neue"/>
                <a:cs typeface="Helvetica Neue"/>
              </a:defRPr>
            </a:defPPr>
          </a:lstStyle>
          <a:p xmlns:a="http://schemas.openxmlformats.org/drawingml/2006/main">
            <a:pPr algn="l">
              <a:lnSpc>
                <a:spcPct val="105000"/>
              </a:lnSpc>
              <a:buNone/>
              <a:defRPr sz="2550" b="1">
                <a:solidFill>
                  <a:srgbClr val="10253F"/>
                </a:solidFill>
                <a:latin typeface="Helvetica Neue"/>
                <a:ea typeface="Helvetica Neue"/>
                <a:cs typeface="Helvetica Neue"/>
              </a:defRPr>
            </a:pPr>
            <a:r>
              <a:rPr sz="2550" b="1">
                <a:solidFill>
                  <a:srgbClr val="10253F"/>
                </a:solidFill>
                <a:latin typeface="Helvetica Neue"/>
                <a:ea typeface="Helvetica Neue"/>
                <a:cs typeface="Helvetica Neue"/>
              </a:rPr>
              <a:t>Project Overview</a:t>
            </a:r>
          </a:p>
        </p:txBody>
      </p:sp>
      <p:sp>
        <p:nvSpPr>
          <p:cNvPr id="3" name="">
            <a:extLst xmlns:a="http://schemas.openxmlformats.org/drawingml/2006/main">
              <a:ext uri="{FF2B5EF4-FFF2-40B4-BE49-F238E27FC236}">
                <a16:creationId xmlns:a16="http://schemas.microsoft.com/office/drawing/2014/main" id="{0A478846-2EBA-4E41-9A38-470453F5BB71}"/>
              </a:ext>
            </a:extLst>
          </p:cNvPr>
          <p:cNvSpPr>
            <a:spLocks xmlns:a="http://schemas.openxmlformats.org/drawingml/2006/main" noGrp="1"/>
          </p:cNvSpPr>
          <p:nvPr/>
        </p:nvSpPr>
        <p:spPr>
          <a:xfrm xmlns:a="http://schemas.openxmlformats.org/drawingml/2006/main">
            <a:off x="571500" y="876300"/>
            <a:ext cx="10953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a:solidFill>
                  <a:srgbClr val="536477"/>
                </a:solidFill>
                <a:latin typeface="Helvetica Neue"/>
                <a:ea typeface="Helvetica Neue"/>
                <a:cs typeface="Helvetica Neue"/>
              </a:defRPr>
            </a:defPPr>
          </a:lstStyle>
          <a:p xmlns:a="http://schemas.openxmlformats.org/drawingml/2006/main">
            <a:pPr algn="l">
              <a:lnSpc>
                <a:spcPct val="105000"/>
              </a:lnSpc>
              <a:buNone/>
              <a:defRPr sz="1275" b="0">
                <a:solidFill>
                  <a:srgbClr val="536477"/>
                </a:solidFill>
                <a:latin typeface="Helvetica Neue"/>
                <a:ea typeface="Helvetica Neue"/>
                <a:cs typeface="Helvetica Neue"/>
              </a:defRPr>
            </a:pPr>
            <a:r>
              <a:rPr sz="1275" b="0">
                <a:solidFill>
                  <a:srgbClr val="536477"/>
                </a:solidFill>
                <a:latin typeface="Helvetica Neue"/>
                <a:ea typeface="Helvetica Neue"/>
                <a:cs typeface="Helvetica Neue"/>
              </a:rPr>
              <a:t>A small language model can answer questions. This project studies how decoding and uncertainty signals can help evaluate those answers.</a:t>
            </a:r>
          </a:p>
        </p:txBody>
      </p:sp>
      <p:sp>
        <p:nvSpPr>
          <p:cNvPr id="4" name="">
            <a:extLst xmlns:a="http://schemas.openxmlformats.org/drawingml/2006/main">
              <a:ext uri="{FF2B5EF4-FFF2-40B4-BE49-F238E27FC236}">
                <a16:creationId xmlns:a16="http://schemas.microsoft.com/office/drawing/2014/main" id="{532108F3-2628-48C2-BAE7-EDCFFDD246B6}"/>
              </a:ext>
            </a:extLst>
          </p:cNvPr>
          <p:cNvSpPr>
            <a:spLocks xmlns:a="http://schemas.openxmlformats.org/drawingml/2006/main" noGrp="1"/>
          </p:cNvSpPr>
          <p:nvPr/>
        </p:nvSpPr>
        <p:spPr>
          <a:xfrm xmlns:a="http://schemas.openxmlformats.org/drawingml/2006/main" flipV="0">
            <a:off x="571500" y="6438900"/>
            <a:ext cx="11049000" cy="0"/>
          </a:xfrm>
          <a:prstGeom xmlns:a="http://schemas.openxmlformats.org/drawingml/2006/main" prst="line">
            <a:avLst/>
          </a:prstGeom>
          <a:noFill xmlns:a="http://schemas.openxmlformats.org/drawingml/2006/main"/>
          <a:ln xmlns:a="http://schemas.openxmlformats.org/drawingml/2006/main" w="9525">
            <a:solidFill>
              <a:srgbClr val="D6DEE8"/>
            </a:solidFill>
            <a:prstDash val="solid"/>
          </a:ln>
        </p:spPr>
      </p:sp>
      <p:sp>
        <p:nvSpPr>
          <p:cNvPr id="5" name="">
            <a:extLst xmlns:a="http://schemas.openxmlformats.org/drawingml/2006/main">
              <a:ext uri="{FF2B5EF4-FFF2-40B4-BE49-F238E27FC236}">
                <a16:creationId xmlns:a16="http://schemas.microsoft.com/office/drawing/2014/main" id="{A78534CF-2E57-4799-8A39-E62A92109749}"/>
              </a:ext>
            </a:extLst>
          </p:cNvPr>
          <p:cNvSpPr>
            <a:spLocks xmlns:a="http://schemas.openxmlformats.org/drawingml/2006/main" noGrp="1"/>
          </p:cNvSpPr>
          <p:nvPr/>
        </p:nvSpPr>
        <p:spPr>
          <a:xfrm xmlns:a="http://schemas.openxmlformats.org/drawingml/2006/main">
            <a:off x="571500" y="6534150"/>
            <a:ext cx="4572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1">
                <a:solidFill>
                  <a:srgbClr val="536477"/>
                </a:solidFill>
                <a:latin typeface="Helvetica Neue"/>
                <a:ea typeface="Helvetica Neue"/>
                <a:cs typeface="Helvetica Neue"/>
              </a:defRPr>
            </a:defPPr>
          </a:lstStyle>
          <a:p xmlns:a="http://schemas.openxmlformats.org/drawingml/2006/main">
            <a:pPr algn="l">
              <a:lnSpc>
                <a:spcPct val="105000"/>
              </a:lnSpc>
              <a:buNone/>
              <a:defRPr sz="900" b="1">
                <a:solidFill>
                  <a:srgbClr val="536477"/>
                </a:solidFill>
                <a:latin typeface="Helvetica Neue"/>
                <a:ea typeface="Helvetica Neue"/>
                <a:cs typeface="Helvetica Neue"/>
              </a:defRPr>
            </a:pPr>
            <a:r>
              <a:rPr sz="900" b="1">
                <a:solidFill>
                  <a:srgbClr val="536477"/>
                </a:solidFill>
                <a:latin typeface="Helvetica Neue"/>
                <a:ea typeface="Helvetica Neue"/>
                <a:cs typeface="Helvetica Neue"/>
              </a:rPr>
              <a:t>VIT-AP UNIVERSITY  /  SCOPE</a:t>
            </a:r>
          </a:p>
        </p:txBody>
      </p:sp>
      <p:sp>
        <p:nvSpPr>
          <p:cNvPr id="6" name="">
            <a:extLst xmlns:a="http://schemas.openxmlformats.org/drawingml/2006/main">
              <a:ext uri="{FF2B5EF4-FFF2-40B4-BE49-F238E27FC236}">
                <a16:creationId xmlns:a16="http://schemas.microsoft.com/office/drawing/2014/main" id="{89051ECC-B100-4B32-8596-675F43207A27}"/>
              </a:ext>
            </a:extLst>
          </p:cNvPr>
          <p:cNvSpPr>
            <a:spLocks xmlns:a="http://schemas.openxmlformats.org/drawingml/2006/main" noGrp="1"/>
          </p:cNvSpPr>
          <p:nvPr/>
        </p:nvSpPr>
        <p:spPr>
          <a:xfrm xmlns:a="http://schemas.openxmlformats.org/drawingml/2006/main">
            <a:off x="11087100" y="6515100"/>
            <a:ext cx="5334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975" b="1">
                <a:solidFill>
                  <a:srgbClr val="536477"/>
                </a:solidFill>
                <a:latin typeface="Helvetica Neue"/>
                <a:ea typeface="Helvetica Neue"/>
                <a:cs typeface="Helvetica Neue"/>
              </a:defRPr>
            </a:defPPr>
          </a:lstStyle>
          <a:p xmlns:a="http://schemas.openxmlformats.org/drawingml/2006/main">
            <a:pPr algn="r">
              <a:lnSpc>
                <a:spcPct val="105000"/>
              </a:lnSpc>
              <a:buNone/>
              <a:defRPr sz="975" b="1">
                <a:solidFill>
                  <a:srgbClr val="536477"/>
                </a:solidFill>
                <a:latin typeface="Helvetica Neue"/>
                <a:ea typeface="Helvetica Neue"/>
                <a:cs typeface="Helvetica Neue"/>
              </a:defRPr>
            </a:pPr>
            <a:r>
              <a:rPr sz="975" b="1">
                <a:solidFill>
                  <a:srgbClr val="536477"/>
                </a:solidFill>
                <a:latin typeface="Helvetica Neue"/>
                <a:ea typeface="Helvetica Neue"/>
                <a:cs typeface="Helvetica Neue"/>
              </a:rPr>
              <a:t>02</a:t>
            </a:r>
          </a:p>
        </p:txBody>
      </p:sp>
      <p:sp>
        <p:nvSpPr>
          <p:cNvPr id="7" name="">
            <a:extLst xmlns:a="http://schemas.openxmlformats.org/drawingml/2006/main">
              <a:ext uri="{FF2B5EF4-FFF2-40B4-BE49-F238E27FC236}">
                <a16:creationId xmlns:a16="http://schemas.microsoft.com/office/drawing/2014/main" id="{611582B4-516D-494D-9A7B-29158F091CAC}"/>
              </a:ext>
            </a:extLst>
          </p:cNvPr>
          <p:cNvSpPr>
            <a:spLocks xmlns:a="http://schemas.openxmlformats.org/drawingml/2006/main" noGrp="1"/>
          </p:cNvSpPr>
          <p:nvPr/>
        </p:nvSpPr>
        <p:spPr>
          <a:xfrm xmlns:a="http://schemas.openxmlformats.org/drawingml/2006/main">
            <a:off x="647700" y="1485900"/>
            <a:ext cx="2667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1">
                <a:solidFill>
                  <a:srgbClr val="2864C5"/>
                </a:solidFill>
                <a:latin typeface="Helvetica Neue"/>
                <a:ea typeface="Helvetica Neue"/>
                <a:cs typeface="Helvetica Neue"/>
              </a:defRPr>
            </a:defPPr>
          </a:lstStyle>
          <a:p xmlns:a="http://schemas.openxmlformats.org/drawingml/2006/main">
            <a:pPr algn="l">
              <a:lnSpc>
                <a:spcPct val="105000"/>
              </a:lnSpc>
              <a:buNone/>
              <a:defRPr sz="975" b="1">
                <a:solidFill>
                  <a:srgbClr val="2864C5"/>
                </a:solidFill>
                <a:latin typeface="Helvetica Neue"/>
                <a:ea typeface="Helvetica Neue"/>
                <a:cs typeface="Helvetica Neue"/>
              </a:defRPr>
            </a:pPr>
            <a:r>
              <a:rPr sz="975" b="1">
                <a:solidFill>
                  <a:srgbClr val="2864C5"/>
                </a:solidFill>
                <a:latin typeface="Helvetica Neue"/>
                <a:ea typeface="Helvetica Neue"/>
                <a:cs typeface="Helvetica Neue"/>
              </a:rPr>
              <a:t>PROJECT IN ONE LINE</a:t>
            </a:r>
          </a:p>
        </p:txBody>
      </p:sp>
      <p:sp>
        <p:nvSpPr>
          <p:cNvPr id="8" name="">
            <a:extLst xmlns:a="http://schemas.openxmlformats.org/drawingml/2006/main">
              <a:ext uri="{FF2B5EF4-FFF2-40B4-BE49-F238E27FC236}">
                <a16:creationId xmlns:a16="http://schemas.microsoft.com/office/drawing/2014/main" id="{CBE9F540-B026-4330-A9FC-956869560BDA}"/>
              </a:ext>
            </a:extLst>
          </p:cNvPr>
          <p:cNvSpPr>
            <a:spLocks xmlns:a="http://schemas.openxmlformats.org/drawingml/2006/main" noGrp="1"/>
          </p:cNvSpPr>
          <p:nvPr/>
        </p:nvSpPr>
        <p:spPr>
          <a:xfrm xmlns:a="http://schemas.openxmlformats.org/drawingml/2006/main">
            <a:off x="647700" y="1752600"/>
            <a:ext cx="105727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950" b="1">
                <a:solidFill>
                  <a:srgbClr val="10253F"/>
                </a:solidFill>
                <a:latin typeface="Helvetica Neue"/>
                <a:ea typeface="Helvetica Neue"/>
                <a:cs typeface="Helvetica Neue"/>
              </a:defRPr>
            </a:defPPr>
          </a:lstStyle>
          <a:p xmlns:a="http://schemas.openxmlformats.org/drawingml/2006/main">
            <a:pPr algn="l">
              <a:lnSpc>
                <a:spcPct val="105000"/>
              </a:lnSpc>
              <a:buNone/>
              <a:defRPr sz="1950" b="1">
                <a:solidFill>
                  <a:srgbClr val="10253F"/>
                </a:solidFill>
                <a:latin typeface="Helvetica Neue"/>
                <a:ea typeface="Helvetica Neue"/>
                <a:cs typeface="Helvetica Neue"/>
              </a:defRPr>
            </a:pPr>
            <a:r>
              <a:rPr sz="1950" b="1">
                <a:solidFill>
                  <a:srgbClr val="10253F"/>
                </a:solidFill>
                <a:latin typeface="Helvetica Neue"/>
                <a:ea typeface="Helvetica Neue"/>
                <a:cs typeface="Helvetica Neue"/>
              </a:rPr>
              <a:t>Compare layer-contrastive decoding and Epinet-based uncertainty for TinyLlama answer generation.</a:t>
            </a:r>
          </a:p>
        </p:txBody>
      </p:sp>
      <p:sp>
        <p:nvSpPr>
          <p:cNvPr id="9" name="">
            <a:extLst xmlns:a="http://schemas.openxmlformats.org/drawingml/2006/main">
              <a:ext uri="{FF2B5EF4-FFF2-40B4-BE49-F238E27FC236}">
                <a16:creationId xmlns:a16="http://schemas.microsoft.com/office/drawing/2014/main" id="{CEEA6489-8E60-4BD6-85CD-50A322928FBA}"/>
              </a:ext>
            </a:extLst>
          </p:cNvPr>
          <p:cNvSpPr>
            <a:spLocks xmlns:a="http://schemas.openxmlformats.org/drawingml/2006/main" noGrp="1"/>
          </p:cNvSpPr>
          <p:nvPr/>
        </p:nvSpPr>
        <p:spPr>
          <a:xfrm xmlns:a="http://schemas.openxmlformats.org/drawingml/2006/main">
            <a:off x="742950" y="3009900"/>
            <a:ext cx="2857500" cy="1238250"/>
          </a:xfrm>
          <a:prstGeom xmlns:a="http://schemas.openxmlformats.org/drawingml/2006/main" prst="roundRect">
            <a:avLst>
              <a:gd name="adj" fmla="val 6154"/>
            </a:avLst>
          </a:prstGeom>
          <a:solidFill xmlns:a="http://schemas.openxmlformats.org/drawingml/2006/main">
            <a:srgbClr val="FFFFFF"/>
          </a:solidFill>
          <a:ln xmlns:a="http://schemas.openxmlformats.org/drawingml/2006/main" w="9525">
            <a:solidFill>
              <a:srgbClr val="D6DEE8"/>
            </a:solidFill>
            <a:prstDash val="solid"/>
          </a:ln>
        </p:spPr>
      </p:sp>
      <p:sp>
        <p:nvSpPr>
          <p:cNvPr id="10" name="">
            <a:extLst xmlns:a="http://schemas.openxmlformats.org/drawingml/2006/main">
              <a:ext uri="{FF2B5EF4-FFF2-40B4-BE49-F238E27FC236}">
                <a16:creationId xmlns:a16="http://schemas.microsoft.com/office/drawing/2014/main" id="{CF5B21FA-E69A-4245-9D0B-1922408D56B1}"/>
              </a:ext>
            </a:extLst>
          </p:cNvPr>
          <p:cNvSpPr>
            <a:spLocks xmlns:a="http://schemas.openxmlformats.org/drawingml/2006/main" noGrp="1"/>
          </p:cNvSpPr>
          <p:nvPr/>
        </p:nvSpPr>
        <p:spPr>
          <a:xfrm xmlns:a="http://schemas.openxmlformats.org/drawingml/2006/main">
            <a:off x="742950" y="3009900"/>
            <a:ext cx="47625" cy="1238250"/>
          </a:xfrm>
          <a:prstGeom xmlns:a="http://schemas.openxmlformats.org/drawingml/2006/main" prst="rect">
            <a:avLst/>
          </a:prstGeom>
          <a:solidFill xmlns:a="http://schemas.openxmlformats.org/drawingml/2006/main">
            <a:srgbClr val="2864C5"/>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21C27AAB-D009-43B8-BCBD-6D3546CBEAAA}"/>
              </a:ext>
            </a:extLst>
          </p:cNvPr>
          <p:cNvSpPr>
            <a:spLocks xmlns:a="http://schemas.openxmlformats.org/drawingml/2006/main" noGrp="1"/>
          </p:cNvSpPr>
          <p:nvPr/>
        </p:nvSpPr>
        <p:spPr>
          <a:xfrm xmlns:a="http://schemas.openxmlformats.org/drawingml/2006/main">
            <a:off x="914400" y="3152775"/>
            <a:ext cx="2533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1">
                <a:solidFill>
                  <a:srgbClr val="10253F"/>
                </a:solidFill>
                <a:latin typeface="Helvetica Neue"/>
                <a:ea typeface="Helvetica Neue"/>
                <a:cs typeface="Helvetica Neue"/>
              </a:defRPr>
            </a:defPPr>
          </a:lstStyle>
          <a:p xmlns:a="http://schemas.openxmlformats.org/drawingml/2006/main">
            <a:pPr algn="l">
              <a:lnSpc>
                <a:spcPct val="105000"/>
              </a:lnSpc>
              <a:buNone/>
              <a:defRPr sz="1425" b="1">
                <a:solidFill>
                  <a:srgbClr val="10253F"/>
                </a:solidFill>
                <a:latin typeface="Helvetica Neue"/>
                <a:ea typeface="Helvetica Neue"/>
                <a:cs typeface="Helvetica Neue"/>
              </a:defRPr>
            </a:pPr>
            <a:r>
              <a:rPr sz="1425" b="1">
                <a:solidFill>
                  <a:srgbClr val="10253F"/>
                </a:solidFill>
                <a:latin typeface="Helvetica Neue"/>
                <a:ea typeface="Helvetica Neue"/>
                <a:cs typeface="Helvetica Neue"/>
              </a:rPr>
              <a:t>Question prompt</a:t>
            </a:r>
          </a:p>
        </p:txBody>
      </p:sp>
      <p:sp>
        <p:nvSpPr>
          <p:cNvPr id="12" name="">
            <a:extLst xmlns:a="http://schemas.openxmlformats.org/drawingml/2006/main">
              <a:ext uri="{FF2B5EF4-FFF2-40B4-BE49-F238E27FC236}">
                <a16:creationId xmlns:a16="http://schemas.microsoft.com/office/drawing/2014/main" id="{125E94BD-B98B-4879-BBE9-753A1B774460}"/>
              </a:ext>
            </a:extLst>
          </p:cNvPr>
          <p:cNvSpPr>
            <a:spLocks xmlns:a="http://schemas.openxmlformats.org/drawingml/2006/main" noGrp="1"/>
          </p:cNvSpPr>
          <p:nvPr/>
        </p:nvSpPr>
        <p:spPr>
          <a:xfrm xmlns:a="http://schemas.openxmlformats.org/drawingml/2006/main">
            <a:off x="914400" y="3467100"/>
            <a:ext cx="2533650" cy="695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0">
                <a:solidFill>
                  <a:srgbClr val="536477"/>
                </a:solidFill>
                <a:latin typeface="Helvetica Neue"/>
                <a:ea typeface="Helvetica Neue"/>
                <a:cs typeface="Helvetica Neue"/>
              </a:defRPr>
            </a:defPPr>
          </a:lstStyle>
          <a:p xmlns:a="http://schemas.openxmlformats.org/drawingml/2006/main">
            <a:pPr algn="l">
              <a:lnSpc>
                <a:spcPct val="105000"/>
              </a:lnSpc>
              <a:buNone/>
              <a:defRPr sz="1050" b="0">
                <a:solidFill>
                  <a:srgbClr val="536477"/>
                </a:solidFill>
                <a:latin typeface="Helvetica Neue"/>
                <a:ea typeface="Helvetica Neue"/>
                <a:cs typeface="Helvetica Neue"/>
              </a:defRPr>
            </a:pPr>
            <a:r>
              <a:rPr sz="1050" b="0">
                <a:solidFill>
                  <a:srgbClr val="536477"/>
                </a:solidFill>
                <a:latin typeface="Helvetica Neue"/>
                <a:ea typeface="Helvetica Neue"/>
                <a:cs typeface="Helvetica Neue"/>
              </a:rPr>
              <a:t>A user asks a short factual question.</a:t>
            </a:r>
          </a:p>
        </p:txBody>
      </p:sp>
      <p:sp>
        <p:nvSpPr>
          <p:cNvPr id="13" name="">
            <a:extLst xmlns:a="http://schemas.openxmlformats.org/drawingml/2006/main">
              <a:ext uri="{FF2B5EF4-FFF2-40B4-BE49-F238E27FC236}">
                <a16:creationId xmlns:a16="http://schemas.microsoft.com/office/drawing/2014/main" id="{5F902540-A48A-4D23-A8C1-B1ECBAEE4835}"/>
              </a:ext>
            </a:extLst>
          </p:cNvPr>
          <p:cNvSpPr>
            <a:spLocks xmlns:a="http://schemas.openxmlformats.org/drawingml/2006/main" noGrp="1"/>
          </p:cNvSpPr>
          <p:nvPr/>
        </p:nvSpPr>
        <p:spPr>
          <a:xfrm xmlns:a="http://schemas.openxmlformats.org/drawingml/2006/main">
            <a:off x="4667250" y="3009900"/>
            <a:ext cx="2857500" cy="1238250"/>
          </a:xfrm>
          <a:prstGeom xmlns:a="http://schemas.openxmlformats.org/drawingml/2006/main" prst="roundRect">
            <a:avLst>
              <a:gd name="adj" fmla="val 6154"/>
            </a:avLst>
          </a:prstGeom>
          <a:solidFill xmlns:a="http://schemas.openxmlformats.org/drawingml/2006/main">
            <a:srgbClr val="FFFFFF"/>
          </a:solidFill>
          <a:ln xmlns:a="http://schemas.openxmlformats.org/drawingml/2006/main" w="9525">
            <a:solidFill>
              <a:srgbClr val="D6DEE8"/>
            </a:solidFill>
            <a:prstDash val="solid"/>
          </a:ln>
        </p:spPr>
      </p:sp>
      <p:sp>
        <p:nvSpPr>
          <p:cNvPr id="14" name="">
            <a:extLst xmlns:a="http://schemas.openxmlformats.org/drawingml/2006/main">
              <a:ext uri="{FF2B5EF4-FFF2-40B4-BE49-F238E27FC236}">
                <a16:creationId xmlns:a16="http://schemas.microsoft.com/office/drawing/2014/main" id="{C76D430B-858D-4070-871B-2A9B1D4EE807}"/>
              </a:ext>
            </a:extLst>
          </p:cNvPr>
          <p:cNvSpPr>
            <a:spLocks xmlns:a="http://schemas.openxmlformats.org/drawingml/2006/main" noGrp="1"/>
          </p:cNvSpPr>
          <p:nvPr/>
        </p:nvSpPr>
        <p:spPr>
          <a:xfrm xmlns:a="http://schemas.openxmlformats.org/drawingml/2006/main">
            <a:off x="4667250" y="3009900"/>
            <a:ext cx="47625" cy="1238250"/>
          </a:xfrm>
          <a:prstGeom xmlns:a="http://schemas.openxmlformats.org/drawingml/2006/main" prst="rect">
            <a:avLst/>
          </a:prstGeom>
          <a:solidFill xmlns:a="http://schemas.openxmlformats.org/drawingml/2006/main">
            <a:srgbClr val="148A8A"/>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E7938609-7F8A-4BDD-A21D-554764840E6E}"/>
              </a:ext>
            </a:extLst>
          </p:cNvPr>
          <p:cNvSpPr>
            <a:spLocks xmlns:a="http://schemas.openxmlformats.org/drawingml/2006/main" noGrp="1"/>
          </p:cNvSpPr>
          <p:nvPr/>
        </p:nvSpPr>
        <p:spPr>
          <a:xfrm xmlns:a="http://schemas.openxmlformats.org/drawingml/2006/main">
            <a:off x="4838700" y="3152775"/>
            <a:ext cx="2533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1">
                <a:solidFill>
                  <a:srgbClr val="10253F"/>
                </a:solidFill>
                <a:latin typeface="Helvetica Neue"/>
                <a:ea typeface="Helvetica Neue"/>
                <a:cs typeface="Helvetica Neue"/>
              </a:defRPr>
            </a:defPPr>
          </a:lstStyle>
          <a:p xmlns:a="http://schemas.openxmlformats.org/drawingml/2006/main">
            <a:pPr algn="l">
              <a:lnSpc>
                <a:spcPct val="105000"/>
              </a:lnSpc>
              <a:buNone/>
              <a:defRPr sz="1425" b="1">
                <a:solidFill>
                  <a:srgbClr val="10253F"/>
                </a:solidFill>
                <a:latin typeface="Helvetica Neue"/>
                <a:ea typeface="Helvetica Neue"/>
                <a:cs typeface="Helvetica Neue"/>
              </a:defRPr>
            </a:pPr>
            <a:r>
              <a:rPr sz="1425" b="1">
                <a:solidFill>
                  <a:srgbClr val="10253F"/>
                </a:solidFill>
                <a:latin typeface="Helvetica Neue"/>
                <a:ea typeface="Helvetica Neue"/>
                <a:cs typeface="Helvetica Neue"/>
              </a:rPr>
              <a:t>TinyLlama + DoLa</a:t>
            </a:r>
          </a:p>
        </p:txBody>
      </p:sp>
      <p:sp>
        <p:nvSpPr>
          <p:cNvPr id="16" name="">
            <a:extLst xmlns:a="http://schemas.openxmlformats.org/drawingml/2006/main">
              <a:ext uri="{FF2B5EF4-FFF2-40B4-BE49-F238E27FC236}">
                <a16:creationId xmlns:a16="http://schemas.microsoft.com/office/drawing/2014/main" id="{FCEF21F0-191F-49EC-9D22-5ABEC5452BAD}"/>
              </a:ext>
            </a:extLst>
          </p:cNvPr>
          <p:cNvSpPr>
            <a:spLocks xmlns:a="http://schemas.openxmlformats.org/drawingml/2006/main" noGrp="1"/>
          </p:cNvSpPr>
          <p:nvPr/>
        </p:nvSpPr>
        <p:spPr>
          <a:xfrm xmlns:a="http://schemas.openxmlformats.org/drawingml/2006/main">
            <a:off x="4838700" y="3467100"/>
            <a:ext cx="2533650" cy="695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0">
                <a:solidFill>
                  <a:srgbClr val="536477"/>
                </a:solidFill>
                <a:latin typeface="Helvetica Neue"/>
                <a:ea typeface="Helvetica Neue"/>
                <a:cs typeface="Helvetica Neue"/>
              </a:defRPr>
            </a:defPPr>
          </a:lstStyle>
          <a:p xmlns:a="http://schemas.openxmlformats.org/drawingml/2006/main">
            <a:pPr algn="l">
              <a:lnSpc>
                <a:spcPct val="105000"/>
              </a:lnSpc>
              <a:buNone/>
              <a:defRPr sz="1050" b="0">
                <a:solidFill>
                  <a:srgbClr val="536477"/>
                </a:solidFill>
                <a:latin typeface="Helvetica Neue"/>
                <a:ea typeface="Helvetica Neue"/>
                <a:cs typeface="Helvetica Neue"/>
              </a:defRPr>
            </a:pPr>
            <a:r>
              <a:rPr sz="1050" b="0">
                <a:solidFill>
                  <a:srgbClr val="536477"/>
                </a:solidFill>
                <a:latin typeface="Helvetica Neue"/>
                <a:ea typeface="Helvetica Neue"/>
                <a:cs typeface="Helvetica Neue"/>
              </a:rPr>
              <a:t>Contrast final-layer scores with a selected earlier layer.</a:t>
            </a:r>
          </a:p>
        </p:txBody>
      </p:sp>
      <p:sp>
        <p:nvSpPr>
          <p:cNvPr id="17" name="">
            <a:extLst xmlns:a="http://schemas.openxmlformats.org/drawingml/2006/main">
              <a:ext uri="{FF2B5EF4-FFF2-40B4-BE49-F238E27FC236}">
                <a16:creationId xmlns:a16="http://schemas.microsoft.com/office/drawing/2014/main" id="{972B6575-95FD-4C7C-9565-37148794E9BF}"/>
              </a:ext>
            </a:extLst>
          </p:cNvPr>
          <p:cNvSpPr>
            <a:spLocks xmlns:a="http://schemas.openxmlformats.org/drawingml/2006/main" noGrp="1"/>
          </p:cNvSpPr>
          <p:nvPr/>
        </p:nvSpPr>
        <p:spPr>
          <a:xfrm xmlns:a="http://schemas.openxmlformats.org/drawingml/2006/main">
            <a:off x="8591550" y="3009900"/>
            <a:ext cx="2857500" cy="1238250"/>
          </a:xfrm>
          <a:prstGeom xmlns:a="http://schemas.openxmlformats.org/drawingml/2006/main" prst="roundRect">
            <a:avLst>
              <a:gd name="adj" fmla="val 6154"/>
            </a:avLst>
          </a:prstGeom>
          <a:solidFill xmlns:a="http://schemas.openxmlformats.org/drawingml/2006/main">
            <a:srgbClr val="FFFFFF"/>
          </a:solidFill>
          <a:ln xmlns:a="http://schemas.openxmlformats.org/drawingml/2006/main" w="9525">
            <a:solidFill>
              <a:srgbClr val="D6DEE8"/>
            </a:solidFill>
            <a:prstDash val="solid"/>
          </a:ln>
        </p:spPr>
      </p:sp>
      <p:sp>
        <p:nvSpPr>
          <p:cNvPr id="18" name="">
            <a:extLst xmlns:a="http://schemas.openxmlformats.org/drawingml/2006/main">
              <a:ext uri="{FF2B5EF4-FFF2-40B4-BE49-F238E27FC236}">
                <a16:creationId xmlns:a16="http://schemas.microsoft.com/office/drawing/2014/main" id="{61875484-8955-4EAA-BE39-BC2E9CA49BA0}"/>
              </a:ext>
            </a:extLst>
          </p:cNvPr>
          <p:cNvSpPr>
            <a:spLocks xmlns:a="http://schemas.openxmlformats.org/drawingml/2006/main" noGrp="1"/>
          </p:cNvSpPr>
          <p:nvPr/>
        </p:nvSpPr>
        <p:spPr>
          <a:xfrm xmlns:a="http://schemas.openxmlformats.org/drawingml/2006/main">
            <a:off x="8591550" y="3009900"/>
            <a:ext cx="47625" cy="1238250"/>
          </a:xfrm>
          <a:prstGeom xmlns:a="http://schemas.openxmlformats.org/drawingml/2006/main" prst="rect">
            <a:avLst/>
          </a:prstGeom>
          <a:solidFill xmlns:a="http://schemas.openxmlformats.org/drawingml/2006/main">
            <a:srgbClr val="C7782B"/>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BF0DC83E-685F-4396-9E94-9A93E180363F}"/>
              </a:ext>
            </a:extLst>
          </p:cNvPr>
          <p:cNvSpPr>
            <a:spLocks xmlns:a="http://schemas.openxmlformats.org/drawingml/2006/main" noGrp="1"/>
          </p:cNvSpPr>
          <p:nvPr/>
        </p:nvSpPr>
        <p:spPr>
          <a:xfrm xmlns:a="http://schemas.openxmlformats.org/drawingml/2006/main">
            <a:off x="8763000" y="3152775"/>
            <a:ext cx="2533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1">
                <a:solidFill>
                  <a:srgbClr val="10253F"/>
                </a:solidFill>
                <a:latin typeface="Helvetica Neue"/>
                <a:ea typeface="Helvetica Neue"/>
                <a:cs typeface="Helvetica Neue"/>
              </a:defRPr>
            </a:defPPr>
          </a:lstStyle>
          <a:p xmlns:a="http://schemas.openxmlformats.org/drawingml/2006/main">
            <a:pPr algn="l">
              <a:lnSpc>
                <a:spcPct val="105000"/>
              </a:lnSpc>
              <a:buNone/>
              <a:defRPr sz="1425" b="1">
                <a:solidFill>
                  <a:srgbClr val="10253F"/>
                </a:solidFill>
                <a:latin typeface="Helvetica Neue"/>
                <a:ea typeface="Helvetica Neue"/>
                <a:cs typeface="Helvetica Neue"/>
              </a:defRPr>
            </a:pPr>
            <a:r>
              <a:rPr sz="1425" b="1">
                <a:solidFill>
                  <a:srgbClr val="10253F"/>
                </a:solidFill>
                <a:latin typeface="Helvetica Neue"/>
                <a:ea typeface="Helvetica Neue"/>
                <a:cs typeface="Helvetica Neue"/>
              </a:rPr>
              <a:t>Answer + signals</a:t>
            </a:r>
          </a:p>
        </p:txBody>
      </p:sp>
      <p:sp>
        <p:nvSpPr>
          <p:cNvPr id="20" name="">
            <a:extLst xmlns:a="http://schemas.openxmlformats.org/drawingml/2006/main">
              <a:ext uri="{FF2B5EF4-FFF2-40B4-BE49-F238E27FC236}">
                <a16:creationId xmlns:a16="http://schemas.microsoft.com/office/drawing/2014/main" id="{EAC672F4-88FF-47B8-8576-5BFCBE03236D}"/>
              </a:ext>
            </a:extLst>
          </p:cNvPr>
          <p:cNvSpPr>
            <a:spLocks xmlns:a="http://schemas.openxmlformats.org/drawingml/2006/main" noGrp="1"/>
          </p:cNvSpPr>
          <p:nvPr/>
        </p:nvSpPr>
        <p:spPr>
          <a:xfrm xmlns:a="http://schemas.openxmlformats.org/drawingml/2006/main">
            <a:off x="8763000" y="3467100"/>
            <a:ext cx="2533650" cy="695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0">
                <a:solidFill>
                  <a:srgbClr val="536477"/>
                </a:solidFill>
                <a:latin typeface="Helvetica Neue"/>
                <a:ea typeface="Helvetica Neue"/>
                <a:cs typeface="Helvetica Neue"/>
              </a:defRPr>
            </a:defPPr>
          </a:lstStyle>
          <a:p xmlns:a="http://schemas.openxmlformats.org/drawingml/2006/main">
            <a:pPr algn="l">
              <a:lnSpc>
                <a:spcPct val="105000"/>
              </a:lnSpc>
              <a:buNone/>
              <a:defRPr sz="1050" b="0">
                <a:solidFill>
                  <a:srgbClr val="536477"/>
                </a:solidFill>
                <a:latin typeface="Helvetica Neue"/>
                <a:ea typeface="Helvetica Neue"/>
                <a:cs typeface="Helvetica Neue"/>
              </a:defRPr>
            </a:pPr>
            <a:r>
              <a:rPr sz="1050" b="0">
                <a:solidFill>
                  <a:srgbClr val="536477"/>
                </a:solidFill>
                <a:latin typeface="Helvetica Neue"/>
                <a:ea typeface="Helvetica Neue"/>
                <a:cs typeface="Helvetica Neue"/>
              </a:rPr>
              <a:t>Generate a response and inspect uncertainty or candidate agreement.</a:t>
            </a:r>
          </a:p>
        </p:txBody>
      </p:sp>
      <p:sp>
        <p:nvSpPr>
          <p:cNvPr id="21" name="">
            <a:extLst xmlns:a="http://schemas.openxmlformats.org/drawingml/2006/main">
              <a:ext uri="{FF2B5EF4-FFF2-40B4-BE49-F238E27FC236}">
                <a16:creationId xmlns:a16="http://schemas.microsoft.com/office/drawing/2014/main" id="{43A9F8B1-061F-4A72-8326-F860BA46EDCF}"/>
              </a:ext>
            </a:extLst>
          </p:cNvPr>
          <p:cNvSpPr>
            <a:spLocks xmlns:a="http://schemas.openxmlformats.org/drawingml/2006/main" noGrp="1"/>
          </p:cNvSpPr>
          <p:nvPr/>
        </p:nvSpPr>
        <p:spPr>
          <a:xfrm xmlns:a="http://schemas.openxmlformats.org/drawingml/2006/main" flipV="0">
            <a:off x="3600450" y="3629025"/>
            <a:ext cx="923925" cy="0"/>
          </a:xfrm>
          <a:prstGeom xmlns:a="http://schemas.openxmlformats.org/drawingml/2006/main" prst="line">
            <a:avLst/>
          </a:prstGeom>
          <a:noFill xmlns:a="http://schemas.openxmlformats.org/drawingml/2006/main"/>
          <a:ln xmlns:a="http://schemas.openxmlformats.org/drawingml/2006/main" w="28575">
            <a:solidFill>
              <a:srgbClr val="2864C5"/>
            </a:solidFill>
            <a:prstDash val="solid"/>
          </a:ln>
        </p:spPr>
      </p:sp>
      <p:sp>
        <p:nvSpPr>
          <p:cNvPr id="22" name="">
            <a:extLst xmlns:a="http://schemas.openxmlformats.org/drawingml/2006/main">
              <a:ext uri="{FF2B5EF4-FFF2-40B4-BE49-F238E27FC236}">
                <a16:creationId xmlns:a16="http://schemas.microsoft.com/office/drawing/2014/main" id="{382C2FB1-A340-4387-9E45-357A6E6A4242}"/>
              </a:ext>
            </a:extLst>
          </p:cNvPr>
          <p:cNvSpPr>
            <a:spLocks xmlns:a="http://schemas.openxmlformats.org/drawingml/2006/main" noGrp="1"/>
          </p:cNvSpPr>
          <p:nvPr/>
        </p:nvSpPr>
        <p:spPr>
          <a:xfrm xmlns:a="http://schemas.openxmlformats.org/drawingml/2006/main" rot="5400000">
            <a:off x="4476750" y="3571875"/>
            <a:ext cx="114300" cy="114300"/>
          </a:xfrm>
          <a:prstGeom xmlns:a="http://schemas.openxmlformats.org/drawingml/2006/main" prst="triangle">
            <a:avLst/>
          </a:prstGeom>
          <a:solidFill xmlns:a="http://schemas.openxmlformats.org/drawingml/2006/main">
            <a:srgbClr val="2864C5"/>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28A0A088-F177-4780-9675-0F0BC472C296}"/>
              </a:ext>
            </a:extLst>
          </p:cNvPr>
          <p:cNvSpPr>
            <a:spLocks xmlns:a="http://schemas.openxmlformats.org/drawingml/2006/main" noGrp="1"/>
          </p:cNvSpPr>
          <p:nvPr/>
        </p:nvSpPr>
        <p:spPr>
          <a:xfrm xmlns:a="http://schemas.openxmlformats.org/drawingml/2006/main" flipV="0">
            <a:off x="7524750" y="3629025"/>
            <a:ext cx="923925" cy="0"/>
          </a:xfrm>
          <a:prstGeom xmlns:a="http://schemas.openxmlformats.org/drawingml/2006/main" prst="line">
            <a:avLst/>
          </a:prstGeom>
          <a:noFill xmlns:a="http://schemas.openxmlformats.org/drawingml/2006/main"/>
          <a:ln xmlns:a="http://schemas.openxmlformats.org/drawingml/2006/main" w="28575">
            <a:solidFill>
              <a:srgbClr val="2864C5"/>
            </a:solidFill>
            <a:prstDash val="solid"/>
          </a:ln>
        </p:spPr>
      </p:sp>
      <p:sp>
        <p:nvSpPr>
          <p:cNvPr id="24" name="">
            <a:extLst xmlns:a="http://schemas.openxmlformats.org/drawingml/2006/main">
              <a:ext uri="{FF2B5EF4-FFF2-40B4-BE49-F238E27FC236}">
                <a16:creationId xmlns:a16="http://schemas.microsoft.com/office/drawing/2014/main" id="{9A80A1CA-D5C0-4488-B0BC-883FE535E66B}"/>
              </a:ext>
            </a:extLst>
          </p:cNvPr>
          <p:cNvSpPr>
            <a:spLocks xmlns:a="http://schemas.openxmlformats.org/drawingml/2006/main" noGrp="1"/>
          </p:cNvSpPr>
          <p:nvPr/>
        </p:nvSpPr>
        <p:spPr>
          <a:xfrm xmlns:a="http://schemas.openxmlformats.org/drawingml/2006/main" rot="5400000">
            <a:off x="8401050" y="3571875"/>
            <a:ext cx="114300" cy="114300"/>
          </a:xfrm>
          <a:prstGeom xmlns:a="http://schemas.openxmlformats.org/drawingml/2006/main" prst="triangle">
            <a:avLst/>
          </a:prstGeom>
          <a:solidFill xmlns:a="http://schemas.openxmlformats.org/drawingml/2006/main">
            <a:srgbClr val="2864C5"/>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76035AEB-2348-4A01-AD82-E7D17116F1D1}"/>
              </a:ext>
            </a:extLst>
          </p:cNvPr>
          <p:cNvSpPr>
            <a:spLocks xmlns:a="http://schemas.openxmlformats.org/drawingml/2006/main" noGrp="1"/>
          </p:cNvSpPr>
          <p:nvPr/>
        </p:nvSpPr>
        <p:spPr>
          <a:xfrm xmlns:a="http://schemas.openxmlformats.org/drawingml/2006/main">
            <a:off x="647700" y="4857750"/>
            <a:ext cx="2667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1">
                <a:solidFill>
                  <a:srgbClr val="2864C5"/>
                </a:solidFill>
                <a:latin typeface="Helvetica Neue"/>
                <a:ea typeface="Helvetica Neue"/>
                <a:cs typeface="Helvetica Neue"/>
              </a:defRPr>
            </a:defPPr>
          </a:lstStyle>
          <a:p xmlns:a="http://schemas.openxmlformats.org/drawingml/2006/main">
            <a:pPr algn="l">
              <a:lnSpc>
                <a:spcPct val="105000"/>
              </a:lnSpc>
              <a:buNone/>
              <a:defRPr sz="975" b="1">
                <a:solidFill>
                  <a:srgbClr val="2864C5"/>
                </a:solidFill>
                <a:latin typeface="Helvetica Neue"/>
                <a:ea typeface="Helvetica Neue"/>
                <a:cs typeface="Helvetica Neue"/>
              </a:defRPr>
            </a:pPr>
            <a:r>
              <a:rPr sz="975" b="1">
                <a:solidFill>
                  <a:srgbClr val="2864C5"/>
                </a:solidFill>
                <a:latin typeface="Helvetica Neue"/>
                <a:ea typeface="Helvetica Neue"/>
                <a:cs typeface="Helvetica Neue"/>
              </a:rPr>
              <a:t>IMPLEMENTED TECHNOLOGIES</a:t>
            </a:r>
          </a:p>
        </p:txBody>
      </p:sp>
      <p:sp>
        <p:nvSpPr>
          <p:cNvPr id="26" name="">
            <a:extLst xmlns:a="http://schemas.openxmlformats.org/drawingml/2006/main">
              <a:ext uri="{FF2B5EF4-FFF2-40B4-BE49-F238E27FC236}">
                <a16:creationId xmlns:a16="http://schemas.microsoft.com/office/drawing/2014/main" id="{7D475C0D-2387-44C0-8249-B9D0F082B629}"/>
              </a:ext>
            </a:extLst>
          </p:cNvPr>
          <p:cNvSpPr>
            <a:spLocks xmlns:a="http://schemas.openxmlformats.org/drawingml/2006/main" noGrp="1"/>
          </p:cNvSpPr>
          <p:nvPr/>
        </p:nvSpPr>
        <p:spPr>
          <a:xfrm xmlns:a="http://schemas.openxmlformats.org/drawingml/2006/main">
            <a:off x="647700" y="5162550"/>
            <a:ext cx="10668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1">
                <a:solidFill>
                  <a:srgbClr val="536477"/>
                </a:solidFill>
                <a:latin typeface="Helvetica Neue"/>
                <a:ea typeface="Helvetica Neue"/>
                <a:cs typeface="Helvetica Neue"/>
              </a:defRPr>
            </a:defPPr>
          </a:lstStyle>
          <a:p xmlns:a="http://schemas.openxmlformats.org/drawingml/2006/main">
            <a:pPr algn="l">
              <a:lnSpc>
                <a:spcPct val="105000"/>
              </a:lnSpc>
              <a:buNone/>
              <a:defRPr sz="1350" b="1">
                <a:solidFill>
                  <a:srgbClr val="536477"/>
                </a:solidFill>
                <a:latin typeface="Helvetica Neue"/>
                <a:ea typeface="Helvetica Neue"/>
                <a:cs typeface="Helvetica Neue"/>
              </a:defRPr>
            </a:pPr>
            <a:r>
              <a:rPr sz="1350" b="1">
                <a:solidFill>
                  <a:srgbClr val="536477"/>
                </a:solidFill>
                <a:latin typeface="Helvetica Neue"/>
                <a:ea typeface="Helvetica Neue"/>
                <a:cs typeface="Helvetica Neue"/>
              </a:rPr>
              <a:t>Python   /   PyTorch   /   Hugging Face Transformers &amp; Datasets   /   NumPy</a:t>
            </a:r>
          </a:p>
        </p:txBody>
      </p:sp>
      <p:sp>
        <p:nvSpPr>
          <p:cNvPr id="27" name="">
            <a:extLst xmlns:a="http://schemas.openxmlformats.org/drawingml/2006/main">
              <a:ext uri="{FF2B5EF4-FFF2-40B4-BE49-F238E27FC236}">
                <a16:creationId xmlns:a16="http://schemas.microsoft.com/office/drawing/2014/main" id="{7C8B4545-9F59-4959-A51D-EC690E629FEC}"/>
              </a:ext>
            </a:extLst>
          </p:cNvPr>
          <p:cNvSpPr>
            <a:spLocks xmlns:a="http://schemas.openxmlformats.org/drawingml/2006/main" noGrp="1"/>
          </p:cNvSpPr>
          <p:nvPr/>
        </p:nvSpPr>
        <p:spPr>
          <a:xfrm xmlns:a="http://schemas.openxmlformats.org/drawingml/2006/main">
            <a:off x="647700" y="5619750"/>
            <a:ext cx="10763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0">
                <a:solidFill>
                  <a:srgbClr val="536477"/>
                </a:solidFill>
                <a:latin typeface="Helvetica Neue"/>
                <a:ea typeface="Helvetica Neue"/>
                <a:cs typeface="Helvetica Neue"/>
              </a:defRPr>
            </a:defPPr>
          </a:lstStyle>
          <a:p xmlns:a="http://schemas.openxmlformats.org/drawingml/2006/main">
            <a:pPr algn="l">
              <a:lnSpc>
                <a:spcPct val="105000"/>
              </a:lnSpc>
              <a:buNone/>
              <a:defRPr sz="1200" b="0">
                <a:solidFill>
                  <a:srgbClr val="536477"/>
                </a:solidFill>
                <a:latin typeface="Helvetica Neue"/>
                <a:ea typeface="Helvetica Neue"/>
                <a:cs typeface="Helvetica Neue"/>
              </a:defRPr>
            </a:pPr>
            <a:r>
              <a:rPr sz="1200" b="0">
                <a:solidFill>
                  <a:srgbClr val="536477"/>
                </a:solidFill>
                <a:latin typeface="Helvetica Neue"/>
                <a:ea typeface="Helvetica Neue"/>
                <a:cs typeface="Helvetica Neue"/>
              </a:rPr>
              <a:t>Methods: TinyLlama   ·   DoLa   ·   Epistemic Neural Network (Epinet)   ·   Self-consistency</a:t>
            </a:r>
          </a:p>
        </p:txBody>
      </p:sp>
    </p:spTree>
    <p:extLst>
      <p:ext uri="{BB962C8B-B14F-4D97-AF65-F5344CB8AC3E}">
        <p14:creationId xmlns:p14="http://schemas.microsoft.com/office/powerpoint/2010/main" val="1294132015"/>
      </p:ext>
    </p:extLst>
  </p:cSld>
</p:sld>
</file>

<file path=ppt/slides/slide3.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28" name="">
            <a:extLst xmlns:a="http://schemas.openxmlformats.org/drawingml/2006/main">
              <a:ext uri="{FF2B5EF4-FFF2-40B4-BE49-F238E27FC236}">
                <a16:creationId xmlns:a16="http://schemas.microsoft.com/office/drawing/2014/main" id="{62FA9403-BC0E-43A0-8A3A-9E244FB7DE8E}"/>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2864C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2C94FD89-29F9-4661-B235-07C609502B55}"/>
              </a:ext>
            </a:extLst>
          </p:cNvPr>
          <p:cNvSpPr>
            <a:spLocks xmlns:a="http://schemas.openxmlformats.org/drawingml/2006/main" noGrp="1"/>
          </p:cNvSpPr>
          <p:nvPr/>
        </p:nvSpPr>
        <p:spPr>
          <a:xfrm xmlns:a="http://schemas.openxmlformats.org/drawingml/2006/main">
            <a:off x="552450" y="361950"/>
            <a:ext cx="11049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550" b="1">
                <a:solidFill>
                  <a:srgbClr val="10253F"/>
                </a:solidFill>
                <a:latin typeface="Helvetica Neue"/>
                <a:ea typeface="Helvetica Neue"/>
                <a:cs typeface="Helvetica Neue"/>
              </a:defRPr>
            </a:defPPr>
          </a:lstStyle>
          <a:p xmlns:a="http://schemas.openxmlformats.org/drawingml/2006/main">
            <a:pPr algn="l">
              <a:lnSpc>
                <a:spcPct val="105000"/>
              </a:lnSpc>
              <a:buNone/>
              <a:defRPr sz="2550" b="1">
                <a:solidFill>
                  <a:srgbClr val="10253F"/>
                </a:solidFill>
                <a:latin typeface="Helvetica Neue"/>
                <a:ea typeface="Helvetica Neue"/>
                <a:cs typeface="Helvetica Neue"/>
              </a:defRPr>
            </a:pPr>
            <a:r>
              <a:rPr sz="2550" b="1">
                <a:solidFill>
                  <a:srgbClr val="10253F"/>
                </a:solidFill>
                <a:latin typeface="Helvetica Neue"/>
                <a:ea typeface="Helvetica Neue"/>
                <a:cs typeface="Helvetica Neue"/>
              </a:rPr>
              <a:t>Problem Statement &amp; Motivation</a:t>
            </a:r>
          </a:p>
        </p:txBody>
      </p:sp>
      <p:sp>
        <p:nvSpPr>
          <p:cNvPr id="3" name="">
            <a:extLst xmlns:a="http://schemas.openxmlformats.org/drawingml/2006/main">
              <a:ext uri="{FF2B5EF4-FFF2-40B4-BE49-F238E27FC236}">
                <a16:creationId xmlns:a16="http://schemas.microsoft.com/office/drawing/2014/main" id="{15C372A0-1CD1-4AB4-BB4F-0D079757C230}"/>
              </a:ext>
            </a:extLst>
          </p:cNvPr>
          <p:cNvSpPr>
            <a:spLocks xmlns:a="http://schemas.openxmlformats.org/drawingml/2006/main" noGrp="1"/>
          </p:cNvSpPr>
          <p:nvPr/>
        </p:nvSpPr>
        <p:spPr>
          <a:xfrm xmlns:a="http://schemas.openxmlformats.org/drawingml/2006/main">
            <a:off x="571500" y="876300"/>
            <a:ext cx="10953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a:solidFill>
                  <a:srgbClr val="536477"/>
                </a:solidFill>
                <a:latin typeface="Helvetica Neue"/>
                <a:ea typeface="Helvetica Neue"/>
                <a:cs typeface="Helvetica Neue"/>
              </a:defRPr>
            </a:defPPr>
          </a:lstStyle>
          <a:p xmlns:a="http://schemas.openxmlformats.org/drawingml/2006/main">
            <a:pPr algn="l">
              <a:lnSpc>
                <a:spcPct val="105000"/>
              </a:lnSpc>
              <a:buNone/>
              <a:defRPr sz="1275" b="0">
                <a:solidFill>
                  <a:srgbClr val="536477"/>
                </a:solidFill>
                <a:latin typeface="Helvetica Neue"/>
                <a:ea typeface="Helvetica Neue"/>
                <a:cs typeface="Helvetica Neue"/>
              </a:defRPr>
            </a:pPr>
            <a:r>
              <a:rPr sz="1275" b="0">
                <a:solidFill>
                  <a:srgbClr val="536477"/>
                </a:solidFill>
                <a:latin typeface="Helvetica Neue"/>
                <a:ea typeface="Helvetica Neue"/>
                <a:cs typeface="Helvetica Neue"/>
              </a:rPr>
              <a:t>Fluent language generation does not by itself show whether a response is correct or reliable.</a:t>
            </a:r>
          </a:p>
        </p:txBody>
      </p:sp>
      <p:sp>
        <p:nvSpPr>
          <p:cNvPr id="4" name="">
            <a:extLst xmlns:a="http://schemas.openxmlformats.org/drawingml/2006/main">
              <a:ext uri="{FF2B5EF4-FFF2-40B4-BE49-F238E27FC236}">
                <a16:creationId xmlns:a16="http://schemas.microsoft.com/office/drawing/2014/main" id="{306436D6-2CA7-4837-9FCD-38D95F7859C0}"/>
              </a:ext>
            </a:extLst>
          </p:cNvPr>
          <p:cNvSpPr>
            <a:spLocks xmlns:a="http://schemas.openxmlformats.org/drawingml/2006/main" noGrp="1"/>
          </p:cNvSpPr>
          <p:nvPr/>
        </p:nvSpPr>
        <p:spPr>
          <a:xfrm xmlns:a="http://schemas.openxmlformats.org/drawingml/2006/main" flipV="0">
            <a:off x="571500" y="6438900"/>
            <a:ext cx="11049000" cy="0"/>
          </a:xfrm>
          <a:prstGeom xmlns:a="http://schemas.openxmlformats.org/drawingml/2006/main" prst="line">
            <a:avLst/>
          </a:prstGeom>
          <a:noFill xmlns:a="http://schemas.openxmlformats.org/drawingml/2006/main"/>
          <a:ln xmlns:a="http://schemas.openxmlformats.org/drawingml/2006/main" w="9525">
            <a:solidFill>
              <a:srgbClr val="D6DEE8"/>
            </a:solidFill>
            <a:prstDash val="solid"/>
          </a:ln>
        </p:spPr>
      </p:sp>
      <p:sp>
        <p:nvSpPr>
          <p:cNvPr id="5" name="">
            <a:extLst xmlns:a="http://schemas.openxmlformats.org/drawingml/2006/main">
              <a:ext uri="{FF2B5EF4-FFF2-40B4-BE49-F238E27FC236}">
                <a16:creationId xmlns:a16="http://schemas.microsoft.com/office/drawing/2014/main" id="{77AA4749-2C53-453A-80BD-400CFB405310}"/>
              </a:ext>
            </a:extLst>
          </p:cNvPr>
          <p:cNvSpPr>
            <a:spLocks xmlns:a="http://schemas.openxmlformats.org/drawingml/2006/main" noGrp="1"/>
          </p:cNvSpPr>
          <p:nvPr/>
        </p:nvSpPr>
        <p:spPr>
          <a:xfrm xmlns:a="http://schemas.openxmlformats.org/drawingml/2006/main">
            <a:off x="571500" y="6534150"/>
            <a:ext cx="4572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1">
                <a:solidFill>
                  <a:srgbClr val="536477"/>
                </a:solidFill>
                <a:latin typeface="Helvetica Neue"/>
                <a:ea typeface="Helvetica Neue"/>
                <a:cs typeface="Helvetica Neue"/>
              </a:defRPr>
            </a:defPPr>
          </a:lstStyle>
          <a:p xmlns:a="http://schemas.openxmlformats.org/drawingml/2006/main">
            <a:pPr algn="l">
              <a:lnSpc>
                <a:spcPct val="105000"/>
              </a:lnSpc>
              <a:buNone/>
              <a:defRPr sz="900" b="1">
                <a:solidFill>
                  <a:srgbClr val="536477"/>
                </a:solidFill>
                <a:latin typeface="Helvetica Neue"/>
                <a:ea typeface="Helvetica Neue"/>
                <a:cs typeface="Helvetica Neue"/>
              </a:defRPr>
            </a:pPr>
            <a:r>
              <a:rPr sz="900" b="1">
                <a:solidFill>
                  <a:srgbClr val="536477"/>
                </a:solidFill>
                <a:latin typeface="Helvetica Neue"/>
                <a:ea typeface="Helvetica Neue"/>
                <a:cs typeface="Helvetica Neue"/>
              </a:rPr>
              <a:t>VIT-AP UNIVERSITY  /  SCOPE</a:t>
            </a:r>
          </a:p>
        </p:txBody>
      </p:sp>
      <p:sp>
        <p:nvSpPr>
          <p:cNvPr id="6" name="">
            <a:extLst xmlns:a="http://schemas.openxmlformats.org/drawingml/2006/main">
              <a:ext uri="{FF2B5EF4-FFF2-40B4-BE49-F238E27FC236}">
                <a16:creationId xmlns:a16="http://schemas.microsoft.com/office/drawing/2014/main" id="{22CC36B8-9AFC-4E0A-B712-333C2AE1B87A}"/>
              </a:ext>
            </a:extLst>
          </p:cNvPr>
          <p:cNvSpPr>
            <a:spLocks xmlns:a="http://schemas.openxmlformats.org/drawingml/2006/main" noGrp="1"/>
          </p:cNvSpPr>
          <p:nvPr/>
        </p:nvSpPr>
        <p:spPr>
          <a:xfrm xmlns:a="http://schemas.openxmlformats.org/drawingml/2006/main">
            <a:off x="11087100" y="6515100"/>
            <a:ext cx="5334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975" b="1">
                <a:solidFill>
                  <a:srgbClr val="536477"/>
                </a:solidFill>
                <a:latin typeface="Helvetica Neue"/>
                <a:ea typeface="Helvetica Neue"/>
                <a:cs typeface="Helvetica Neue"/>
              </a:defRPr>
            </a:defPPr>
          </a:lstStyle>
          <a:p xmlns:a="http://schemas.openxmlformats.org/drawingml/2006/main">
            <a:pPr algn="r">
              <a:lnSpc>
                <a:spcPct val="105000"/>
              </a:lnSpc>
              <a:buNone/>
              <a:defRPr sz="975" b="1">
                <a:solidFill>
                  <a:srgbClr val="536477"/>
                </a:solidFill>
                <a:latin typeface="Helvetica Neue"/>
                <a:ea typeface="Helvetica Neue"/>
                <a:cs typeface="Helvetica Neue"/>
              </a:defRPr>
            </a:pPr>
            <a:r>
              <a:rPr sz="975" b="1">
                <a:solidFill>
                  <a:srgbClr val="536477"/>
                </a:solidFill>
                <a:latin typeface="Helvetica Neue"/>
                <a:ea typeface="Helvetica Neue"/>
                <a:cs typeface="Helvetica Neue"/>
              </a:rPr>
              <a:t>03</a:t>
            </a:r>
          </a:p>
        </p:txBody>
      </p:sp>
      <p:sp>
        <p:nvSpPr>
          <p:cNvPr id="7" name="">
            <a:extLst xmlns:a="http://schemas.openxmlformats.org/drawingml/2006/main">
              <a:ext uri="{FF2B5EF4-FFF2-40B4-BE49-F238E27FC236}">
                <a16:creationId xmlns:a16="http://schemas.microsoft.com/office/drawing/2014/main" id="{65819D1E-7A6C-45DC-93C9-42EDEF3043A3}"/>
              </a:ext>
            </a:extLst>
          </p:cNvPr>
          <p:cNvSpPr>
            <a:spLocks xmlns:a="http://schemas.openxmlformats.org/drawingml/2006/main" noGrp="1"/>
          </p:cNvSpPr>
          <p:nvPr/>
        </p:nvSpPr>
        <p:spPr>
          <a:xfrm xmlns:a="http://schemas.openxmlformats.org/drawingml/2006/main">
            <a:off x="685800" y="1466850"/>
            <a:ext cx="142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1">
                <a:solidFill>
                  <a:srgbClr val="2864C5"/>
                </a:solidFill>
                <a:latin typeface="Helvetica Neue"/>
                <a:ea typeface="Helvetica Neue"/>
                <a:cs typeface="Helvetica Neue"/>
              </a:defRPr>
            </a:defPPr>
          </a:lstStyle>
          <a:p xmlns:a="http://schemas.openxmlformats.org/drawingml/2006/main">
            <a:pPr algn="l">
              <a:lnSpc>
                <a:spcPct val="105000"/>
              </a:lnSpc>
              <a:buNone/>
              <a:defRPr sz="975" b="1">
                <a:solidFill>
                  <a:srgbClr val="2864C5"/>
                </a:solidFill>
                <a:latin typeface="Helvetica Neue"/>
                <a:ea typeface="Helvetica Neue"/>
                <a:cs typeface="Helvetica Neue"/>
              </a:defRPr>
            </a:pPr>
            <a:r>
              <a:rPr sz="975" b="1">
                <a:solidFill>
                  <a:srgbClr val="2864C5"/>
                </a:solidFill>
                <a:latin typeface="Helvetica Neue"/>
                <a:ea typeface="Helvetica Neue"/>
                <a:cs typeface="Helvetica Neue"/>
              </a:rPr>
              <a:t>PROBLEM</a:t>
            </a:r>
          </a:p>
        </p:txBody>
      </p:sp>
      <p:sp>
        <p:nvSpPr>
          <p:cNvPr id="8" name="">
            <a:extLst xmlns:a="http://schemas.openxmlformats.org/drawingml/2006/main">
              <a:ext uri="{FF2B5EF4-FFF2-40B4-BE49-F238E27FC236}">
                <a16:creationId xmlns:a16="http://schemas.microsoft.com/office/drawing/2014/main" id="{D434CA50-CA06-4D6C-90F4-4C672902082A}"/>
              </a:ext>
            </a:extLst>
          </p:cNvPr>
          <p:cNvSpPr>
            <a:spLocks xmlns:a="http://schemas.openxmlformats.org/drawingml/2006/main" noGrp="1"/>
          </p:cNvSpPr>
          <p:nvPr/>
        </p:nvSpPr>
        <p:spPr>
          <a:xfrm xmlns:a="http://schemas.openxmlformats.org/drawingml/2006/main">
            <a:off x="685800" y="1752600"/>
            <a:ext cx="4619625"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8457"/>
          </a:bodyPr>
          <a:lstStyle xmlns:a="http://schemas.openxmlformats.org/drawingml/2006/main">
            <a:defPPr algn="l">
              <a:defRPr sz="2025" b="1">
                <a:solidFill>
                  <a:srgbClr val="10253F"/>
                </a:solidFill>
                <a:latin typeface="Helvetica Neue"/>
                <a:ea typeface="Helvetica Neue"/>
                <a:cs typeface="Helvetica Neue"/>
              </a:defRPr>
            </a:defPPr>
          </a:lstStyle>
          <a:p xmlns:a="http://schemas.openxmlformats.org/drawingml/2006/main">
            <a:pPr algn="l">
              <a:lnSpc>
                <a:spcPct val="105000"/>
              </a:lnSpc>
              <a:buNone/>
              <a:defRPr sz="2025" b="1">
                <a:solidFill>
                  <a:srgbClr val="10253F"/>
                </a:solidFill>
                <a:latin typeface="Helvetica Neue"/>
                <a:ea typeface="Helvetica Neue"/>
                <a:cs typeface="Helvetica Neue"/>
              </a:defRPr>
            </a:pPr>
            <a:r>
              <a:rPr sz="2025" b="1">
                <a:solidFill>
                  <a:srgbClr val="10253F"/>
                </a:solidFill>
                <a:latin typeface="Helvetica Neue"/>
                <a:ea typeface="Helvetica Neue"/>
                <a:cs typeface="Helvetica Neue"/>
              </a:rPr>
              <a:t>A single model response offers limited evidence about answer reliability.</a:t>
            </a:r>
          </a:p>
        </p:txBody>
      </p:sp>
      <p:sp>
        <p:nvSpPr>
          <p:cNvPr id="9" name="">
            <a:extLst xmlns:a="http://schemas.openxmlformats.org/drawingml/2006/main">
              <a:ext uri="{FF2B5EF4-FFF2-40B4-BE49-F238E27FC236}">
                <a16:creationId xmlns:a16="http://schemas.microsoft.com/office/drawing/2014/main" id="{DF2DCDB0-8BCB-4E41-A0E1-1334FD5879AB}"/>
              </a:ext>
            </a:extLst>
          </p:cNvPr>
          <p:cNvSpPr>
            <a:spLocks xmlns:a="http://schemas.openxmlformats.org/drawingml/2006/main" noGrp="1"/>
          </p:cNvSpPr>
          <p:nvPr/>
        </p:nvSpPr>
        <p:spPr>
          <a:xfrm xmlns:a="http://schemas.openxmlformats.org/drawingml/2006/main">
            <a:off x="685800" y="2571750"/>
            <a:ext cx="4619625"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0">
                <a:solidFill>
                  <a:srgbClr val="536477"/>
                </a:solidFill>
                <a:latin typeface="Helvetica Neue"/>
                <a:ea typeface="Helvetica Neue"/>
                <a:cs typeface="Helvetica Neue"/>
              </a:defRPr>
            </a:defPPr>
          </a:lstStyle>
          <a:p xmlns:a="http://schemas.openxmlformats.org/drawingml/2006/main">
            <a:pPr algn="l">
              <a:lnSpc>
                <a:spcPct val="105000"/>
              </a:lnSpc>
              <a:buNone/>
              <a:defRPr sz="1425" b="0">
                <a:solidFill>
                  <a:srgbClr val="536477"/>
                </a:solidFill>
                <a:latin typeface="Helvetica Neue"/>
                <a:ea typeface="Helvetica Neue"/>
                <a:cs typeface="Helvetica Neue"/>
              </a:defRPr>
            </a:pPr>
            <a:r>
              <a:rPr sz="1425" b="0">
                <a:solidFill>
                  <a:srgbClr val="536477"/>
                </a:solidFill>
                <a:latin typeface="Helvetica Neue"/>
                <a:ea typeface="Helvetica Neue"/>
                <a:cs typeface="Helvetica Neue"/>
              </a:rPr>
              <a:t>The project tests complementary signals at two levels: token scores across model layers and agreement across sampled answers.</a:t>
            </a:r>
          </a:p>
        </p:txBody>
      </p:sp>
      <p:sp>
        <p:nvSpPr>
          <p:cNvPr id="10" name="">
            <a:extLst xmlns:a="http://schemas.openxmlformats.org/drawingml/2006/main">
              <a:ext uri="{FF2B5EF4-FFF2-40B4-BE49-F238E27FC236}">
                <a16:creationId xmlns:a16="http://schemas.microsoft.com/office/drawing/2014/main" id="{F0E32C86-4089-4AA3-8864-E60A8C245DC7}"/>
              </a:ext>
            </a:extLst>
          </p:cNvPr>
          <p:cNvSpPr>
            <a:spLocks xmlns:a="http://schemas.openxmlformats.org/drawingml/2006/main" noGrp="1"/>
          </p:cNvSpPr>
          <p:nvPr/>
        </p:nvSpPr>
        <p:spPr>
          <a:xfrm xmlns:a="http://schemas.openxmlformats.org/drawingml/2006/main">
            <a:off x="6477000" y="1428750"/>
            <a:ext cx="4876800" cy="2000250"/>
          </a:xfrm>
          <a:prstGeom xmlns:a="http://schemas.openxmlformats.org/drawingml/2006/main" prst="roundRect">
            <a:avLst>
              <a:gd name="adj" fmla="val 3810"/>
            </a:avLst>
          </a:prstGeom>
          <a:solidFill xmlns:a="http://schemas.openxmlformats.org/drawingml/2006/main">
            <a:srgbClr val="FFFFFF"/>
          </a:solidFill>
          <a:ln xmlns:a="http://schemas.openxmlformats.org/drawingml/2006/main" w="9525">
            <a:solidFill>
              <a:srgbClr val="D6DEE8"/>
            </a:solidFill>
            <a:prstDash val="solid"/>
          </a:ln>
        </p:spPr>
      </p:sp>
      <p:sp>
        <p:nvSpPr>
          <p:cNvPr id="11" name="">
            <a:extLst xmlns:a="http://schemas.openxmlformats.org/drawingml/2006/main">
              <a:ext uri="{FF2B5EF4-FFF2-40B4-BE49-F238E27FC236}">
                <a16:creationId xmlns:a16="http://schemas.microsoft.com/office/drawing/2014/main" id="{4447D49F-906C-4E1C-AAB6-A4BFC07030AB}"/>
              </a:ext>
            </a:extLst>
          </p:cNvPr>
          <p:cNvSpPr>
            <a:spLocks xmlns:a="http://schemas.openxmlformats.org/drawingml/2006/main" noGrp="1"/>
          </p:cNvSpPr>
          <p:nvPr/>
        </p:nvSpPr>
        <p:spPr>
          <a:xfrm xmlns:a="http://schemas.openxmlformats.org/drawingml/2006/main">
            <a:off x="6781800" y="1695450"/>
            <a:ext cx="4000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1">
                <a:solidFill>
                  <a:srgbClr val="C7782B"/>
                </a:solidFill>
                <a:latin typeface="Helvetica Neue"/>
                <a:ea typeface="Helvetica Neue"/>
                <a:cs typeface="Helvetica Neue"/>
              </a:defRPr>
            </a:defPPr>
          </a:lstStyle>
          <a:p xmlns:a="http://schemas.openxmlformats.org/drawingml/2006/main">
            <a:pPr algn="l">
              <a:lnSpc>
                <a:spcPct val="105000"/>
              </a:lnSpc>
              <a:buNone/>
              <a:defRPr sz="975" b="1">
                <a:solidFill>
                  <a:srgbClr val="C7782B"/>
                </a:solidFill>
                <a:latin typeface="Helvetica Neue"/>
                <a:ea typeface="Helvetica Neue"/>
                <a:cs typeface="Helvetica Neue"/>
              </a:defRPr>
            </a:pPr>
            <a:r>
              <a:rPr sz="975" b="1">
                <a:solidFill>
                  <a:srgbClr val="C7782B"/>
                </a:solidFill>
                <a:latin typeface="Helvetica Neue"/>
                <a:ea typeface="Helvetica Neue"/>
                <a:cs typeface="Helvetica Neue"/>
              </a:rPr>
              <a:t>GENERATION CAN SOUND CERTAIN</a:t>
            </a:r>
          </a:p>
        </p:txBody>
      </p:sp>
      <p:sp>
        <p:nvSpPr>
          <p:cNvPr id="12" name="">
            <a:extLst xmlns:a="http://schemas.openxmlformats.org/drawingml/2006/main">
              <a:ext uri="{FF2B5EF4-FFF2-40B4-BE49-F238E27FC236}">
                <a16:creationId xmlns:a16="http://schemas.microsoft.com/office/drawing/2014/main" id="{7EC91ABD-39E6-46A3-A7EA-D4058451203E}"/>
              </a:ext>
            </a:extLst>
          </p:cNvPr>
          <p:cNvSpPr>
            <a:spLocks xmlns:a="http://schemas.openxmlformats.org/drawingml/2006/main" noGrp="1"/>
          </p:cNvSpPr>
          <p:nvPr/>
        </p:nvSpPr>
        <p:spPr>
          <a:xfrm xmlns:a="http://schemas.openxmlformats.org/drawingml/2006/main">
            <a:off x="6781800" y="2057400"/>
            <a:ext cx="39814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025" b="1">
                <a:solidFill>
                  <a:srgbClr val="10253F"/>
                </a:solidFill>
                <a:latin typeface="Helvetica Neue"/>
                <a:ea typeface="Helvetica Neue"/>
                <a:cs typeface="Helvetica Neue"/>
              </a:defRPr>
            </a:defPPr>
          </a:lstStyle>
          <a:p xmlns:a="http://schemas.openxmlformats.org/drawingml/2006/main">
            <a:pPr algn="l">
              <a:lnSpc>
                <a:spcPct val="105000"/>
              </a:lnSpc>
              <a:buNone/>
              <a:defRPr sz="2025" b="1">
                <a:solidFill>
                  <a:srgbClr val="10253F"/>
                </a:solidFill>
                <a:latin typeface="Helvetica Neue"/>
                <a:ea typeface="Helvetica Neue"/>
                <a:cs typeface="Helvetica Neue"/>
              </a:defRPr>
            </a:pPr>
            <a:r>
              <a:rPr sz="2025" b="1">
                <a:solidFill>
                  <a:srgbClr val="10253F"/>
                </a:solidFill>
                <a:latin typeface="Helvetica Neue"/>
                <a:ea typeface="Helvetica Neue"/>
                <a:cs typeface="Helvetica Neue"/>
              </a:rPr>
              <a:t>“The answer is …”</a:t>
            </a:r>
          </a:p>
        </p:txBody>
      </p:sp>
      <p:sp>
        <p:nvSpPr>
          <p:cNvPr id="13" name="">
            <a:extLst xmlns:a="http://schemas.openxmlformats.org/drawingml/2006/main">
              <a:ext uri="{FF2B5EF4-FFF2-40B4-BE49-F238E27FC236}">
                <a16:creationId xmlns:a16="http://schemas.microsoft.com/office/drawing/2014/main" id="{A63FB90E-6DD7-4AA2-8900-785F89B873B4}"/>
              </a:ext>
            </a:extLst>
          </p:cNvPr>
          <p:cNvSpPr>
            <a:spLocks xmlns:a="http://schemas.openxmlformats.org/drawingml/2006/main" noGrp="1"/>
          </p:cNvSpPr>
          <p:nvPr/>
        </p:nvSpPr>
        <p:spPr>
          <a:xfrm xmlns:a="http://schemas.openxmlformats.org/drawingml/2006/main" flipV="0">
            <a:off x="6781800" y="2600325"/>
            <a:ext cx="4248150" cy="0"/>
          </a:xfrm>
          <a:prstGeom xmlns:a="http://schemas.openxmlformats.org/drawingml/2006/main" prst="line">
            <a:avLst/>
          </a:prstGeom>
          <a:noFill xmlns:a="http://schemas.openxmlformats.org/drawingml/2006/main"/>
          <a:ln xmlns:a="http://schemas.openxmlformats.org/drawingml/2006/main" w="9525">
            <a:solidFill>
              <a:srgbClr val="D6DEE8"/>
            </a:solidFill>
            <a:prstDash val="solid"/>
          </a:ln>
        </p:spPr>
      </p:sp>
      <p:sp>
        <p:nvSpPr>
          <p:cNvPr id="14" name="">
            <a:extLst xmlns:a="http://schemas.openxmlformats.org/drawingml/2006/main">
              <a:ext uri="{FF2B5EF4-FFF2-40B4-BE49-F238E27FC236}">
                <a16:creationId xmlns:a16="http://schemas.microsoft.com/office/drawing/2014/main" id="{75646B13-2DA5-4BED-BA2C-BC2A4784F65D}"/>
              </a:ext>
            </a:extLst>
          </p:cNvPr>
          <p:cNvSpPr>
            <a:spLocks xmlns:a="http://schemas.openxmlformats.org/drawingml/2006/main" noGrp="1"/>
          </p:cNvSpPr>
          <p:nvPr/>
        </p:nvSpPr>
        <p:spPr>
          <a:xfrm xmlns:a="http://schemas.openxmlformats.org/drawingml/2006/main">
            <a:off x="6781800" y="2819400"/>
            <a:ext cx="419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1">
                <a:solidFill>
                  <a:srgbClr val="9B4B49"/>
                </a:solidFill>
                <a:latin typeface="Helvetica Neue"/>
                <a:ea typeface="Helvetica Neue"/>
                <a:cs typeface="Helvetica Neue"/>
              </a:defRPr>
            </a:defPPr>
          </a:lstStyle>
          <a:p xmlns:a="http://schemas.openxmlformats.org/drawingml/2006/main">
            <a:pPr algn="l">
              <a:lnSpc>
                <a:spcPct val="105000"/>
              </a:lnSpc>
              <a:buNone/>
              <a:defRPr sz="1350" b="1">
                <a:solidFill>
                  <a:srgbClr val="9B4B49"/>
                </a:solidFill>
                <a:latin typeface="Helvetica Neue"/>
                <a:ea typeface="Helvetica Neue"/>
                <a:cs typeface="Helvetica Neue"/>
              </a:defRPr>
            </a:pPr>
            <a:r>
              <a:rPr sz="1350" b="1">
                <a:solidFill>
                  <a:srgbClr val="9B4B49"/>
                </a:solidFill>
                <a:latin typeface="Helvetica Neue"/>
                <a:ea typeface="Helvetica Neue"/>
                <a:cs typeface="Helvetica Neue"/>
              </a:rPr>
              <a:t>Surface fluency  ≠  measured correctness</a:t>
            </a:r>
          </a:p>
        </p:txBody>
      </p:sp>
      <p:sp>
        <p:nvSpPr>
          <p:cNvPr id="15" name="">
            <a:extLst xmlns:a="http://schemas.openxmlformats.org/drawingml/2006/main">
              <a:ext uri="{FF2B5EF4-FFF2-40B4-BE49-F238E27FC236}">
                <a16:creationId xmlns:a16="http://schemas.microsoft.com/office/drawing/2014/main" id="{9660668C-E02A-43D4-8C21-9A0E275C6FE4}"/>
              </a:ext>
            </a:extLst>
          </p:cNvPr>
          <p:cNvSpPr>
            <a:spLocks xmlns:a="http://schemas.openxmlformats.org/drawingml/2006/main" noGrp="1"/>
          </p:cNvSpPr>
          <p:nvPr/>
        </p:nvSpPr>
        <p:spPr>
          <a:xfrm xmlns:a="http://schemas.openxmlformats.org/drawingml/2006/main">
            <a:off x="685800" y="3943350"/>
            <a:ext cx="5334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1">
                <a:solidFill>
                  <a:srgbClr val="2864C5"/>
                </a:solidFill>
                <a:latin typeface="Helvetica Neue"/>
                <a:ea typeface="Helvetica Neue"/>
                <a:cs typeface="Helvetica Neue"/>
              </a:defRPr>
            </a:defPPr>
          </a:lstStyle>
          <a:p xmlns:a="http://schemas.openxmlformats.org/drawingml/2006/main">
            <a:pPr algn="l">
              <a:lnSpc>
                <a:spcPct val="105000"/>
              </a:lnSpc>
              <a:buNone/>
              <a:defRPr sz="975" b="1">
                <a:solidFill>
                  <a:srgbClr val="2864C5"/>
                </a:solidFill>
                <a:latin typeface="Helvetica Neue"/>
                <a:ea typeface="Helvetica Neue"/>
                <a:cs typeface="Helvetica Neue"/>
              </a:defRPr>
            </a:pPr>
            <a:r>
              <a:rPr sz="975" b="1">
                <a:solidFill>
                  <a:srgbClr val="2864C5"/>
                </a:solidFill>
                <a:latin typeface="Helvetica Neue"/>
                <a:ea typeface="Helvetica Neue"/>
                <a:cs typeface="Helvetica Neue"/>
              </a:rPr>
              <a:t>CHALLENGES ADDRESSED BY THE IMPLEMENTATION</a:t>
            </a:r>
          </a:p>
        </p:txBody>
      </p:sp>
      <p:sp>
        <p:nvSpPr>
          <p:cNvPr id="16" name="">
            <a:extLst xmlns:a="http://schemas.openxmlformats.org/drawingml/2006/main">
              <a:ext uri="{FF2B5EF4-FFF2-40B4-BE49-F238E27FC236}">
                <a16:creationId xmlns:a16="http://schemas.microsoft.com/office/drawing/2014/main" id="{313257A7-9E91-4102-9378-5E7525A774BE}"/>
              </a:ext>
            </a:extLst>
          </p:cNvPr>
          <p:cNvSpPr>
            <a:spLocks xmlns:a="http://schemas.openxmlformats.org/drawingml/2006/main" noGrp="1"/>
          </p:cNvSpPr>
          <p:nvPr/>
        </p:nvSpPr>
        <p:spPr>
          <a:xfrm xmlns:a="http://schemas.openxmlformats.org/drawingml/2006/main">
            <a:off x="723900" y="4324350"/>
            <a:ext cx="266700" cy="266700"/>
          </a:xfrm>
          <a:prstGeom xmlns:a="http://schemas.openxmlformats.org/drawingml/2006/main" prst="ellipse">
            <a:avLst/>
          </a:prstGeom>
          <a:solidFill xmlns:a="http://schemas.openxmlformats.org/drawingml/2006/main">
            <a:srgbClr val="E8F0FC"/>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062BB392-AFAD-4360-816D-18DE2F0D3264}"/>
              </a:ext>
            </a:extLst>
          </p:cNvPr>
          <p:cNvSpPr>
            <a:spLocks xmlns:a="http://schemas.openxmlformats.org/drawingml/2006/main" noGrp="1"/>
          </p:cNvSpPr>
          <p:nvPr/>
        </p:nvSpPr>
        <p:spPr>
          <a:xfrm xmlns:a="http://schemas.openxmlformats.org/drawingml/2006/main">
            <a:off x="723900" y="4371975"/>
            <a:ext cx="2667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975" b="1">
                <a:solidFill>
                  <a:srgbClr val="2864C5"/>
                </a:solidFill>
                <a:latin typeface="Helvetica Neue"/>
                <a:ea typeface="Helvetica Neue"/>
                <a:cs typeface="Helvetica Neue"/>
              </a:defRPr>
            </a:defPPr>
          </a:lstStyle>
          <a:p xmlns:a="http://schemas.openxmlformats.org/drawingml/2006/main">
            <a:pPr algn="ctr">
              <a:lnSpc>
                <a:spcPct val="105000"/>
              </a:lnSpc>
              <a:buNone/>
              <a:defRPr sz="975" b="1">
                <a:solidFill>
                  <a:srgbClr val="2864C5"/>
                </a:solidFill>
                <a:latin typeface="Helvetica Neue"/>
                <a:ea typeface="Helvetica Neue"/>
                <a:cs typeface="Helvetica Neue"/>
              </a:defRPr>
            </a:pPr>
            <a:r>
              <a:rPr sz="975" b="1">
                <a:solidFill>
                  <a:srgbClr val="2864C5"/>
                </a:solidFill>
                <a:latin typeface="Helvetica Neue"/>
                <a:ea typeface="Helvetica Neue"/>
                <a:cs typeface="Helvetica Neue"/>
              </a:rPr>
              <a:t>1</a:t>
            </a:r>
          </a:p>
        </p:txBody>
      </p:sp>
      <p:sp>
        <p:nvSpPr>
          <p:cNvPr id="18" name="">
            <a:extLst xmlns:a="http://schemas.openxmlformats.org/drawingml/2006/main">
              <a:ext uri="{FF2B5EF4-FFF2-40B4-BE49-F238E27FC236}">
                <a16:creationId xmlns:a16="http://schemas.microsoft.com/office/drawing/2014/main" id="{D6CC4A94-545B-4191-BA08-46C66D0CA758}"/>
              </a:ext>
            </a:extLst>
          </p:cNvPr>
          <p:cNvSpPr>
            <a:spLocks xmlns:a="http://schemas.openxmlformats.org/drawingml/2006/main" noGrp="1"/>
          </p:cNvSpPr>
          <p:nvPr/>
        </p:nvSpPr>
        <p:spPr>
          <a:xfrm xmlns:a="http://schemas.openxmlformats.org/drawingml/2006/main">
            <a:off x="1143000" y="4305300"/>
            <a:ext cx="17907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1">
                <a:solidFill>
                  <a:srgbClr val="10253F"/>
                </a:solidFill>
                <a:latin typeface="Helvetica Neue"/>
                <a:ea typeface="Helvetica Neue"/>
                <a:cs typeface="Helvetica Neue"/>
              </a:defRPr>
            </a:defPPr>
          </a:lstStyle>
          <a:p xmlns:a="http://schemas.openxmlformats.org/drawingml/2006/main">
            <a:pPr algn="l">
              <a:lnSpc>
                <a:spcPct val="105000"/>
              </a:lnSpc>
              <a:buNone/>
              <a:defRPr sz="1275" b="1">
                <a:solidFill>
                  <a:srgbClr val="10253F"/>
                </a:solidFill>
                <a:latin typeface="Helvetica Neue"/>
                <a:ea typeface="Helvetica Neue"/>
                <a:cs typeface="Helvetica Neue"/>
              </a:defRPr>
            </a:pPr>
            <a:r>
              <a:rPr sz="1275" b="1">
                <a:solidFill>
                  <a:srgbClr val="10253F"/>
                </a:solidFill>
                <a:latin typeface="Helvetica Neue"/>
                <a:ea typeface="Helvetica Neue"/>
                <a:cs typeface="Helvetica Neue"/>
              </a:rPr>
              <a:t>One-shot decoding</a:t>
            </a:r>
          </a:p>
        </p:txBody>
      </p:sp>
      <p:sp>
        <p:nvSpPr>
          <p:cNvPr id="19" name="">
            <a:extLst xmlns:a="http://schemas.openxmlformats.org/drawingml/2006/main">
              <a:ext uri="{FF2B5EF4-FFF2-40B4-BE49-F238E27FC236}">
                <a16:creationId xmlns:a16="http://schemas.microsoft.com/office/drawing/2014/main" id="{61B8684C-CAAB-4785-8CD8-984B7BB90CB2}"/>
              </a:ext>
            </a:extLst>
          </p:cNvPr>
          <p:cNvSpPr>
            <a:spLocks xmlns:a="http://schemas.openxmlformats.org/drawingml/2006/main" noGrp="1"/>
          </p:cNvSpPr>
          <p:nvPr/>
        </p:nvSpPr>
        <p:spPr>
          <a:xfrm xmlns:a="http://schemas.openxmlformats.org/drawingml/2006/main">
            <a:off x="3009900" y="4305300"/>
            <a:ext cx="78295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0">
                <a:solidFill>
                  <a:srgbClr val="536477"/>
                </a:solidFill>
                <a:latin typeface="Helvetica Neue"/>
                <a:ea typeface="Helvetica Neue"/>
                <a:cs typeface="Helvetica Neue"/>
              </a:defRPr>
            </a:defPPr>
          </a:lstStyle>
          <a:p xmlns:a="http://schemas.openxmlformats.org/drawingml/2006/main">
            <a:pPr algn="l">
              <a:lnSpc>
                <a:spcPct val="105000"/>
              </a:lnSpc>
              <a:buNone/>
              <a:defRPr sz="1200" b="0">
                <a:solidFill>
                  <a:srgbClr val="536477"/>
                </a:solidFill>
                <a:latin typeface="Helvetica Neue"/>
                <a:ea typeface="Helvetica Neue"/>
                <a:cs typeface="Helvetica Neue"/>
              </a:defRPr>
            </a:pPr>
            <a:r>
              <a:rPr sz="1200" b="0">
                <a:solidFill>
                  <a:srgbClr val="536477"/>
                </a:solidFill>
                <a:latin typeface="Helvetica Neue"/>
                <a:ea typeface="Helvetica Neue"/>
                <a:cs typeface="Helvetica Neue"/>
              </a:rPr>
              <a:t>No answer aggregation across candidates</a:t>
            </a:r>
          </a:p>
        </p:txBody>
      </p:sp>
      <p:sp>
        <p:nvSpPr>
          <p:cNvPr id="20" name="">
            <a:extLst xmlns:a="http://schemas.openxmlformats.org/drawingml/2006/main">
              <a:ext uri="{FF2B5EF4-FFF2-40B4-BE49-F238E27FC236}">
                <a16:creationId xmlns:a16="http://schemas.microsoft.com/office/drawing/2014/main" id="{4096E7C7-31E5-429A-83E1-4258FE7D7413}"/>
              </a:ext>
            </a:extLst>
          </p:cNvPr>
          <p:cNvSpPr>
            <a:spLocks xmlns:a="http://schemas.openxmlformats.org/drawingml/2006/main" noGrp="1"/>
          </p:cNvSpPr>
          <p:nvPr/>
        </p:nvSpPr>
        <p:spPr>
          <a:xfrm xmlns:a="http://schemas.openxmlformats.org/drawingml/2006/main">
            <a:off x="723900" y="4876800"/>
            <a:ext cx="266700" cy="266700"/>
          </a:xfrm>
          <a:prstGeom xmlns:a="http://schemas.openxmlformats.org/drawingml/2006/main" prst="ellipse">
            <a:avLst/>
          </a:prstGeom>
          <a:solidFill xmlns:a="http://schemas.openxmlformats.org/drawingml/2006/main">
            <a:srgbClr val="E8F0FC"/>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13955099-8DB0-4180-917D-E79D171C0683}"/>
              </a:ext>
            </a:extLst>
          </p:cNvPr>
          <p:cNvSpPr>
            <a:spLocks xmlns:a="http://schemas.openxmlformats.org/drawingml/2006/main" noGrp="1"/>
          </p:cNvSpPr>
          <p:nvPr/>
        </p:nvSpPr>
        <p:spPr>
          <a:xfrm xmlns:a="http://schemas.openxmlformats.org/drawingml/2006/main">
            <a:off x="723900" y="4924425"/>
            <a:ext cx="2667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975" b="1">
                <a:solidFill>
                  <a:srgbClr val="2864C5"/>
                </a:solidFill>
                <a:latin typeface="Helvetica Neue"/>
                <a:ea typeface="Helvetica Neue"/>
                <a:cs typeface="Helvetica Neue"/>
              </a:defRPr>
            </a:defPPr>
          </a:lstStyle>
          <a:p xmlns:a="http://schemas.openxmlformats.org/drawingml/2006/main">
            <a:pPr algn="ctr">
              <a:lnSpc>
                <a:spcPct val="105000"/>
              </a:lnSpc>
              <a:buNone/>
              <a:defRPr sz="975" b="1">
                <a:solidFill>
                  <a:srgbClr val="2864C5"/>
                </a:solidFill>
                <a:latin typeface="Helvetica Neue"/>
                <a:ea typeface="Helvetica Neue"/>
                <a:cs typeface="Helvetica Neue"/>
              </a:defRPr>
            </a:pPr>
            <a:r>
              <a:rPr sz="975" b="1">
                <a:solidFill>
                  <a:srgbClr val="2864C5"/>
                </a:solidFill>
                <a:latin typeface="Helvetica Neue"/>
                <a:ea typeface="Helvetica Neue"/>
                <a:cs typeface="Helvetica Neue"/>
              </a:rPr>
              <a:t>2</a:t>
            </a:r>
          </a:p>
        </p:txBody>
      </p:sp>
      <p:sp>
        <p:nvSpPr>
          <p:cNvPr id="22" name="">
            <a:extLst xmlns:a="http://schemas.openxmlformats.org/drawingml/2006/main">
              <a:ext uri="{FF2B5EF4-FFF2-40B4-BE49-F238E27FC236}">
                <a16:creationId xmlns:a16="http://schemas.microsoft.com/office/drawing/2014/main" id="{2C16A2CB-DE2E-4280-BFFD-56B6D3AA9B27}"/>
              </a:ext>
            </a:extLst>
          </p:cNvPr>
          <p:cNvSpPr>
            <a:spLocks xmlns:a="http://schemas.openxmlformats.org/drawingml/2006/main" noGrp="1"/>
          </p:cNvSpPr>
          <p:nvPr/>
        </p:nvSpPr>
        <p:spPr>
          <a:xfrm xmlns:a="http://schemas.openxmlformats.org/drawingml/2006/main">
            <a:off x="1143000" y="4857750"/>
            <a:ext cx="17907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1">
                <a:solidFill>
                  <a:srgbClr val="10253F"/>
                </a:solidFill>
                <a:latin typeface="Helvetica Neue"/>
                <a:ea typeface="Helvetica Neue"/>
                <a:cs typeface="Helvetica Neue"/>
              </a:defRPr>
            </a:defPPr>
          </a:lstStyle>
          <a:p xmlns:a="http://schemas.openxmlformats.org/drawingml/2006/main">
            <a:pPr algn="l">
              <a:lnSpc>
                <a:spcPct val="105000"/>
              </a:lnSpc>
              <a:buNone/>
              <a:defRPr sz="1275" b="1">
                <a:solidFill>
                  <a:srgbClr val="10253F"/>
                </a:solidFill>
                <a:latin typeface="Helvetica Neue"/>
                <a:ea typeface="Helvetica Neue"/>
                <a:cs typeface="Helvetica Neue"/>
              </a:defRPr>
            </a:pPr>
            <a:r>
              <a:rPr sz="1275" b="1">
                <a:solidFill>
                  <a:srgbClr val="10253F"/>
                </a:solidFill>
                <a:latin typeface="Helvetica Neue"/>
                <a:ea typeface="Helvetica Neue"/>
                <a:cs typeface="Helvetica Neue"/>
              </a:rPr>
              <a:t>Layer disagreement</a:t>
            </a:r>
          </a:p>
        </p:txBody>
      </p:sp>
      <p:sp>
        <p:nvSpPr>
          <p:cNvPr id="23" name="">
            <a:extLst xmlns:a="http://schemas.openxmlformats.org/drawingml/2006/main">
              <a:ext uri="{FF2B5EF4-FFF2-40B4-BE49-F238E27FC236}">
                <a16:creationId xmlns:a16="http://schemas.microsoft.com/office/drawing/2014/main" id="{B22E0E66-0828-42E0-B948-D0ED67512479}"/>
              </a:ext>
            </a:extLst>
          </p:cNvPr>
          <p:cNvSpPr>
            <a:spLocks xmlns:a="http://schemas.openxmlformats.org/drawingml/2006/main" noGrp="1"/>
          </p:cNvSpPr>
          <p:nvPr/>
        </p:nvSpPr>
        <p:spPr>
          <a:xfrm xmlns:a="http://schemas.openxmlformats.org/drawingml/2006/main">
            <a:off x="3009900" y="4857750"/>
            <a:ext cx="78295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0">
                <a:solidFill>
                  <a:srgbClr val="536477"/>
                </a:solidFill>
                <a:latin typeface="Helvetica Neue"/>
                <a:ea typeface="Helvetica Neue"/>
                <a:cs typeface="Helvetica Neue"/>
              </a:defRPr>
            </a:defPPr>
          </a:lstStyle>
          <a:p xmlns:a="http://schemas.openxmlformats.org/drawingml/2006/main">
            <a:pPr algn="l">
              <a:lnSpc>
                <a:spcPct val="105000"/>
              </a:lnSpc>
              <a:buNone/>
              <a:defRPr sz="1200" b="0">
                <a:solidFill>
                  <a:srgbClr val="536477"/>
                </a:solidFill>
                <a:latin typeface="Helvetica Neue"/>
                <a:ea typeface="Helvetica Neue"/>
                <a:cs typeface="Helvetica Neue"/>
              </a:defRPr>
            </a:pPr>
            <a:r>
              <a:rPr sz="1200" b="0">
                <a:solidFill>
                  <a:srgbClr val="536477"/>
                </a:solidFill>
                <a:latin typeface="Helvetica Neue"/>
                <a:ea typeface="Helvetica Neue"/>
                <a:cs typeface="Helvetica Neue"/>
              </a:rPr>
              <a:t>Intermediate and final predictions can differ</a:t>
            </a:r>
          </a:p>
        </p:txBody>
      </p:sp>
      <p:sp>
        <p:nvSpPr>
          <p:cNvPr id="24" name="">
            <a:extLst xmlns:a="http://schemas.openxmlformats.org/drawingml/2006/main">
              <a:ext uri="{FF2B5EF4-FFF2-40B4-BE49-F238E27FC236}">
                <a16:creationId xmlns:a16="http://schemas.microsoft.com/office/drawing/2014/main" id="{04074B2D-6933-40E5-BEF5-1F1C6DC4D845}"/>
              </a:ext>
            </a:extLst>
          </p:cNvPr>
          <p:cNvSpPr>
            <a:spLocks xmlns:a="http://schemas.openxmlformats.org/drawingml/2006/main" noGrp="1"/>
          </p:cNvSpPr>
          <p:nvPr/>
        </p:nvSpPr>
        <p:spPr>
          <a:xfrm xmlns:a="http://schemas.openxmlformats.org/drawingml/2006/main">
            <a:off x="723900" y="5429250"/>
            <a:ext cx="266700" cy="266700"/>
          </a:xfrm>
          <a:prstGeom xmlns:a="http://schemas.openxmlformats.org/drawingml/2006/main" prst="ellipse">
            <a:avLst/>
          </a:prstGeom>
          <a:solidFill xmlns:a="http://schemas.openxmlformats.org/drawingml/2006/main">
            <a:srgbClr val="F5EBDD"/>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9C669A81-ABC7-4E05-9FA0-F0F8D0636928}"/>
              </a:ext>
            </a:extLst>
          </p:cNvPr>
          <p:cNvSpPr>
            <a:spLocks xmlns:a="http://schemas.openxmlformats.org/drawingml/2006/main" noGrp="1"/>
          </p:cNvSpPr>
          <p:nvPr/>
        </p:nvSpPr>
        <p:spPr>
          <a:xfrm xmlns:a="http://schemas.openxmlformats.org/drawingml/2006/main">
            <a:off x="723900" y="5476875"/>
            <a:ext cx="2667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975" b="1">
                <a:solidFill>
                  <a:srgbClr val="2864C5"/>
                </a:solidFill>
                <a:latin typeface="Helvetica Neue"/>
                <a:ea typeface="Helvetica Neue"/>
                <a:cs typeface="Helvetica Neue"/>
              </a:defRPr>
            </a:defPPr>
          </a:lstStyle>
          <a:p xmlns:a="http://schemas.openxmlformats.org/drawingml/2006/main">
            <a:pPr algn="ctr">
              <a:lnSpc>
                <a:spcPct val="105000"/>
              </a:lnSpc>
              <a:buNone/>
              <a:defRPr sz="975" b="1">
                <a:solidFill>
                  <a:srgbClr val="2864C5"/>
                </a:solidFill>
                <a:latin typeface="Helvetica Neue"/>
                <a:ea typeface="Helvetica Neue"/>
                <a:cs typeface="Helvetica Neue"/>
              </a:defRPr>
            </a:pPr>
            <a:r>
              <a:rPr sz="975" b="1">
                <a:solidFill>
                  <a:srgbClr val="2864C5"/>
                </a:solidFill>
                <a:latin typeface="Helvetica Neue"/>
                <a:ea typeface="Helvetica Neue"/>
                <a:cs typeface="Helvetica Neue"/>
              </a:rPr>
              <a:t>3</a:t>
            </a:r>
          </a:p>
        </p:txBody>
      </p:sp>
      <p:sp>
        <p:nvSpPr>
          <p:cNvPr id="26" name="">
            <a:extLst xmlns:a="http://schemas.openxmlformats.org/drawingml/2006/main">
              <a:ext uri="{FF2B5EF4-FFF2-40B4-BE49-F238E27FC236}">
                <a16:creationId xmlns:a16="http://schemas.microsoft.com/office/drawing/2014/main" id="{FDDBA087-5640-4C7F-8908-17C67C5793C1}"/>
              </a:ext>
            </a:extLst>
          </p:cNvPr>
          <p:cNvSpPr>
            <a:spLocks xmlns:a="http://schemas.openxmlformats.org/drawingml/2006/main" noGrp="1"/>
          </p:cNvSpPr>
          <p:nvPr/>
        </p:nvSpPr>
        <p:spPr>
          <a:xfrm xmlns:a="http://schemas.openxmlformats.org/drawingml/2006/main">
            <a:off x="1143000" y="5410200"/>
            <a:ext cx="17907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1">
                <a:solidFill>
                  <a:srgbClr val="10253F"/>
                </a:solidFill>
                <a:latin typeface="Helvetica Neue"/>
                <a:ea typeface="Helvetica Neue"/>
                <a:cs typeface="Helvetica Neue"/>
              </a:defRPr>
            </a:defPPr>
          </a:lstStyle>
          <a:p xmlns:a="http://schemas.openxmlformats.org/drawingml/2006/main">
            <a:pPr algn="l">
              <a:lnSpc>
                <a:spcPct val="105000"/>
              </a:lnSpc>
              <a:buNone/>
              <a:defRPr sz="1275" b="1">
                <a:solidFill>
                  <a:srgbClr val="10253F"/>
                </a:solidFill>
                <a:latin typeface="Helvetica Neue"/>
                <a:ea typeface="Helvetica Neue"/>
                <a:cs typeface="Helvetica Neue"/>
              </a:defRPr>
            </a:pPr>
            <a:r>
              <a:rPr sz="1275" b="1">
                <a:solidFill>
                  <a:srgbClr val="10253F"/>
                </a:solidFill>
                <a:latin typeface="Helvetica Neue"/>
                <a:ea typeface="Helvetica Neue"/>
                <a:cs typeface="Helvetica Neue"/>
              </a:rPr>
              <a:t>Uncertainty meaning</a:t>
            </a:r>
          </a:p>
        </p:txBody>
      </p:sp>
      <p:sp>
        <p:nvSpPr>
          <p:cNvPr id="27" name="">
            <a:extLst xmlns:a="http://schemas.openxmlformats.org/drawingml/2006/main">
              <a:ext uri="{FF2B5EF4-FFF2-40B4-BE49-F238E27FC236}">
                <a16:creationId xmlns:a16="http://schemas.microsoft.com/office/drawing/2014/main" id="{05DF32FC-23E4-4E15-B904-03BB7D5A98F5}"/>
              </a:ext>
            </a:extLst>
          </p:cNvPr>
          <p:cNvSpPr>
            <a:spLocks xmlns:a="http://schemas.openxmlformats.org/drawingml/2006/main" noGrp="1"/>
          </p:cNvSpPr>
          <p:nvPr/>
        </p:nvSpPr>
        <p:spPr>
          <a:xfrm xmlns:a="http://schemas.openxmlformats.org/drawingml/2006/main">
            <a:off x="3009900" y="5410200"/>
            <a:ext cx="78295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0">
                <a:solidFill>
                  <a:srgbClr val="536477"/>
                </a:solidFill>
                <a:latin typeface="Helvetica Neue"/>
                <a:ea typeface="Helvetica Neue"/>
                <a:cs typeface="Helvetica Neue"/>
              </a:defRPr>
            </a:defPPr>
          </a:lstStyle>
          <a:p xmlns:a="http://schemas.openxmlformats.org/drawingml/2006/main">
            <a:pPr algn="l">
              <a:lnSpc>
                <a:spcPct val="105000"/>
              </a:lnSpc>
              <a:buNone/>
              <a:defRPr sz="1200" b="0">
                <a:solidFill>
                  <a:srgbClr val="536477"/>
                </a:solidFill>
                <a:latin typeface="Helvetica Neue"/>
                <a:ea typeface="Helvetica Neue"/>
                <a:cs typeface="Helvetica Neue"/>
              </a:defRPr>
            </a:pPr>
            <a:r>
              <a:rPr sz="1200" b="0">
                <a:solidFill>
                  <a:srgbClr val="536477"/>
                </a:solidFill>
                <a:latin typeface="Helvetica Neue"/>
                <a:ea typeface="Helvetica Neue"/>
                <a:cs typeface="Helvetica Neue"/>
              </a:rPr>
              <a:t>Entropy is not automatically correctness probability</a:t>
            </a:r>
          </a:p>
        </p:txBody>
      </p:sp>
    </p:spTree>
    <p:extLst>
      <p:ext uri="{BB962C8B-B14F-4D97-AF65-F5344CB8AC3E}">
        <p14:creationId xmlns:p14="http://schemas.microsoft.com/office/powerpoint/2010/main" val="848593334"/>
      </p:ext>
    </p:extLst>
  </p:cSld>
</p:sld>
</file>

<file path=ppt/slides/slide4.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29" name="">
            <a:extLst xmlns:a="http://schemas.openxmlformats.org/drawingml/2006/main">
              <a:ext uri="{FF2B5EF4-FFF2-40B4-BE49-F238E27FC236}">
                <a16:creationId xmlns:a16="http://schemas.microsoft.com/office/drawing/2014/main" id="{722B7BF1-74A9-49C5-86FB-BB3AA2AB4702}"/>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2864C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701725B2-660E-4F00-88EF-B45EBB65E9EF}"/>
              </a:ext>
            </a:extLst>
          </p:cNvPr>
          <p:cNvSpPr>
            <a:spLocks xmlns:a="http://schemas.openxmlformats.org/drawingml/2006/main" noGrp="1"/>
          </p:cNvSpPr>
          <p:nvPr/>
        </p:nvSpPr>
        <p:spPr>
          <a:xfrm xmlns:a="http://schemas.openxmlformats.org/drawingml/2006/main">
            <a:off x="552450" y="361950"/>
            <a:ext cx="11049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550" b="1">
                <a:solidFill>
                  <a:srgbClr val="10253F"/>
                </a:solidFill>
                <a:latin typeface="Helvetica Neue"/>
                <a:ea typeface="Helvetica Neue"/>
                <a:cs typeface="Helvetica Neue"/>
              </a:defRPr>
            </a:defPPr>
          </a:lstStyle>
          <a:p xmlns:a="http://schemas.openxmlformats.org/drawingml/2006/main">
            <a:pPr algn="l">
              <a:lnSpc>
                <a:spcPct val="105000"/>
              </a:lnSpc>
              <a:buNone/>
              <a:defRPr sz="2550" b="1">
                <a:solidFill>
                  <a:srgbClr val="10253F"/>
                </a:solidFill>
                <a:latin typeface="Helvetica Neue"/>
                <a:ea typeface="Helvetica Neue"/>
                <a:cs typeface="Helvetica Neue"/>
              </a:defRPr>
            </a:pPr>
            <a:r>
              <a:rPr sz="2550" b="1">
                <a:solidFill>
                  <a:srgbClr val="10253F"/>
                </a:solidFill>
                <a:latin typeface="Helvetica Neue"/>
                <a:ea typeface="Helvetica Neue"/>
                <a:cs typeface="Helvetica Neue"/>
              </a:rPr>
              <a:t>Project Objectives</a:t>
            </a:r>
          </a:p>
        </p:txBody>
      </p:sp>
      <p:sp>
        <p:nvSpPr>
          <p:cNvPr id="3" name="">
            <a:extLst xmlns:a="http://schemas.openxmlformats.org/drawingml/2006/main">
              <a:ext uri="{FF2B5EF4-FFF2-40B4-BE49-F238E27FC236}">
                <a16:creationId xmlns:a16="http://schemas.microsoft.com/office/drawing/2014/main" id="{CD03A6DE-11B1-4FF7-B637-EA3C56C16463}"/>
              </a:ext>
            </a:extLst>
          </p:cNvPr>
          <p:cNvSpPr>
            <a:spLocks xmlns:a="http://schemas.openxmlformats.org/drawingml/2006/main" noGrp="1"/>
          </p:cNvSpPr>
          <p:nvPr/>
        </p:nvSpPr>
        <p:spPr>
          <a:xfrm xmlns:a="http://schemas.openxmlformats.org/drawingml/2006/main">
            <a:off x="571500" y="876300"/>
            <a:ext cx="10953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a:solidFill>
                  <a:srgbClr val="536477"/>
                </a:solidFill>
                <a:latin typeface="Helvetica Neue"/>
                <a:ea typeface="Helvetica Neue"/>
                <a:cs typeface="Helvetica Neue"/>
              </a:defRPr>
            </a:defPPr>
          </a:lstStyle>
          <a:p xmlns:a="http://schemas.openxmlformats.org/drawingml/2006/main">
            <a:pPr algn="l">
              <a:lnSpc>
                <a:spcPct val="105000"/>
              </a:lnSpc>
              <a:buNone/>
              <a:defRPr sz="1275" b="0">
                <a:solidFill>
                  <a:srgbClr val="536477"/>
                </a:solidFill>
                <a:latin typeface="Helvetica Neue"/>
                <a:ea typeface="Helvetica Neue"/>
                <a:cs typeface="Helvetica Neue"/>
              </a:defRPr>
            </a:pPr>
            <a:r>
              <a:rPr sz="1275" b="0">
                <a:solidFill>
                  <a:srgbClr val="536477"/>
                </a:solidFill>
                <a:latin typeface="Helvetica Neue"/>
                <a:ea typeface="Helvetica Neue"/>
                <a:cs typeface="Helvetica Neue"/>
              </a:rPr>
              <a:t>The implementation connects decoding, uncertainty estimation, and answer-level comparison.</a:t>
            </a:r>
          </a:p>
        </p:txBody>
      </p:sp>
      <p:sp>
        <p:nvSpPr>
          <p:cNvPr id="4" name="">
            <a:extLst xmlns:a="http://schemas.openxmlformats.org/drawingml/2006/main">
              <a:ext uri="{FF2B5EF4-FFF2-40B4-BE49-F238E27FC236}">
                <a16:creationId xmlns:a16="http://schemas.microsoft.com/office/drawing/2014/main" id="{D4C78CFF-06A2-4101-83A7-8C8D66ACF691}"/>
              </a:ext>
            </a:extLst>
          </p:cNvPr>
          <p:cNvSpPr>
            <a:spLocks xmlns:a="http://schemas.openxmlformats.org/drawingml/2006/main" noGrp="1"/>
          </p:cNvSpPr>
          <p:nvPr/>
        </p:nvSpPr>
        <p:spPr>
          <a:xfrm xmlns:a="http://schemas.openxmlformats.org/drawingml/2006/main" flipV="0">
            <a:off x="571500" y="6438900"/>
            <a:ext cx="11049000" cy="0"/>
          </a:xfrm>
          <a:prstGeom xmlns:a="http://schemas.openxmlformats.org/drawingml/2006/main" prst="line">
            <a:avLst/>
          </a:prstGeom>
          <a:noFill xmlns:a="http://schemas.openxmlformats.org/drawingml/2006/main"/>
          <a:ln xmlns:a="http://schemas.openxmlformats.org/drawingml/2006/main" w="9525">
            <a:solidFill>
              <a:srgbClr val="D6DEE8"/>
            </a:solidFill>
            <a:prstDash val="solid"/>
          </a:ln>
        </p:spPr>
      </p:sp>
      <p:sp>
        <p:nvSpPr>
          <p:cNvPr id="5" name="">
            <a:extLst xmlns:a="http://schemas.openxmlformats.org/drawingml/2006/main">
              <a:ext uri="{FF2B5EF4-FFF2-40B4-BE49-F238E27FC236}">
                <a16:creationId xmlns:a16="http://schemas.microsoft.com/office/drawing/2014/main" id="{1DEDC2C7-47E5-4EAB-BC6A-2A40D880B3F6}"/>
              </a:ext>
            </a:extLst>
          </p:cNvPr>
          <p:cNvSpPr>
            <a:spLocks xmlns:a="http://schemas.openxmlformats.org/drawingml/2006/main" noGrp="1"/>
          </p:cNvSpPr>
          <p:nvPr/>
        </p:nvSpPr>
        <p:spPr>
          <a:xfrm xmlns:a="http://schemas.openxmlformats.org/drawingml/2006/main">
            <a:off x="571500" y="6534150"/>
            <a:ext cx="4572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1">
                <a:solidFill>
                  <a:srgbClr val="536477"/>
                </a:solidFill>
                <a:latin typeface="Helvetica Neue"/>
                <a:ea typeface="Helvetica Neue"/>
                <a:cs typeface="Helvetica Neue"/>
              </a:defRPr>
            </a:defPPr>
          </a:lstStyle>
          <a:p xmlns:a="http://schemas.openxmlformats.org/drawingml/2006/main">
            <a:pPr algn="l">
              <a:lnSpc>
                <a:spcPct val="105000"/>
              </a:lnSpc>
              <a:buNone/>
              <a:defRPr sz="900" b="1">
                <a:solidFill>
                  <a:srgbClr val="536477"/>
                </a:solidFill>
                <a:latin typeface="Helvetica Neue"/>
                <a:ea typeface="Helvetica Neue"/>
                <a:cs typeface="Helvetica Neue"/>
              </a:defRPr>
            </a:pPr>
            <a:r>
              <a:rPr sz="900" b="1">
                <a:solidFill>
                  <a:srgbClr val="536477"/>
                </a:solidFill>
                <a:latin typeface="Helvetica Neue"/>
                <a:ea typeface="Helvetica Neue"/>
                <a:cs typeface="Helvetica Neue"/>
              </a:rPr>
              <a:t>VIT-AP UNIVERSITY  /  SCOPE</a:t>
            </a:r>
          </a:p>
        </p:txBody>
      </p:sp>
      <p:sp>
        <p:nvSpPr>
          <p:cNvPr id="6" name="">
            <a:extLst xmlns:a="http://schemas.openxmlformats.org/drawingml/2006/main">
              <a:ext uri="{FF2B5EF4-FFF2-40B4-BE49-F238E27FC236}">
                <a16:creationId xmlns:a16="http://schemas.microsoft.com/office/drawing/2014/main" id="{ECB87892-E737-4A85-A650-A9A4F04A974D}"/>
              </a:ext>
            </a:extLst>
          </p:cNvPr>
          <p:cNvSpPr>
            <a:spLocks xmlns:a="http://schemas.openxmlformats.org/drawingml/2006/main" noGrp="1"/>
          </p:cNvSpPr>
          <p:nvPr/>
        </p:nvSpPr>
        <p:spPr>
          <a:xfrm xmlns:a="http://schemas.openxmlformats.org/drawingml/2006/main">
            <a:off x="11087100" y="6515100"/>
            <a:ext cx="5334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975" b="1">
                <a:solidFill>
                  <a:srgbClr val="536477"/>
                </a:solidFill>
                <a:latin typeface="Helvetica Neue"/>
                <a:ea typeface="Helvetica Neue"/>
                <a:cs typeface="Helvetica Neue"/>
              </a:defRPr>
            </a:defPPr>
          </a:lstStyle>
          <a:p xmlns:a="http://schemas.openxmlformats.org/drawingml/2006/main">
            <a:pPr algn="r">
              <a:lnSpc>
                <a:spcPct val="105000"/>
              </a:lnSpc>
              <a:buNone/>
              <a:defRPr sz="975" b="1">
                <a:solidFill>
                  <a:srgbClr val="536477"/>
                </a:solidFill>
                <a:latin typeface="Helvetica Neue"/>
                <a:ea typeface="Helvetica Neue"/>
                <a:cs typeface="Helvetica Neue"/>
              </a:defRPr>
            </a:pPr>
            <a:r>
              <a:rPr sz="975" b="1">
                <a:solidFill>
                  <a:srgbClr val="536477"/>
                </a:solidFill>
                <a:latin typeface="Helvetica Neue"/>
                <a:ea typeface="Helvetica Neue"/>
                <a:cs typeface="Helvetica Neue"/>
              </a:rPr>
              <a:t>04</a:t>
            </a:r>
          </a:p>
        </p:txBody>
      </p:sp>
      <p:sp>
        <p:nvSpPr>
          <p:cNvPr id="7" name="">
            <a:extLst xmlns:a="http://schemas.openxmlformats.org/drawingml/2006/main">
              <a:ext uri="{FF2B5EF4-FFF2-40B4-BE49-F238E27FC236}">
                <a16:creationId xmlns:a16="http://schemas.microsoft.com/office/drawing/2014/main" id="{CC3FF5A6-1D4B-4C13-89A4-29253D867CE3}"/>
              </a:ext>
            </a:extLst>
          </p:cNvPr>
          <p:cNvSpPr>
            <a:spLocks xmlns:a="http://schemas.openxmlformats.org/drawingml/2006/main" noGrp="1"/>
          </p:cNvSpPr>
          <p:nvPr/>
        </p:nvSpPr>
        <p:spPr>
          <a:xfrm xmlns:a="http://schemas.openxmlformats.org/drawingml/2006/main">
            <a:off x="685800" y="1524000"/>
            <a:ext cx="400050" cy="400050"/>
          </a:xfrm>
          <a:prstGeom xmlns:a="http://schemas.openxmlformats.org/drawingml/2006/main" prst="ellipse">
            <a:avLst/>
          </a:prstGeom>
          <a:solidFill xmlns:a="http://schemas.openxmlformats.org/drawingml/2006/main">
            <a:srgbClr val="2864C5"/>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07A280F0-0CD5-4496-9FD0-B15949C8D5BC}"/>
              </a:ext>
            </a:extLst>
          </p:cNvPr>
          <p:cNvSpPr>
            <a:spLocks xmlns:a="http://schemas.openxmlformats.org/drawingml/2006/main" noGrp="1"/>
          </p:cNvSpPr>
          <p:nvPr/>
        </p:nvSpPr>
        <p:spPr>
          <a:xfrm xmlns:a="http://schemas.openxmlformats.org/drawingml/2006/main">
            <a:off x="685800" y="1628775"/>
            <a:ext cx="4000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975" b="1">
                <a:solidFill>
                  <a:srgbClr val="FFFFFF"/>
                </a:solidFill>
                <a:latin typeface="Helvetica Neue"/>
                <a:ea typeface="Helvetica Neue"/>
                <a:cs typeface="Helvetica Neue"/>
              </a:defRPr>
            </a:defPPr>
          </a:lstStyle>
          <a:p xmlns:a="http://schemas.openxmlformats.org/drawingml/2006/main">
            <a:pPr algn="ctr">
              <a:lnSpc>
                <a:spcPct val="105000"/>
              </a:lnSpc>
              <a:buNone/>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01</a:t>
            </a:r>
          </a:p>
        </p:txBody>
      </p:sp>
      <p:sp>
        <p:nvSpPr>
          <p:cNvPr id="9" name="">
            <a:extLst xmlns:a="http://schemas.openxmlformats.org/drawingml/2006/main">
              <a:ext uri="{FF2B5EF4-FFF2-40B4-BE49-F238E27FC236}">
                <a16:creationId xmlns:a16="http://schemas.microsoft.com/office/drawing/2014/main" id="{1FD16F7C-48D7-45A3-8A65-2C8B13986494}"/>
              </a:ext>
            </a:extLst>
          </p:cNvPr>
          <p:cNvSpPr>
            <a:spLocks xmlns:a="http://schemas.openxmlformats.org/drawingml/2006/main" noGrp="1"/>
          </p:cNvSpPr>
          <p:nvPr/>
        </p:nvSpPr>
        <p:spPr>
          <a:xfrm xmlns:a="http://schemas.openxmlformats.org/drawingml/2006/main">
            <a:off x="1276350" y="1485900"/>
            <a:ext cx="4476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1">
                <a:solidFill>
                  <a:srgbClr val="10253F"/>
                </a:solidFill>
                <a:latin typeface="Helvetica Neue"/>
                <a:ea typeface="Helvetica Neue"/>
                <a:cs typeface="Helvetica Neue"/>
              </a:defRPr>
            </a:defPPr>
          </a:lstStyle>
          <a:p xmlns:a="http://schemas.openxmlformats.org/drawingml/2006/main">
            <a:pPr algn="l">
              <a:lnSpc>
                <a:spcPct val="105000"/>
              </a:lnSpc>
              <a:buNone/>
              <a:defRPr sz="1500" b="1">
                <a:solidFill>
                  <a:srgbClr val="10253F"/>
                </a:solidFill>
                <a:latin typeface="Helvetica Neue"/>
                <a:ea typeface="Helvetica Neue"/>
                <a:cs typeface="Helvetica Neue"/>
              </a:defRPr>
            </a:pPr>
            <a:r>
              <a:rPr sz="1500" b="1">
                <a:solidFill>
                  <a:srgbClr val="10253F"/>
                </a:solidFill>
                <a:latin typeface="Helvetica Neue"/>
                <a:ea typeface="Helvetica Neue"/>
                <a:cs typeface="Helvetica Neue"/>
              </a:rPr>
              <a:t>Establish a Base baseline</a:t>
            </a:r>
          </a:p>
        </p:txBody>
      </p:sp>
      <p:sp>
        <p:nvSpPr>
          <p:cNvPr id="10" name="">
            <a:extLst xmlns:a="http://schemas.openxmlformats.org/drawingml/2006/main">
              <a:ext uri="{FF2B5EF4-FFF2-40B4-BE49-F238E27FC236}">
                <a16:creationId xmlns:a16="http://schemas.microsoft.com/office/drawing/2014/main" id="{EC43BB2A-B5A5-43DC-87E1-0D930EF4CEB7}"/>
              </a:ext>
            </a:extLst>
          </p:cNvPr>
          <p:cNvSpPr>
            <a:spLocks xmlns:a="http://schemas.openxmlformats.org/drawingml/2006/main" noGrp="1"/>
          </p:cNvSpPr>
          <p:nvPr/>
        </p:nvSpPr>
        <p:spPr>
          <a:xfrm xmlns:a="http://schemas.openxmlformats.org/drawingml/2006/main">
            <a:off x="1276350" y="1866900"/>
            <a:ext cx="45529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0">
                <a:solidFill>
                  <a:srgbClr val="536477"/>
                </a:solidFill>
                <a:latin typeface="Helvetica Neue"/>
                <a:ea typeface="Helvetica Neue"/>
                <a:cs typeface="Helvetica Neue"/>
              </a:defRPr>
            </a:defPPr>
          </a:lstStyle>
          <a:p xmlns:a="http://schemas.openxmlformats.org/drawingml/2006/main">
            <a:pPr algn="l">
              <a:lnSpc>
                <a:spcPct val="105000"/>
              </a:lnSpc>
              <a:buNone/>
              <a:defRPr sz="1200" b="0">
                <a:solidFill>
                  <a:srgbClr val="536477"/>
                </a:solidFill>
                <a:latin typeface="Helvetica Neue"/>
                <a:ea typeface="Helvetica Neue"/>
                <a:cs typeface="Helvetica Neue"/>
              </a:defRPr>
            </a:pPr>
            <a:r>
              <a:rPr sz="1200" b="0">
                <a:solidFill>
                  <a:srgbClr val="536477"/>
                </a:solidFill>
                <a:latin typeface="Helvetica Neue"/>
                <a:ea typeface="Helvetica Neue"/>
                <a:cs typeface="Helvetica Neue"/>
              </a:rPr>
              <a:t>Use the local TinyLlama chat model for question answering.</a:t>
            </a:r>
          </a:p>
        </p:txBody>
      </p:sp>
      <p:sp>
        <p:nvSpPr>
          <p:cNvPr id="11" name="">
            <a:extLst xmlns:a="http://schemas.openxmlformats.org/drawingml/2006/main">
              <a:ext uri="{FF2B5EF4-FFF2-40B4-BE49-F238E27FC236}">
                <a16:creationId xmlns:a16="http://schemas.microsoft.com/office/drawing/2014/main" id="{C0AF50E9-A5E5-404C-B91B-7585C767B084}"/>
              </a:ext>
            </a:extLst>
          </p:cNvPr>
          <p:cNvSpPr>
            <a:spLocks xmlns:a="http://schemas.openxmlformats.org/drawingml/2006/main" noGrp="1"/>
          </p:cNvSpPr>
          <p:nvPr/>
        </p:nvSpPr>
        <p:spPr>
          <a:xfrm xmlns:a="http://schemas.openxmlformats.org/drawingml/2006/main">
            <a:off x="6305550" y="1524000"/>
            <a:ext cx="400050" cy="400050"/>
          </a:xfrm>
          <a:prstGeom xmlns:a="http://schemas.openxmlformats.org/drawingml/2006/main" prst="ellipse">
            <a:avLst/>
          </a:prstGeom>
          <a:solidFill xmlns:a="http://schemas.openxmlformats.org/drawingml/2006/main">
            <a:srgbClr val="2864C5"/>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3432E91F-EDC6-42CD-A0EB-EE68B0139BD4}"/>
              </a:ext>
            </a:extLst>
          </p:cNvPr>
          <p:cNvSpPr>
            <a:spLocks xmlns:a="http://schemas.openxmlformats.org/drawingml/2006/main" noGrp="1"/>
          </p:cNvSpPr>
          <p:nvPr/>
        </p:nvSpPr>
        <p:spPr>
          <a:xfrm xmlns:a="http://schemas.openxmlformats.org/drawingml/2006/main">
            <a:off x="6305550" y="1628775"/>
            <a:ext cx="4000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975" b="1">
                <a:solidFill>
                  <a:srgbClr val="FFFFFF"/>
                </a:solidFill>
                <a:latin typeface="Helvetica Neue"/>
                <a:ea typeface="Helvetica Neue"/>
                <a:cs typeface="Helvetica Neue"/>
              </a:defRPr>
            </a:defPPr>
          </a:lstStyle>
          <a:p xmlns:a="http://schemas.openxmlformats.org/drawingml/2006/main">
            <a:pPr algn="ctr">
              <a:lnSpc>
                <a:spcPct val="105000"/>
              </a:lnSpc>
              <a:buNone/>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02</a:t>
            </a:r>
          </a:p>
        </p:txBody>
      </p:sp>
      <p:sp>
        <p:nvSpPr>
          <p:cNvPr id="13" name="">
            <a:extLst xmlns:a="http://schemas.openxmlformats.org/drawingml/2006/main">
              <a:ext uri="{FF2B5EF4-FFF2-40B4-BE49-F238E27FC236}">
                <a16:creationId xmlns:a16="http://schemas.microsoft.com/office/drawing/2014/main" id="{CE61FB4C-3B92-479E-B25D-AE777366D38D}"/>
              </a:ext>
            </a:extLst>
          </p:cNvPr>
          <p:cNvSpPr>
            <a:spLocks xmlns:a="http://schemas.openxmlformats.org/drawingml/2006/main" noGrp="1"/>
          </p:cNvSpPr>
          <p:nvPr/>
        </p:nvSpPr>
        <p:spPr>
          <a:xfrm xmlns:a="http://schemas.openxmlformats.org/drawingml/2006/main">
            <a:off x="6896100" y="1485900"/>
            <a:ext cx="4476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1">
                <a:solidFill>
                  <a:srgbClr val="10253F"/>
                </a:solidFill>
                <a:latin typeface="Helvetica Neue"/>
                <a:ea typeface="Helvetica Neue"/>
                <a:cs typeface="Helvetica Neue"/>
              </a:defRPr>
            </a:defPPr>
          </a:lstStyle>
          <a:p xmlns:a="http://schemas.openxmlformats.org/drawingml/2006/main">
            <a:pPr algn="l">
              <a:lnSpc>
                <a:spcPct val="105000"/>
              </a:lnSpc>
              <a:buNone/>
              <a:defRPr sz="1500" b="1">
                <a:solidFill>
                  <a:srgbClr val="10253F"/>
                </a:solidFill>
                <a:latin typeface="Helvetica Neue"/>
                <a:ea typeface="Helvetica Neue"/>
                <a:cs typeface="Helvetica Neue"/>
              </a:defRPr>
            </a:pPr>
            <a:r>
              <a:rPr sz="1500" b="1">
                <a:solidFill>
                  <a:srgbClr val="10253F"/>
                </a:solidFill>
                <a:latin typeface="Helvetica Neue"/>
                <a:ea typeface="Helvetica Neue"/>
                <a:cs typeface="Helvetica Neue"/>
              </a:rPr>
              <a:t>Add layer contrast</a:t>
            </a:r>
          </a:p>
        </p:txBody>
      </p:sp>
      <p:sp>
        <p:nvSpPr>
          <p:cNvPr id="14" name="">
            <a:extLst xmlns:a="http://schemas.openxmlformats.org/drawingml/2006/main">
              <a:ext uri="{FF2B5EF4-FFF2-40B4-BE49-F238E27FC236}">
                <a16:creationId xmlns:a16="http://schemas.microsoft.com/office/drawing/2014/main" id="{69311B77-F256-41F8-BED7-55400D489642}"/>
              </a:ext>
            </a:extLst>
          </p:cNvPr>
          <p:cNvSpPr>
            <a:spLocks xmlns:a="http://schemas.openxmlformats.org/drawingml/2006/main" noGrp="1"/>
          </p:cNvSpPr>
          <p:nvPr/>
        </p:nvSpPr>
        <p:spPr>
          <a:xfrm xmlns:a="http://schemas.openxmlformats.org/drawingml/2006/main">
            <a:off x="6896100" y="1866900"/>
            <a:ext cx="45529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0">
                <a:solidFill>
                  <a:srgbClr val="536477"/>
                </a:solidFill>
                <a:latin typeface="Helvetica Neue"/>
                <a:ea typeface="Helvetica Neue"/>
                <a:cs typeface="Helvetica Neue"/>
              </a:defRPr>
            </a:defPPr>
          </a:lstStyle>
          <a:p xmlns:a="http://schemas.openxmlformats.org/drawingml/2006/main">
            <a:pPr algn="l">
              <a:lnSpc>
                <a:spcPct val="105000"/>
              </a:lnSpc>
              <a:buNone/>
              <a:defRPr sz="1200" b="0">
                <a:solidFill>
                  <a:srgbClr val="536477"/>
                </a:solidFill>
                <a:latin typeface="Helvetica Neue"/>
                <a:ea typeface="Helvetica Neue"/>
                <a:cs typeface="Helvetica Neue"/>
              </a:defRPr>
            </a:pPr>
            <a:r>
              <a:rPr sz="1200" b="0">
                <a:solidFill>
                  <a:srgbClr val="536477"/>
                </a:solidFill>
                <a:latin typeface="Helvetica Neue"/>
                <a:ea typeface="Helvetica Neue"/>
                <a:cs typeface="Helvetica Neue"/>
              </a:rPr>
              <a:t>Select an earlier layer using Jensen–Shannon divergence and apply DoLa.</a:t>
            </a:r>
          </a:p>
        </p:txBody>
      </p:sp>
      <p:sp>
        <p:nvSpPr>
          <p:cNvPr id="15" name="">
            <a:extLst xmlns:a="http://schemas.openxmlformats.org/drawingml/2006/main">
              <a:ext uri="{FF2B5EF4-FFF2-40B4-BE49-F238E27FC236}">
                <a16:creationId xmlns:a16="http://schemas.microsoft.com/office/drawing/2014/main" id="{C1E04E7C-D91F-4BD5-9E5C-DB254EBB5697}"/>
              </a:ext>
            </a:extLst>
          </p:cNvPr>
          <p:cNvSpPr>
            <a:spLocks xmlns:a="http://schemas.openxmlformats.org/drawingml/2006/main" noGrp="1"/>
          </p:cNvSpPr>
          <p:nvPr/>
        </p:nvSpPr>
        <p:spPr>
          <a:xfrm xmlns:a="http://schemas.openxmlformats.org/drawingml/2006/main">
            <a:off x="685800" y="2933700"/>
            <a:ext cx="400050" cy="400050"/>
          </a:xfrm>
          <a:prstGeom xmlns:a="http://schemas.openxmlformats.org/drawingml/2006/main" prst="ellipse">
            <a:avLst/>
          </a:prstGeom>
          <a:solidFill xmlns:a="http://schemas.openxmlformats.org/drawingml/2006/main">
            <a:srgbClr val="2864C5"/>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9D466F27-5EBA-41E7-8281-3D64A4B1A953}"/>
              </a:ext>
            </a:extLst>
          </p:cNvPr>
          <p:cNvSpPr>
            <a:spLocks xmlns:a="http://schemas.openxmlformats.org/drawingml/2006/main" noGrp="1"/>
          </p:cNvSpPr>
          <p:nvPr/>
        </p:nvSpPr>
        <p:spPr>
          <a:xfrm xmlns:a="http://schemas.openxmlformats.org/drawingml/2006/main">
            <a:off x="685800" y="3038475"/>
            <a:ext cx="4000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975" b="1">
                <a:solidFill>
                  <a:srgbClr val="FFFFFF"/>
                </a:solidFill>
                <a:latin typeface="Helvetica Neue"/>
                <a:ea typeface="Helvetica Neue"/>
                <a:cs typeface="Helvetica Neue"/>
              </a:defRPr>
            </a:defPPr>
          </a:lstStyle>
          <a:p xmlns:a="http://schemas.openxmlformats.org/drawingml/2006/main">
            <a:pPr algn="ctr">
              <a:lnSpc>
                <a:spcPct val="105000"/>
              </a:lnSpc>
              <a:buNone/>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03</a:t>
            </a:r>
          </a:p>
        </p:txBody>
      </p:sp>
      <p:sp>
        <p:nvSpPr>
          <p:cNvPr id="17" name="">
            <a:extLst xmlns:a="http://schemas.openxmlformats.org/drawingml/2006/main">
              <a:ext uri="{FF2B5EF4-FFF2-40B4-BE49-F238E27FC236}">
                <a16:creationId xmlns:a16="http://schemas.microsoft.com/office/drawing/2014/main" id="{3DC7FA4F-CF63-4EDD-8E18-CC5999C70AFE}"/>
              </a:ext>
            </a:extLst>
          </p:cNvPr>
          <p:cNvSpPr>
            <a:spLocks xmlns:a="http://schemas.openxmlformats.org/drawingml/2006/main" noGrp="1"/>
          </p:cNvSpPr>
          <p:nvPr/>
        </p:nvSpPr>
        <p:spPr>
          <a:xfrm xmlns:a="http://schemas.openxmlformats.org/drawingml/2006/main">
            <a:off x="1276350" y="2895600"/>
            <a:ext cx="4476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1">
                <a:solidFill>
                  <a:srgbClr val="10253F"/>
                </a:solidFill>
                <a:latin typeface="Helvetica Neue"/>
                <a:ea typeface="Helvetica Neue"/>
                <a:cs typeface="Helvetica Neue"/>
              </a:defRPr>
            </a:defPPr>
          </a:lstStyle>
          <a:p xmlns:a="http://schemas.openxmlformats.org/drawingml/2006/main">
            <a:pPr algn="l">
              <a:lnSpc>
                <a:spcPct val="105000"/>
              </a:lnSpc>
              <a:buNone/>
              <a:defRPr sz="1500" b="1">
                <a:solidFill>
                  <a:srgbClr val="10253F"/>
                </a:solidFill>
                <a:latin typeface="Helvetica Neue"/>
                <a:ea typeface="Helvetica Neue"/>
                <a:cs typeface="Helvetica Neue"/>
              </a:defRPr>
            </a:pPr>
            <a:r>
              <a:rPr sz="1500" b="1">
                <a:solidFill>
                  <a:srgbClr val="10253F"/>
                </a:solidFill>
                <a:latin typeface="Helvetica Neue"/>
                <a:ea typeface="Helvetica Neue"/>
                <a:cs typeface="Helvetica Neue"/>
              </a:rPr>
              <a:t>Train an Epinet</a:t>
            </a:r>
          </a:p>
        </p:txBody>
      </p:sp>
      <p:sp>
        <p:nvSpPr>
          <p:cNvPr id="18" name="">
            <a:extLst xmlns:a="http://schemas.openxmlformats.org/drawingml/2006/main">
              <a:ext uri="{FF2B5EF4-FFF2-40B4-BE49-F238E27FC236}">
                <a16:creationId xmlns:a16="http://schemas.microsoft.com/office/drawing/2014/main" id="{7F84BB0A-71DC-4700-A8A0-0AAADBE56CFB}"/>
              </a:ext>
            </a:extLst>
          </p:cNvPr>
          <p:cNvSpPr>
            <a:spLocks xmlns:a="http://schemas.openxmlformats.org/drawingml/2006/main" noGrp="1"/>
          </p:cNvSpPr>
          <p:nvPr/>
        </p:nvSpPr>
        <p:spPr>
          <a:xfrm xmlns:a="http://schemas.openxmlformats.org/drawingml/2006/main">
            <a:off x="1276350" y="3276600"/>
            <a:ext cx="45529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0">
                <a:solidFill>
                  <a:srgbClr val="536477"/>
                </a:solidFill>
                <a:latin typeface="Helvetica Neue"/>
                <a:ea typeface="Helvetica Neue"/>
                <a:cs typeface="Helvetica Neue"/>
              </a:defRPr>
            </a:defPPr>
          </a:lstStyle>
          <a:p xmlns:a="http://schemas.openxmlformats.org/drawingml/2006/main">
            <a:pPr algn="l">
              <a:lnSpc>
                <a:spcPct val="105000"/>
              </a:lnSpc>
              <a:buNone/>
              <a:defRPr sz="1200" b="0">
                <a:solidFill>
                  <a:srgbClr val="536477"/>
                </a:solidFill>
                <a:latin typeface="Helvetica Neue"/>
                <a:ea typeface="Helvetica Neue"/>
                <a:cs typeface="Helvetica Neue"/>
              </a:defRPr>
            </a:pPr>
            <a:r>
              <a:rPr sz="1200" b="0">
                <a:solidFill>
                  <a:srgbClr val="536477"/>
                </a:solidFill>
                <a:latin typeface="Helvetica Neue"/>
                <a:ea typeface="Helvetica Neue"/>
                <a:cs typeface="Helvetica Neue"/>
              </a:rPr>
              <a:t>Learn a next-token correction from C4 features while keeping the base model fixed.</a:t>
            </a:r>
          </a:p>
        </p:txBody>
      </p:sp>
      <p:sp>
        <p:nvSpPr>
          <p:cNvPr id="19" name="">
            <a:extLst xmlns:a="http://schemas.openxmlformats.org/drawingml/2006/main">
              <a:ext uri="{FF2B5EF4-FFF2-40B4-BE49-F238E27FC236}">
                <a16:creationId xmlns:a16="http://schemas.microsoft.com/office/drawing/2014/main" id="{1767309E-985A-43FD-B2DE-C496BBFE2EDB}"/>
              </a:ext>
            </a:extLst>
          </p:cNvPr>
          <p:cNvSpPr>
            <a:spLocks xmlns:a="http://schemas.openxmlformats.org/drawingml/2006/main" noGrp="1"/>
          </p:cNvSpPr>
          <p:nvPr/>
        </p:nvSpPr>
        <p:spPr>
          <a:xfrm xmlns:a="http://schemas.openxmlformats.org/drawingml/2006/main">
            <a:off x="6305550" y="2933700"/>
            <a:ext cx="400050" cy="400050"/>
          </a:xfrm>
          <a:prstGeom xmlns:a="http://schemas.openxmlformats.org/drawingml/2006/main" prst="ellipse">
            <a:avLst/>
          </a:prstGeom>
          <a:solidFill xmlns:a="http://schemas.openxmlformats.org/drawingml/2006/main">
            <a:srgbClr val="2864C5"/>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2F689B1E-315D-4635-A30C-AA45B799ED67}"/>
              </a:ext>
            </a:extLst>
          </p:cNvPr>
          <p:cNvSpPr>
            <a:spLocks xmlns:a="http://schemas.openxmlformats.org/drawingml/2006/main" noGrp="1"/>
          </p:cNvSpPr>
          <p:nvPr/>
        </p:nvSpPr>
        <p:spPr>
          <a:xfrm xmlns:a="http://schemas.openxmlformats.org/drawingml/2006/main">
            <a:off x="6305550" y="3038475"/>
            <a:ext cx="4000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975" b="1">
                <a:solidFill>
                  <a:srgbClr val="FFFFFF"/>
                </a:solidFill>
                <a:latin typeface="Helvetica Neue"/>
                <a:ea typeface="Helvetica Neue"/>
                <a:cs typeface="Helvetica Neue"/>
              </a:defRPr>
            </a:defPPr>
          </a:lstStyle>
          <a:p xmlns:a="http://schemas.openxmlformats.org/drawingml/2006/main">
            <a:pPr algn="ctr">
              <a:lnSpc>
                <a:spcPct val="105000"/>
              </a:lnSpc>
              <a:buNone/>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04</a:t>
            </a:r>
          </a:p>
        </p:txBody>
      </p:sp>
      <p:sp>
        <p:nvSpPr>
          <p:cNvPr id="21" name="">
            <a:extLst xmlns:a="http://schemas.openxmlformats.org/drawingml/2006/main">
              <a:ext uri="{FF2B5EF4-FFF2-40B4-BE49-F238E27FC236}">
                <a16:creationId xmlns:a16="http://schemas.microsoft.com/office/drawing/2014/main" id="{73AF0FE9-7AA1-44DA-8938-4E8A7463D017}"/>
              </a:ext>
            </a:extLst>
          </p:cNvPr>
          <p:cNvSpPr>
            <a:spLocks xmlns:a="http://schemas.openxmlformats.org/drawingml/2006/main" noGrp="1"/>
          </p:cNvSpPr>
          <p:nvPr/>
        </p:nvSpPr>
        <p:spPr>
          <a:xfrm xmlns:a="http://schemas.openxmlformats.org/drawingml/2006/main">
            <a:off x="6896100" y="2895600"/>
            <a:ext cx="4476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1">
                <a:solidFill>
                  <a:srgbClr val="10253F"/>
                </a:solidFill>
                <a:latin typeface="Helvetica Neue"/>
                <a:ea typeface="Helvetica Neue"/>
                <a:cs typeface="Helvetica Neue"/>
              </a:defRPr>
            </a:defPPr>
          </a:lstStyle>
          <a:p xmlns:a="http://schemas.openxmlformats.org/drawingml/2006/main">
            <a:pPr algn="l">
              <a:lnSpc>
                <a:spcPct val="105000"/>
              </a:lnSpc>
              <a:buNone/>
              <a:defRPr sz="1500" b="1">
                <a:solidFill>
                  <a:srgbClr val="10253F"/>
                </a:solidFill>
                <a:latin typeface="Helvetica Neue"/>
                <a:ea typeface="Helvetica Neue"/>
                <a:cs typeface="Helvetica Neue"/>
              </a:defRPr>
            </a:pPr>
            <a:r>
              <a:rPr sz="1500" b="1">
                <a:solidFill>
                  <a:srgbClr val="10253F"/>
                </a:solidFill>
                <a:latin typeface="Helvetica Neue"/>
                <a:ea typeface="Helvetica Neue"/>
                <a:cs typeface="Helvetica Neue"/>
              </a:rPr>
              <a:t>Aggregate candidate answers</a:t>
            </a:r>
          </a:p>
        </p:txBody>
      </p:sp>
      <p:sp>
        <p:nvSpPr>
          <p:cNvPr id="22" name="">
            <a:extLst xmlns:a="http://schemas.openxmlformats.org/drawingml/2006/main">
              <a:ext uri="{FF2B5EF4-FFF2-40B4-BE49-F238E27FC236}">
                <a16:creationId xmlns:a16="http://schemas.microsoft.com/office/drawing/2014/main" id="{9AE3E7FB-EB6E-4451-B271-DECB702B8628}"/>
              </a:ext>
            </a:extLst>
          </p:cNvPr>
          <p:cNvSpPr>
            <a:spLocks xmlns:a="http://schemas.openxmlformats.org/drawingml/2006/main" noGrp="1"/>
          </p:cNvSpPr>
          <p:nvPr/>
        </p:nvSpPr>
        <p:spPr>
          <a:xfrm xmlns:a="http://schemas.openxmlformats.org/drawingml/2006/main">
            <a:off x="6896100" y="3276600"/>
            <a:ext cx="45529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0">
                <a:solidFill>
                  <a:srgbClr val="536477"/>
                </a:solidFill>
                <a:latin typeface="Helvetica Neue"/>
                <a:ea typeface="Helvetica Neue"/>
                <a:cs typeface="Helvetica Neue"/>
              </a:defRPr>
            </a:defPPr>
          </a:lstStyle>
          <a:p xmlns:a="http://schemas.openxmlformats.org/drawingml/2006/main">
            <a:pPr algn="l">
              <a:lnSpc>
                <a:spcPct val="105000"/>
              </a:lnSpc>
              <a:buNone/>
              <a:defRPr sz="1200" b="0">
                <a:solidFill>
                  <a:srgbClr val="536477"/>
                </a:solidFill>
                <a:latin typeface="Helvetica Neue"/>
                <a:ea typeface="Helvetica Neue"/>
                <a:cs typeface="Helvetica Neue"/>
              </a:defRPr>
            </a:pPr>
            <a:r>
              <a:rPr sz="1200" b="0">
                <a:solidFill>
                  <a:srgbClr val="536477"/>
                </a:solidFill>
                <a:latin typeface="Helvetica Neue"/>
                <a:ea typeface="Helvetica Neue"/>
                <a:cs typeface="Helvetica Neue"/>
              </a:rPr>
              <a:t>Compare plurality voting with ENN-entropy-weighted voting.</a:t>
            </a:r>
          </a:p>
        </p:txBody>
      </p:sp>
      <p:sp>
        <p:nvSpPr>
          <p:cNvPr id="23" name="">
            <a:extLst xmlns:a="http://schemas.openxmlformats.org/drawingml/2006/main">
              <a:ext uri="{FF2B5EF4-FFF2-40B4-BE49-F238E27FC236}">
                <a16:creationId xmlns:a16="http://schemas.microsoft.com/office/drawing/2014/main" id="{0E459E4B-E8FF-49CB-B77D-1876EDFAC175}"/>
              </a:ext>
            </a:extLst>
          </p:cNvPr>
          <p:cNvSpPr>
            <a:spLocks xmlns:a="http://schemas.openxmlformats.org/drawingml/2006/main" noGrp="1"/>
          </p:cNvSpPr>
          <p:nvPr/>
        </p:nvSpPr>
        <p:spPr>
          <a:xfrm xmlns:a="http://schemas.openxmlformats.org/drawingml/2006/main">
            <a:off x="685800" y="4343400"/>
            <a:ext cx="400050" cy="400050"/>
          </a:xfrm>
          <a:prstGeom xmlns:a="http://schemas.openxmlformats.org/drawingml/2006/main" prst="ellipse">
            <a:avLst/>
          </a:prstGeom>
          <a:solidFill xmlns:a="http://schemas.openxmlformats.org/drawingml/2006/main">
            <a:srgbClr val="148A8A"/>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29A7F55D-DFD3-4F23-9BC1-D5C1837CFFA0}"/>
              </a:ext>
            </a:extLst>
          </p:cNvPr>
          <p:cNvSpPr>
            <a:spLocks xmlns:a="http://schemas.openxmlformats.org/drawingml/2006/main" noGrp="1"/>
          </p:cNvSpPr>
          <p:nvPr/>
        </p:nvSpPr>
        <p:spPr>
          <a:xfrm xmlns:a="http://schemas.openxmlformats.org/drawingml/2006/main">
            <a:off x="685800" y="4448175"/>
            <a:ext cx="4000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975" b="1">
                <a:solidFill>
                  <a:srgbClr val="FFFFFF"/>
                </a:solidFill>
                <a:latin typeface="Helvetica Neue"/>
                <a:ea typeface="Helvetica Neue"/>
                <a:cs typeface="Helvetica Neue"/>
              </a:defRPr>
            </a:defPPr>
          </a:lstStyle>
          <a:p xmlns:a="http://schemas.openxmlformats.org/drawingml/2006/main">
            <a:pPr algn="ctr">
              <a:lnSpc>
                <a:spcPct val="105000"/>
              </a:lnSpc>
              <a:buNone/>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05</a:t>
            </a:r>
          </a:p>
        </p:txBody>
      </p:sp>
      <p:sp>
        <p:nvSpPr>
          <p:cNvPr id="25" name="">
            <a:extLst xmlns:a="http://schemas.openxmlformats.org/drawingml/2006/main">
              <a:ext uri="{FF2B5EF4-FFF2-40B4-BE49-F238E27FC236}">
                <a16:creationId xmlns:a16="http://schemas.microsoft.com/office/drawing/2014/main" id="{0105DB8C-9B5F-4A60-8904-EC32D9E5A6A6}"/>
              </a:ext>
            </a:extLst>
          </p:cNvPr>
          <p:cNvSpPr>
            <a:spLocks xmlns:a="http://schemas.openxmlformats.org/drawingml/2006/main" noGrp="1"/>
          </p:cNvSpPr>
          <p:nvPr/>
        </p:nvSpPr>
        <p:spPr>
          <a:xfrm xmlns:a="http://schemas.openxmlformats.org/drawingml/2006/main">
            <a:off x="1276350" y="4305300"/>
            <a:ext cx="4476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1">
                <a:solidFill>
                  <a:srgbClr val="10253F"/>
                </a:solidFill>
                <a:latin typeface="Helvetica Neue"/>
                <a:ea typeface="Helvetica Neue"/>
                <a:cs typeface="Helvetica Neue"/>
              </a:defRPr>
            </a:defPPr>
          </a:lstStyle>
          <a:p xmlns:a="http://schemas.openxmlformats.org/drawingml/2006/main">
            <a:pPr algn="l">
              <a:lnSpc>
                <a:spcPct val="105000"/>
              </a:lnSpc>
              <a:buNone/>
              <a:defRPr sz="1500" b="1">
                <a:solidFill>
                  <a:srgbClr val="10253F"/>
                </a:solidFill>
                <a:latin typeface="Helvetica Neue"/>
                <a:ea typeface="Helvetica Neue"/>
                <a:cs typeface="Helvetica Neue"/>
              </a:defRPr>
            </a:pPr>
            <a:r>
              <a:rPr sz="1500" b="1">
                <a:solidFill>
                  <a:srgbClr val="10253F"/>
                </a:solidFill>
                <a:latin typeface="Helvetica Neue"/>
                <a:ea typeface="Helvetica Neue"/>
                <a:cs typeface="Helvetica Neue"/>
              </a:rPr>
              <a:t>Measure quality and confidence</a:t>
            </a:r>
          </a:p>
        </p:txBody>
      </p:sp>
      <p:sp>
        <p:nvSpPr>
          <p:cNvPr id="26" name="">
            <a:extLst xmlns:a="http://schemas.openxmlformats.org/drawingml/2006/main">
              <a:ext uri="{FF2B5EF4-FFF2-40B4-BE49-F238E27FC236}">
                <a16:creationId xmlns:a16="http://schemas.microsoft.com/office/drawing/2014/main" id="{F6AED508-7395-4D6E-BC58-4EB3FD33DB40}"/>
              </a:ext>
            </a:extLst>
          </p:cNvPr>
          <p:cNvSpPr>
            <a:spLocks xmlns:a="http://schemas.openxmlformats.org/drawingml/2006/main" noGrp="1"/>
          </p:cNvSpPr>
          <p:nvPr/>
        </p:nvSpPr>
        <p:spPr>
          <a:xfrm xmlns:a="http://schemas.openxmlformats.org/drawingml/2006/main">
            <a:off x="1276350" y="4686300"/>
            <a:ext cx="45529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0">
                <a:solidFill>
                  <a:srgbClr val="536477"/>
                </a:solidFill>
                <a:latin typeface="Helvetica Neue"/>
                <a:ea typeface="Helvetica Neue"/>
                <a:cs typeface="Helvetica Neue"/>
              </a:defRPr>
            </a:defPPr>
          </a:lstStyle>
          <a:p xmlns:a="http://schemas.openxmlformats.org/drawingml/2006/main">
            <a:pPr algn="l">
              <a:lnSpc>
                <a:spcPct val="105000"/>
              </a:lnSpc>
              <a:buNone/>
              <a:defRPr sz="1200" b="0">
                <a:solidFill>
                  <a:srgbClr val="536477"/>
                </a:solidFill>
                <a:latin typeface="Helvetica Neue"/>
                <a:ea typeface="Helvetica Neue"/>
                <a:cs typeface="Helvetica Neue"/>
              </a:defRPr>
            </a:pPr>
            <a:r>
              <a:rPr sz="1200" b="0">
                <a:solidFill>
                  <a:srgbClr val="536477"/>
                </a:solidFill>
                <a:latin typeface="Helvetica Neue"/>
                <a:ea typeface="Helvetica Neue"/>
                <a:cs typeface="Helvetica Neue"/>
              </a:rPr>
              <a:t>Evaluate exact match and calibration metrics when run outputs are available.</a:t>
            </a:r>
          </a:p>
        </p:txBody>
      </p:sp>
      <p:sp>
        <p:nvSpPr>
          <p:cNvPr id="27" name="">
            <a:extLst xmlns:a="http://schemas.openxmlformats.org/drawingml/2006/main">
              <a:ext uri="{FF2B5EF4-FFF2-40B4-BE49-F238E27FC236}">
                <a16:creationId xmlns:a16="http://schemas.microsoft.com/office/drawing/2014/main" id="{66952279-2937-4E65-B0D3-8EF32ECB344F}"/>
              </a:ext>
            </a:extLst>
          </p:cNvPr>
          <p:cNvSpPr>
            <a:spLocks xmlns:a="http://schemas.openxmlformats.org/drawingml/2006/main" noGrp="1"/>
          </p:cNvSpPr>
          <p:nvPr/>
        </p:nvSpPr>
        <p:spPr>
          <a:xfrm xmlns:a="http://schemas.openxmlformats.org/drawingml/2006/main">
            <a:off x="6305550" y="4305300"/>
            <a:ext cx="4876800" cy="895350"/>
          </a:xfrm>
          <a:prstGeom xmlns:a="http://schemas.openxmlformats.org/drawingml/2006/main" prst="roundRect">
            <a:avLst>
              <a:gd name="adj" fmla="val 8511"/>
            </a:avLst>
          </a:prstGeom>
          <a:solidFill xmlns:a="http://schemas.openxmlformats.org/drawingml/2006/main">
            <a:srgbClr val="DDF3F1"/>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E2499249-6561-4522-9337-A0AE84D1389D}"/>
              </a:ext>
            </a:extLst>
          </p:cNvPr>
          <p:cNvSpPr>
            <a:spLocks xmlns:a="http://schemas.openxmlformats.org/drawingml/2006/main" noGrp="1"/>
          </p:cNvSpPr>
          <p:nvPr/>
        </p:nvSpPr>
        <p:spPr>
          <a:xfrm xmlns:a="http://schemas.openxmlformats.org/drawingml/2006/main">
            <a:off x="6534150" y="4476750"/>
            <a:ext cx="44196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1">
                <a:solidFill>
                  <a:srgbClr val="13283F"/>
                </a:solidFill>
                <a:latin typeface="Helvetica Neue"/>
                <a:ea typeface="Helvetica Neue"/>
                <a:cs typeface="Helvetica Neue"/>
              </a:defRPr>
            </a:defPPr>
          </a:lstStyle>
          <a:p xmlns:a="http://schemas.openxmlformats.org/drawingml/2006/main">
            <a:pPr algn="l">
              <a:lnSpc>
                <a:spcPct val="105000"/>
              </a:lnSpc>
              <a:buNone/>
              <a:defRPr sz="1275" b="1">
                <a:solidFill>
                  <a:srgbClr val="13283F"/>
                </a:solidFill>
                <a:latin typeface="Helvetica Neue"/>
                <a:ea typeface="Helvetica Neue"/>
                <a:cs typeface="Helvetica Neue"/>
              </a:defRPr>
            </a:pPr>
            <a:r>
              <a:rPr sz="1275" b="1">
                <a:solidFill>
                  <a:srgbClr val="13283F"/>
                </a:solidFill>
                <a:latin typeface="Helvetica Neue"/>
                <a:ea typeface="Helvetica Neue"/>
                <a:cs typeface="Helvetica Neue"/>
              </a:rPr>
              <a:t>Evaluation is part of the objective. Performance gains remain unverified until benchmark runs are saved.</a:t>
            </a:r>
          </a:p>
        </p:txBody>
      </p:sp>
    </p:spTree>
    <p:extLst>
      <p:ext uri="{BB962C8B-B14F-4D97-AF65-F5344CB8AC3E}">
        <p14:creationId xmlns:p14="http://schemas.microsoft.com/office/powerpoint/2010/main" val="1330768225"/>
      </p:ext>
    </p:extLst>
  </p:cSld>
</p:sld>
</file>

<file path=ppt/slides/slide5.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35" name="">
            <a:extLst xmlns:a="http://schemas.openxmlformats.org/drawingml/2006/main">
              <a:ext uri="{FF2B5EF4-FFF2-40B4-BE49-F238E27FC236}">
                <a16:creationId xmlns:a16="http://schemas.microsoft.com/office/drawing/2014/main" id="{E9554E9C-8479-4C33-A538-17661EE575F5}"/>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2864C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50F5316D-3DE4-4959-976C-7432E470AA38}"/>
              </a:ext>
            </a:extLst>
          </p:cNvPr>
          <p:cNvSpPr>
            <a:spLocks xmlns:a="http://schemas.openxmlformats.org/drawingml/2006/main" noGrp="1"/>
          </p:cNvSpPr>
          <p:nvPr/>
        </p:nvSpPr>
        <p:spPr>
          <a:xfrm xmlns:a="http://schemas.openxmlformats.org/drawingml/2006/main">
            <a:off x="552450" y="361950"/>
            <a:ext cx="11049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550" b="1">
                <a:solidFill>
                  <a:srgbClr val="10253F"/>
                </a:solidFill>
                <a:latin typeface="Helvetica Neue"/>
                <a:ea typeface="Helvetica Neue"/>
                <a:cs typeface="Helvetica Neue"/>
              </a:defRPr>
            </a:defPPr>
          </a:lstStyle>
          <a:p xmlns:a="http://schemas.openxmlformats.org/drawingml/2006/main">
            <a:pPr algn="l">
              <a:lnSpc>
                <a:spcPct val="105000"/>
              </a:lnSpc>
              <a:buNone/>
              <a:defRPr sz="2550" b="1">
                <a:solidFill>
                  <a:srgbClr val="10253F"/>
                </a:solidFill>
                <a:latin typeface="Helvetica Neue"/>
                <a:ea typeface="Helvetica Neue"/>
                <a:cs typeface="Helvetica Neue"/>
              </a:defRPr>
            </a:pPr>
            <a:r>
              <a:rPr sz="2550" b="1">
                <a:solidFill>
                  <a:srgbClr val="10253F"/>
                </a:solidFill>
                <a:latin typeface="Helvetica Neue"/>
                <a:ea typeface="Helvetica Neue"/>
                <a:cs typeface="Helvetica Neue"/>
              </a:rPr>
              <a:t>Existing Methods &amp; Research Gap</a:t>
            </a:r>
          </a:p>
        </p:txBody>
      </p:sp>
      <p:sp>
        <p:nvSpPr>
          <p:cNvPr id="3" name="">
            <a:extLst xmlns:a="http://schemas.openxmlformats.org/drawingml/2006/main">
              <a:ext uri="{FF2B5EF4-FFF2-40B4-BE49-F238E27FC236}">
                <a16:creationId xmlns:a16="http://schemas.microsoft.com/office/drawing/2014/main" id="{6A2E4E46-FA24-4FFF-89D2-BFECA2DA3A62}"/>
              </a:ext>
            </a:extLst>
          </p:cNvPr>
          <p:cNvSpPr>
            <a:spLocks xmlns:a="http://schemas.openxmlformats.org/drawingml/2006/main" noGrp="1"/>
          </p:cNvSpPr>
          <p:nvPr/>
        </p:nvSpPr>
        <p:spPr>
          <a:xfrm xmlns:a="http://schemas.openxmlformats.org/drawingml/2006/main">
            <a:off x="571500" y="876300"/>
            <a:ext cx="10953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a:solidFill>
                  <a:srgbClr val="536477"/>
                </a:solidFill>
                <a:latin typeface="Helvetica Neue"/>
                <a:ea typeface="Helvetica Neue"/>
                <a:cs typeface="Helvetica Neue"/>
              </a:defRPr>
            </a:defPPr>
          </a:lstStyle>
          <a:p xmlns:a="http://schemas.openxmlformats.org/drawingml/2006/main">
            <a:pPr algn="l">
              <a:lnSpc>
                <a:spcPct val="105000"/>
              </a:lnSpc>
              <a:buNone/>
              <a:defRPr sz="1275" b="0">
                <a:solidFill>
                  <a:srgbClr val="536477"/>
                </a:solidFill>
                <a:latin typeface="Helvetica Neue"/>
                <a:ea typeface="Helvetica Neue"/>
                <a:cs typeface="Helvetica Neue"/>
              </a:defRPr>
            </a:pPr>
            <a:r>
              <a:rPr sz="1275" b="0">
                <a:solidFill>
                  <a:srgbClr val="536477"/>
                </a:solidFill>
                <a:latin typeface="Helvetica Neue"/>
                <a:ea typeface="Helvetica Neue"/>
                <a:cs typeface="Helvetica Neue"/>
              </a:rPr>
              <a:t>The project combines established ideas for a local small-model evaluation pipeline.</a:t>
            </a:r>
          </a:p>
        </p:txBody>
      </p:sp>
      <p:sp>
        <p:nvSpPr>
          <p:cNvPr id="4" name="">
            <a:extLst xmlns:a="http://schemas.openxmlformats.org/drawingml/2006/main">
              <a:ext uri="{FF2B5EF4-FFF2-40B4-BE49-F238E27FC236}">
                <a16:creationId xmlns:a16="http://schemas.microsoft.com/office/drawing/2014/main" id="{DFA308E7-DC83-4C4F-9CFE-440EF94EE797}"/>
              </a:ext>
            </a:extLst>
          </p:cNvPr>
          <p:cNvSpPr>
            <a:spLocks xmlns:a="http://schemas.openxmlformats.org/drawingml/2006/main" noGrp="1"/>
          </p:cNvSpPr>
          <p:nvPr/>
        </p:nvSpPr>
        <p:spPr>
          <a:xfrm xmlns:a="http://schemas.openxmlformats.org/drawingml/2006/main" flipV="0">
            <a:off x="571500" y="6438900"/>
            <a:ext cx="11049000" cy="0"/>
          </a:xfrm>
          <a:prstGeom xmlns:a="http://schemas.openxmlformats.org/drawingml/2006/main" prst="line">
            <a:avLst/>
          </a:prstGeom>
          <a:noFill xmlns:a="http://schemas.openxmlformats.org/drawingml/2006/main"/>
          <a:ln xmlns:a="http://schemas.openxmlformats.org/drawingml/2006/main" w="9525">
            <a:solidFill>
              <a:srgbClr val="D6DEE8"/>
            </a:solidFill>
            <a:prstDash val="solid"/>
          </a:ln>
        </p:spPr>
      </p:sp>
      <p:sp>
        <p:nvSpPr>
          <p:cNvPr id="5" name="">
            <a:extLst xmlns:a="http://schemas.openxmlformats.org/drawingml/2006/main">
              <a:ext uri="{FF2B5EF4-FFF2-40B4-BE49-F238E27FC236}">
                <a16:creationId xmlns:a16="http://schemas.microsoft.com/office/drawing/2014/main" id="{B053A3D9-8F77-4492-9B54-9C4E93D0EF72}"/>
              </a:ext>
            </a:extLst>
          </p:cNvPr>
          <p:cNvSpPr>
            <a:spLocks xmlns:a="http://schemas.openxmlformats.org/drawingml/2006/main" noGrp="1"/>
          </p:cNvSpPr>
          <p:nvPr/>
        </p:nvSpPr>
        <p:spPr>
          <a:xfrm xmlns:a="http://schemas.openxmlformats.org/drawingml/2006/main">
            <a:off x="571500" y="6534150"/>
            <a:ext cx="4572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1">
                <a:solidFill>
                  <a:srgbClr val="536477"/>
                </a:solidFill>
                <a:latin typeface="Helvetica Neue"/>
                <a:ea typeface="Helvetica Neue"/>
                <a:cs typeface="Helvetica Neue"/>
              </a:defRPr>
            </a:defPPr>
          </a:lstStyle>
          <a:p xmlns:a="http://schemas.openxmlformats.org/drawingml/2006/main">
            <a:pPr algn="l">
              <a:lnSpc>
                <a:spcPct val="105000"/>
              </a:lnSpc>
              <a:buNone/>
              <a:defRPr sz="900" b="1">
                <a:solidFill>
                  <a:srgbClr val="536477"/>
                </a:solidFill>
                <a:latin typeface="Helvetica Neue"/>
                <a:ea typeface="Helvetica Neue"/>
                <a:cs typeface="Helvetica Neue"/>
              </a:defRPr>
            </a:pPr>
            <a:r>
              <a:rPr sz="900" b="1">
                <a:solidFill>
                  <a:srgbClr val="536477"/>
                </a:solidFill>
                <a:latin typeface="Helvetica Neue"/>
                <a:ea typeface="Helvetica Neue"/>
                <a:cs typeface="Helvetica Neue"/>
              </a:rPr>
              <a:t>VIT-AP UNIVERSITY  /  SCOPE</a:t>
            </a:r>
          </a:p>
        </p:txBody>
      </p:sp>
      <p:sp>
        <p:nvSpPr>
          <p:cNvPr id="6" name="">
            <a:extLst xmlns:a="http://schemas.openxmlformats.org/drawingml/2006/main">
              <a:ext uri="{FF2B5EF4-FFF2-40B4-BE49-F238E27FC236}">
                <a16:creationId xmlns:a16="http://schemas.microsoft.com/office/drawing/2014/main" id="{36A088D0-9B4F-4D76-8E05-7E17C36CBBD0}"/>
              </a:ext>
            </a:extLst>
          </p:cNvPr>
          <p:cNvSpPr>
            <a:spLocks xmlns:a="http://schemas.openxmlformats.org/drawingml/2006/main" noGrp="1"/>
          </p:cNvSpPr>
          <p:nvPr/>
        </p:nvSpPr>
        <p:spPr>
          <a:xfrm xmlns:a="http://schemas.openxmlformats.org/drawingml/2006/main">
            <a:off x="11087100" y="6515100"/>
            <a:ext cx="5334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975" b="1">
                <a:solidFill>
                  <a:srgbClr val="536477"/>
                </a:solidFill>
                <a:latin typeface="Helvetica Neue"/>
                <a:ea typeface="Helvetica Neue"/>
                <a:cs typeface="Helvetica Neue"/>
              </a:defRPr>
            </a:defPPr>
          </a:lstStyle>
          <a:p xmlns:a="http://schemas.openxmlformats.org/drawingml/2006/main">
            <a:pPr algn="r">
              <a:lnSpc>
                <a:spcPct val="105000"/>
              </a:lnSpc>
              <a:buNone/>
              <a:defRPr sz="975" b="1">
                <a:solidFill>
                  <a:srgbClr val="536477"/>
                </a:solidFill>
                <a:latin typeface="Helvetica Neue"/>
                <a:ea typeface="Helvetica Neue"/>
                <a:cs typeface="Helvetica Neue"/>
              </a:defRPr>
            </a:pPr>
            <a:r>
              <a:rPr sz="975" b="1">
                <a:solidFill>
                  <a:srgbClr val="536477"/>
                </a:solidFill>
                <a:latin typeface="Helvetica Neue"/>
                <a:ea typeface="Helvetica Neue"/>
                <a:cs typeface="Helvetica Neue"/>
              </a:rPr>
              <a:t>05</a:t>
            </a:r>
          </a:p>
        </p:txBody>
      </p:sp>
      <p:sp>
        <p:nvSpPr>
          <p:cNvPr id="7" name="">
            <a:extLst xmlns:a="http://schemas.openxmlformats.org/drawingml/2006/main">
              <a:ext uri="{FF2B5EF4-FFF2-40B4-BE49-F238E27FC236}">
                <a16:creationId xmlns:a16="http://schemas.microsoft.com/office/drawing/2014/main" id="{8B97B103-51DC-458B-9399-504B0B5309F7}"/>
              </a:ext>
            </a:extLst>
          </p:cNvPr>
          <p:cNvSpPr>
            <a:spLocks xmlns:a="http://schemas.openxmlformats.org/drawingml/2006/main" noGrp="1"/>
          </p:cNvSpPr>
          <p:nvPr/>
        </p:nvSpPr>
        <p:spPr>
          <a:xfrm xmlns:a="http://schemas.openxmlformats.org/drawingml/2006/main">
            <a:off x="666750" y="1543050"/>
            <a:ext cx="2324100" cy="2171700"/>
          </a:xfrm>
          <a:prstGeom xmlns:a="http://schemas.openxmlformats.org/drawingml/2006/main" prst="roundRect">
            <a:avLst>
              <a:gd name="adj" fmla="val 3509"/>
            </a:avLst>
          </a:prstGeom>
          <a:solidFill xmlns:a="http://schemas.openxmlformats.org/drawingml/2006/main">
            <a:srgbClr val="FFFFFF"/>
          </a:solidFill>
          <a:ln xmlns:a="http://schemas.openxmlformats.org/drawingml/2006/main" w="9525">
            <a:solidFill>
              <a:srgbClr val="D6DEE8"/>
            </a:solidFill>
            <a:prstDash val="solid"/>
          </a:ln>
        </p:spPr>
      </p:sp>
      <p:sp>
        <p:nvSpPr>
          <p:cNvPr id="8" name="">
            <a:extLst xmlns:a="http://schemas.openxmlformats.org/drawingml/2006/main">
              <a:ext uri="{FF2B5EF4-FFF2-40B4-BE49-F238E27FC236}">
                <a16:creationId xmlns:a16="http://schemas.microsoft.com/office/drawing/2014/main" id="{A198285B-3E78-480A-879E-F283ED3FBC0F}"/>
              </a:ext>
            </a:extLst>
          </p:cNvPr>
          <p:cNvSpPr>
            <a:spLocks xmlns:a="http://schemas.openxmlformats.org/drawingml/2006/main" noGrp="1"/>
          </p:cNvSpPr>
          <p:nvPr/>
        </p:nvSpPr>
        <p:spPr>
          <a:xfrm xmlns:a="http://schemas.openxmlformats.org/drawingml/2006/main">
            <a:off x="666750" y="1543050"/>
            <a:ext cx="2324100" cy="47625"/>
          </a:xfrm>
          <a:prstGeom xmlns:a="http://schemas.openxmlformats.org/drawingml/2006/main" prst="rect">
            <a:avLst/>
          </a:prstGeom>
          <a:solidFill xmlns:a="http://schemas.openxmlformats.org/drawingml/2006/main">
            <a:srgbClr val="2864C5"/>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97B850B2-1789-4260-809C-F466094AEDC1}"/>
              </a:ext>
            </a:extLst>
          </p:cNvPr>
          <p:cNvSpPr>
            <a:spLocks xmlns:a="http://schemas.openxmlformats.org/drawingml/2006/main" noGrp="1"/>
          </p:cNvSpPr>
          <p:nvPr/>
        </p:nvSpPr>
        <p:spPr>
          <a:xfrm xmlns:a="http://schemas.openxmlformats.org/drawingml/2006/main">
            <a:off x="838200" y="1762125"/>
            <a:ext cx="19812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1">
                <a:solidFill>
                  <a:srgbClr val="10253F"/>
                </a:solidFill>
                <a:latin typeface="Helvetica Neue"/>
                <a:ea typeface="Helvetica Neue"/>
                <a:cs typeface="Helvetica Neue"/>
              </a:defRPr>
            </a:defPPr>
          </a:lstStyle>
          <a:p xmlns:a="http://schemas.openxmlformats.org/drawingml/2006/main">
            <a:pPr algn="l">
              <a:lnSpc>
                <a:spcPct val="105000"/>
              </a:lnSpc>
              <a:buNone/>
              <a:defRPr sz="1425" b="1">
                <a:solidFill>
                  <a:srgbClr val="10253F"/>
                </a:solidFill>
                <a:latin typeface="Helvetica Neue"/>
                <a:ea typeface="Helvetica Neue"/>
                <a:cs typeface="Helvetica Neue"/>
              </a:defRPr>
            </a:pPr>
            <a:r>
              <a:rPr sz="1425" b="1">
                <a:solidFill>
                  <a:srgbClr val="10253F"/>
                </a:solidFill>
                <a:latin typeface="Helvetica Neue"/>
                <a:ea typeface="Helvetica Neue"/>
                <a:cs typeface="Helvetica Neue"/>
              </a:rPr>
              <a:t>Base language model</a:t>
            </a:r>
          </a:p>
        </p:txBody>
      </p:sp>
      <p:sp>
        <p:nvSpPr>
          <p:cNvPr id="10" name="">
            <a:extLst xmlns:a="http://schemas.openxmlformats.org/drawingml/2006/main">
              <a:ext uri="{FF2B5EF4-FFF2-40B4-BE49-F238E27FC236}">
                <a16:creationId xmlns:a16="http://schemas.microsoft.com/office/drawing/2014/main" id="{0D4CB0CA-182E-43F7-AEE4-D042F8B3BAFB}"/>
              </a:ext>
            </a:extLst>
          </p:cNvPr>
          <p:cNvSpPr>
            <a:spLocks xmlns:a="http://schemas.openxmlformats.org/drawingml/2006/main" noGrp="1"/>
          </p:cNvSpPr>
          <p:nvPr/>
        </p:nvSpPr>
        <p:spPr>
          <a:xfrm xmlns:a="http://schemas.openxmlformats.org/drawingml/2006/main">
            <a:off x="838200" y="2114550"/>
            <a:ext cx="1981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1">
                <a:solidFill>
                  <a:srgbClr val="2864C5"/>
                </a:solidFill>
                <a:latin typeface="Helvetica Neue"/>
                <a:ea typeface="Helvetica Neue"/>
                <a:cs typeface="Helvetica Neue"/>
              </a:defRPr>
            </a:defPPr>
          </a:lstStyle>
          <a:p xmlns:a="http://schemas.openxmlformats.org/drawingml/2006/main">
            <a:pPr algn="l">
              <a:lnSpc>
                <a:spcPct val="105000"/>
              </a:lnSpc>
              <a:buNone/>
              <a:defRPr sz="1050" b="1">
                <a:solidFill>
                  <a:srgbClr val="2864C5"/>
                </a:solidFill>
                <a:latin typeface="Helvetica Neue"/>
                <a:ea typeface="Helvetica Neue"/>
                <a:cs typeface="Helvetica Neue"/>
              </a:defRPr>
            </a:pPr>
            <a:r>
              <a:rPr sz="1050" b="1">
                <a:solidFill>
                  <a:srgbClr val="2864C5"/>
                </a:solidFill>
                <a:latin typeface="Helvetica Neue"/>
                <a:ea typeface="Helvetica Neue"/>
                <a:cs typeface="Helvetica Neue"/>
              </a:rPr>
              <a:t>Next-token prediction</a:t>
            </a:r>
          </a:p>
        </p:txBody>
      </p:sp>
      <p:sp>
        <p:nvSpPr>
          <p:cNvPr id="11" name="">
            <a:extLst xmlns:a="http://schemas.openxmlformats.org/drawingml/2006/main">
              <a:ext uri="{FF2B5EF4-FFF2-40B4-BE49-F238E27FC236}">
                <a16:creationId xmlns:a16="http://schemas.microsoft.com/office/drawing/2014/main" id="{1A671698-8662-40D7-BC8F-95CA842E62F9}"/>
              </a:ext>
            </a:extLst>
          </p:cNvPr>
          <p:cNvSpPr>
            <a:spLocks xmlns:a="http://schemas.openxmlformats.org/drawingml/2006/main" noGrp="1"/>
          </p:cNvSpPr>
          <p:nvPr/>
        </p:nvSpPr>
        <p:spPr>
          <a:xfrm xmlns:a="http://schemas.openxmlformats.org/drawingml/2006/main">
            <a:off x="838200" y="2476500"/>
            <a:ext cx="19812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125" b="0">
                <a:solidFill>
                  <a:srgbClr val="536477"/>
                </a:solidFill>
                <a:latin typeface="Helvetica Neue"/>
                <a:ea typeface="Helvetica Neue"/>
                <a:cs typeface="Helvetica Neue"/>
              </a:defRPr>
            </a:defPPr>
          </a:lstStyle>
          <a:p xmlns:a="http://schemas.openxmlformats.org/drawingml/2006/main">
            <a:pPr algn="l">
              <a:lnSpc>
                <a:spcPct val="105000"/>
              </a:lnSpc>
              <a:buNone/>
              <a:defRPr sz="1125" b="0">
                <a:solidFill>
                  <a:srgbClr val="536477"/>
                </a:solidFill>
                <a:latin typeface="Helvetica Neue"/>
                <a:ea typeface="Helvetica Neue"/>
                <a:cs typeface="Helvetica Neue"/>
              </a:defRPr>
            </a:pPr>
            <a:r>
              <a:rPr sz="1125" b="0">
                <a:solidFill>
                  <a:srgbClr val="536477"/>
                </a:solidFill>
                <a:latin typeface="Helvetica Neue"/>
                <a:ea typeface="Helvetica Neue"/>
                <a:cs typeface="Helvetica Neue"/>
              </a:rPr>
              <a:t>Produces a single continuation under greedy decoding or sampling.</a:t>
            </a:r>
          </a:p>
        </p:txBody>
      </p:sp>
      <p:sp>
        <p:nvSpPr>
          <p:cNvPr id="12" name="">
            <a:extLst xmlns:a="http://schemas.openxmlformats.org/drawingml/2006/main">
              <a:ext uri="{FF2B5EF4-FFF2-40B4-BE49-F238E27FC236}">
                <a16:creationId xmlns:a16="http://schemas.microsoft.com/office/drawing/2014/main" id="{C3258266-DECB-4CFE-AE57-288F01A7BBB9}"/>
              </a:ext>
            </a:extLst>
          </p:cNvPr>
          <p:cNvSpPr>
            <a:spLocks xmlns:a="http://schemas.openxmlformats.org/drawingml/2006/main" noGrp="1"/>
          </p:cNvSpPr>
          <p:nvPr/>
        </p:nvSpPr>
        <p:spPr>
          <a:xfrm xmlns:a="http://schemas.openxmlformats.org/drawingml/2006/main">
            <a:off x="838200" y="3390900"/>
            <a:ext cx="2019300" cy="180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1">
                <a:solidFill>
                  <a:srgbClr val="536477"/>
                </a:solidFill>
                <a:latin typeface="Helvetica Neue"/>
                <a:ea typeface="Helvetica Neue"/>
                <a:cs typeface="Helvetica Neue"/>
              </a:defRPr>
            </a:defPPr>
          </a:lstStyle>
          <a:p xmlns:a="http://schemas.openxmlformats.org/drawingml/2006/main">
            <a:pPr algn="l">
              <a:lnSpc>
                <a:spcPct val="105000"/>
              </a:lnSpc>
              <a:buNone/>
              <a:defRPr sz="900" b="1">
                <a:solidFill>
                  <a:srgbClr val="536477"/>
                </a:solidFill>
                <a:latin typeface="Helvetica Neue"/>
                <a:ea typeface="Helvetica Neue"/>
                <a:cs typeface="Helvetica Neue"/>
              </a:defRPr>
            </a:pPr>
            <a:r>
              <a:rPr sz="900" b="1">
                <a:solidFill>
                  <a:srgbClr val="536477"/>
                </a:solidFill>
                <a:latin typeface="Helvetica Neue"/>
                <a:ea typeface="Helvetica Neue"/>
                <a:cs typeface="Helvetica Neue"/>
              </a:rPr>
              <a:t>Zhang et al., 2024</a:t>
            </a:r>
          </a:p>
        </p:txBody>
      </p:sp>
      <p:sp>
        <p:nvSpPr>
          <p:cNvPr id="13" name="">
            <a:extLst xmlns:a="http://schemas.openxmlformats.org/drawingml/2006/main">
              <a:ext uri="{FF2B5EF4-FFF2-40B4-BE49-F238E27FC236}">
                <a16:creationId xmlns:a16="http://schemas.microsoft.com/office/drawing/2014/main" id="{36E00315-CEC3-4A68-AFCB-0D63A371382C}"/>
              </a:ext>
            </a:extLst>
          </p:cNvPr>
          <p:cNvSpPr>
            <a:spLocks xmlns:a="http://schemas.openxmlformats.org/drawingml/2006/main" noGrp="1"/>
          </p:cNvSpPr>
          <p:nvPr/>
        </p:nvSpPr>
        <p:spPr>
          <a:xfrm xmlns:a="http://schemas.openxmlformats.org/drawingml/2006/main">
            <a:off x="3505200" y="1543050"/>
            <a:ext cx="2324100" cy="2171700"/>
          </a:xfrm>
          <a:prstGeom xmlns:a="http://schemas.openxmlformats.org/drawingml/2006/main" prst="roundRect">
            <a:avLst>
              <a:gd name="adj" fmla="val 3509"/>
            </a:avLst>
          </a:prstGeom>
          <a:solidFill xmlns:a="http://schemas.openxmlformats.org/drawingml/2006/main">
            <a:srgbClr val="FFFFFF"/>
          </a:solidFill>
          <a:ln xmlns:a="http://schemas.openxmlformats.org/drawingml/2006/main" w="9525">
            <a:solidFill>
              <a:srgbClr val="D6DEE8"/>
            </a:solidFill>
            <a:prstDash val="solid"/>
          </a:ln>
        </p:spPr>
      </p:sp>
      <p:sp>
        <p:nvSpPr>
          <p:cNvPr id="14" name="">
            <a:extLst xmlns:a="http://schemas.openxmlformats.org/drawingml/2006/main">
              <a:ext uri="{FF2B5EF4-FFF2-40B4-BE49-F238E27FC236}">
                <a16:creationId xmlns:a16="http://schemas.microsoft.com/office/drawing/2014/main" id="{3F1DC084-EBD2-4E41-9E84-A92978647FC2}"/>
              </a:ext>
            </a:extLst>
          </p:cNvPr>
          <p:cNvSpPr>
            <a:spLocks xmlns:a="http://schemas.openxmlformats.org/drawingml/2006/main" noGrp="1"/>
          </p:cNvSpPr>
          <p:nvPr/>
        </p:nvSpPr>
        <p:spPr>
          <a:xfrm xmlns:a="http://schemas.openxmlformats.org/drawingml/2006/main">
            <a:off x="3505200" y="1543050"/>
            <a:ext cx="2324100" cy="47625"/>
          </a:xfrm>
          <a:prstGeom xmlns:a="http://schemas.openxmlformats.org/drawingml/2006/main" prst="rect">
            <a:avLst/>
          </a:prstGeom>
          <a:solidFill xmlns:a="http://schemas.openxmlformats.org/drawingml/2006/main">
            <a:srgbClr val="148A8A"/>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276EFBE3-0FF0-40AC-BDD4-9AF019A8900C}"/>
              </a:ext>
            </a:extLst>
          </p:cNvPr>
          <p:cNvSpPr>
            <a:spLocks xmlns:a="http://schemas.openxmlformats.org/drawingml/2006/main" noGrp="1"/>
          </p:cNvSpPr>
          <p:nvPr/>
        </p:nvSpPr>
        <p:spPr>
          <a:xfrm xmlns:a="http://schemas.openxmlformats.org/drawingml/2006/main">
            <a:off x="3676650" y="1762125"/>
            <a:ext cx="19812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1">
                <a:solidFill>
                  <a:srgbClr val="10253F"/>
                </a:solidFill>
                <a:latin typeface="Helvetica Neue"/>
                <a:ea typeface="Helvetica Neue"/>
                <a:cs typeface="Helvetica Neue"/>
              </a:defRPr>
            </a:defPPr>
          </a:lstStyle>
          <a:p xmlns:a="http://schemas.openxmlformats.org/drawingml/2006/main">
            <a:pPr algn="l">
              <a:lnSpc>
                <a:spcPct val="105000"/>
              </a:lnSpc>
              <a:buNone/>
              <a:defRPr sz="1425" b="1">
                <a:solidFill>
                  <a:srgbClr val="10253F"/>
                </a:solidFill>
                <a:latin typeface="Helvetica Neue"/>
                <a:ea typeface="Helvetica Neue"/>
                <a:cs typeface="Helvetica Neue"/>
              </a:defRPr>
            </a:pPr>
            <a:r>
              <a:rPr sz="1425" b="1">
                <a:solidFill>
                  <a:srgbClr val="10253F"/>
                </a:solidFill>
                <a:latin typeface="Helvetica Neue"/>
                <a:ea typeface="Helvetica Neue"/>
                <a:cs typeface="Helvetica Neue"/>
              </a:rPr>
              <a:t>DoLa</a:t>
            </a:r>
          </a:p>
        </p:txBody>
      </p:sp>
      <p:sp>
        <p:nvSpPr>
          <p:cNvPr id="16" name="">
            <a:extLst xmlns:a="http://schemas.openxmlformats.org/drawingml/2006/main">
              <a:ext uri="{FF2B5EF4-FFF2-40B4-BE49-F238E27FC236}">
                <a16:creationId xmlns:a16="http://schemas.microsoft.com/office/drawing/2014/main" id="{5BC54085-45DC-4AAB-A010-CB40645E2922}"/>
              </a:ext>
            </a:extLst>
          </p:cNvPr>
          <p:cNvSpPr>
            <a:spLocks xmlns:a="http://schemas.openxmlformats.org/drawingml/2006/main" noGrp="1"/>
          </p:cNvSpPr>
          <p:nvPr/>
        </p:nvSpPr>
        <p:spPr>
          <a:xfrm xmlns:a="http://schemas.openxmlformats.org/drawingml/2006/main">
            <a:off x="3676650" y="2114550"/>
            <a:ext cx="1981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1">
                <a:solidFill>
                  <a:srgbClr val="148A8A"/>
                </a:solidFill>
                <a:latin typeface="Helvetica Neue"/>
                <a:ea typeface="Helvetica Neue"/>
                <a:cs typeface="Helvetica Neue"/>
              </a:defRPr>
            </a:defPPr>
          </a:lstStyle>
          <a:p xmlns:a="http://schemas.openxmlformats.org/drawingml/2006/main">
            <a:pPr algn="l">
              <a:lnSpc>
                <a:spcPct val="105000"/>
              </a:lnSpc>
              <a:buNone/>
              <a:defRPr sz="1050" b="1">
                <a:solidFill>
                  <a:srgbClr val="148A8A"/>
                </a:solidFill>
                <a:latin typeface="Helvetica Neue"/>
                <a:ea typeface="Helvetica Neue"/>
                <a:cs typeface="Helvetica Neue"/>
              </a:defRPr>
            </a:pPr>
            <a:r>
              <a:rPr sz="1050" b="1">
                <a:solidFill>
                  <a:srgbClr val="148A8A"/>
                </a:solidFill>
                <a:latin typeface="Helvetica Neue"/>
                <a:ea typeface="Helvetica Neue"/>
                <a:cs typeface="Helvetica Neue"/>
              </a:rPr>
              <a:t>Layer-level contrast</a:t>
            </a:r>
          </a:p>
        </p:txBody>
      </p:sp>
      <p:sp>
        <p:nvSpPr>
          <p:cNvPr id="17" name="">
            <a:extLst xmlns:a="http://schemas.openxmlformats.org/drawingml/2006/main">
              <a:ext uri="{FF2B5EF4-FFF2-40B4-BE49-F238E27FC236}">
                <a16:creationId xmlns:a16="http://schemas.microsoft.com/office/drawing/2014/main" id="{A21AA83E-B3A8-45A1-9976-A027FB250395}"/>
              </a:ext>
            </a:extLst>
          </p:cNvPr>
          <p:cNvSpPr>
            <a:spLocks xmlns:a="http://schemas.openxmlformats.org/drawingml/2006/main" noGrp="1"/>
          </p:cNvSpPr>
          <p:nvPr/>
        </p:nvSpPr>
        <p:spPr>
          <a:xfrm xmlns:a="http://schemas.openxmlformats.org/drawingml/2006/main">
            <a:off x="3676650" y="2476500"/>
            <a:ext cx="19812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125" b="0">
                <a:solidFill>
                  <a:srgbClr val="536477"/>
                </a:solidFill>
                <a:latin typeface="Helvetica Neue"/>
                <a:ea typeface="Helvetica Neue"/>
                <a:cs typeface="Helvetica Neue"/>
              </a:defRPr>
            </a:defPPr>
          </a:lstStyle>
          <a:p xmlns:a="http://schemas.openxmlformats.org/drawingml/2006/main">
            <a:pPr algn="l">
              <a:lnSpc>
                <a:spcPct val="105000"/>
              </a:lnSpc>
              <a:buNone/>
              <a:defRPr sz="1125" b="0">
                <a:solidFill>
                  <a:srgbClr val="536477"/>
                </a:solidFill>
                <a:latin typeface="Helvetica Neue"/>
                <a:ea typeface="Helvetica Neue"/>
                <a:cs typeface="Helvetica Neue"/>
              </a:defRPr>
            </a:pPr>
            <a:r>
              <a:rPr sz="1125" b="0">
                <a:solidFill>
                  <a:srgbClr val="536477"/>
                </a:solidFill>
                <a:latin typeface="Helvetica Neue"/>
                <a:ea typeface="Helvetica Neue"/>
                <a:cs typeface="Helvetica Neue"/>
              </a:rPr>
              <a:t>Contrasts mature and premature layer distributions during decoding.</a:t>
            </a:r>
          </a:p>
        </p:txBody>
      </p:sp>
      <p:sp>
        <p:nvSpPr>
          <p:cNvPr id="18" name="">
            <a:extLst xmlns:a="http://schemas.openxmlformats.org/drawingml/2006/main">
              <a:ext uri="{FF2B5EF4-FFF2-40B4-BE49-F238E27FC236}">
                <a16:creationId xmlns:a16="http://schemas.microsoft.com/office/drawing/2014/main" id="{23B77ACF-8109-4094-BE1E-B627D48197DF}"/>
              </a:ext>
            </a:extLst>
          </p:cNvPr>
          <p:cNvSpPr>
            <a:spLocks xmlns:a="http://schemas.openxmlformats.org/drawingml/2006/main" noGrp="1"/>
          </p:cNvSpPr>
          <p:nvPr/>
        </p:nvSpPr>
        <p:spPr>
          <a:xfrm xmlns:a="http://schemas.openxmlformats.org/drawingml/2006/main">
            <a:off x="3676650" y="3390900"/>
            <a:ext cx="2019300" cy="180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1">
                <a:solidFill>
                  <a:srgbClr val="536477"/>
                </a:solidFill>
                <a:latin typeface="Helvetica Neue"/>
                <a:ea typeface="Helvetica Neue"/>
                <a:cs typeface="Helvetica Neue"/>
              </a:defRPr>
            </a:defPPr>
          </a:lstStyle>
          <a:p xmlns:a="http://schemas.openxmlformats.org/drawingml/2006/main">
            <a:pPr algn="l">
              <a:lnSpc>
                <a:spcPct val="105000"/>
              </a:lnSpc>
              <a:buNone/>
              <a:defRPr sz="900" b="1">
                <a:solidFill>
                  <a:srgbClr val="536477"/>
                </a:solidFill>
                <a:latin typeface="Helvetica Neue"/>
                <a:ea typeface="Helvetica Neue"/>
                <a:cs typeface="Helvetica Neue"/>
              </a:defRPr>
            </a:pPr>
            <a:r>
              <a:rPr sz="900" b="1">
                <a:solidFill>
                  <a:srgbClr val="536477"/>
                </a:solidFill>
                <a:latin typeface="Helvetica Neue"/>
                <a:ea typeface="Helvetica Neue"/>
                <a:cs typeface="Helvetica Neue"/>
              </a:rPr>
              <a:t>Chuang et al., ICLR 2024</a:t>
            </a:r>
          </a:p>
        </p:txBody>
      </p:sp>
      <p:sp>
        <p:nvSpPr>
          <p:cNvPr id="19" name="">
            <a:extLst xmlns:a="http://schemas.openxmlformats.org/drawingml/2006/main">
              <a:ext uri="{FF2B5EF4-FFF2-40B4-BE49-F238E27FC236}">
                <a16:creationId xmlns:a16="http://schemas.microsoft.com/office/drawing/2014/main" id="{36DCFAC4-58FD-42EE-93FB-4E537E52A297}"/>
              </a:ext>
            </a:extLst>
          </p:cNvPr>
          <p:cNvSpPr>
            <a:spLocks xmlns:a="http://schemas.openxmlformats.org/drawingml/2006/main" noGrp="1"/>
          </p:cNvSpPr>
          <p:nvPr/>
        </p:nvSpPr>
        <p:spPr>
          <a:xfrm xmlns:a="http://schemas.openxmlformats.org/drawingml/2006/main">
            <a:off x="6343650" y="1543050"/>
            <a:ext cx="2324100" cy="2171700"/>
          </a:xfrm>
          <a:prstGeom xmlns:a="http://schemas.openxmlformats.org/drawingml/2006/main" prst="roundRect">
            <a:avLst>
              <a:gd name="adj" fmla="val 3509"/>
            </a:avLst>
          </a:prstGeom>
          <a:solidFill xmlns:a="http://schemas.openxmlformats.org/drawingml/2006/main">
            <a:srgbClr val="FFFFFF"/>
          </a:solidFill>
          <a:ln xmlns:a="http://schemas.openxmlformats.org/drawingml/2006/main" w="9525">
            <a:solidFill>
              <a:srgbClr val="D6DEE8"/>
            </a:solidFill>
            <a:prstDash val="solid"/>
          </a:ln>
        </p:spPr>
      </p:sp>
      <p:sp>
        <p:nvSpPr>
          <p:cNvPr id="20" name="">
            <a:extLst xmlns:a="http://schemas.openxmlformats.org/drawingml/2006/main">
              <a:ext uri="{FF2B5EF4-FFF2-40B4-BE49-F238E27FC236}">
                <a16:creationId xmlns:a16="http://schemas.microsoft.com/office/drawing/2014/main" id="{3F68BCBA-1ABA-42F4-A981-330517075BB5}"/>
              </a:ext>
            </a:extLst>
          </p:cNvPr>
          <p:cNvSpPr>
            <a:spLocks xmlns:a="http://schemas.openxmlformats.org/drawingml/2006/main" noGrp="1"/>
          </p:cNvSpPr>
          <p:nvPr/>
        </p:nvSpPr>
        <p:spPr>
          <a:xfrm xmlns:a="http://schemas.openxmlformats.org/drawingml/2006/main">
            <a:off x="6343650" y="1543050"/>
            <a:ext cx="2324100" cy="47625"/>
          </a:xfrm>
          <a:prstGeom xmlns:a="http://schemas.openxmlformats.org/drawingml/2006/main" prst="rect">
            <a:avLst/>
          </a:prstGeom>
          <a:solidFill xmlns:a="http://schemas.openxmlformats.org/drawingml/2006/main">
            <a:srgbClr val="C7782B"/>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FA4ADE16-0981-437B-917D-F30394490EBE}"/>
              </a:ext>
            </a:extLst>
          </p:cNvPr>
          <p:cNvSpPr>
            <a:spLocks xmlns:a="http://schemas.openxmlformats.org/drawingml/2006/main" noGrp="1"/>
          </p:cNvSpPr>
          <p:nvPr/>
        </p:nvSpPr>
        <p:spPr>
          <a:xfrm xmlns:a="http://schemas.openxmlformats.org/drawingml/2006/main">
            <a:off x="6515100" y="1762125"/>
            <a:ext cx="19812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1">
                <a:solidFill>
                  <a:srgbClr val="10253F"/>
                </a:solidFill>
                <a:latin typeface="Helvetica Neue"/>
                <a:ea typeface="Helvetica Neue"/>
                <a:cs typeface="Helvetica Neue"/>
              </a:defRPr>
            </a:defPPr>
          </a:lstStyle>
          <a:p xmlns:a="http://schemas.openxmlformats.org/drawingml/2006/main">
            <a:pPr algn="l">
              <a:lnSpc>
                <a:spcPct val="105000"/>
              </a:lnSpc>
              <a:buNone/>
              <a:defRPr sz="1425" b="1">
                <a:solidFill>
                  <a:srgbClr val="10253F"/>
                </a:solidFill>
                <a:latin typeface="Helvetica Neue"/>
                <a:ea typeface="Helvetica Neue"/>
                <a:cs typeface="Helvetica Neue"/>
              </a:defRPr>
            </a:pPr>
            <a:r>
              <a:rPr sz="1425" b="1">
                <a:solidFill>
                  <a:srgbClr val="10253F"/>
                </a:solidFill>
                <a:latin typeface="Helvetica Neue"/>
                <a:ea typeface="Helvetica Neue"/>
                <a:cs typeface="Helvetica Neue"/>
              </a:rPr>
              <a:t>Epinet / ENN</a:t>
            </a:r>
          </a:p>
        </p:txBody>
      </p:sp>
      <p:sp>
        <p:nvSpPr>
          <p:cNvPr id="22" name="">
            <a:extLst xmlns:a="http://schemas.openxmlformats.org/drawingml/2006/main">
              <a:ext uri="{FF2B5EF4-FFF2-40B4-BE49-F238E27FC236}">
                <a16:creationId xmlns:a16="http://schemas.microsoft.com/office/drawing/2014/main" id="{AE7F3985-36BB-4952-B76A-FE7A1BB23401}"/>
              </a:ext>
            </a:extLst>
          </p:cNvPr>
          <p:cNvSpPr>
            <a:spLocks xmlns:a="http://schemas.openxmlformats.org/drawingml/2006/main" noGrp="1"/>
          </p:cNvSpPr>
          <p:nvPr/>
        </p:nvSpPr>
        <p:spPr>
          <a:xfrm xmlns:a="http://schemas.openxmlformats.org/drawingml/2006/main">
            <a:off x="6515100" y="2114550"/>
            <a:ext cx="1981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1">
                <a:solidFill>
                  <a:srgbClr val="C7782B"/>
                </a:solidFill>
                <a:latin typeface="Helvetica Neue"/>
                <a:ea typeface="Helvetica Neue"/>
                <a:cs typeface="Helvetica Neue"/>
              </a:defRPr>
            </a:defPPr>
          </a:lstStyle>
          <a:p xmlns:a="http://schemas.openxmlformats.org/drawingml/2006/main">
            <a:pPr algn="l">
              <a:lnSpc>
                <a:spcPct val="105000"/>
              </a:lnSpc>
              <a:buNone/>
              <a:defRPr sz="1050" b="1">
                <a:solidFill>
                  <a:srgbClr val="C7782B"/>
                </a:solidFill>
                <a:latin typeface="Helvetica Neue"/>
                <a:ea typeface="Helvetica Neue"/>
                <a:cs typeface="Helvetica Neue"/>
              </a:defRPr>
            </a:pPr>
            <a:r>
              <a:rPr sz="1050" b="1">
                <a:solidFill>
                  <a:srgbClr val="C7782B"/>
                </a:solidFill>
                <a:latin typeface="Helvetica Neue"/>
                <a:ea typeface="Helvetica Neue"/>
                <a:cs typeface="Helvetica Neue"/>
              </a:rPr>
              <a:t>Epistemic signal</a:t>
            </a:r>
          </a:p>
        </p:txBody>
      </p:sp>
      <p:sp>
        <p:nvSpPr>
          <p:cNvPr id="23" name="">
            <a:extLst xmlns:a="http://schemas.openxmlformats.org/drawingml/2006/main">
              <a:ext uri="{FF2B5EF4-FFF2-40B4-BE49-F238E27FC236}">
                <a16:creationId xmlns:a16="http://schemas.microsoft.com/office/drawing/2014/main" id="{9B20F980-523F-4CA4-85E2-67D244D98605}"/>
              </a:ext>
            </a:extLst>
          </p:cNvPr>
          <p:cNvSpPr>
            <a:spLocks xmlns:a="http://schemas.openxmlformats.org/drawingml/2006/main" noGrp="1"/>
          </p:cNvSpPr>
          <p:nvPr/>
        </p:nvSpPr>
        <p:spPr>
          <a:xfrm xmlns:a="http://schemas.openxmlformats.org/drawingml/2006/main">
            <a:off x="6515100" y="2476500"/>
            <a:ext cx="19812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125" b="0">
                <a:solidFill>
                  <a:srgbClr val="536477"/>
                </a:solidFill>
                <a:latin typeface="Helvetica Neue"/>
                <a:ea typeface="Helvetica Neue"/>
                <a:cs typeface="Helvetica Neue"/>
              </a:defRPr>
            </a:defPPr>
          </a:lstStyle>
          <a:p xmlns:a="http://schemas.openxmlformats.org/drawingml/2006/main">
            <a:pPr algn="l">
              <a:lnSpc>
                <a:spcPct val="105000"/>
              </a:lnSpc>
              <a:buNone/>
              <a:defRPr sz="1125" b="0">
                <a:solidFill>
                  <a:srgbClr val="536477"/>
                </a:solidFill>
                <a:latin typeface="Helvetica Neue"/>
                <a:ea typeface="Helvetica Neue"/>
                <a:cs typeface="Helvetica Neue"/>
              </a:defRPr>
            </a:pPr>
            <a:r>
              <a:rPr sz="1125" b="0">
                <a:solidFill>
                  <a:srgbClr val="536477"/>
                </a:solidFill>
                <a:latin typeface="Helvetica Neue"/>
                <a:ea typeface="Helvetica Neue"/>
                <a:cs typeface="Helvetica Neue"/>
              </a:rPr>
              <a:t>Indexes predictions by a sampled epistemic variable to expose model uncertainty.</a:t>
            </a:r>
          </a:p>
        </p:txBody>
      </p:sp>
      <p:sp>
        <p:nvSpPr>
          <p:cNvPr id="24" name="">
            <a:extLst xmlns:a="http://schemas.openxmlformats.org/drawingml/2006/main">
              <a:ext uri="{FF2B5EF4-FFF2-40B4-BE49-F238E27FC236}">
                <a16:creationId xmlns:a16="http://schemas.microsoft.com/office/drawing/2014/main" id="{6730C80E-8F79-4F12-A058-2B4DB9A700BC}"/>
              </a:ext>
            </a:extLst>
          </p:cNvPr>
          <p:cNvSpPr>
            <a:spLocks xmlns:a="http://schemas.openxmlformats.org/drawingml/2006/main" noGrp="1"/>
          </p:cNvSpPr>
          <p:nvPr/>
        </p:nvSpPr>
        <p:spPr>
          <a:xfrm xmlns:a="http://schemas.openxmlformats.org/drawingml/2006/main">
            <a:off x="6515100" y="3390900"/>
            <a:ext cx="2019300" cy="180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1">
                <a:solidFill>
                  <a:srgbClr val="536477"/>
                </a:solidFill>
                <a:latin typeface="Helvetica Neue"/>
                <a:ea typeface="Helvetica Neue"/>
                <a:cs typeface="Helvetica Neue"/>
              </a:defRPr>
            </a:defPPr>
          </a:lstStyle>
          <a:p xmlns:a="http://schemas.openxmlformats.org/drawingml/2006/main">
            <a:pPr algn="l">
              <a:lnSpc>
                <a:spcPct val="105000"/>
              </a:lnSpc>
              <a:buNone/>
              <a:defRPr sz="900" b="1">
                <a:solidFill>
                  <a:srgbClr val="536477"/>
                </a:solidFill>
                <a:latin typeface="Helvetica Neue"/>
                <a:ea typeface="Helvetica Neue"/>
                <a:cs typeface="Helvetica Neue"/>
              </a:defRPr>
            </a:pPr>
            <a:r>
              <a:rPr sz="900" b="1">
                <a:solidFill>
                  <a:srgbClr val="536477"/>
                </a:solidFill>
                <a:latin typeface="Helvetica Neue"/>
                <a:ea typeface="Helvetica Neue"/>
                <a:cs typeface="Helvetica Neue"/>
              </a:rPr>
              <a:t>Osband et al., 2021</a:t>
            </a:r>
          </a:p>
        </p:txBody>
      </p:sp>
      <p:sp>
        <p:nvSpPr>
          <p:cNvPr id="25" name="">
            <a:extLst xmlns:a="http://schemas.openxmlformats.org/drawingml/2006/main">
              <a:ext uri="{FF2B5EF4-FFF2-40B4-BE49-F238E27FC236}">
                <a16:creationId xmlns:a16="http://schemas.microsoft.com/office/drawing/2014/main" id="{6C3FBFB8-DB99-4B4E-AB2C-084AC2AA6DCE}"/>
              </a:ext>
            </a:extLst>
          </p:cNvPr>
          <p:cNvSpPr>
            <a:spLocks xmlns:a="http://schemas.openxmlformats.org/drawingml/2006/main" noGrp="1"/>
          </p:cNvSpPr>
          <p:nvPr/>
        </p:nvSpPr>
        <p:spPr>
          <a:xfrm xmlns:a="http://schemas.openxmlformats.org/drawingml/2006/main">
            <a:off x="9182100" y="1543050"/>
            <a:ext cx="2324100" cy="2171700"/>
          </a:xfrm>
          <a:prstGeom xmlns:a="http://schemas.openxmlformats.org/drawingml/2006/main" prst="roundRect">
            <a:avLst>
              <a:gd name="adj" fmla="val 3509"/>
            </a:avLst>
          </a:prstGeom>
          <a:solidFill xmlns:a="http://schemas.openxmlformats.org/drawingml/2006/main">
            <a:srgbClr val="FFFFFF"/>
          </a:solidFill>
          <a:ln xmlns:a="http://schemas.openxmlformats.org/drawingml/2006/main" w="9525">
            <a:solidFill>
              <a:srgbClr val="D6DEE8"/>
            </a:solidFill>
            <a:prstDash val="solid"/>
          </a:ln>
        </p:spPr>
      </p:sp>
      <p:sp>
        <p:nvSpPr>
          <p:cNvPr id="26" name="">
            <a:extLst xmlns:a="http://schemas.openxmlformats.org/drawingml/2006/main">
              <a:ext uri="{FF2B5EF4-FFF2-40B4-BE49-F238E27FC236}">
                <a16:creationId xmlns:a16="http://schemas.microsoft.com/office/drawing/2014/main" id="{13C999B6-118F-4360-89B7-D30FA0CEE934}"/>
              </a:ext>
            </a:extLst>
          </p:cNvPr>
          <p:cNvSpPr>
            <a:spLocks xmlns:a="http://schemas.openxmlformats.org/drawingml/2006/main" noGrp="1"/>
          </p:cNvSpPr>
          <p:nvPr/>
        </p:nvSpPr>
        <p:spPr>
          <a:xfrm xmlns:a="http://schemas.openxmlformats.org/drawingml/2006/main">
            <a:off x="9182100" y="1543050"/>
            <a:ext cx="2324100" cy="47625"/>
          </a:xfrm>
          <a:prstGeom xmlns:a="http://schemas.openxmlformats.org/drawingml/2006/main" prst="rect">
            <a:avLst/>
          </a:prstGeom>
          <a:solidFill xmlns:a="http://schemas.openxmlformats.org/drawingml/2006/main">
            <a:srgbClr val="2864C5"/>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D22C45D9-B4A4-41DB-8536-526FEC0032B3}"/>
              </a:ext>
            </a:extLst>
          </p:cNvPr>
          <p:cNvSpPr>
            <a:spLocks xmlns:a="http://schemas.openxmlformats.org/drawingml/2006/main" noGrp="1"/>
          </p:cNvSpPr>
          <p:nvPr/>
        </p:nvSpPr>
        <p:spPr>
          <a:xfrm xmlns:a="http://schemas.openxmlformats.org/drawingml/2006/main">
            <a:off x="9353550" y="1762125"/>
            <a:ext cx="19812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1">
                <a:solidFill>
                  <a:srgbClr val="10253F"/>
                </a:solidFill>
                <a:latin typeface="Helvetica Neue"/>
                <a:ea typeface="Helvetica Neue"/>
                <a:cs typeface="Helvetica Neue"/>
              </a:defRPr>
            </a:defPPr>
          </a:lstStyle>
          <a:p xmlns:a="http://schemas.openxmlformats.org/drawingml/2006/main">
            <a:pPr algn="l">
              <a:lnSpc>
                <a:spcPct val="105000"/>
              </a:lnSpc>
              <a:buNone/>
              <a:defRPr sz="1425" b="1">
                <a:solidFill>
                  <a:srgbClr val="10253F"/>
                </a:solidFill>
                <a:latin typeface="Helvetica Neue"/>
                <a:ea typeface="Helvetica Neue"/>
                <a:cs typeface="Helvetica Neue"/>
              </a:defRPr>
            </a:pPr>
            <a:r>
              <a:rPr sz="1425" b="1">
                <a:solidFill>
                  <a:srgbClr val="10253F"/>
                </a:solidFill>
                <a:latin typeface="Helvetica Neue"/>
                <a:ea typeface="Helvetica Neue"/>
                <a:cs typeface="Helvetica Neue"/>
              </a:rPr>
              <a:t>Self-consistency</a:t>
            </a:r>
          </a:p>
        </p:txBody>
      </p:sp>
      <p:sp>
        <p:nvSpPr>
          <p:cNvPr id="28" name="">
            <a:extLst xmlns:a="http://schemas.openxmlformats.org/drawingml/2006/main">
              <a:ext uri="{FF2B5EF4-FFF2-40B4-BE49-F238E27FC236}">
                <a16:creationId xmlns:a16="http://schemas.microsoft.com/office/drawing/2014/main" id="{2C756104-4538-41A7-956F-ED0DFFB7EDEA}"/>
              </a:ext>
            </a:extLst>
          </p:cNvPr>
          <p:cNvSpPr>
            <a:spLocks xmlns:a="http://schemas.openxmlformats.org/drawingml/2006/main" noGrp="1"/>
          </p:cNvSpPr>
          <p:nvPr/>
        </p:nvSpPr>
        <p:spPr>
          <a:xfrm xmlns:a="http://schemas.openxmlformats.org/drawingml/2006/main">
            <a:off x="9353550" y="2114550"/>
            <a:ext cx="1981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1">
                <a:solidFill>
                  <a:srgbClr val="2864C5"/>
                </a:solidFill>
                <a:latin typeface="Helvetica Neue"/>
                <a:ea typeface="Helvetica Neue"/>
                <a:cs typeface="Helvetica Neue"/>
              </a:defRPr>
            </a:defPPr>
          </a:lstStyle>
          <a:p xmlns:a="http://schemas.openxmlformats.org/drawingml/2006/main">
            <a:pPr algn="l">
              <a:lnSpc>
                <a:spcPct val="105000"/>
              </a:lnSpc>
              <a:buNone/>
              <a:defRPr sz="1050" b="1">
                <a:solidFill>
                  <a:srgbClr val="2864C5"/>
                </a:solidFill>
                <a:latin typeface="Helvetica Neue"/>
                <a:ea typeface="Helvetica Neue"/>
                <a:cs typeface="Helvetica Neue"/>
              </a:defRPr>
            </a:pPr>
            <a:r>
              <a:rPr sz="1050" b="1">
                <a:solidFill>
                  <a:srgbClr val="2864C5"/>
                </a:solidFill>
                <a:latin typeface="Helvetica Neue"/>
                <a:ea typeface="Helvetica Neue"/>
                <a:cs typeface="Helvetica Neue"/>
              </a:rPr>
              <a:t>Answer aggregation</a:t>
            </a:r>
          </a:p>
        </p:txBody>
      </p:sp>
      <p:sp>
        <p:nvSpPr>
          <p:cNvPr id="29" name="">
            <a:extLst xmlns:a="http://schemas.openxmlformats.org/drawingml/2006/main">
              <a:ext uri="{FF2B5EF4-FFF2-40B4-BE49-F238E27FC236}">
                <a16:creationId xmlns:a16="http://schemas.microsoft.com/office/drawing/2014/main" id="{44FEF56C-EC31-4965-8A01-CA856F0330A2}"/>
              </a:ext>
            </a:extLst>
          </p:cNvPr>
          <p:cNvSpPr>
            <a:spLocks xmlns:a="http://schemas.openxmlformats.org/drawingml/2006/main" noGrp="1"/>
          </p:cNvSpPr>
          <p:nvPr/>
        </p:nvSpPr>
        <p:spPr>
          <a:xfrm xmlns:a="http://schemas.openxmlformats.org/drawingml/2006/main">
            <a:off x="9353550" y="2476500"/>
            <a:ext cx="19812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125" b="0">
                <a:solidFill>
                  <a:srgbClr val="536477"/>
                </a:solidFill>
                <a:latin typeface="Helvetica Neue"/>
                <a:ea typeface="Helvetica Neue"/>
                <a:cs typeface="Helvetica Neue"/>
              </a:defRPr>
            </a:defPPr>
          </a:lstStyle>
          <a:p xmlns:a="http://schemas.openxmlformats.org/drawingml/2006/main">
            <a:pPr algn="l">
              <a:lnSpc>
                <a:spcPct val="105000"/>
              </a:lnSpc>
              <a:buNone/>
              <a:defRPr sz="1125" b="0">
                <a:solidFill>
                  <a:srgbClr val="536477"/>
                </a:solidFill>
                <a:latin typeface="Helvetica Neue"/>
                <a:ea typeface="Helvetica Neue"/>
                <a:cs typeface="Helvetica Neue"/>
              </a:defRPr>
            </a:pPr>
            <a:r>
              <a:rPr sz="1125" b="0">
                <a:solidFill>
                  <a:srgbClr val="536477"/>
                </a:solidFill>
                <a:latin typeface="Helvetica Neue"/>
                <a:ea typeface="Helvetica Neue"/>
                <a:cs typeface="Helvetica Neue"/>
              </a:rPr>
              <a:t>Samples several candidates and selects a normalized plurality answer.</a:t>
            </a:r>
          </a:p>
        </p:txBody>
      </p:sp>
      <p:sp>
        <p:nvSpPr>
          <p:cNvPr id="30" name="">
            <a:extLst xmlns:a="http://schemas.openxmlformats.org/drawingml/2006/main">
              <a:ext uri="{FF2B5EF4-FFF2-40B4-BE49-F238E27FC236}">
                <a16:creationId xmlns:a16="http://schemas.microsoft.com/office/drawing/2014/main" id="{47D6DA93-896C-4F6A-A33B-D041A0895EA7}"/>
              </a:ext>
            </a:extLst>
          </p:cNvPr>
          <p:cNvSpPr>
            <a:spLocks xmlns:a="http://schemas.openxmlformats.org/drawingml/2006/main" noGrp="1"/>
          </p:cNvSpPr>
          <p:nvPr/>
        </p:nvSpPr>
        <p:spPr>
          <a:xfrm xmlns:a="http://schemas.openxmlformats.org/drawingml/2006/main">
            <a:off x="9353550" y="3390900"/>
            <a:ext cx="2019300" cy="180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1">
                <a:solidFill>
                  <a:srgbClr val="536477"/>
                </a:solidFill>
                <a:latin typeface="Helvetica Neue"/>
                <a:ea typeface="Helvetica Neue"/>
                <a:cs typeface="Helvetica Neue"/>
              </a:defRPr>
            </a:defPPr>
          </a:lstStyle>
          <a:p xmlns:a="http://schemas.openxmlformats.org/drawingml/2006/main">
            <a:pPr algn="l">
              <a:lnSpc>
                <a:spcPct val="105000"/>
              </a:lnSpc>
              <a:buNone/>
              <a:defRPr sz="900" b="1">
                <a:solidFill>
                  <a:srgbClr val="536477"/>
                </a:solidFill>
                <a:latin typeface="Helvetica Neue"/>
                <a:ea typeface="Helvetica Neue"/>
                <a:cs typeface="Helvetica Neue"/>
              </a:defRPr>
            </a:pPr>
            <a:r>
              <a:rPr sz="900" b="1">
                <a:solidFill>
                  <a:srgbClr val="536477"/>
                </a:solidFill>
                <a:latin typeface="Helvetica Neue"/>
                <a:ea typeface="Helvetica Neue"/>
                <a:cs typeface="Helvetica Neue"/>
              </a:rPr>
              <a:t>Wang et al., ICLR 2023</a:t>
            </a:r>
          </a:p>
        </p:txBody>
      </p:sp>
      <p:sp>
        <p:nvSpPr>
          <p:cNvPr id="31" name="">
            <a:extLst xmlns:a="http://schemas.openxmlformats.org/drawingml/2006/main">
              <a:ext uri="{FF2B5EF4-FFF2-40B4-BE49-F238E27FC236}">
                <a16:creationId xmlns:a16="http://schemas.microsoft.com/office/drawing/2014/main" id="{C0659C89-D7A8-4865-B268-04272CAEBA17}"/>
              </a:ext>
            </a:extLst>
          </p:cNvPr>
          <p:cNvSpPr>
            <a:spLocks xmlns:a="http://schemas.openxmlformats.org/drawingml/2006/main" noGrp="1"/>
          </p:cNvSpPr>
          <p:nvPr/>
        </p:nvSpPr>
        <p:spPr>
          <a:xfrm xmlns:a="http://schemas.openxmlformats.org/drawingml/2006/main">
            <a:off x="685800" y="4114800"/>
            <a:ext cx="3810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1">
                <a:solidFill>
                  <a:srgbClr val="2864C5"/>
                </a:solidFill>
                <a:latin typeface="Helvetica Neue"/>
                <a:ea typeface="Helvetica Neue"/>
                <a:cs typeface="Helvetica Neue"/>
              </a:defRPr>
            </a:defPPr>
          </a:lstStyle>
          <a:p xmlns:a="http://schemas.openxmlformats.org/drawingml/2006/main">
            <a:pPr algn="l">
              <a:lnSpc>
                <a:spcPct val="105000"/>
              </a:lnSpc>
              <a:buNone/>
              <a:defRPr sz="975" b="1">
                <a:solidFill>
                  <a:srgbClr val="2864C5"/>
                </a:solidFill>
                <a:latin typeface="Helvetica Neue"/>
                <a:ea typeface="Helvetica Neue"/>
                <a:cs typeface="Helvetica Neue"/>
              </a:defRPr>
            </a:pPr>
            <a:r>
              <a:rPr sz="975" b="1">
                <a:solidFill>
                  <a:srgbClr val="2864C5"/>
                </a:solidFill>
                <a:latin typeface="Helvetica Neue"/>
                <a:ea typeface="Helvetica Neue"/>
                <a:cs typeface="Helvetica Neue"/>
              </a:rPr>
              <a:t>RESEARCH GAP IN THIS CAPSTONE</a:t>
            </a:r>
          </a:p>
        </p:txBody>
      </p:sp>
      <p:sp>
        <p:nvSpPr>
          <p:cNvPr id="32" name="">
            <a:extLst xmlns:a="http://schemas.openxmlformats.org/drawingml/2006/main">
              <a:ext uri="{FF2B5EF4-FFF2-40B4-BE49-F238E27FC236}">
                <a16:creationId xmlns:a16="http://schemas.microsoft.com/office/drawing/2014/main" id="{E8AD57B6-A216-4B55-A6B6-982D87352350}"/>
              </a:ext>
            </a:extLst>
          </p:cNvPr>
          <p:cNvSpPr>
            <a:spLocks xmlns:a="http://schemas.openxmlformats.org/drawingml/2006/main" noGrp="1"/>
          </p:cNvSpPr>
          <p:nvPr/>
        </p:nvSpPr>
        <p:spPr>
          <a:xfrm xmlns:a="http://schemas.openxmlformats.org/drawingml/2006/main">
            <a:off x="685800" y="4400550"/>
            <a:ext cx="106299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650" b="1">
                <a:solidFill>
                  <a:srgbClr val="10253F"/>
                </a:solidFill>
                <a:latin typeface="Helvetica Neue"/>
                <a:ea typeface="Helvetica Neue"/>
                <a:cs typeface="Helvetica Neue"/>
              </a:defRPr>
            </a:defPPr>
          </a:lstStyle>
          <a:p xmlns:a="http://schemas.openxmlformats.org/drawingml/2006/main">
            <a:pPr algn="l">
              <a:lnSpc>
                <a:spcPct val="105000"/>
              </a:lnSpc>
              <a:buNone/>
              <a:defRPr sz="1650" b="1">
                <a:solidFill>
                  <a:srgbClr val="10253F"/>
                </a:solidFill>
                <a:latin typeface="Helvetica Neue"/>
                <a:ea typeface="Helvetica Neue"/>
                <a:cs typeface="Helvetica Neue"/>
              </a:defRPr>
            </a:pPr>
            <a:r>
              <a:rPr sz="1650" b="1">
                <a:solidFill>
                  <a:srgbClr val="10253F"/>
                </a:solidFill>
                <a:latin typeface="Helvetica Neue"/>
                <a:ea typeface="Helvetica Neue"/>
                <a:cs typeface="Helvetica Neue"/>
              </a:rPr>
              <a:t>The repository brings these components together, but the combined pipeline has no saved benchmark output yet. Its accuracy and calibration remain open questions.</a:t>
            </a:r>
          </a:p>
        </p:txBody>
      </p:sp>
      <p:sp>
        <p:nvSpPr>
          <p:cNvPr id="33" name="">
            <a:extLst xmlns:a="http://schemas.openxmlformats.org/drawingml/2006/main">
              <a:ext uri="{FF2B5EF4-FFF2-40B4-BE49-F238E27FC236}">
                <a16:creationId xmlns:a16="http://schemas.microsoft.com/office/drawing/2014/main" id="{061D719D-984F-4D27-A926-BD15F4EBF499}"/>
              </a:ext>
            </a:extLst>
          </p:cNvPr>
          <p:cNvSpPr>
            <a:spLocks xmlns:a="http://schemas.openxmlformats.org/drawingml/2006/main" noGrp="1"/>
          </p:cNvSpPr>
          <p:nvPr/>
        </p:nvSpPr>
        <p:spPr>
          <a:xfrm xmlns:a="http://schemas.openxmlformats.org/drawingml/2006/main" flipV="0">
            <a:off x="685800" y="5391150"/>
            <a:ext cx="10687050" cy="0"/>
          </a:xfrm>
          <a:prstGeom xmlns:a="http://schemas.openxmlformats.org/drawingml/2006/main" prst="line">
            <a:avLst/>
          </a:prstGeom>
          <a:noFill xmlns:a="http://schemas.openxmlformats.org/drawingml/2006/main"/>
          <a:ln xmlns:a="http://schemas.openxmlformats.org/drawingml/2006/main" w="9525">
            <a:solidFill>
              <a:srgbClr val="D6DEE8"/>
            </a:solidFill>
            <a:prstDash val="solid"/>
          </a:ln>
        </p:spPr>
      </p:sp>
      <p:sp>
        <p:nvSpPr>
          <p:cNvPr id="34" name="">
            <a:extLst xmlns:a="http://schemas.openxmlformats.org/drawingml/2006/main">
              <a:ext uri="{FF2B5EF4-FFF2-40B4-BE49-F238E27FC236}">
                <a16:creationId xmlns:a16="http://schemas.microsoft.com/office/drawing/2014/main" id="{CB4A0AA1-3F13-4F44-AB7D-35B4774CE29A}"/>
              </a:ext>
            </a:extLst>
          </p:cNvPr>
          <p:cNvSpPr>
            <a:spLocks xmlns:a="http://schemas.openxmlformats.org/drawingml/2006/main" noGrp="1"/>
          </p:cNvSpPr>
          <p:nvPr/>
        </p:nvSpPr>
        <p:spPr>
          <a:xfrm xmlns:a="http://schemas.openxmlformats.org/drawingml/2006/main">
            <a:off x="685800" y="5572125"/>
            <a:ext cx="107156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0">
                <a:solidFill>
                  <a:srgbClr val="536477"/>
                </a:solidFill>
                <a:latin typeface="Helvetica Neue"/>
                <a:ea typeface="Helvetica Neue"/>
                <a:cs typeface="Helvetica Neue"/>
              </a:defRPr>
            </a:defPPr>
          </a:lstStyle>
          <a:p xmlns:a="http://schemas.openxmlformats.org/drawingml/2006/main">
            <a:pPr algn="l">
              <a:lnSpc>
                <a:spcPct val="105000"/>
              </a:lnSpc>
              <a:buNone/>
              <a:defRPr sz="1050" b="0">
                <a:solidFill>
                  <a:srgbClr val="536477"/>
                </a:solidFill>
                <a:latin typeface="Helvetica Neue"/>
                <a:ea typeface="Helvetica Neue"/>
                <a:cs typeface="Helvetica Neue"/>
              </a:defRPr>
            </a:pPr>
            <a:r>
              <a:rPr sz="1050" b="0">
                <a:solidFill>
                  <a:srgbClr val="536477"/>
                </a:solidFill>
                <a:latin typeface="Helvetica Neue"/>
                <a:ea typeface="Helvetica Neue"/>
                <a:cs typeface="Helvetica Neue"/>
              </a:rPr>
              <a:t>References: TinyLlama (Zhang et al., 2024)  ·  DoLa (Chuang et al., 2024)  ·  ENN (Osband et al., 2021)  ·  Self-consistency (Wang et al., 2023)</a:t>
            </a:r>
          </a:p>
        </p:txBody>
      </p:sp>
    </p:spTree>
    <p:extLst>
      <p:ext uri="{BB962C8B-B14F-4D97-AF65-F5344CB8AC3E}">
        <p14:creationId xmlns:p14="http://schemas.microsoft.com/office/powerpoint/2010/main" val="991134605"/>
      </p:ext>
    </p:extLst>
  </p:cSld>
</p:sld>
</file>

<file path=ppt/slides/slide6.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57" name="">
            <a:extLst xmlns:a="http://schemas.openxmlformats.org/drawingml/2006/main">
              <a:ext uri="{FF2B5EF4-FFF2-40B4-BE49-F238E27FC236}">
                <a16:creationId xmlns:a16="http://schemas.microsoft.com/office/drawing/2014/main" id="{ED81C8B8-D37C-4780-B80C-95ACADE5FC9F}"/>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2864C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99713E71-4EAD-49DF-91A8-06AAFD869D7B}"/>
              </a:ext>
            </a:extLst>
          </p:cNvPr>
          <p:cNvSpPr>
            <a:spLocks xmlns:a="http://schemas.openxmlformats.org/drawingml/2006/main" noGrp="1"/>
          </p:cNvSpPr>
          <p:nvPr/>
        </p:nvSpPr>
        <p:spPr>
          <a:xfrm xmlns:a="http://schemas.openxmlformats.org/drawingml/2006/main">
            <a:off x="552450" y="361950"/>
            <a:ext cx="11049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550" b="1">
                <a:solidFill>
                  <a:srgbClr val="10253F"/>
                </a:solidFill>
                <a:latin typeface="Helvetica Neue"/>
                <a:ea typeface="Helvetica Neue"/>
                <a:cs typeface="Helvetica Neue"/>
              </a:defRPr>
            </a:defPPr>
          </a:lstStyle>
          <a:p xmlns:a="http://schemas.openxmlformats.org/drawingml/2006/main">
            <a:pPr algn="l">
              <a:lnSpc>
                <a:spcPct val="105000"/>
              </a:lnSpc>
              <a:buNone/>
              <a:defRPr sz="2550" b="1">
                <a:solidFill>
                  <a:srgbClr val="10253F"/>
                </a:solidFill>
                <a:latin typeface="Helvetica Neue"/>
                <a:ea typeface="Helvetica Neue"/>
                <a:cs typeface="Helvetica Neue"/>
              </a:defRPr>
            </a:pPr>
            <a:r>
              <a:rPr sz="2550" b="1">
                <a:solidFill>
                  <a:srgbClr val="10253F"/>
                </a:solidFill>
                <a:latin typeface="Helvetica Neue"/>
                <a:ea typeface="Helvetica Neue"/>
                <a:cs typeface="Helvetica Neue"/>
              </a:rPr>
              <a:t>Proposed System &amp; Methodology</a:t>
            </a:r>
          </a:p>
        </p:txBody>
      </p:sp>
      <p:sp>
        <p:nvSpPr>
          <p:cNvPr id="3" name="">
            <a:extLst xmlns:a="http://schemas.openxmlformats.org/drawingml/2006/main">
              <a:ext uri="{FF2B5EF4-FFF2-40B4-BE49-F238E27FC236}">
                <a16:creationId xmlns:a16="http://schemas.microsoft.com/office/drawing/2014/main" id="{F154F957-7F1F-4426-8386-5A55F5A1C48C}"/>
              </a:ext>
            </a:extLst>
          </p:cNvPr>
          <p:cNvSpPr>
            <a:spLocks xmlns:a="http://schemas.openxmlformats.org/drawingml/2006/main" noGrp="1"/>
          </p:cNvSpPr>
          <p:nvPr/>
        </p:nvSpPr>
        <p:spPr>
          <a:xfrm xmlns:a="http://schemas.openxmlformats.org/drawingml/2006/main">
            <a:off x="571500" y="876300"/>
            <a:ext cx="10953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a:solidFill>
                  <a:srgbClr val="536477"/>
                </a:solidFill>
                <a:latin typeface="Helvetica Neue"/>
                <a:ea typeface="Helvetica Neue"/>
                <a:cs typeface="Helvetica Neue"/>
              </a:defRPr>
            </a:defPPr>
          </a:lstStyle>
          <a:p xmlns:a="http://schemas.openxmlformats.org/drawingml/2006/main">
            <a:pPr algn="l">
              <a:lnSpc>
                <a:spcPct val="105000"/>
              </a:lnSpc>
              <a:buNone/>
              <a:defRPr sz="1275" b="0">
                <a:solidFill>
                  <a:srgbClr val="536477"/>
                </a:solidFill>
                <a:latin typeface="Helvetica Neue"/>
                <a:ea typeface="Helvetica Neue"/>
                <a:cs typeface="Helvetica Neue"/>
              </a:defRPr>
            </a:pPr>
            <a:r>
              <a:rPr sz="1275" b="0">
                <a:solidFill>
                  <a:srgbClr val="536477"/>
                </a:solidFill>
                <a:latin typeface="Helvetica Neue"/>
                <a:ea typeface="Helvetica Neue"/>
                <a:cs typeface="Helvetica Neue"/>
              </a:rPr>
              <a:t>Two paths meet at evaluation: C4 trains the Epinet; questions exercise answer generation and voting.</a:t>
            </a:r>
          </a:p>
        </p:txBody>
      </p:sp>
      <p:sp>
        <p:nvSpPr>
          <p:cNvPr id="4" name="">
            <a:extLst xmlns:a="http://schemas.openxmlformats.org/drawingml/2006/main">
              <a:ext uri="{FF2B5EF4-FFF2-40B4-BE49-F238E27FC236}">
                <a16:creationId xmlns:a16="http://schemas.microsoft.com/office/drawing/2014/main" id="{C1505709-6B6E-4E9A-A5E0-327AE337AF4F}"/>
              </a:ext>
            </a:extLst>
          </p:cNvPr>
          <p:cNvSpPr>
            <a:spLocks xmlns:a="http://schemas.openxmlformats.org/drawingml/2006/main" noGrp="1"/>
          </p:cNvSpPr>
          <p:nvPr/>
        </p:nvSpPr>
        <p:spPr>
          <a:xfrm xmlns:a="http://schemas.openxmlformats.org/drawingml/2006/main" flipV="0">
            <a:off x="571500" y="6438900"/>
            <a:ext cx="11049000" cy="0"/>
          </a:xfrm>
          <a:prstGeom xmlns:a="http://schemas.openxmlformats.org/drawingml/2006/main" prst="line">
            <a:avLst/>
          </a:prstGeom>
          <a:noFill xmlns:a="http://schemas.openxmlformats.org/drawingml/2006/main"/>
          <a:ln xmlns:a="http://schemas.openxmlformats.org/drawingml/2006/main" w="9525">
            <a:solidFill>
              <a:srgbClr val="D6DEE8"/>
            </a:solidFill>
            <a:prstDash val="solid"/>
          </a:ln>
        </p:spPr>
      </p:sp>
      <p:sp>
        <p:nvSpPr>
          <p:cNvPr id="5" name="">
            <a:extLst xmlns:a="http://schemas.openxmlformats.org/drawingml/2006/main">
              <a:ext uri="{FF2B5EF4-FFF2-40B4-BE49-F238E27FC236}">
                <a16:creationId xmlns:a16="http://schemas.microsoft.com/office/drawing/2014/main" id="{1AD137F5-F3B7-4609-8D58-FE337822D94B}"/>
              </a:ext>
            </a:extLst>
          </p:cNvPr>
          <p:cNvSpPr>
            <a:spLocks xmlns:a="http://schemas.openxmlformats.org/drawingml/2006/main" noGrp="1"/>
          </p:cNvSpPr>
          <p:nvPr/>
        </p:nvSpPr>
        <p:spPr>
          <a:xfrm xmlns:a="http://schemas.openxmlformats.org/drawingml/2006/main">
            <a:off x="571500" y="6534150"/>
            <a:ext cx="4572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1">
                <a:solidFill>
                  <a:srgbClr val="536477"/>
                </a:solidFill>
                <a:latin typeface="Helvetica Neue"/>
                <a:ea typeface="Helvetica Neue"/>
                <a:cs typeface="Helvetica Neue"/>
              </a:defRPr>
            </a:defPPr>
          </a:lstStyle>
          <a:p xmlns:a="http://schemas.openxmlformats.org/drawingml/2006/main">
            <a:pPr algn="l">
              <a:lnSpc>
                <a:spcPct val="105000"/>
              </a:lnSpc>
              <a:buNone/>
              <a:defRPr sz="900" b="1">
                <a:solidFill>
                  <a:srgbClr val="536477"/>
                </a:solidFill>
                <a:latin typeface="Helvetica Neue"/>
                <a:ea typeface="Helvetica Neue"/>
                <a:cs typeface="Helvetica Neue"/>
              </a:defRPr>
            </a:pPr>
            <a:r>
              <a:rPr sz="900" b="1">
                <a:solidFill>
                  <a:srgbClr val="536477"/>
                </a:solidFill>
                <a:latin typeface="Helvetica Neue"/>
                <a:ea typeface="Helvetica Neue"/>
                <a:cs typeface="Helvetica Neue"/>
              </a:rPr>
              <a:t>VIT-AP UNIVERSITY  /  SCOPE</a:t>
            </a:r>
          </a:p>
        </p:txBody>
      </p:sp>
      <p:sp>
        <p:nvSpPr>
          <p:cNvPr id="6" name="">
            <a:extLst xmlns:a="http://schemas.openxmlformats.org/drawingml/2006/main">
              <a:ext uri="{FF2B5EF4-FFF2-40B4-BE49-F238E27FC236}">
                <a16:creationId xmlns:a16="http://schemas.microsoft.com/office/drawing/2014/main" id="{34DB877B-F99B-4AA9-8A54-7A5A5D6560E1}"/>
              </a:ext>
            </a:extLst>
          </p:cNvPr>
          <p:cNvSpPr>
            <a:spLocks xmlns:a="http://schemas.openxmlformats.org/drawingml/2006/main" noGrp="1"/>
          </p:cNvSpPr>
          <p:nvPr/>
        </p:nvSpPr>
        <p:spPr>
          <a:xfrm xmlns:a="http://schemas.openxmlformats.org/drawingml/2006/main">
            <a:off x="11087100" y="6515100"/>
            <a:ext cx="5334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975" b="1">
                <a:solidFill>
                  <a:srgbClr val="536477"/>
                </a:solidFill>
                <a:latin typeface="Helvetica Neue"/>
                <a:ea typeface="Helvetica Neue"/>
                <a:cs typeface="Helvetica Neue"/>
              </a:defRPr>
            </a:defPPr>
          </a:lstStyle>
          <a:p xmlns:a="http://schemas.openxmlformats.org/drawingml/2006/main">
            <a:pPr algn="r">
              <a:lnSpc>
                <a:spcPct val="105000"/>
              </a:lnSpc>
              <a:buNone/>
              <a:defRPr sz="975" b="1">
                <a:solidFill>
                  <a:srgbClr val="536477"/>
                </a:solidFill>
                <a:latin typeface="Helvetica Neue"/>
                <a:ea typeface="Helvetica Neue"/>
                <a:cs typeface="Helvetica Neue"/>
              </a:defRPr>
            </a:pPr>
            <a:r>
              <a:rPr sz="975" b="1">
                <a:solidFill>
                  <a:srgbClr val="536477"/>
                </a:solidFill>
                <a:latin typeface="Helvetica Neue"/>
                <a:ea typeface="Helvetica Neue"/>
                <a:cs typeface="Helvetica Neue"/>
              </a:rPr>
              <a:t>06</a:t>
            </a:r>
          </a:p>
        </p:txBody>
      </p:sp>
      <p:sp>
        <p:nvSpPr>
          <p:cNvPr id="7" name="">
            <a:extLst xmlns:a="http://schemas.openxmlformats.org/drawingml/2006/main">
              <a:ext uri="{FF2B5EF4-FFF2-40B4-BE49-F238E27FC236}">
                <a16:creationId xmlns:a16="http://schemas.microsoft.com/office/drawing/2014/main" id="{E01548E1-205A-4092-8712-15BB6768C49F}"/>
              </a:ext>
            </a:extLst>
          </p:cNvPr>
          <p:cNvSpPr>
            <a:spLocks xmlns:a="http://schemas.openxmlformats.org/drawingml/2006/main" noGrp="1"/>
          </p:cNvSpPr>
          <p:nvPr/>
        </p:nvSpPr>
        <p:spPr>
          <a:xfrm xmlns:a="http://schemas.openxmlformats.org/drawingml/2006/main">
            <a:off x="666750" y="1390650"/>
            <a:ext cx="2571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1">
                <a:solidFill>
                  <a:srgbClr val="148A8A"/>
                </a:solidFill>
                <a:latin typeface="Helvetica Neue"/>
                <a:ea typeface="Helvetica Neue"/>
                <a:cs typeface="Helvetica Neue"/>
              </a:defRPr>
            </a:defPPr>
          </a:lstStyle>
          <a:p xmlns:a="http://schemas.openxmlformats.org/drawingml/2006/main">
            <a:pPr algn="l">
              <a:lnSpc>
                <a:spcPct val="105000"/>
              </a:lnSpc>
              <a:buNone/>
              <a:defRPr sz="975" b="1">
                <a:solidFill>
                  <a:srgbClr val="148A8A"/>
                </a:solidFill>
                <a:latin typeface="Helvetica Neue"/>
                <a:ea typeface="Helvetica Neue"/>
                <a:cs typeface="Helvetica Neue"/>
              </a:defRPr>
            </a:pPr>
            <a:r>
              <a:rPr sz="975" b="1">
                <a:solidFill>
                  <a:srgbClr val="148A8A"/>
                </a:solidFill>
                <a:latin typeface="Helvetica Neue"/>
                <a:ea typeface="Helvetica Neue"/>
                <a:cs typeface="Helvetica Neue"/>
              </a:rPr>
              <a:t>FEATURE TRAINING PATH</a:t>
            </a:r>
          </a:p>
        </p:txBody>
      </p:sp>
      <p:sp>
        <p:nvSpPr>
          <p:cNvPr id="8" name="">
            <a:extLst xmlns:a="http://schemas.openxmlformats.org/drawingml/2006/main">
              <a:ext uri="{FF2B5EF4-FFF2-40B4-BE49-F238E27FC236}">
                <a16:creationId xmlns:a16="http://schemas.microsoft.com/office/drawing/2014/main" id="{1CCA2B02-3D61-493A-875D-BBE64F44177F}"/>
              </a:ext>
            </a:extLst>
          </p:cNvPr>
          <p:cNvSpPr>
            <a:spLocks xmlns:a="http://schemas.openxmlformats.org/drawingml/2006/main" noGrp="1"/>
          </p:cNvSpPr>
          <p:nvPr/>
        </p:nvSpPr>
        <p:spPr>
          <a:xfrm xmlns:a="http://schemas.openxmlformats.org/drawingml/2006/main">
            <a:off x="666750" y="1676400"/>
            <a:ext cx="2343150" cy="990600"/>
          </a:xfrm>
          <a:prstGeom xmlns:a="http://schemas.openxmlformats.org/drawingml/2006/main" prst="roundRect">
            <a:avLst>
              <a:gd name="adj" fmla="val 7692"/>
            </a:avLst>
          </a:prstGeom>
          <a:solidFill xmlns:a="http://schemas.openxmlformats.org/drawingml/2006/main">
            <a:srgbClr val="FFFFFF"/>
          </a:solidFill>
          <a:ln xmlns:a="http://schemas.openxmlformats.org/drawingml/2006/main" w="9525">
            <a:solidFill>
              <a:srgbClr val="D6DEE8"/>
            </a:solidFill>
            <a:prstDash val="solid"/>
          </a:ln>
        </p:spPr>
      </p:sp>
      <p:sp>
        <p:nvSpPr>
          <p:cNvPr id="9" name="">
            <a:extLst xmlns:a="http://schemas.openxmlformats.org/drawingml/2006/main">
              <a:ext uri="{FF2B5EF4-FFF2-40B4-BE49-F238E27FC236}">
                <a16:creationId xmlns:a16="http://schemas.microsoft.com/office/drawing/2014/main" id="{78314550-99D2-4B43-9270-C9C5F2484248}"/>
              </a:ext>
            </a:extLst>
          </p:cNvPr>
          <p:cNvSpPr>
            <a:spLocks xmlns:a="http://schemas.openxmlformats.org/drawingml/2006/main" noGrp="1"/>
          </p:cNvSpPr>
          <p:nvPr/>
        </p:nvSpPr>
        <p:spPr>
          <a:xfrm xmlns:a="http://schemas.openxmlformats.org/drawingml/2006/main">
            <a:off x="666750" y="1676400"/>
            <a:ext cx="47625" cy="990600"/>
          </a:xfrm>
          <a:prstGeom xmlns:a="http://schemas.openxmlformats.org/drawingml/2006/main" prst="rect">
            <a:avLst/>
          </a:prstGeom>
          <a:solidFill xmlns:a="http://schemas.openxmlformats.org/drawingml/2006/main">
            <a:srgbClr val="148A8A"/>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E8B52A5E-5D26-474F-8611-119AD8AA7FE3}"/>
              </a:ext>
            </a:extLst>
          </p:cNvPr>
          <p:cNvSpPr>
            <a:spLocks xmlns:a="http://schemas.openxmlformats.org/drawingml/2006/main" noGrp="1"/>
          </p:cNvSpPr>
          <p:nvPr/>
        </p:nvSpPr>
        <p:spPr>
          <a:xfrm xmlns:a="http://schemas.openxmlformats.org/drawingml/2006/main">
            <a:off x="838200" y="1819275"/>
            <a:ext cx="20193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1">
                <a:solidFill>
                  <a:srgbClr val="10253F"/>
                </a:solidFill>
                <a:latin typeface="Helvetica Neue"/>
                <a:ea typeface="Helvetica Neue"/>
                <a:cs typeface="Helvetica Neue"/>
              </a:defRPr>
            </a:defPPr>
          </a:lstStyle>
          <a:p xmlns:a="http://schemas.openxmlformats.org/drawingml/2006/main">
            <a:pPr algn="l">
              <a:lnSpc>
                <a:spcPct val="105000"/>
              </a:lnSpc>
              <a:buNone/>
              <a:defRPr sz="1425" b="1">
                <a:solidFill>
                  <a:srgbClr val="10253F"/>
                </a:solidFill>
                <a:latin typeface="Helvetica Neue"/>
                <a:ea typeface="Helvetica Neue"/>
                <a:cs typeface="Helvetica Neue"/>
              </a:defRPr>
            </a:pPr>
            <a:r>
              <a:rPr sz="1425" b="1">
                <a:solidFill>
                  <a:srgbClr val="10253F"/>
                </a:solidFill>
                <a:latin typeface="Helvetica Neue"/>
                <a:ea typeface="Helvetica Neue"/>
                <a:cs typeface="Helvetica Neue"/>
              </a:rPr>
              <a:t>English C4</a:t>
            </a:r>
          </a:p>
        </p:txBody>
      </p:sp>
      <p:sp>
        <p:nvSpPr>
          <p:cNvPr id="11" name="">
            <a:extLst xmlns:a="http://schemas.openxmlformats.org/drawingml/2006/main">
              <a:ext uri="{FF2B5EF4-FFF2-40B4-BE49-F238E27FC236}">
                <a16:creationId xmlns:a16="http://schemas.microsoft.com/office/drawing/2014/main" id="{46BBD69B-0B9E-4E50-B467-46F82F460D2F}"/>
              </a:ext>
            </a:extLst>
          </p:cNvPr>
          <p:cNvSpPr>
            <a:spLocks xmlns:a="http://schemas.openxmlformats.org/drawingml/2006/main" noGrp="1"/>
          </p:cNvSpPr>
          <p:nvPr/>
        </p:nvSpPr>
        <p:spPr>
          <a:xfrm xmlns:a="http://schemas.openxmlformats.org/drawingml/2006/main">
            <a:off x="838200" y="2133600"/>
            <a:ext cx="201930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0">
                <a:solidFill>
                  <a:srgbClr val="536477"/>
                </a:solidFill>
                <a:latin typeface="Helvetica Neue"/>
                <a:ea typeface="Helvetica Neue"/>
                <a:cs typeface="Helvetica Neue"/>
              </a:defRPr>
            </a:defPPr>
          </a:lstStyle>
          <a:p xmlns:a="http://schemas.openxmlformats.org/drawingml/2006/main">
            <a:pPr algn="l">
              <a:lnSpc>
                <a:spcPct val="105000"/>
              </a:lnSpc>
              <a:buNone/>
              <a:defRPr sz="1050" b="0">
                <a:solidFill>
                  <a:srgbClr val="536477"/>
                </a:solidFill>
                <a:latin typeface="Helvetica Neue"/>
                <a:ea typeface="Helvetica Neue"/>
                <a:cs typeface="Helvetica Neue"/>
              </a:defRPr>
            </a:pPr>
            <a:r>
              <a:rPr sz="1050" b="0">
                <a:solidFill>
                  <a:srgbClr val="536477"/>
                </a:solidFill>
                <a:latin typeface="Helvetica Neue"/>
                <a:ea typeface="Helvetica Neue"/>
                <a:cs typeface="Helvetica Neue"/>
              </a:rPr>
              <a:t>Stream or local shard</a:t>
            </a:r>
          </a:p>
        </p:txBody>
      </p:sp>
      <p:sp>
        <p:nvSpPr>
          <p:cNvPr id="12" name="">
            <a:extLst xmlns:a="http://schemas.openxmlformats.org/drawingml/2006/main">
              <a:ext uri="{FF2B5EF4-FFF2-40B4-BE49-F238E27FC236}">
                <a16:creationId xmlns:a16="http://schemas.microsoft.com/office/drawing/2014/main" id="{FC786FEC-1DD7-4CBF-B801-AC3B07137C56}"/>
              </a:ext>
            </a:extLst>
          </p:cNvPr>
          <p:cNvSpPr>
            <a:spLocks xmlns:a="http://schemas.openxmlformats.org/drawingml/2006/main" noGrp="1"/>
          </p:cNvSpPr>
          <p:nvPr/>
        </p:nvSpPr>
        <p:spPr>
          <a:xfrm xmlns:a="http://schemas.openxmlformats.org/drawingml/2006/main">
            <a:off x="3486150" y="1676400"/>
            <a:ext cx="2343150" cy="990600"/>
          </a:xfrm>
          <a:prstGeom xmlns:a="http://schemas.openxmlformats.org/drawingml/2006/main" prst="roundRect">
            <a:avLst>
              <a:gd name="adj" fmla="val 7692"/>
            </a:avLst>
          </a:prstGeom>
          <a:solidFill xmlns:a="http://schemas.openxmlformats.org/drawingml/2006/main">
            <a:srgbClr val="FFFFFF"/>
          </a:solidFill>
          <a:ln xmlns:a="http://schemas.openxmlformats.org/drawingml/2006/main" w="9525">
            <a:solidFill>
              <a:srgbClr val="D6DEE8"/>
            </a:solidFill>
            <a:prstDash val="solid"/>
          </a:ln>
        </p:spPr>
      </p:sp>
      <p:sp>
        <p:nvSpPr>
          <p:cNvPr id="13" name="">
            <a:extLst xmlns:a="http://schemas.openxmlformats.org/drawingml/2006/main">
              <a:ext uri="{FF2B5EF4-FFF2-40B4-BE49-F238E27FC236}">
                <a16:creationId xmlns:a16="http://schemas.microsoft.com/office/drawing/2014/main" id="{4E89DA6B-FDC9-4BDE-8AE2-E3E5B8D40867}"/>
              </a:ext>
            </a:extLst>
          </p:cNvPr>
          <p:cNvSpPr>
            <a:spLocks xmlns:a="http://schemas.openxmlformats.org/drawingml/2006/main" noGrp="1"/>
          </p:cNvSpPr>
          <p:nvPr/>
        </p:nvSpPr>
        <p:spPr>
          <a:xfrm xmlns:a="http://schemas.openxmlformats.org/drawingml/2006/main">
            <a:off x="3486150" y="1676400"/>
            <a:ext cx="47625" cy="990600"/>
          </a:xfrm>
          <a:prstGeom xmlns:a="http://schemas.openxmlformats.org/drawingml/2006/main" prst="rect">
            <a:avLst/>
          </a:prstGeom>
          <a:solidFill xmlns:a="http://schemas.openxmlformats.org/drawingml/2006/main">
            <a:srgbClr val="148A8A"/>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4D5F29F9-5DCC-444D-899A-80E2CEC3CFF8}"/>
              </a:ext>
            </a:extLst>
          </p:cNvPr>
          <p:cNvSpPr>
            <a:spLocks xmlns:a="http://schemas.openxmlformats.org/drawingml/2006/main" noGrp="1"/>
          </p:cNvSpPr>
          <p:nvPr/>
        </p:nvSpPr>
        <p:spPr>
          <a:xfrm xmlns:a="http://schemas.openxmlformats.org/drawingml/2006/main">
            <a:off x="3657600" y="1819275"/>
            <a:ext cx="20193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1">
                <a:solidFill>
                  <a:srgbClr val="10253F"/>
                </a:solidFill>
                <a:latin typeface="Helvetica Neue"/>
                <a:ea typeface="Helvetica Neue"/>
                <a:cs typeface="Helvetica Neue"/>
              </a:defRPr>
            </a:defPPr>
          </a:lstStyle>
          <a:p xmlns:a="http://schemas.openxmlformats.org/drawingml/2006/main">
            <a:pPr algn="l">
              <a:lnSpc>
                <a:spcPct val="105000"/>
              </a:lnSpc>
              <a:buNone/>
              <a:defRPr sz="1425" b="1">
                <a:solidFill>
                  <a:srgbClr val="10253F"/>
                </a:solidFill>
                <a:latin typeface="Helvetica Neue"/>
                <a:ea typeface="Helvetica Neue"/>
                <a:cs typeface="Helvetica Neue"/>
              </a:defRPr>
            </a:pPr>
            <a:r>
              <a:rPr sz="1425" b="1">
                <a:solidFill>
                  <a:srgbClr val="10253F"/>
                </a:solidFill>
                <a:latin typeface="Helvetica Neue"/>
                <a:ea typeface="Helvetica Neue"/>
                <a:cs typeface="Helvetica Neue"/>
              </a:rPr>
              <a:t>Feature extraction</a:t>
            </a:r>
          </a:p>
        </p:txBody>
      </p:sp>
      <p:sp>
        <p:nvSpPr>
          <p:cNvPr id="15" name="">
            <a:extLst xmlns:a="http://schemas.openxmlformats.org/drawingml/2006/main">
              <a:ext uri="{FF2B5EF4-FFF2-40B4-BE49-F238E27FC236}">
                <a16:creationId xmlns:a16="http://schemas.microsoft.com/office/drawing/2014/main" id="{9D1F3D4D-BBD9-42F0-B941-54CE190D3031}"/>
              </a:ext>
            </a:extLst>
          </p:cNvPr>
          <p:cNvSpPr>
            <a:spLocks xmlns:a="http://schemas.openxmlformats.org/drawingml/2006/main" noGrp="1"/>
          </p:cNvSpPr>
          <p:nvPr/>
        </p:nvSpPr>
        <p:spPr>
          <a:xfrm xmlns:a="http://schemas.openxmlformats.org/drawingml/2006/main">
            <a:off x="3657600" y="2133600"/>
            <a:ext cx="201930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0">
                <a:solidFill>
                  <a:srgbClr val="536477"/>
                </a:solidFill>
                <a:latin typeface="Helvetica Neue"/>
                <a:ea typeface="Helvetica Neue"/>
                <a:cs typeface="Helvetica Neue"/>
              </a:defRPr>
            </a:defPPr>
          </a:lstStyle>
          <a:p xmlns:a="http://schemas.openxmlformats.org/drawingml/2006/main">
            <a:pPr algn="l">
              <a:lnSpc>
                <a:spcPct val="105000"/>
              </a:lnSpc>
              <a:buNone/>
              <a:defRPr sz="1050" b="0">
                <a:solidFill>
                  <a:srgbClr val="536477"/>
                </a:solidFill>
                <a:latin typeface="Helvetica Neue"/>
                <a:ea typeface="Helvetica Neue"/>
                <a:cs typeface="Helvetica Neue"/>
              </a:defRPr>
            </a:pPr>
            <a:r>
              <a:rPr sz="1050" b="0">
                <a:solidFill>
                  <a:srgbClr val="536477"/>
                </a:solidFill>
                <a:latin typeface="Helvetica Neue"/>
                <a:ea typeface="Helvetica Neue"/>
                <a:cs typeface="Helvetica Neue"/>
              </a:rPr>
              <a:t>TinyLlama hidden states</a:t>
            </a:r>
          </a:p>
        </p:txBody>
      </p:sp>
      <p:sp>
        <p:nvSpPr>
          <p:cNvPr id="16" name="">
            <a:extLst xmlns:a="http://schemas.openxmlformats.org/drawingml/2006/main">
              <a:ext uri="{FF2B5EF4-FFF2-40B4-BE49-F238E27FC236}">
                <a16:creationId xmlns:a16="http://schemas.microsoft.com/office/drawing/2014/main" id="{131FB243-FC8B-4EDF-9A2B-357CE63B1948}"/>
              </a:ext>
            </a:extLst>
          </p:cNvPr>
          <p:cNvSpPr>
            <a:spLocks xmlns:a="http://schemas.openxmlformats.org/drawingml/2006/main" noGrp="1"/>
          </p:cNvSpPr>
          <p:nvPr/>
        </p:nvSpPr>
        <p:spPr>
          <a:xfrm xmlns:a="http://schemas.openxmlformats.org/drawingml/2006/main">
            <a:off x="6305550" y="1676400"/>
            <a:ext cx="2343150" cy="990600"/>
          </a:xfrm>
          <a:prstGeom xmlns:a="http://schemas.openxmlformats.org/drawingml/2006/main" prst="roundRect">
            <a:avLst>
              <a:gd name="adj" fmla="val 7692"/>
            </a:avLst>
          </a:prstGeom>
          <a:solidFill xmlns:a="http://schemas.openxmlformats.org/drawingml/2006/main">
            <a:srgbClr val="FFFFFF"/>
          </a:solidFill>
          <a:ln xmlns:a="http://schemas.openxmlformats.org/drawingml/2006/main" w="9525">
            <a:solidFill>
              <a:srgbClr val="D6DEE8"/>
            </a:solidFill>
            <a:prstDash val="solid"/>
          </a:ln>
        </p:spPr>
      </p:sp>
      <p:sp>
        <p:nvSpPr>
          <p:cNvPr id="17" name="">
            <a:extLst xmlns:a="http://schemas.openxmlformats.org/drawingml/2006/main">
              <a:ext uri="{FF2B5EF4-FFF2-40B4-BE49-F238E27FC236}">
                <a16:creationId xmlns:a16="http://schemas.microsoft.com/office/drawing/2014/main" id="{49287F5C-91B4-497E-B0C8-5288595119D7}"/>
              </a:ext>
            </a:extLst>
          </p:cNvPr>
          <p:cNvSpPr>
            <a:spLocks xmlns:a="http://schemas.openxmlformats.org/drawingml/2006/main" noGrp="1"/>
          </p:cNvSpPr>
          <p:nvPr/>
        </p:nvSpPr>
        <p:spPr>
          <a:xfrm xmlns:a="http://schemas.openxmlformats.org/drawingml/2006/main">
            <a:off x="6305550" y="1676400"/>
            <a:ext cx="47625" cy="990600"/>
          </a:xfrm>
          <a:prstGeom xmlns:a="http://schemas.openxmlformats.org/drawingml/2006/main" prst="rect">
            <a:avLst/>
          </a:prstGeom>
          <a:solidFill xmlns:a="http://schemas.openxmlformats.org/drawingml/2006/main">
            <a:srgbClr val="148A8A"/>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654B86CE-D35C-45A8-B87F-A70033934DF1}"/>
              </a:ext>
            </a:extLst>
          </p:cNvPr>
          <p:cNvSpPr>
            <a:spLocks xmlns:a="http://schemas.openxmlformats.org/drawingml/2006/main" noGrp="1"/>
          </p:cNvSpPr>
          <p:nvPr/>
        </p:nvSpPr>
        <p:spPr>
          <a:xfrm xmlns:a="http://schemas.openxmlformats.org/drawingml/2006/main">
            <a:off x="6477000" y="1819275"/>
            <a:ext cx="20193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1">
                <a:solidFill>
                  <a:srgbClr val="10253F"/>
                </a:solidFill>
                <a:latin typeface="Helvetica Neue"/>
                <a:ea typeface="Helvetica Neue"/>
                <a:cs typeface="Helvetica Neue"/>
              </a:defRPr>
            </a:defPPr>
          </a:lstStyle>
          <a:p xmlns:a="http://schemas.openxmlformats.org/drawingml/2006/main">
            <a:pPr algn="l">
              <a:lnSpc>
                <a:spcPct val="105000"/>
              </a:lnSpc>
              <a:buNone/>
              <a:defRPr sz="1425" b="1">
                <a:solidFill>
                  <a:srgbClr val="10253F"/>
                </a:solidFill>
                <a:latin typeface="Helvetica Neue"/>
                <a:ea typeface="Helvetica Neue"/>
                <a:cs typeface="Helvetica Neue"/>
              </a:defRPr>
            </a:pPr>
            <a:r>
              <a:rPr sz="1425" b="1">
                <a:solidFill>
                  <a:srgbClr val="10253F"/>
                </a:solidFill>
                <a:latin typeface="Helvetica Neue"/>
                <a:ea typeface="Helvetica Neue"/>
                <a:cs typeface="Helvetica Neue"/>
              </a:rPr>
              <a:t>Document split</a:t>
            </a:r>
          </a:p>
        </p:txBody>
      </p:sp>
      <p:sp>
        <p:nvSpPr>
          <p:cNvPr id="19" name="">
            <a:extLst xmlns:a="http://schemas.openxmlformats.org/drawingml/2006/main">
              <a:ext uri="{FF2B5EF4-FFF2-40B4-BE49-F238E27FC236}">
                <a16:creationId xmlns:a16="http://schemas.microsoft.com/office/drawing/2014/main" id="{12368589-BE4A-47D2-BF78-407F60B88BD4}"/>
              </a:ext>
            </a:extLst>
          </p:cNvPr>
          <p:cNvSpPr>
            <a:spLocks xmlns:a="http://schemas.openxmlformats.org/drawingml/2006/main" noGrp="1"/>
          </p:cNvSpPr>
          <p:nvPr/>
        </p:nvSpPr>
        <p:spPr>
          <a:xfrm xmlns:a="http://schemas.openxmlformats.org/drawingml/2006/main">
            <a:off x="6477000" y="2133600"/>
            <a:ext cx="201930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0">
                <a:solidFill>
                  <a:srgbClr val="536477"/>
                </a:solidFill>
                <a:latin typeface="Helvetica Neue"/>
                <a:ea typeface="Helvetica Neue"/>
                <a:cs typeface="Helvetica Neue"/>
              </a:defRPr>
            </a:defPPr>
          </a:lstStyle>
          <a:p xmlns:a="http://schemas.openxmlformats.org/drawingml/2006/main">
            <a:pPr algn="l">
              <a:lnSpc>
                <a:spcPct val="105000"/>
              </a:lnSpc>
              <a:buNone/>
              <a:defRPr sz="1050" b="0">
                <a:solidFill>
                  <a:srgbClr val="536477"/>
                </a:solidFill>
                <a:latin typeface="Helvetica Neue"/>
                <a:ea typeface="Helvetica Neue"/>
                <a:cs typeface="Helvetica Neue"/>
              </a:defRPr>
            </a:pPr>
            <a:r>
              <a:rPr sz="1050" b="0">
                <a:solidFill>
                  <a:srgbClr val="536477"/>
                </a:solidFill>
                <a:latin typeface="Helvetica Neue"/>
                <a:ea typeface="Helvetica Neue"/>
                <a:cs typeface="Helvetica Neue"/>
              </a:rPr>
              <a:t>90/10 train/validation</a:t>
            </a:r>
          </a:p>
        </p:txBody>
      </p:sp>
      <p:sp>
        <p:nvSpPr>
          <p:cNvPr id="20" name="">
            <a:extLst xmlns:a="http://schemas.openxmlformats.org/drawingml/2006/main">
              <a:ext uri="{FF2B5EF4-FFF2-40B4-BE49-F238E27FC236}">
                <a16:creationId xmlns:a16="http://schemas.microsoft.com/office/drawing/2014/main" id="{E6B5C969-9377-4872-9CB8-3A073F7EC82A}"/>
              </a:ext>
            </a:extLst>
          </p:cNvPr>
          <p:cNvSpPr>
            <a:spLocks xmlns:a="http://schemas.openxmlformats.org/drawingml/2006/main" noGrp="1"/>
          </p:cNvSpPr>
          <p:nvPr/>
        </p:nvSpPr>
        <p:spPr>
          <a:xfrm xmlns:a="http://schemas.openxmlformats.org/drawingml/2006/main">
            <a:off x="9124950" y="1676400"/>
            <a:ext cx="2343150" cy="990600"/>
          </a:xfrm>
          <a:prstGeom xmlns:a="http://schemas.openxmlformats.org/drawingml/2006/main" prst="roundRect">
            <a:avLst>
              <a:gd name="adj" fmla="val 7692"/>
            </a:avLst>
          </a:prstGeom>
          <a:solidFill xmlns:a="http://schemas.openxmlformats.org/drawingml/2006/main">
            <a:srgbClr val="FFFFFF"/>
          </a:solidFill>
          <a:ln xmlns:a="http://schemas.openxmlformats.org/drawingml/2006/main" w="9525">
            <a:solidFill>
              <a:srgbClr val="D6DEE8"/>
            </a:solidFill>
            <a:prstDash val="solid"/>
          </a:ln>
        </p:spPr>
      </p:sp>
      <p:sp>
        <p:nvSpPr>
          <p:cNvPr id="21" name="">
            <a:extLst xmlns:a="http://schemas.openxmlformats.org/drawingml/2006/main">
              <a:ext uri="{FF2B5EF4-FFF2-40B4-BE49-F238E27FC236}">
                <a16:creationId xmlns:a16="http://schemas.microsoft.com/office/drawing/2014/main" id="{A2F6B531-0AF2-404C-BB80-3B5C9E6FDA9A}"/>
              </a:ext>
            </a:extLst>
          </p:cNvPr>
          <p:cNvSpPr>
            <a:spLocks xmlns:a="http://schemas.openxmlformats.org/drawingml/2006/main" noGrp="1"/>
          </p:cNvSpPr>
          <p:nvPr/>
        </p:nvSpPr>
        <p:spPr>
          <a:xfrm xmlns:a="http://schemas.openxmlformats.org/drawingml/2006/main">
            <a:off x="9124950" y="1676400"/>
            <a:ext cx="47625" cy="990600"/>
          </a:xfrm>
          <a:prstGeom xmlns:a="http://schemas.openxmlformats.org/drawingml/2006/main" prst="rect">
            <a:avLst/>
          </a:prstGeom>
          <a:solidFill xmlns:a="http://schemas.openxmlformats.org/drawingml/2006/main">
            <a:srgbClr val="148A8A"/>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5CAD04D4-8BB2-4C5A-85D0-9AC0CB866E07}"/>
              </a:ext>
            </a:extLst>
          </p:cNvPr>
          <p:cNvSpPr>
            <a:spLocks xmlns:a="http://schemas.openxmlformats.org/drawingml/2006/main" noGrp="1"/>
          </p:cNvSpPr>
          <p:nvPr/>
        </p:nvSpPr>
        <p:spPr>
          <a:xfrm xmlns:a="http://schemas.openxmlformats.org/drawingml/2006/main">
            <a:off x="9296400" y="1819275"/>
            <a:ext cx="20193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1">
                <a:solidFill>
                  <a:srgbClr val="10253F"/>
                </a:solidFill>
                <a:latin typeface="Helvetica Neue"/>
                <a:ea typeface="Helvetica Neue"/>
                <a:cs typeface="Helvetica Neue"/>
              </a:defRPr>
            </a:defPPr>
          </a:lstStyle>
          <a:p xmlns:a="http://schemas.openxmlformats.org/drawingml/2006/main">
            <a:pPr algn="l">
              <a:lnSpc>
                <a:spcPct val="105000"/>
              </a:lnSpc>
              <a:buNone/>
              <a:defRPr sz="1425" b="1">
                <a:solidFill>
                  <a:srgbClr val="10253F"/>
                </a:solidFill>
                <a:latin typeface="Helvetica Neue"/>
                <a:ea typeface="Helvetica Neue"/>
                <a:cs typeface="Helvetica Neue"/>
              </a:defRPr>
            </a:pPr>
            <a:r>
              <a:rPr sz="1425" b="1">
                <a:solidFill>
                  <a:srgbClr val="10253F"/>
                </a:solidFill>
                <a:latin typeface="Helvetica Neue"/>
                <a:ea typeface="Helvetica Neue"/>
                <a:cs typeface="Helvetica Neue"/>
              </a:rPr>
              <a:t>Train Epinet</a:t>
            </a:r>
          </a:p>
        </p:txBody>
      </p:sp>
      <p:sp>
        <p:nvSpPr>
          <p:cNvPr id="23" name="">
            <a:extLst xmlns:a="http://schemas.openxmlformats.org/drawingml/2006/main">
              <a:ext uri="{FF2B5EF4-FFF2-40B4-BE49-F238E27FC236}">
                <a16:creationId xmlns:a16="http://schemas.microsoft.com/office/drawing/2014/main" id="{4B260A66-F081-4442-B43D-C19568151320}"/>
              </a:ext>
            </a:extLst>
          </p:cNvPr>
          <p:cNvSpPr>
            <a:spLocks xmlns:a="http://schemas.openxmlformats.org/drawingml/2006/main" noGrp="1"/>
          </p:cNvSpPr>
          <p:nvPr/>
        </p:nvSpPr>
        <p:spPr>
          <a:xfrm xmlns:a="http://schemas.openxmlformats.org/drawingml/2006/main">
            <a:off x="9296400" y="2133600"/>
            <a:ext cx="201930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0">
                <a:solidFill>
                  <a:srgbClr val="536477"/>
                </a:solidFill>
                <a:latin typeface="Helvetica Neue"/>
                <a:ea typeface="Helvetica Neue"/>
                <a:cs typeface="Helvetica Neue"/>
              </a:defRPr>
            </a:defPPr>
          </a:lstStyle>
          <a:p xmlns:a="http://schemas.openxmlformats.org/drawingml/2006/main">
            <a:pPr algn="l">
              <a:lnSpc>
                <a:spcPct val="105000"/>
              </a:lnSpc>
              <a:buNone/>
              <a:defRPr sz="1050" b="0">
                <a:solidFill>
                  <a:srgbClr val="536477"/>
                </a:solidFill>
                <a:latin typeface="Helvetica Neue"/>
                <a:ea typeface="Helvetica Neue"/>
                <a:cs typeface="Helvetica Neue"/>
              </a:defRPr>
            </a:pPr>
            <a:r>
              <a:rPr sz="1050" b="0">
                <a:solidFill>
                  <a:srgbClr val="536477"/>
                </a:solidFill>
                <a:latin typeface="Helvetica Neue"/>
                <a:ea typeface="Helvetica Neue"/>
                <a:cs typeface="Helvetica Neue"/>
              </a:rPr>
              <a:t>Next-token cross-entropy</a:t>
            </a:r>
          </a:p>
        </p:txBody>
      </p:sp>
      <p:sp>
        <p:nvSpPr>
          <p:cNvPr id="24" name="">
            <a:extLst xmlns:a="http://schemas.openxmlformats.org/drawingml/2006/main">
              <a:ext uri="{FF2B5EF4-FFF2-40B4-BE49-F238E27FC236}">
                <a16:creationId xmlns:a16="http://schemas.microsoft.com/office/drawing/2014/main" id="{BF382989-96C4-4C81-931F-E288CF048A61}"/>
              </a:ext>
            </a:extLst>
          </p:cNvPr>
          <p:cNvSpPr>
            <a:spLocks xmlns:a="http://schemas.openxmlformats.org/drawingml/2006/main" noGrp="1"/>
          </p:cNvSpPr>
          <p:nvPr/>
        </p:nvSpPr>
        <p:spPr>
          <a:xfrm xmlns:a="http://schemas.openxmlformats.org/drawingml/2006/main" flipV="0">
            <a:off x="3009900" y="2171700"/>
            <a:ext cx="333375" cy="0"/>
          </a:xfrm>
          <a:prstGeom xmlns:a="http://schemas.openxmlformats.org/drawingml/2006/main" prst="line">
            <a:avLst/>
          </a:prstGeom>
          <a:noFill xmlns:a="http://schemas.openxmlformats.org/drawingml/2006/main"/>
          <a:ln xmlns:a="http://schemas.openxmlformats.org/drawingml/2006/main" w="19050">
            <a:solidFill>
              <a:srgbClr val="148A8A"/>
            </a:solidFill>
            <a:prstDash val="solid"/>
          </a:ln>
        </p:spPr>
      </p:sp>
      <p:sp>
        <p:nvSpPr>
          <p:cNvPr id="25" name="">
            <a:extLst xmlns:a="http://schemas.openxmlformats.org/drawingml/2006/main">
              <a:ext uri="{FF2B5EF4-FFF2-40B4-BE49-F238E27FC236}">
                <a16:creationId xmlns:a16="http://schemas.microsoft.com/office/drawing/2014/main" id="{52A961DF-4F3A-431F-9496-B18CE202FEB3}"/>
              </a:ext>
            </a:extLst>
          </p:cNvPr>
          <p:cNvSpPr>
            <a:spLocks xmlns:a="http://schemas.openxmlformats.org/drawingml/2006/main" noGrp="1"/>
          </p:cNvSpPr>
          <p:nvPr/>
        </p:nvSpPr>
        <p:spPr>
          <a:xfrm xmlns:a="http://schemas.openxmlformats.org/drawingml/2006/main" rot="5400000">
            <a:off x="3295650" y="2114550"/>
            <a:ext cx="114300" cy="114300"/>
          </a:xfrm>
          <a:prstGeom xmlns:a="http://schemas.openxmlformats.org/drawingml/2006/main" prst="triangle">
            <a:avLst/>
          </a:prstGeom>
          <a:solidFill xmlns:a="http://schemas.openxmlformats.org/drawingml/2006/main">
            <a:srgbClr val="148A8A"/>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720317FE-49CC-4E45-8D7E-FD3DD6796700}"/>
              </a:ext>
            </a:extLst>
          </p:cNvPr>
          <p:cNvSpPr>
            <a:spLocks xmlns:a="http://schemas.openxmlformats.org/drawingml/2006/main" noGrp="1"/>
          </p:cNvSpPr>
          <p:nvPr/>
        </p:nvSpPr>
        <p:spPr>
          <a:xfrm xmlns:a="http://schemas.openxmlformats.org/drawingml/2006/main" flipV="0">
            <a:off x="5829300" y="2171700"/>
            <a:ext cx="333375" cy="0"/>
          </a:xfrm>
          <a:prstGeom xmlns:a="http://schemas.openxmlformats.org/drawingml/2006/main" prst="line">
            <a:avLst/>
          </a:prstGeom>
          <a:noFill xmlns:a="http://schemas.openxmlformats.org/drawingml/2006/main"/>
          <a:ln xmlns:a="http://schemas.openxmlformats.org/drawingml/2006/main" w="19050">
            <a:solidFill>
              <a:srgbClr val="148A8A"/>
            </a:solidFill>
            <a:prstDash val="solid"/>
          </a:ln>
        </p:spPr>
      </p:sp>
      <p:sp>
        <p:nvSpPr>
          <p:cNvPr id="27" name="">
            <a:extLst xmlns:a="http://schemas.openxmlformats.org/drawingml/2006/main">
              <a:ext uri="{FF2B5EF4-FFF2-40B4-BE49-F238E27FC236}">
                <a16:creationId xmlns:a16="http://schemas.microsoft.com/office/drawing/2014/main" id="{9D930F09-04E7-4702-BC01-ED67586E764D}"/>
              </a:ext>
            </a:extLst>
          </p:cNvPr>
          <p:cNvSpPr>
            <a:spLocks xmlns:a="http://schemas.openxmlformats.org/drawingml/2006/main" noGrp="1"/>
          </p:cNvSpPr>
          <p:nvPr/>
        </p:nvSpPr>
        <p:spPr>
          <a:xfrm xmlns:a="http://schemas.openxmlformats.org/drawingml/2006/main" rot="5400000">
            <a:off x="6115050" y="2114550"/>
            <a:ext cx="114300" cy="114300"/>
          </a:xfrm>
          <a:prstGeom xmlns:a="http://schemas.openxmlformats.org/drawingml/2006/main" prst="triangle">
            <a:avLst/>
          </a:prstGeom>
          <a:solidFill xmlns:a="http://schemas.openxmlformats.org/drawingml/2006/main">
            <a:srgbClr val="148A8A"/>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67A5DF0B-C583-4EB2-B996-D1930BF8DC9B}"/>
              </a:ext>
            </a:extLst>
          </p:cNvPr>
          <p:cNvSpPr>
            <a:spLocks xmlns:a="http://schemas.openxmlformats.org/drawingml/2006/main" noGrp="1"/>
          </p:cNvSpPr>
          <p:nvPr/>
        </p:nvSpPr>
        <p:spPr>
          <a:xfrm xmlns:a="http://schemas.openxmlformats.org/drawingml/2006/main" flipV="0">
            <a:off x="8648700" y="2171700"/>
            <a:ext cx="333375" cy="0"/>
          </a:xfrm>
          <a:prstGeom xmlns:a="http://schemas.openxmlformats.org/drawingml/2006/main" prst="line">
            <a:avLst/>
          </a:prstGeom>
          <a:noFill xmlns:a="http://schemas.openxmlformats.org/drawingml/2006/main"/>
          <a:ln xmlns:a="http://schemas.openxmlformats.org/drawingml/2006/main" w="19050">
            <a:solidFill>
              <a:srgbClr val="148A8A"/>
            </a:solidFill>
            <a:prstDash val="solid"/>
          </a:ln>
        </p:spPr>
      </p:sp>
      <p:sp>
        <p:nvSpPr>
          <p:cNvPr id="29" name="">
            <a:extLst xmlns:a="http://schemas.openxmlformats.org/drawingml/2006/main">
              <a:ext uri="{FF2B5EF4-FFF2-40B4-BE49-F238E27FC236}">
                <a16:creationId xmlns:a16="http://schemas.microsoft.com/office/drawing/2014/main" id="{C6D6B7C9-0DFE-498B-959A-AD7FCDA4C65E}"/>
              </a:ext>
            </a:extLst>
          </p:cNvPr>
          <p:cNvSpPr>
            <a:spLocks xmlns:a="http://schemas.openxmlformats.org/drawingml/2006/main" noGrp="1"/>
          </p:cNvSpPr>
          <p:nvPr/>
        </p:nvSpPr>
        <p:spPr>
          <a:xfrm xmlns:a="http://schemas.openxmlformats.org/drawingml/2006/main" rot="5400000">
            <a:off x="8934450" y="2114550"/>
            <a:ext cx="114300" cy="114300"/>
          </a:xfrm>
          <a:prstGeom xmlns:a="http://schemas.openxmlformats.org/drawingml/2006/main" prst="triangle">
            <a:avLst/>
          </a:prstGeom>
          <a:solidFill xmlns:a="http://schemas.openxmlformats.org/drawingml/2006/main">
            <a:srgbClr val="148A8A"/>
          </a:solidFill>
          <a:ln xmlns:a="http://schemas.openxmlformats.org/drawingml/2006/main" w="0">
            <a:noFill/>
            <a:prstDash val="solid"/>
          </a:ln>
        </p:spPr>
      </p:sp>
      <p:sp>
        <p:nvSpPr>
          <p:cNvPr id="30" name="">
            <a:extLst xmlns:a="http://schemas.openxmlformats.org/drawingml/2006/main">
              <a:ext uri="{FF2B5EF4-FFF2-40B4-BE49-F238E27FC236}">
                <a16:creationId xmlns:a16="http://schemas.microsoft.com/office/drawing/2014/main" id="{6E5C2E3B-F850-4772-AB91-D7C04CFB129C}"/>
              </a:ext>
            </a:extLst>
          </p:cNvPr>
          <p:cNvSpPr>
            <a:spLocks xmlns:a="http://schemas.openxmlformats.org/drawingml/2006/main" noGrp="1"/>
          </p:cNvSpPr>
          <p:nvPr/>
        </p:nvSpPr>
        <p:spPr>
          <a:xfrm xmlns:a="http://schemas.openxmlformats.org/drawingml/2006/main" flipV="0">
            <a:off x="666750" y="3028950"/>
            <a:ext cx="10801350" cy="0"/>
          </a:xfrm>
          <a:prstGeom xmlns:a="http://schemas.openxmlformats.org/drawingml/2006/main" prst="line">
            <a:avLst/>
          </a:prstGeom>
          <a:noFill xmlns:a="http://schemas.openxmlformats.org/drawingml/2006/main"/>
          <a:ln xmlns:a="http://schemas.openxmlformats.org/drawingml/2006/main" w="9525">
            <a:solidFill>
              <a:srgbClr val="D6DEE8"/>
            </a:solidFill>
            <a:prstDash val="solid"/>
          </a:ln>
        </p:spPr>
      </p:sp>
      <p:sp>
        <p:nvSpPr>
          <p:cNvPr id="31" name="">
            <a:extLst xmlns:a="http://schemas.openxmlformats.org/drawingml/2006/main">
              <a:ext uri="{FF2B5EF4-FFF2-40B4-BE49-F238E27FC236}">
                <a16:creationId xmlns:a16="http://schemas.microsoft.com/office/drawing/2014/main" id="{9CBD5C79-D535-44B9-876E-F7848448A4E6}"/>
              </a:ext>
            </a:extLst>
          </p:cNvPr>
          <p:cNvSpPr>
            <a:spLocks xmlns:a="http://schemas.openxmlformats.org/drawingml/2006/main" noGrp="1"/>
          </p:cNvSpPr>
          <p:nvPr/>
        </p:nvSpPr>
        <p:spPr>
          <a:xfrm xmlns:a="http://schemas.openxmlformats.org/drawingml/2006/main">
            <a:off x="666750" y="3314700"/>
            <a:ext cx="3143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1">
                <a:solidFill>
                  <a:srgbClr val="2864C5"/>
                </a:solidFill>
                <a:latin typeface="Helvetica Neue"/>
                <a:ea typeface="Helvetica Neue"/>
                <a:cs typeface="Helvetica Neue"/>
              </a:defRPr>
            </a:defPPr>
          </a:lstStyle>
          <a:p xmlns:a="http://schemas.openxmlformats.org/drawingml/2006/main">
            <a:pPr algn="l">
              <a:lnSpc>
                <a:spcPct val="105000"/>
              </a:lnSpc>
              <a:buNone/>
              <a:defRPr sz="975" b="1">
                <a:solidFill>
                  <a:srgbClr val="2864C5"/>
                </a:solidFill>
                <a:latin typeface="Helvetica Neue"/>
                <a:ea typeface="Helvetica Neue"/>
                <a:cs typeface="Helvetica Neue"/>
              </a:defRPr>
            </a:pPr>
            <a:r>
              <a:rPr sz="975" b="1">
                <a:solidFill>
                  <a:srgbClr val="2864C5"/>
                </a:solidFill>
                <a:latin typeface="Helvetica Neue"/>
                <a:ea typeface="Helvetica Neue"/>
                <a:cs typeface="Helvetica Neue"/>
              </a:rPr>
              <a:t>QUESTION-ANSWERING PATH</a:t>
            </a:r>
          </a:p>
        </p:txBody>
      </p:sp>
      <p:sp>
        <p:nvSpPr>
          <p:cNvPr id="32" name="">
            <a:extLst xmlns:a="http://schemas.openxmlformats.org/drawingml/2006/main">
              <a:ext uri="{FF2B5EF4-FFF2-40B4-BE49-F238E27FC236}">
                <a16:creationId xmlns:a16="http://schemas.microsoft.com/office/drawing/2014/main" id="{38EEAA27-49E6-4531-B63B-6FF49DD73ECD}"/>
              </a:ext>
            </a:extLst>
          </p:cNvPr>
          <p:cNvSpPr>
            <a:spLocks xmlns:a="http://schemas.openxmlformats.org/drawingml/2006/main" noGrp="1"/>
          </p:cNvSpPr>
          <p:nvPr/>
        </p:nvSpPr>
        <p:spPr>
          <a:xfrm xmlns:a="http://schemas.openxmlformats.org/drawingml/2006/main">
            <a:off x="666750" y="3619500"/>
            <a:ext cx="2343150" cy="1047750"/>
          </a:xfrm>
          <a:prstGeom xmlns:a="http://schemas.openxmlformats.org/drawingml/2006/main" prst="roundRect">
            <a:avLst>
              <a:gd name="adj" fmla="val 7273"/>
            </a:avLst>
          </a:prstGeom>
          <a:solidFill xmlns:a="http://schemas.openxmlformats.org/drawingml/2006/main">
            <a:srgbClr val="FFFFFF"/>
          </a:solidFill>
          <a:ln xmlns:a="http://schemas.openxmlformats.org/drawingml/2006/main" w="9525">
            <a:solidFill>
              <a:srgbClr val="D6DEE8"/>
            </a:solidFill>
            <a:prstDash val="solid"/>
          </a:ln>
        </p:spPr>
      </p:sp>
      <p:sp>
        <p:nvSpPr>
          <p:cNvPr id="33" name="">
            <a:extLst xmlns:a="http://schemas.openxmlformats.org/drawingml/2006/main">
              <a:ext uri="{FF2B5EF4-FFF2-40B4-BE49-F238E27FC236}">
                <a16:creationId xmlns:a16="http://schemas.microsoft.com/office/drawing/2014/main" id="{1BFAB95B-D8DB-402C-B824-C56C91875647}"/>
              </a:ext>
            </a:extLst>
          </p:cNvPr>
          <p:cNvSpPr>
            <a:spLocks xmlns:a="http://schemas.openxmlformats.org/drawingml/2006/main" noGrp="1"/>
          </p:cNvSpPr>
          <p:nvPr/>
        </p:nvSpPr>
        <p:spPr>
          <a:xfrm xmlns:a="http://schemas.openxmlformats.org/drawingml/2006/main">
            <a:off x="666750" y="3619500"/>
            <a:ext cx="47625" cy="1047750"/>
          </a:xfrm>
          <a:prstGeom xmlns:a="http://schemas.openxmlformats.org/drawingml/2006/main" prst="rect">
            <a:avLst/>
          </a:prstGeom>
          <a:solidFill xmlns:a="http://schemas.openxmlformats.org/drawingml/2006/main">
            <a:srgbClr val="2864C5"/>
          </a:solidFill>
          <a:ln xmlns:a="http://schemas.openxmlformats.org/drawingml/2006/main" w="0">
            <a:noFill/>
            <a:prstDash val="solid"/>
          </a:ln>
        </p:spPr>
      </p:sp>
      <p:sp>
        <p:nvSpPr>
          <p:cNvPr id="34" name="">
            <a:extLst xmlns:a="http://schemas.openxmlformats.org/drawingml/2006/main">
              <a:ext uri="{FF2B5EF4-FFF2-40B4-BE49-F238E27FC236}">
                <a16:creationId xmlns:a16="http://schemas.microsoft.com/office/drawing/2014/main" id="{02F24A6E-6D15-403D-877A-E4995A665AEA}"/>
              </a:ext>
            </a:extLst>
          </p:cNvPr>
          <p:cNvSpPr>
            <a:spLocks xmlns:a="http://schemas.openxmlformats.org/drawingml/2006/main" noGrp="1"/>
          </p:cNvSpPr>
          <p:nvPr/>
        </p:nvSpPr>
        <p:spPr>
          <a:xfrm xmlns:a="http://schemas.openxmlformats.org/drawingml/2006/main">
            <a:off x="838200" y="3762375"/>
            <a:ext cx="20193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1">
                <a:solidFill>
                  <a:srgbClr val="10253F"/>
                </a:solidFill>
                <a:latin typeface="Helvetica Neue"/>
                <a:ea typeface="Helvetica Neue"/>
                <a:cs typeface="Helvetica Neue"/>
              </a:defRPr>
            </a:defPPr>
          </a:lstStyle>
          <a:p xmlns:a="http://schemas.openxmlformats.org/drawingml/2006/main">
            <a:pPr algn="l">
              <a:lnSpc>
                <a:spcPct val="105000"/>
              </a:lnSpc>
              <a:buNone/>
              <a:defRPr sz="1425" b="1">
                <a:solidFill>
                  <a:srgbClr val="10253F"/>
                </a:solidFill>
                <a:latin typeface="Helvetica Neue"/>
                <a:ea typeface="Helvetica Neue"/>
                <a:cs typeface="Helvetica Neue"/>
              </a:defRPr>
            </a:pPr>
            <a:r>
              <a:rPr sz="1425" b="1">
                <a:solidFill>
                  <a:srgbClr val="10253F"/>
                </a:solidFill>
                <a:latin typeface="Helvetica Neue"/>
                <a:ea typeface="Helvetica Neue"/>
                <a:cs typeface="Helvetica Neue"/>
              </a:rPr>
              <a:t>Question prompt</a:t>
            </a:r>
          </a:p>
        </p:txBody>
      </p:sp>
      <p:sp>
        <p:nvSpPr>
          <p:cNvPr id="35" name="">
            <a:extLst xmlns:a="http://schemas.openxmlformats.org/drawingml/2006/main">
              <a:ext uri="{FF2B5EF4-FFF2-40B4-BE49-F238E27FC236}">
                <a16:creationId xmlns:a16="http://schemas.microsoft.com/office/drawing/2014/main" id="{0C736A54-89D0-47FE-AA3B-C5B6FD716A1C}"/>
              </a:ext>
            </a:extLst>
          </p:cNvPr>
          <p:cNvSpPr>
            <a:spLocks xmlns:a="http://schemas.openxmlformats.org/drawingml/2006/main" noGrp="1"/>
          </p:cNvSpPr>
          <p:nvPr/>
        </p:nvSpPr>
        <p:spPr>
          <a:xfrm xmlns:a="http://schemas.openxmlformats.org/drawingml/2006/main">
            <a:off x="838200" y="4076700"/>
            <a:ext cx="201930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0">
                <a:solidFill>
                  <a:srgbClr val="536477"/>
                </a:solidFill>
                <a:latin typeface="Helvetica Neue"/>
                <a:ea typeface="Helvetica Neue"/>
                <a:cs typeface="Helvetica Neue"/>
              </a:defRPr>
            </a:defPPr>
          </a:lstStyle>
          <a:p xmlns:a="http://schemas.openxmlformats.org/drawingml/2006/main">
            <a:pPr algn="l">
              <a:lnSpc>
                <a:spcPct val="105000"/>
              </a:lnSpc>
              <a:buNone/>
              <a:defRPr sz="1050" b="0">
                <a:solidFill>
                  <a:srgbClr val="536477"/>
                </a:solidFill>
                <a:latin typeface="Helvetica Neue"/>
                <a:ea typeface="Helvetica Neue"/>
                <a:cs typeface="Helvetica Neue"/>
              </a:defRPr>
            </a:pPr>
            <a:r>
              <a:rPr sz="1050" b="0">
                <a:solidFill>
                  <a:srgbClr val="536477"/>
                </a:solidFill>
                <a:latin typeface="Helvetica Neue"/>
                <a:ea typeface="Helvetica Neue"/>
                <a:cs typeface="Helvetica Neue"/>
              </a:rPr>
              <a:t>Local QA set or TruthfulQA</a:t>
            </a:r>
          </a:p>
        </p:txBody>
      </p:sp>
      <p:sp>
        <p:nvSpPr>
          <p:cNvPr id="36" name="">
            <a:extLst xmlns:a="http://schemas.openxmlformats.org/drawingml/2006/main">
              <a:ext uri="{FF2B5EF4-FFF2-40B4-BE49-F238E27FC236}">
                <a16:creationId xmlns:a16="http://schemas.microsoft.com/office/drawing/2014/main" id="{1589C2C1-4507-4711-B2DA-66676726165D}"/>
              </a:ext>
            </a:extLst>
          </p:cNvPr>
          <p:cNvSpPr>
            <a:spLocks xmlns:a="http://schemas.openxmlformats.org/drawingml/2006/main" noGrp="1"/>
          </p:cNvSpPr>
          <p:nvPr/>
        </p:nvSpPr>
        <p:spPr>
          <a:xfrm xmlns:a="http://schemas.openxmlformats.org/drawingml/2006/main">
            <a:off x="3486150" y="3619500"/>
            <a:ext cx="2343150" cy="1047750"/>
          </a:xfrm>
          <a:prstGeom xmlns:a="http://schemas.openxmlformats.org/drawingml/2006/main" prst="roundRect">
            <a:avLst>
              <a:gd name="adj" fmla="val 7273"/>
            </a:avLst>
          </a:prstGeom>
          <a:solidFill xmlns:a="http://schemas.openxmlformats.org/drawingml/2006/main">
            <a:srgbClr val="FFFFFF"/>
          </a:solidFill>
          <a:ln xmlns:a="http://schemas.openxmlformats.org/drawingml/2006/main" w="9525">
            <a:solidFill>
              <a:srgbClr val="D6DEE8"/>
            </a:solidFill>
            <a:prstDash val="solid"/>
          </a:ln>
        </p:spPr>
      </p:sp>
      <p:sp>
        <p:nvSpPr>
          <p:cNvPr id="37" name="">
            <a:extLst xmlns:a="http://schemas.openxmlformats.org/drawingml/2006/main">
              <a:ext uri="{FF2B5EF4-FFF2-40B4-BE49-F238E27FC236}">
                <a16:creationId xmlns:a16="http://schemas.microsoft.com/office/drawing/2014/main" id="{593AD882-589B-47C2-A55D-A59F57E9D989}"/>
              </a:ext>
            </a:extLst>
          </p:cNvPr>
          <p:cNvSpPr>
            <a:spLocks xmlns:a="http://schemas.openxmlformats.org/drawingml/2006/main" noGrp="1"/>
          </p:cNvSpPr>
          <p:nvPr/>
        </p:nvSpPr>
        <p:spPr>
          <a:xfrm xmlns:a="http://schemas.openxmlformats.org/drawingml/2006/main">
            <a:off x="3486150" y="3619500"/>
            <a:ext cx="47625" cy="1047750"/>
          </a:xfrm>
          <a:prstGeom xmlns:a="http://schemas.openxmlformats.org/drawingml/2006/main" prst="rect">
            <a:avLst/>
          </a:prstGeom>
          <a:solidFill xmlns:a="http://schemas.openxmlformats.org/drawingml/2006/main">
            <a:srgbClr val="2864C5"/>
          </a:solidFill>
          <a:ln xmlns:a="http://schemas.openxmlformats.org/drawingml/2006/main" w="0">
            <a:noFill/>
            <a:prstDash val="solid"/>
          </a:ln>
        </p:spPr>
      </p:sp>
      <p:sp>
        <p:nvSpPr>
          <p:cNvPr id="38" name="">
            <a:extLst xmlns:a="http://schemas.openxmlformats.org/drawingml/2006/main">
              <a:ext uri="{FF2B5EF4-FFF2-40B4-BE49-F238E27FC236}">
                <a16:creationId xmlns:a16="http://schemas.microsoft.com/office/drawing/2014/main" id="{2FCAE590-3680-4AA9-B256-5B01DDCECAC4}"/>
              </a:ext>
            </a:extLst>
          </p:cNvPr>
          <p:cNvSpPr>
            <a:spLocks xmlns:a="http://schemas.openxmlformats.org/drawingml/2006/main" noGrp="1"/>
          </p:cNvSpPr>
          <p:nvPr/>
        </p:nvSpPr>
        <p:spPr>
          <a:xfrm xmlns:a="http://schemas.openxmlformats.org/drawingml/2006/main">
            <a:off x="3657600" y="3762375"/>
            <a:ext cx="20193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1">
                <a:solidFill>
                  <a:srgbClr val="10253F"/>
                </a:solidFill>
                <a:latin typeface="Helvetica Neue"/>
                <a:ea typeface="Helvetica Neue"/>
                <a:cs typeface="Helvetica Neue"/>
              </a:defRPr>
            </a:defPPr>
          </a:lstStyle>
          <a:p xmlns:a="http://schemas.openxmlformats.org/drawingml/2006/main">
            <a:pPr algn="l">
              <a:lnSpc>
                <a:spcPct val="105000"/>
              </a:lnSpc>
              <a:buNone/>
              <a:defRPr sz="1425" b="1">
                <a:solidFill>
                  <a:srgbClr val="10253F"/>
                </a:solidFill>
                <a:latin typeface="Helvetica Neue"/>
                <a:ea typeface="Helvetica Neue"/>
                <a:cs typeface="Helvetica Neue"/>
              </a:defRPr>
            </a:pPr>
            <a:r>
              <a:rPr sz="1425" b="1">
                <a:solidFill>
                  <a:srgbClr val="10253F"/>
                </a:solidFill>
                <a:latin typeface="Helvetica Neue"/>
                <a:ea typeface="Helvetica Neue"/>
                <a:cs typeface="Helvetica Neue"/>
              </a:rPr>
              <a:t>Base / DoLa</a:t>
            </a:r>
          </a:p>
        </p:txBody>
      </p:sp>
      <p:sp>
        <p:nvSpPr>
          <p:cNvPr id="39" name="">
            <a:extLst xmlns:a="http://schemas.openxmlformats.org/drawingml/2006/main">
              <a:ext uri="{FF2B5EF4-FFF2-40B4-BE49-F238E27FC236}">
                <a16:creationId xmlns:a16="http://schemas.microsoft.com/office/drawing/2014/main" id="{DD601D55-CAD9-4124-A76B-F4B00597DA78}"/>
              </a:ext>
            </a:extLst>
          </p:cNvPr>
          <p:cNvSpPr>
            <a:spLocks xmlns:a="http://schemas.openxmlformats.org/drawingml/2006/main" noGrp="1"/>
          </p:cNvSpPr>
          <p:nvPr/>
        </p:nvSpPr>
        <p:spPr>
          <a:xfrm xmlns:a="http://schemas.openxmlformats.org/drawingml/2006/main">
            <a:off x="3657600" y="4076700"/>
            <a:ext cx="201930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0">
                <a:solidFill>
                  <a:srgbClr val="536477"/>
                </a:solidFill>
                <a:latin typeface="Helvetica Neue"/>
                <a:ea typeface="Helvetica Neue"/>
                <a:cs typeface="Helvetica Neue"/>
              </a:defRPr>
            </a:defPPr>
          </a:lstStyle>
          <a:p xmlns:a="http://schemas.openxmlformats.org/drawingml/2006/main">
            <a:pPr algn="l">
              <a:lnSpc>
                <a:spcPct val="105000"/>
              </a:lnSpc>
              <a:buNone/>
              <a:defRPr sz="1050" b="0">
                <a:solidFill>
                  <a:srgbClr val="536477"/>
                </a:solidFill>
                <a:latin typeface="Helvetica Neue"/>
                <a:ea typeface="Helvetica Neue"/>
                <a:cs typeface="Helvetica Neue"/>
              </a:defRPr>
            </a:pPr>
            <a:r>
              <a:rPr sz="1050" b="0">
                <a:solidFill>
                  <a:srgbClr val="536477"/>
                </a:solidFill>
                <a:latin typeface="Helvetica Neue"/>
                <a:ea typeface="Helvetica Neue"/>
                <a:cs typeface="Helvetica Neue"/>
              </a:rPr>
              <a:t>Generate candidate answer(s)</a:t>
            </a:r>
          </a:p>
        </p:txBody>
      </p:sp>
      <p:sp>
        <p:nvSpPr>
          <p:cNvPr id="40" name="">
            <a:extLst xmlns:a="http://schemas.openxmlformats.org/drawingml/2006/main">
              <a:ext uri="{FF2B5EF4-FFF2-40B4-BE49-F238E27FC236}">
                <a16:creationId xmlns:a16="http://schemas.microsoft.com/office/drawing/2014/main" id="{0B1BFCEF-387E-4C4B-940F-31A60AA68ECA}"/>
              </a:ext>
            </a:extLst>
          </p:cNvPr>
          <p:cNvSpPr>
            <a:spLocks xmlns:a="http://schemas.openxmlformats.org/drawingml/2006/main" noGrp="1"/>
          </p:cNvSpPr>
          <p:nvPr/>
        </p:nvSpPr>
        <p:spPr>
          <a:xfrm xmlns:a="http://schemas.openxmlformats.org/drawingml/2006/main">
            <a:off x="6305550" y="3619500"/>
            <a:ext cx="2343150" cy="1047750"/>
          </a:xfrm>
          <a:prstGeom xmlns:a="http://schemas.openxmlformats.org/drawingml/2006/main" prst="roundRect">
            <a:avLst>
              <a:gd name="adj" fmla="val 7273"/>
            </a:avLst>
          </a:prstGeom>
          <a:solidFill xmlns:a="http://schemas.openxmlformats.org/drawingml/2006/main">
            <a:srgbClr val="FFFFFF"/>
          </a:solidFill>
          <a:ln xmlns:a="http://schemas.openxmlformats.org/drawingml/2006/main" w="9525">
            <a:solidFill>
              <a:srgbClr val="D6DEE8"/>
            </a:solidFill>
            <a:prstDash val="solid"/>
          </a:ln>
        </p:spPr>
      </p:sp>
      <p:sp>
        <p:nvSpPr>
          <p:cNvPr id="41" name="">
            <a:extLst xmlns:a="http://schemas.openxmlformats.org/drawingml/2006/main">
              <a:ext uri="{FF2B5EF4-FFF2-40B4-BE49-F238E27FC236}">
                <a16:creationId xmlns:a16="http://schemas.microsoft.com/office/drawing/2014/main" id="{88C41B16-AD5C-4F54-BFCA-2363908EF44D}"/>
              </a:ext>
            </a:extLst>
          </p:cNvPr>
          <p:cNvSpPr>
            <a:spLocks xmlns:a="http://schemas.openxmlformats.org/drawingml/2006/main" noGrp="1"/>
          </p:cNvSpPr>
          <p:nvPr/>
        </p:nvSpPr>
        <p:spPr>
          <a:xfrm xmlns:a="http://schemas.openxmlformats.org/drawingml/2006/main">
            <a:off x="6305550" y="3619500"/>
            <a:ext cx="47625" cy="1047750"/>
          </a:xfrm>
          <a:prstGeom xmlns:a="http://schemas.openxmlformats.org/drawingml/2006/main" prst="rect">
            <a:avLst/>
          </a:prstGeom>
          <a:solidFill xmlns:a="http://schemas.openxmlformats.org/drawingml/2006/main">
            <a:srgbClr val="C7782B"/>
          </a:solidFill>
          <a:ln xmlns:a="http://schemas.openxmlformats.org/drawingml/2006/main" w="0">
            <a:noFill/>
            <a:prstDash val="solid"/>
          </a:ln>
        </p:spPr>
      </p:sp>
      <p:sp>
        <p:nvSpPr>
          <p:cNvPr id="42" name="">
            <a:extLst xmlns:a="http://schemas.openxmlformats.org/drawingml/2006/main">
              <a:ext uri="{FF2B5EF4-FFF2-40B4-BE49-F238E27FC236}">
                <a16:creationId xmlns:a16="http://schemas.microsoft.com/office/drawing/2014/main" id="{D55F5663-FAD4-450C-BBF7-2F3E4D89C923}"/>
              </a:ext>
            </a:extLst>
          </p:cNvPr>
          <p:cNvSpPr>
            <a:spLocks xmlns:a="http://schemas.openxmlformats.org/drawingml/2006/main" noGrp="1"/>
          </p:cNvSpPr>
          <p:nvPr/>
        </p:nvSpPr>
        <p:spPr>
          <a:xfrm xmlns:a="http://schemas.openxmlformats.org/drawingml/2006/main">
            <a:off x="6477000" y="3762375"/>
            <a:ext cx="20193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1">
                <a:solidFill>
                  <a:srgbClr val="10253F"/>
                </a:solidFill>
                <a:latin typeface="Helvetica Neue"/>
                <a:ea typeface="Helvetica Neue"/>
                <a:cs typeface="Helvetica Neue"/>
              </a:defRPr>
            </a:defPPr>
          </a:lstStyle>
          <a:p xmlns:a="http://schemas.openxmlformats.org/drawingml/2006/main">
            <a:pPr algn="l">
              <a:lnSpc>
                <a:spcPct val="105000"/>
              </a:lnSpc>
              <a:buNone/>
              <a:defRPr sz="1425" b="1">
                <a:solidFill>
                  <a:srgbClr val="10253F"/>
                </a:solidFill>
                <a:latin typeface="Helvetica Neue"/>
                <a:ea typeface="Helvetica Neue"/>
                <a:cs typeface="Helvetica Neue"/>
              </a:defRPr>
            </a:pPr>
            <a:r>
              <a:rPr sz="1425" b="1">
                <a:solidFill>
                  <a:srgbClr val="10253F"/>
                </a:solidFill>
                <a:latin typeface="Helvetica Neue"/>
                <a:ea typeface="Helvetica Neue"/>
                <a:cs typeface="Helvetica Neue"/>
              </a:rPr>
              <a:t>ENN scoring</a:t>
            </a:r>
          </a:p>
        </p:txBody>
      </p:sp>
      <p:sp>
        <p:nvSpPr>
          <p:cNvPr id="43" name="">
            <a:extLst xmlns:a="http://schemas.openxmlformats.org/drawingml/2006/main">
              <a:ext uri="{FF2B5EF4-FFF2-40B4-BE49-F238E27FC236}">
                <a16:creationId xmlns:a16="http://schemas.microsoft.com/office/drawing/2014/main" id="{93F81A98-EAE9-4AEB-A993-3892B1B8EE09}"/>
              </a:ext>
            </a:extLst>
          </p:cNvPr>
          <p:cNvSpPr>
            <a:spLocks xmlns:a="http://schemas.openxmlformats.org/drawingml/2006/main" noGrp="1"/>
          </p:cNvSpPr>
          <p:nvPr/>
        </p:nvSpPr>
        <p:spPr>
          <a:xfrm xmlns:a="http://schemas.openxmlformats.org/drawingml/2006/main">
            <a:off x="6477000" y="4076700"/>
            <a:ext cx="201930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0">
                <a:solidFill>
                  <a:srgbClr val="536477"/>
                </a:solidFill>
                <a:latin typeface="Helvetica Neue"/>
                <a:ea typeface="Helvetica Neue"/>
                <a:cs typeface="Helvetica Neue"/>
              </a:defRPr>
            </a:defPPr>
          </a:lstStyle>
          <a:p xmlns:a="http://schemas.openxmlformats.org/drawingml/2006/main">
            <a:pPr algn="l">
              <a:lnSpc>
                <a:spcPct val="105000"/>
              </a:lnSpc>
              <a:buNone/>
              <a:defRPr sz="1050" b="0">
                <a:solidFill>
                  <a:srgbClr val="536477"/>
                </a:solidFill>
                <a:latin typeface="Helvetica Neue"/>
                <a:ea typeface="Helvetica Neue"/>
                <a:cs typeface="Helvetica Neue"/>
              </a:defRPr>
            </a:pPr>
            <a:r>
              <a:rPr sz="1050" b="0">
                <a:solidFill>
                  <a:srgbClr val="536477"/>
                </a:solidFill>
                <a:latin typeface="Helvetica Neue"/>
                <a:ea typeface="Helvetica Neue"/>
                <a:cs typeface="Helvetica Neue"/>
              </a:rPr>
              <a:t>Predictive entropy per answer</a:t>
            </a:r>
          </a:p>
        </p:txBody>
      </p:sp>
      <p:sp>
        <p:nvSpPr>
          <p:cNvPr id="44" name="">
            <a:extLst xmlns:a="http://schemas.openxmlformats.org/drawingml/2006/main">
              <a:ext uri="{FF2B5EF4-FFF2-40B4-BE49-F238E27FC236}">
                <a16:creationId xmlns:a16="http://schemas.microsoft.com/office/drawing/2014/main" id="{A017E6E2-B8B1-4FFD-B93F-E1D2ACBCEE1F}"/>
              </a:ext>
            </a:extLst>
          </p:cNvPr>
          <p:cNvSpPr>
            <a:spLocks xmlns:a="http://schemas.openxmlformats.org/drawingml/2006/main" noGrp="1"/>
          </p:cNvSpPr>
          <p:nvPr/>
        </p:nvSpPr>
        <p:spPr>
          <a:xfrm xmlns:a="http://schemas.openxmlformats.org/drawingml/2006/main">
            <a:off x="9124950" y="3619500"/>
            <a:ext cx="2343150" cy="1047750"/>
          </a:xfrm>
          <a:prstGeom xmlns:a="http://schemas.openxmlformats.org/drawingml/2006/main" prst="roundRect">
            <a:avLst>
              <a:gd name="adj" fmla="val 7273"/>
            </a:avLst>
          </a:prstGeom>
          <a:solidFill xmlns:a="http://schemas.openxmlformats.org/drawingml/2006/main">
            <a:srgbClr val="FFFFFF"/>
          </a:solidFill>
          <a:ln xmlns:a="http://schemas.openxmlformats.org/drawingml/2006/main" w="9525">
            <a:solidFill>
              <a:srgbClr val="D6DEE8"/>
            </a:solidFill>
            <a:prstDash val="solid"/>
          </a:ln>
        </p:spPr>
      </p:sp>
      <p:sp>
        <p:nvSpPr>
          <p:cNvPr id="45" name="">
            <a:extLst xmlns:a="http://schemas.openxmlformats.org/drawingml/2006/main">
              <a:ext uri="{FF2B5EF4-FFF2-40B4-BE49-F238E27FC236}">
                <a16:creationId xmlns:a16="http://schemas.microsoft.com/office/drawing/2014/main" id="{75A49D4A-1EB3-47AA-B01A-7EA6A3582B93}"/>
              </a:ext>
            </a:extLst>
          </p:cNvPr>
          <p:cNvSpPr>
            <a:spLocks xmlns:a="http://schemas.openxmlformats.org/drawingml/2006/main" noGrp="1"/>
          </p:cNvSpPr>
          <p:nvPr/>
        </p:nvSpPr>
        <p:spPr>
          <a:xfrm xmlns:a="http://schemas.openxmlformats.org/drawingml/2006/main">
            <a:off x="9124950" y="3619500"/>
            <a:ext cx="47625" cy="1047750"/>
          </a:xfrm>
          <a:prstGeom xmlns:a="http://schemas.openxmlformats.org/drawingml/2006/main" prst="rect">
            <a:avLst/>
          </a:prstGeom>
          <a:solidFill xmlns:a="http://schemas.openxmlformats.org/drawingml/2006/main">
            <a:srgbClr val="2864C5"/>
          </a:solidFill>
          <a:ln xmlns:a="http://schemas.openxmlformats.org/drawingml/2006/main" w="0">
            <a:noFill/>
            <a:prstDash val="solid"/>
          </a:ln>
        </p:spPr>
      </p:sp>
      <p:sp>
        <p:nvSpPr>
          <p:cNvPr id="46" name="">
            <a:extLst xmlns:a="http://schemas.openxmlformats.org/drawingml/2006/main">
              <a:ext uri="{FF2B5EF4-FFF2-40B4-BE49-F238E27FC236}">
                <a16:creationId xmlns:a16="http://schemas.microsoft.com/office/drawing/2014/main" id="{1D7CA438-EC72-486D-A72F-8C4020AE6155}"/>
              </a:ext>
            </a:extLst>
          </p:cNvPr>
          <p:cNvSpPr>
            <a:spLocks xmlns:a="http://schemas.openxmlformats.org/drawingml/2006/main" noGrp="1"/>
          </p:cNvSpPr>
          <p:nvPr/>
        </p:nvSpPr>
        <p:spPr>
          <a:xfrm xmlns:a="http://schemas.openxmlformats.org/drawingml/2006/main">
            <a:off x="9296400" y="3762375"/>
            <a:ext cx="20193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1">
                <a:solidFill>
                  <a:srgbClr val="10253F"/>
                </a:solidFill>
                <a:latin typeface="Helvetica Neue"/>
                <a:ea typeface="Helvetica Neue"/>
                <a:cs typeface="Helvetica Neue"/>
              </a:defRPr>
            </a:defPPr>
          </a:lstStyle>
          <a:p xmlns:a="http://schemas.openxmlformats.org/drawingml/2006/main">
            <a:pPr algn="l">
              <a:lnSpc>
                <a:spcPct val="105000"/>
              </a:lnSpc>
              <a:buNone/>
              <a:defRPr sz="1425" b="1">
                <a:solidFill>
                  <a:srgbClr val="10253F"/>
                </a:solidFill>
                <a:latin typeface="Helvetica Neue"/>
                <a:ea typeface="Helvetica Neue"/>
                <a:cs typeface="Helvetica Neue"/>
              </a:defRPr>
            </a:pPr>
            <a:r>
              <a:rPr sz="1425" b="1">
                <a:solidFill>
                  <a:srgbClr val="10253F"/>
                </a:solidFill>
                <a:latin typeface="Helvetica Neue"/>
                <a:ea typeface="Helvetica Neue"/>
                <a:cs typeface="Helvetica Neue"/>
              </a:rPr>
              <a:t>Voting + evaluation</a:t>
            </a:r>
          </a:p>
        </p:txBody>
      </p:sp>
      <p:sp>
        <p:nvSpPr>
          <p:cNvPr id="47" name="">
            <a:extLst xmlns:a="http://schemas.openxmlformats.org/drawingml/2006/main">
              <a:ext uri="{FF2B5EF4-FFF2-40B4-BE49-F238E27FC236}">
                <a16:creationId xmlns:a16="http://schemas.microsoft.com/office/drawing/2014/main" id="{9A17D104-6871-4398-8C87-7EB3AB561870}"/>
              </a:ext>
            </a:extLst>
          </p:cNvPr>
          <p:cNvSpPr>
            <a:spLocks xmlns:a="http://schemas.openxmlformats.org/drawingml/2006/main" noGrp="1"/>
          </p:cNvSpPr>
          <p:nvPr/>
        </p:nvSpPr>
        <p:spPr>
          <a:xfrm xmlns:a="http://schemas.openxmlformats.org/drawingml/2006/main">
            <a:off x="9296400" y="4076700"/>
            <a:ext cx="201930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0">
                <a:solidFill>
                  <a:srgbClr val="536477"/>
                </a:solidFill>
                <a:latin typeface="Helvetica Neue"/>
                <a:ea typeface="Helvetica Neue"/>
                <a:cs typeface="Helvetica Neue"/>
              </a:defRPr>
            </a:defPPr>
          </a:lstStyle>
          <a:p xmlns:a="http://schemas.openxmlformats.org/drawingml/2006/main">
            <a:pPr algn="l">
              <a:lnSpc>
                <a:spcPct val="105000"/>
              </a:lnSpc>
              <a:buNone/>
              <a:defRPr sz="1050" b="0">
                <a:solidFill>
                  <a:srgbClr val="536477"/>
                </a:solidFill>
                <a:latin typeface="Helvetica Neue"/>
                <a:ea typeface="Helvetica Neue"/>
                <a:cs typeface="Helvetica Neue"/>
              </a:defRPr>
            </a:pPr>
            <a:r>
              <a:rPr sz="1050" b="0">
                <a:solidFill>
                  <a:srgbClr val="536477"/>
                </a:solidFill>
                <a:latin typeface="Helvetica Neue"/>
                <a:ea typeface="Helvetica Neue"/>
                <a:cs typeface="Helvetica Neue"/>
              </a:rPr>
              <a:t>Plurality / weighted vote</a:t>
            </a:r>
          </a:p>
        </p:txBody>
      </p:sp>
      <p:sp>
        <p:nvSpPr>
          <p:cNvPr id="48" name="">
            <a:extLst xmlns:a="http://schemas.openxmlformats.org/drawingml/2006/main">
              <a:ext uri="{FF2B5EF4-FFF2-40B4-BE49-F238E27FC236}">
                <a16:creationId xmlns:a16="http://schemas.microsoft.com/office/drawing/2014/main" id="{EF0623F9-4954-4354-A8E8-C726E2DBA6EF}"/>
              </a:ext>
            </a:extLst>
          </p:cNvPr>
          <p:cNvSpPr>
            <a:spLocks xmlns:a="http://schemas.openxmlformats.org/drawingml/2006/main" noGrp="1"/>
          </p:cNvSpPr>
          <p:nvPr/>
        </p:nvSpPr>
        <p:spPr>
          <a:xfrm xmlns:a="http://schemas.openxmlformats.org/drawingml/2006/main" flipV="0">
            <a:off x="3009900" y="4133850"/>
            <a:ext cx="333375" cy="0"/>
          </a:xfrm>
          <a:prstGeom xmlns:a="http://schemas.openxmlformats.org/drawingml/2006/main" prst="line">
            <a:avLst/>
          </a:prstGeom>
          <a:noFill xmlns:a="http://schemas.openxmlformats.org/drawingml/2006/main"/>
          <a:ln xmlns:a="http://schemas.openxmlformats.org/drawingml/2006/main" w="19050">
            <a:solidFill>
              <a:srgbClr val="2864C5"/>
            </a:solidFill>
            <a:prstDash val="solid"/>
          </a:ln>
        </p:spPr>
      </p:sp>
      <p:sp>
        <p:nvSpPr>
          <p:cNvPr id="49" name="">
            <a:extLst xmlns:a="http://schemas.openxmlformats.org/drawingml/2006/main">
              <a:ext uri="{FF2B5EF4-FFF2-40B4-BE49-F238E27FC236}">
                <a16:creationId xmlns:a16="http://schemas.microsoft.com/office/drawing/2014/main" id="{5249A5F5-1EB2-4AA3-BE28-41AF276228B1}"/>
              </a:ext>
            </a:extLst>
          </p:cNvPr>
          <p:cNvSpPr>
            <a:spLocks xmlns:a="http://schemas.openxmlformats.org/drawingml/2006/main" noGrp="1"/>
          </p:cNvSpPr>
          <p:nvPr/>
        </p:nvSpPr>
        <p:spPr>
          <a:xfrm xmlns:a="http://schemas.openxmlformats.org/drawingml/2006/main" rot="5400000">
            <a:off x="3295650" y="4076700"/>
            <a:ext cx="114300" cy="114300"/>
          </a:xfrm>
          <a:prstGeom xmlns:a="http://schemas.openxmlformats.org/drawingml/2006/main" prst="triangle">
            <a:avLst/>
          </a:prstGeom>
          <a:solidFill xmlns:a="http://schemas.openxmlformats.org/drawingml/2006/main">
            <a:srgbClr val="2864C5"/>
          </a:solidFill>
          <a:ln xmlns:a="http://schemas.openxmlformats.org/drawingml/2006/main" w="0">
            <a:noFill/>
            <a:prstDash val="solid"/>
          </a:ln>
        </p:spPr>
      </p:sp>
      <p:sp>
        <p:nvSpPr>
          <p:cNvPr id="50" name="">
            <a:extLst xmlns:a="http://schemas.openxmlformats.org/drawingml/2006/main">
              <a:ext uri="{FF2B5EF4-FFF2-40B4-BE49-F238E27FC236}">
                <a16:creationId xmlns:a16="http://schemas.microsoft.com/office/drawing/2014/main" id="{4176BCBA-939A-4BF2-8DA6-146E0C504660}"/>
              </a:ext>
            </a:extLst>
          </p:cNvPr>
          <p:cNvSpPr>
            <a:spLocks xmlns:a="http://schemas.openxmlformats.org/drawingml/2006/main" noGrp="1"/>
          </p:cNvSpPr>
          <p:nvPr/>
        </p:nvSpPr>
        <p:spPr>
          <a:xfrm xmlns:a="http://schemas.openxmlformats.org/drawingml/2006/main" flipV="0">
            <a:off x="5829300" y="4133850"/>
            <a:ext cx="333375" cy="0"/>
          </a:xfrm>
          <a:prstGeom xmlns:a="http://schemas.openxmlformats.org/drawingml/2006/main" prst="line">
            <a:avLst/>
          </a:prstGeom>
          <a:noFill xmlns:a="http://schemas.openxmlformats.org/drawingml/2006/main"/>
          <a:ln xmlns:a="http://schemas.openxmlformats.org/drawingml/2006/main" w="19050">
            <a:solidFill>
              <a:srgbClr val="2864C5"/>
            </a:solidFill>
            <a:prstDash val="solid"/>
          </a:ln>
        </p:spPr>
      </p:sp>
      <p:sp>
        <p:nvSpPr>
          <p:cNvPr id="51" name="">
            <a:extLst xmlns:a="http://schemas.openxmlformats.org/drawingml/2006/main">
              <a:ext uri="{FF2B5EF4-FFF2-40B4-BE49-F238E27FC236}">
                <a16:creationId xmlns:a16="http://schemas.microsoft.com/office/drawing/2014/main" id="{FE9B9D93-F458-4104-B1EA-803E70469CDB}"/>
              </a:ext>
            </a:extLst>
          </p:cNvPr>
          <p:cNvSpPr>
            <a:spLocks xmlns:a="http://schemas.openxmlformats.org/drawingml/2006/main" noGrp="1"/>
          </p:cNvSpPr>
          <p:nvPr/>
        </p:nvSpPr>
        <p:spPr>
          <a:xfrm xmlns:a="http://schemas.openxmlformats.org/drawingml/2006/main" rot="5400000">
            <a:off x="6115050" y="4076700"/>
            <a:ext cx="114300" cy="114300"/>
          </a:xfrm>
          <a:prstGeom xmlns:a="http://schemas.openxmlformats.org/drawingml/2006/main" prst="triangle">
            <a:avLst/>
          </a:prstGeom>
          <a:solidFill xmlns:a="http://schemas.openxmlformats.org/drawingml/2006/main">
            <a:srgbClr val="2864C5"/>
          </a:solidFill>
          <a:ln xmlns:a="http://schemas.openxmlformats.org/drawingml/2006/main" w="0">
            <a:noFill/>
            <a:prstDash val="solid"/>
          </a:ln>
        </p:spPr>
      </p:sp>
      <p:sp>
        <p:nvSpPr>
          <p:cNvPr id="52" name="">
            <a:extLst xmlns:a="http://schemas.openxmlformats.org/drawingml/2006/main">
              <a:ext uri="{FF2B5EF4-FFF2-40B4-BE49-F238E27FC236}">
                <a16:creationId xmlns:a16="http://schemas.microsoft.com/office/drawing/2014/main" id="{553F16CC-AB56-4F5B-A497-EEE464658C1B}"/>
              </a:ext>
            </a:extLst>
          </p:cNvPr>
          <p:cNvSpPr>
            <a:spLocks xmlns:a="http://schemas.openxmlformats.org/drawingml/2006/main" noGrp="1"/>
          </p:cNvSpPr>
          <p:nvPr/>
        </p:nvSpPr>
        <p:spPr>
          <a:xfrm xmlns:a="http://schemas.openxmlformats.org/drawingml/2006/main" flipV="0">
            <a:off x="8648700" y="4133850"/>
            <a:ext cx="333375" cy="0"/>
          </a:xfrm>
          <a:prstGeom xmlns:a="http://schemas.openxmlformats.org/drawingml/2006/main" prst="line">
            <a:avLst/>
          </a:prstGeom>
          <a:noFill xmlns:a="http://schemas.openxmlformats.org/drawingml/2006/main"/>
          <a:ln xmlns:a="http://schemas.openxmlformats.org/drawingml/2006/main" w="19050">
            <a:solidFill>
              <a:srgbClr val="2864C5"/>
            </a:solidFill>
            <a:prstDash val="solid"/>
          </a:ln>
        </p:spPr>
      </p:sp>
      <p:sp>
        <p:nvSpPr>
          <p:cNvPr id="53" name="">
            <a:extLst xmlns:a="http://schemas.openxmlformats.org/drawingml/2006/main">
              <a:ext uri="{FF2B5EF4-FFF2-40B4-BE49-F238E27FC236}">
                <a16:creationId xmlns:a16="http://schemas.microsoft.com/office/drawing/2014/main" id="{098D3854-886D-4812-97D2-7179C0CF2121}"/>
              </a:ext>
            </a:extLst>
          </p:cNvPr>
          <p:cNvSpPr>
            <a:spLocks xmlns:a="http://schemas.openxmlformats.org/drawingml/2006/main" noGrp="1"/>
          </p:cNvSpPr>
          <p:nvPr/>
        </p:nvSpPr>
        <p:spPr>
          <a:xfrm xmlns:a="http://schemas.openxmlformats.org/drawingml/2006/main" rot="5400000">
            <a:off x="8934450" y="4076700"/>
            <a:ext cx="114300" cy="114300"/>
          </a:xfrm>
          <a:prstGeom xmlns:a="http://schemas.openxmlformats.org/drawingml/2006/main" prst="triangle">
            <a:avLst/>
          </a:prstGeom>
          <a:solidFill xmlns:a="http://schemas.openxmlformats.org/drawingml/2006/main">
            <a:srgbClr val="2864C5"/>
          </a:solidFill>
          <a:ln xmlns:a="http://schemas.openxmlformats.org/drawingml/2006/main" w="0">
            <a:noFill/>
            <a:prstDash val="solid"/>
          </a:ln>
        </p:spPr>
      </p:sp>
      <p:sp>
        <p:nvSpPr>
          <p:cNvPr id="54" name="">
            <a:extLst xmlns:a="http://schemas.openxmlformats.org/drawingml/2006/main">
              <a:ext uri="{FF2B5EF4-FFF2-40B4-BE49-F238E27FC236}">
                <a16:creationId xmlns:a16="http://schemas.microsoft.com/office/drawing/2014/main" id="{72ED34B2-FDA3-40B4-A5ED-91557E6B5331}"/>
              </a:ext>
            </a:extLst>
          </p:cNvPr>
          <p:cNvSpPr>
            <a:spLocks xmlns:a="http://schemas.openxmlformats.org/drawingml/2006/main" noGrp="1"/>
          </p:cNvSpPr>
          <p:nvPr/>
        </p:nvSpPr>
        <p:spPr>
          <a:xfrm xmlns:a="http://schemas.openxmlformats.org/drawingml/2006/main" flipV="0">
            <a:off x="10287000" y="2667000"/>
            <a:ext cx="0" cy="809625"/>
          </a:xfrm>
          <a:prstGeom xmlns:a="http://schemas.openxmlformats.org/drawingml/2006/main" prst="line">
            <a:avLst/>
          </a:prstGeom>
          <a:noFill xmlns:a="http://schemas.openxmlformats.org/drawingml/2006/main"/>
          <a:ln xmlns:a="http://schemas.openxmlformats.org/drawingml/2006/main" w="19050">
            <a:solidFill>
              <a:srgbClr val="148A8A"/>
            </a:solidFill>
            <a:prstDash val="solid"/>
          </a:ln>
        </p:spPr>
      </p:sp>
      <p:sp>
        <p:nvSpPr>
          <p:cNvPr id="55" name="">
            <a:extLst xmlns:a="http://schemas.openxmlformats.org/drawingml/2006/main">
              <a:ext uri="{FF2B5EF4-FFF2-40B4-BE49-F238E27FC236}">
                <a16:creationId xmlns:a16="http://schemas.microsoft.com/office/drawing/2014/main" id="{328E979E-EF4E-4226-B58E-EE13E42CC09B}"/>
              </a:ext>
            </a:extLst>
          </p:cNvPr>
          <p:cNvSpPr>
            <a:spLocks xmlns:a="http://schemas.openxmlformats.org/drawingml/2006/main" noGrp="1"/>
          </p:cNvSpPr>
          <p:nvPr/>
        </p:nvSpPr>
        <p:spPr>
          <a:xfrm xmlns:a="http://schemas.openxmlformats.org/drawingml/2006/main" rot="10800000">
            <a:off x="10229850" y="3429000"/>
            <a:ext cx="114300" cy="114300"/>
          </a:xfrm>
          <a:prstGeom xmlns:a="http://schemas.openxmlformats.org/drawingml/2006/main" prst="triangle">
            <a:avLst/>
          </a:prstGeom>
          <a:solidFill xmlns:a="http://schemas.openxmlformats.org/drawingml/2006/main">
            <a:srgbClr val="148A8A"/>
          </a:solidFill>
          <a:ln xmlns:a="http://schemas.openxmlformats.org/drawingml/2006/main" w="0">
            <a:noFill/>
            <a:prstDash val="solid"/>
          </a:ln>
        </p:spPr>
      </p:sp>
      <p:sp>
        <p:nvSpPr>
          <p:cNvPr id="56" name="">
            <a:extLst xmlns:a="http://schemas.openxmlformats.org/drawingml/2006/main">
              <a:ext uri="{FF2B5EF4-FFF2-40B4-BE49-F238E27FC236}">
                <a16:creationId xmlns:a16="http://schemas.microsoft.com/office/drawing/2014/main" id="{54416AD6-5F07-4FBE-8E6F-A7C03EE5E454}"/>
              </a:ext>
            </a:extLst>
          </p:cNvPr>
          <p:cNvSpPr>
            <a:spLocks xmlns:a="http://schemas.openxmlformats.org/drawingml/2006/main" noGrp="1"/>
          </p:cNvSpPr>
          <p:nvPr/>
        </p:nvSpPr>
        <p:spPr>
          <a:xfrm xmlns:a="http://schemas.openxmlformats.org/drawingml/2006/main">
            <a:off x="685800" y="5143500"/>
            <a:ext cx="106299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a:solidFill>
                  <a:srgbClr val="536477"/>
                </a:solidFill>
                <a:latin typeface="Helvetica Neue"/>
                <a:ea typeface="Helvetica Neue"/>
                <a:cs typeface="Helvetica Neue"/>
              </a:defRPr>
            </a:defPPr>
          </a:lstStyle>
          <a:p xmlns:a="http://schemas.openxmlformats.org/drawingml/2006/main">
            <a:pPr algn="l">
              <a:lnSpc>
                <a:spcPct val="105000"/>
              </a:lnSpc>
              <a:buNone/>
              <a:defRPr sz="1275" b="0">
                <a:solidFill>
                  <a:srgbClr val="536477"/>
                </a:solidFill>
                <a:latin typeface="Helvetica Neue"/>
                <a:ea typeface="Helvetica Neue"/>
                <a:cs typeface="Helvetica Neue"/>
              </a:defRPr>
            </a:pPr>
            <a:r>
              <a:rPr sz="1275" b="0">
                <a:solidFill>
                  <a:srgbClr val="536477"/>
                </a:solidFill>
                <a:latin typeface="Helvetica Neue"/>
                <a:ea typeface="Helvetica Neue"/>
                <a:cs typeface="Helvetica Neue"/>
              </a:rPr>
              <a:t>The ENN confidence weight is an entropy heuristic. Calibration against correctness must be measured.</a:t>
            </a:r>
          </a:p>
        </p:txBody>
      </p:sp>
    </p:spTree>
    <p:extLst>
      <p:ext uri="{BB962C8B-B14F-4D97-AF65-F5344CB8AC3E}">
        <p14:creationId xmlns:p14="http://schemas.microsoft.com/office/powerpoint/2010/main" val="289198538"/>
      </p:ext>
    </p:extLst>
  </p:cSld>
</p:sld>
</file>

<file path=ppt/slides/slide7.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50" name="">
            <a:extLst xmlns:a="http://schemas.openxmlformats.org/drawingml/2006/main">
              <a:ext uri="{FF2B5EF4-FFF2-40B4-BE49-F238E27FC236}">
                <a16:creationId xmlns:a16="http://schemas.microsoft.com/office/drawing/2014/main" id="{766D04E4-5858-4313-87CD-63F2BC1DE835}"/>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2864C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8B8F7F9A-ECAA-45CD-BA4A-37DC3A60F6FF}"/>
              </a:ext>
            </a:extLst>
          </p:cNvPr>
          <p:cNvSpPr>
            <a:spLocks xmlns:a="http://schemas.openxmlformats.org/drawingml/2006/main" noGrp="1"/>
          </p:cNvSpPr>
          <p:nvPr/>
        </p:nvSpPr>
        <p:spPr>
          <a:xfrm xmlns:a="http://schemas.openxmlformats.org/drawingml/2006/main">
            <a:off x="552450" y="361950"/>
            <a:ext cx="11049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550" b="1">
                <a:solidFill>
                  <a:srgbClr val="10253F"/>
                </a:solidFill>
                <a:latin typeface="Helvetica Neue"/>
                <a:ea typeface="Helvetica Neue"/>
                <a:cs typeface="Helvetica Neue"/>
              </a:defRPr>
            </a:defPPr>
          </a:lstStyle>
          <a:p xmlns:a="http://schemas.openxmlformats.org/drawingml/2006/main">
            <a:pPr algn="l">
              <a:lnSpc>
                <a:spcPct val="105000"/>
              </a:lnSpc>
              <a:buNone/>
              <a:defRPr sz="2550" b="1">
                <a:solidFill>
                  <a:srgbClr val="10253F"/>
                </a:solidFill>
                <a:latin typeface="Helvetica Neue"/>
                <a:ea typeface="Helvetica Neue"/>
                <a:cs typeface="Helvetica Neue"/>
              </a:defRPr>
            </a:pPr>
            <a:r>
              <a:rPr sz="2550" b="1">
                <a:solidFill>
                  <a:srgbClr val="10253F"/>
                </a:solidFill>
                <a:latin typeface="Helvetica Neue"/>
                <a:ea typeface="Helvetica Neue"/>
                <a:cs typeface="Helvetica Neue"/>
              </a:rPr>
              <a:t>Model &amp; System Architecture</a:t>
            </a:r>
          </a:p>
        </p:txBody>
      </p:sp>
      <p:sp>
        <p:nvSpPr>
          <p:cNvPr id="3" name="">
            <a:extLst xmlns:a="http://schemas.openxmlformats.org/drawingml/2006/main">
              <a:ext uri="{FF2B5EF4-FFF2-40B4-BE49-F238E27FC236}">
                <a16:creationId xmlns:a16="http://schemas.microsoft.com/office/drawing/2014/main" id="{1122E926-C910-40F8-B913-496E2A2C10A5}"/>
              </a:ext>
            </a:extLst>
          </p:cNvPr>
          <p:cNvSpPr>
            <a:spLocks xmlns:a="http://schemas.openxmlformats.org/drawingml/2006/main" noGrp="1"/>
          </p:cNvSpPr>
          <p:nvPr/>
        </p:nvSpPr>
        <p:spPr>
          <a:xfrm xmlns:a="http://schemas.openxmlformats.org/drawingml/2006/main">
            <a:off x="571500" y="876300"/>
            <a:ext cx="10953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a:solidFill>
                  <a:srgbClr val="536477"/>
                </a:solidFill>
                <a:latin typeface="Helvetica Neue"/>
                <a:ea typeface="Helvetica Neue"/>
                <a:cs typeface="Helvetica Neue"/>
              </a:defRPr>
            </a:defPPr>
          </a:lstStyle>
          <a:p xmlns:a="http://schemas.openxmlformats.org/drawingml/2006/main">
            <a:pPr algn="l">
              <a:lnSpc>
                <a:spcPct val="105000"/>
              </a:lnSpc>
              <a:buNone/>
              <a:defRPr sz="1275" b="0">
                <a:solidFill>
                  <a:srgbClr val="536477"/>
                </a:solidFill>
                <a:latin typeface="Helvetica Neue"/>
                <a:ea typeface="Helvetica Neue"/>
                <a:cs typeface="Helvetica Neue"/>
              </a:defRPr>
            </a:pPr>
            <a:r>
              <a:rPr sz="1275" b="0">
                <a:solidFill>
                  <a:srgbClr val="536477"/>
                </a:solidFill>
                <a:latin typeface="Helvetica Neue"/>
                <a:ea typeface="Helvetica Neue"/>
                <a:cs typeface="Helvetica Neue"/>
              </a:rPr>
              <a:t>DoLa changes token scores. The Epinet samples token distributions. Voting combines answer strings.</a:t>
            </a:r>
          </a:p>
        </p:txBody>
      </p:sp>
      <p:sp>
        <p:nvSpPr>
          <p:cNvPr id="4" name="">
            <a:extLst xmlns:a="http://schemas.openxmlformats.org/drawingml/2006/main">
              <a:ext uri="{FF2B5EF4-FFF2-40B4-BE49-F238E27FC236}">
                <a16:creationId xmlns:a16="http://schemas.microsoft.com/office/drawing/2014/main" id="{A69657BB-6493-4FCB-A2F4-6685FF9827DB}"/>
              </a:ext>
            </a:extLst>
          </p:cNvPr>
          <p:cNvSpPr>
            <a:spLocks xmlns:a="http://schemas.openxmlformats.org/drawingml/2006/main" noGrp="1"/>
          </p:cNvSpPr>
          <p:nvPr/>
        </p:nvSpPr>
        <p:spPr>
          <a:xfrm xmlns:a="http://schemas.openxmlformats.org/drawingml/2006/main" flipV="0">
            <a:off x="571500" y="6438900"/>
            <a:ext cx="11049000" cy="0"/>
          </a:xfrm>
          <a:prstGeom xmlns:a="http://schemas.openxmlformats.org/drawingml/2006/main" prst="line">
            <a:avLst/>
          </a:prstGeom>
          <a:noFill xmlns:a="http://schemas.openxmlformats.org/drawingml/2006/main"/>
          <a:ln xmlns:a="http://schemas.openxmlformats.org/drawingml/2006/main" w="9525">
            <a:solidFill>
              <a:srgbClr val="D6DEE8"/>
            </a:solidFill>
            <a:prstDash val="solid"/>
          </a:ln>
        </p:spPr>
      </p:sp>
      <p:sp>
        <p:nvSpPr>
          <p:cNvPr id="5" name="">
            <a:extLst xmlns:a="http://schemas.openxmlformats.org/drawingml/2006/main">
              <a:ext uri="{FF2B5EF4-FFF2-40B4-BE49-F238E27FC236}">
                <a16:creationId xmlns:a16="http://schemas.microsoft.com/office/drawing/2014/main" id="{32507644-C76F-46BD-BFB3-F8D054476B79}"/>
              </a:ext>
            </a:extLst>
          </p:cNvPr>
          <p:cNvSpPr>
            <a:spLocks xmlns:a="http://schemas.openxmlformats.org/drawingml/2006/main" noGrp="1"/>
          </p:cNvSpPr>
          <p:nvPr/>
        </p:nvSpPr>
        <p:spPr>
          <a:xfrm xmlns:a="http://schemas.openxmlformats.org/drawingml/2006/main">
            <a:off x="571500" y="6534150"/>
            <a:ext cx="4572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1">
                <a:solidFill>
                  <a:srgbClr val="536477"/>
                </a:solidFill>
                <a:latin typeface="Helvetica Neue"/>
                <a:ea typeface="Helvetica Neue"/>
                <a:cs typeface="Helvetica Neue"/>
              </a:defRPr>
            </a:defPPr>
          </a:lstStyle>
          <a:p xmlns:a="http://schemas.openxmlformats.org/drawingml/2006/main">
            <a:pPr algn="l">
              <a:lnSpc>
                <a:spcPct val="105000"/>
              </a:lnSpc>
              <a:buNone/>
              <a:defRPr sz="900" b="1">
                <a:solidFill>
                  <a:srgbClr val="536477"/>
                </a:solidFill>
                <a:latin typeface="Helvetica Neue"/>
                <a:ea typeface="Helvetica Neue"/>
                <a:cs typeface="Helvetica Neue"/>
              </a:defRPr>
            </a:pPr>
            <a:r>
              <a:rPr sz="900" b="1">
                <a:solidFill>
                  <a:srgbClr val="536477"/>
                </a:solidFill>
                <a:latin typeface="Helvetica Neue"/>
                <a:ea typeface="Helvetica Neue"/>
                <a:cs typeface="Helvetica Neue"/>
              </a:rPr>
              <a:t>VIT-AP UNIVERSITY  /  SCOPE</a:t>
            </a:r>
          </a:p>
        </p:txBody>
      </p:sp>
      <p:sp>
        <p:nvSpPr>
          <p:cNvPr id="6" name="">
            <a:extLst xmlns:a="http://schemas.openxmlformats.org/drawingml/2006/main">
              <a:ext uri="{FF2B5EF4-FFF2-40B4-BE49-F238E27FC236}">
                <a16:creationId xmlns:a16="http://schemas.microsoft.com/office/drawing/2014/main" id="{E29263C0-56E3-410A-B789-3733BE24E462}"/>
              </a:ext>
            </a:extLst>
          </p:cNvPr>
          <p:cNvSpPr>
            <a:spLocks xmlns:a="http://schemas.openxmlformats.org/drawingml/2006/main" noGrp="1"/>
          </p:cNvSpPr>
          <p:nvPr/>
        </p:nvSpPr>
        <p:spPr>
          <a:xfrm xmlns:a="http://schemas.openxmlformats.org/drawingml/2006/main">
            <a:off x="11087100" y="6515100"/>
            <a:ext cx="5334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975" b="1">
                <a:solidFill>
                  <a:srgbClr val="536477"/>
                </a:solidFill>
                <a:latin typeface="Helvetica Neue"/>
                <a:ea typeface="Helvetica Neue"/>
                <a:cs typeface="Helvetica Neue"/>
              </a:defRPr>
            </a:defPPr>
          </a:lstStyle>
          <a:p xmlns:a="http://schemas.openxmlformats.org/drawingml/2006/main">
            <a:pPr algn="r">
              <a:lnSpc>
                <a:spcPct val="105000"/>
              </a:lnSpc>
              <a:buNone/>
              <a:defRPr sz="975" b="1">
                <a:solidFill>
                  <a:srgbClr val="536477"/>
                </a:solidFill>
                <a:latin typeface="Helvetica Neue"/>
                <a:ea typeface="Helvetica Neue"/>
                <a:cs typeface="Helvetica Neue"/>
              </a:defRPr>
            </a:pPr>
            <a:r>
              <a:rPr sz="975" b="1">
                <a:solidFill>
                  <a:srgbClr val="536477"/>
                </a:solidFill>
                <a:latin typeface="Helvetica Neue"/>
                <a:ea typeface="Helvetica Neue"/>
                <a:cs typeface="Helvetica Neue"/>
              </a:rPr>
              <a:t>07</a:t>
            </a:r>
          </a:p>
        </p:txBody>
      </p:sp>
      <p:sp>
        <p:nvSpPr>
          <p:cNvPr id="7" name="">
            <a:extLst xmlns:a="http://schemas.openxmlformats.org/drawingml/2006/main">
              <a:ext uri="{FF2B5EF4-FFF2-40B4-BE49-F238E27FC236}">
                <a16:creationId xmlns:a16="http://schemas.microsoft.com/office/drawing/2014/main" id="{923034CB-40D3-43B2-B149-84BBBAF5F330}"/>
              </a:ext>
            </a:extLst>
          </p:cNvPr>
          <p:cNvSpPr>
            <a:spLocks xmlns:a="http://schemas.openxmlformats.org/drawingml/2006/main" noGrp="1"/>
          </p:cNvSpPr>
          <p:nvPr/>
        </p:nvSpPr>
        <p:spPr>
          <a:xfrm xmlns:a="http://schemas.openxmlformats.org/drawingml/2006/main">
            <a:off x="628650" y="1390650"/>
            <a:ext cx="4095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1">
                <a:solidFill>
                  <a:srgbClr val="2864C5"/>
                </a:solidFill>
                <a:latin typeface="Helvetica Neue"/>
                <a:ea typeface="Helvetica Neue"/>
                <a:cs typeface="Helvetica Neue"/>
              </a:defRPr>
            </a:defPPr>
          </a:lstStyle>
          <a:p xmlns:a="http://schemas.openxmlformats.org/drawingml/2006/main">
            <a:pPr algn="l">
              <a:lnSpc>
                <a:spcPct val="105000"/>
              </a:lnSpc>
              <a:buNone/>
              <a:defRPr sz="975" b="1">
                <a:solidFill>
                  <a:srgbClr val="2864C5"/>
                </a:solidFill>
                <a:latin typeface="Helvetica Neue"/>
                <a:ea typeface="Helvetica Neue"/>
                <a:cs typeface="Helvetica Neue"/>
              </a:defRPr>
            </a:pPr>
            <a:r>
              <a:rPr sz="975" b="1">
                <a:solidFill>
                  <a:srgbClr val="2864C5"/>
                </a:solidFill>
                <a:latin typeface="Helvetica Neue"/>
                <a:ea typeface="Helvetica Neue"/>
                <a:cs typeface="Helvetica Neue"/>
              </a:rPr>
              <a:t>A  LAYER-CONTRASTIVE DECODING</a:t>
            </a:r>
          </a:p>
        </p:txBody>
      </p:sp>
      <p:sp>
        <p:nvSpPr>
          <p:cNvPr id="8" name="">
            <a:extLst xmlns:a="http://schemas.openxmlformats.org/drawingml/2006/main">
              <a:ext uri="{FF2B5EF4-FFF2-40B4-BE49-F238E27FC236}">
                <a16:creationId xmlns:a16="http://schemas.microsoft.com/office/drawing/2014/main" id="{5AFC4D38-19F4-4B06-8B43-3ECA8CD45CA1}"/>
              </a:ext>
            </a:extLst>
          </p:cNvPr>
          <p:cNvSpPr>
            <a:spLocks xmlns:a="http://schemas.openxmlformats.org/drawingml/2006/main" noGrp="1"/>
          </p:cNvSpPr>
          <p:nvPr/>
        </p:nvSpPr>
        <p:spPr>
          <a:xfrm xmlns:a="http://schemas.openxmlformats.org/drawingml/2006/main">
            <a:off x="723900" y="2076450"/>
            <a:ext cx="2209800" cy="552450"/>
          </a:xfrm>
          <a:prstGeom xmlns:a="http://schemas.openxmlformats.org/drawingml/2006/main" prst="roundRect">
            <a:avLst>
              <a:gd name="adj" fmla="val 13793"/>
            </a:avLst>
          </a:prstGeom>
          <a:solidFill xmlns:a="http://schemas.openxmlformats.org/drawingml/2006/main">
            <a:srgbClr val="2864C5"/>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D20CA48C-0624-4C63-B659-C7043EEF5D45}"/>
              </a:ext>
            </a:extLst>
          </p:cNvPr>
          <p:cNvSpPr>
            <a:spLocks xmlns:a="http://schemas.openxmlformats.org/drawingml/2006/main" noGrp="1"/>
          </p:cNvSpPr>
          <p:nvPr/>
        </p:nvSpPr>
        <p:spPr>
          <a:xfrm xmlns:a="http://schemas.openxmlformats.org/drawingml/2006/main">
            <a:off x="876300" y="2152650"/>
            <a:ext cx="1943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1">
                <a:solidFill>
                  <a:srgbClr val="FFFFFF"/>
                </a:solidFill>
                <a:latin typeface="Helvetica Neue"/>
                <a:ea typeface="Helvetica Neue"/>
                <a:cs typeface="Helvetica Neue"/>
              </a:defRPr>
            </a:defPPr>
          </a:lstStyle>
          <a:p xmlns:a="http://schemas.openxmlformats.org/drawingml/2006/main">
            <a:pPr algn="l">
              <a:lnSpc>
                <a:spcPct val="105000"/>
              </a:lnSpc>
              <a:buNone/>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Mature block 21</a:t>
            </a:r>
          </a:p>
        </p:txBody>
      </p:sp>
      <p:sp>
        <p:nvSpPr>
          <p:cNvPr id="10" name="">
            <a:extLst xmlns:a="http://schemas.openxmlformats.org/drawingml/2006/main">
              <a:ext uri="{FF2B5EF4-FFF2-40B4-BE49-F238E27FC236}">
                <a16:creationId xmlns:a16="http://schemas.microsoft.com/office/drawing/2014/main" id="{B0868151-DF02-41D8-BAA8-EF45BC723533}"/>
              </a:ext>
            </a:extLst>
          </p:cNvPr>
          <p:cNvSpPr>
            <a:spLocks xmlns:a="http://schemas.openxmlformats.org/drawingml/2006/main" noGrp="1"/>
          </p:cNvSpPr>
          <p:nvPr/>
        </p:nvSpPr>
        <p:spPr>
          <a:xfrm xmlns:a="http://schemas.openxmlformats.org/drawingml/2006/main">
            <a:off x="876300" y="2390775"/>
            <a:ext cx="19431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0">
                <a:solidFill>
                  <a:srgbClr val="FFFFFF"/>
                </a:solidFill>
                <a:latin typeface="Helvetica Neue"/>
                <a:ea typeface="Helvetica Neue"/>
                <a:cs typeface="Helvetica Neue"/>
              </a:defRPr>
            </a:defPPr>
          </a:lstStyle>
          <a:p xmlns:a="http://schemas.openxmlformats.org/drawingml/2006/main">
            <a:pPr algn="l">
              <a:lnSpc>
                <a:spcPct val="105000"/>
              </a:lnSpc>
              <a:buNone/>
              <a:defRPr sz="975" b="0">
                <a:solidFill>
                  <a:srgbClr val="FFFFFF"/>
                </a:solidFill>
                <a:latin typeface="Helvetica Neue"/>
                <a:ea typeface="Helvetica Neue"/>
                <a:cs typeface="Helvetica Neue"/>
              </a:defRPr>
            </a:pPr>
            <a:r>
              <a:rPr sz="975" b="0">
                <a:solidFill>
                  <a:srgbClr val="FFFFFF"/>
                </a:solidFill>
                <a:latin typeface="Helvetica Neue"/>
                <a:ea typeface="Helvetica Neue"/>
                <a:cs typeface="Helvetica Neue"/>
              </a:rPr>
              <a:t>Final-layer logits</a:t>
            </a:r>
          </a:p>
        </p:txBody>
      </p:sp>
      <p:sp>
        <p:nvSpPr>
          <p:cNvPr id="11" name="">
            <a:extLst xmlns:a="http://schemas.openxmlformats.org/drawingml/2006/main">
              <a:ext uri="{FF2B5EF4-FFF2-40B4-BE49-F238E27FC236}">
                <a16:creationId xmlns:a16="http://schemas.microsoft.com/office/drawing/2014/main" id="{B240E714-2FED-478F-87B3-97D42E95C5D8}"/>
              </a:ext>
            </a:extLst>
          </p:cNvPr>
          <p:cNvSpPr>
            <a:spLocks xmlns:a="http://schemas.openxmlformats.org/drawingml/2006/main" noGrp="1"/>
          </p:cNvSpPr>
          <p:nvPr/>
        </p:nvSpPr>
        <p:spPr>
          <a:xfrm xmlns:a="http://schemas.openxmlformats.org/drawingml/2006/main">
            <a:off x="723900" y="2857500"/>
            <a:ext cx="2209800" cy="552450"/>
          </a:xfrm>
          <a:prstGeom xmlns:a="http://schemas.openxmlformats.org/drawingml/2006/main" prst="roundRect">
            <a:avLst>
              <a:gd name="adj" fmla="val 13793"/>
            </a:avLst>
          </a:prstGeom>
          <a:solidFill xmlns:a="http://schemas.openxmlformats.org/drawingml/2006/main">
            <a:srgbClr val="148A8A"/>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D69FB8E0-AFE0-4B7A-887D-B0191903F4BB}"/>
              </a:ext>
            </a:extLst>
          </p:cNvPr>
          <p:cNvSpPr>
            <a:spLocks xmlns:a="http://schemas.openxmlformats.org/drawingml/2006/main" noGrp="1"/>
          </p:cNvSpPr>
          <p:nvPr/>
        </p:nvSpPr>
        <p:spPr>
          <a:xfrm xmlns:a="http://schemas.openxmlformats.org/drawingml/2006/main">
            <a:off x="876300" y="2933700"/>
            <a:ext cx="1943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1">
                <a:solidFill>
                  <a:srgbClr val="FFFFFF"/>
                </a:solidFill>
                <a:latin typeface="Helvetica Neue"/>
                <a:ea typeface="Helvetica Neue"/>
                <a:cs typeface="Helvetica Neue"/>
              </a:defRPr>
            </a:defPPr>
          </a:lstStyle>
          <a:p xmlns:a="http://schemas.openxmlformats.org/drawingml/2006/main">
            <a:pPr algn="l">
              <a:lnSpc>
                <a:spcPct val="105000"/>
              </a:lnSpc>
              <a:buNone/>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Candidate blocks</a:t>
            </a:r>
          </a:p>
        </p:txBody>
      </p:sp>
      <p:sp>
        <p:nvSpPr>
          <p:cNvPr id="13" name="">
            <a:extLst xmlns:a="http://schemas.openxmlformats.org/drawingml/2006/main">
              <a:ext uri="{FF2B5EF4-FFF2-40B4-BE49-F238E27FC236}">
                <a16:creationId xmlns:a16="http://schemas.microsoft.com/office/drawing/2014/main" id="{5A18D185-19C7-4A49-B0A0-28EC413D88EC}"/>
              </a:ext>
            </a:extLst>
          </p:cNvPr>
          <p:cNvSpPr>
            <a:spLocks xmlns:a="http://schemas.openxmlformats.org/drawingml/2006/main" noGrp="1"/>
          </p:cNvSpPr>
          <p:nvPr/>
        </p:nvSpPr>
        <p:spPr>
          <a:xfrm xmlns:a="http://schemas.openxmlformats.org/drawingml/2006/main">
            <a:off x="876300" y="3171825"/>
            <a:ext cx="19431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0">
                <a:solidFill>
                  <a:srgbClr val="FFFFFF"/>
                </a:solidFill>
                <a:latin typeface="Helvetica Neue"/>
                <a:ea typeface="Helvetica Neue"/>
                <a:cs typeface="Helvetica Neue"/>
              </a:defRPr>
            </a:defPPr>
          </a:lstStyle>
          <a:p xmlns:a="http://schemas.openxmlformats.org/drawingml/2006/main">
            <a:pPr algn="l">
              <a:lnSpc>
                <a:spcPct val="105000"/>
              </a:lnSpc>
              <a:buNone/>
              <a:defRPr sz="975" b="0">
                <a:solidFill>
                  <a:srgbClr val="FFFFFF"/>
                </a:solidFill>
                <a:latin typeface="Helvetica Neue"/>
                <a:ea typeface="Helvetica Neue"/>
                <a:cs typeface="Helvetica Neue"/>
              </a:defRPr>
            </a:pPr>
            <a:r>
              <a:rPr sz="975" b="0">
                <a:solidFill>
                  <a:srgbClr val="FFFFFF"/>
                </a:solidFill>
                <a:latin typeface="Helvetica Neue"/>
                <a:ea typeface="Helvetica Neue"/>
                <a:cs typeface="Helvetica Neue"/>
              </a:rPr>
              <a:t>0, 4, 8, 12, 16, 20</a:t>
            </a:r>
          </a:p>
        </p:txBody>
      </p:sp>
      <p:sp>
        <p:nvSpPr>
          <p:cNvPr id="14" name="">
            <a:extLst xmlns:a="http://schemas.openxmlformats.org/drawingml/2006/main">
              <a:ext uri="{FF2B5EF4-FFF2-40B4-BE49-F238E27FC236}">
                <a16:creationId xmlns:a16="http://schemas.microsoft.com/office/drawing/2014/main" id="{22011DFC-29AD-452E-A251-31924CA50F2E}"/>
              </a:ext>
            </a:extLst>
          </p:cNvPr>
          <p:cNvSpPr>
            <a:spLocks xmlns:a="http://schemas.openxmlformats.org/drawingml/2006/main" noGrp="1"/>
          </p:cNvSpPr>
          <p:nvPr/>
        </p:nvSpPr>
        <p:spPr>
          <a:xfrm xmlns:a="http://schemas.openxmlformats.org/drawingml/2006/main">
            <a:off x="3219450" y="2190750"/>
            <a:ext cx="32575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1">
                <a:solidFill>
                  <a:srgbClr val="13283F"/>
                </a:solidFill>
                <a:latin typeface="Helvetica Neue"/>
                <a:ea typeface="Helvetica Neue"/>
                <a:cs typeface="Helvetica Neue"/>
              </a:defRPr>
            </a:defPPr>
          </a:lstStyle>
          <a:p xmlns:a="http://schemas.openxmlformats.org/drawingml/2006/main">
            <a:pPr algn="l">
              <a:lnSpc>
                <a:spcPct val="105000"/>
              </a:lnSpc>
              <a:buNone/>
              <a:defRPr sz="1275" b="1">
                <a:solidFill>
                  <a:srgbClr val="13283F"/>
                </a:solidFill>
                <a:latin typeface="Helvetica Neue"/>
                <a:ea typeface="Helvetica Neue"/>
                <a:cs typeface="Helvetica Neue"/>
              </a:defRPr>
            </a:pPr>
            <a:r>
              <a:rPr sz="1275" b="1">
                <a:solidFill>
                  <a:srgbClr val="13283F"/>
                </a:solidFill>
                <a:latin typeface="Helvetica Neue"/>
                <a:ea typeface="Helvetica Neue"/>
                <a:cs typeface="Helvetica Neue"/>
              </a:rPr>
              <a:t>JSD selects the premature block</a:t>
            </a:r>
          </a:p>
          <a:p xmlns:a="http://schemas.openxmlformats.org/drawingml/2006/main">
            <a:pPr algn="l">
              <a:lnSpc>
                <a:spcPct val="105000"/>
              </a:lnSpc>
              <a:buNone/>
              <a:defRPr sz="1275" b="1">
                <a:solidFill>
                  <a:srgbClr val="13283F"/>
                </a:solidFill>
                <a:latin typeface="Helvetica Neue"/>
                <a:ea typeface="Helvetica Neue"/>
                <a:cs typeface="Helvetica Neue"/>
              </a:defRPr>
            </a:pPr>
            <a:r>
              <a:rPr sz="1275" b="1">
                <a:solidFill>
                  <a:srgbClr val="13283F"/>
                </a:solidFill>
                <a:latin typeface="Helvetica Neue"/>
                <a:ea typeface="Helvetica Neue"/>
                <a:cs typeface="Helvetica Neue"/>
              </a:rPr>
              <a:t>Then: mature logits − α × premature logits</a:t>
            </a:r>
          </a:p>
        </p:txBody>
      </p:sp>
      <p:sp>
        <p:nvSpPr>
          <p:cNvPr id="15" name="">
            <a:extLst xmlns:a="http://schemas.openxmlformats.org/drawingml/2006/main">
              <a:ext uri="{FF2B5EF4-FFF2-40B4-BE49-F238E27FC236}">
                <a16:creationId xmlns:a16="http://schemas.microsoft.com/office/drawing/2014/main" id="{18F2F7C5-EB61-439D-8F1E-55560291A215}"/>
              </a:ext>
            </a:extLst>
          </p:cNvPr>
          <p:cNvSpPr>
            <a:spLocks xmlns:a="http://schemas.openxmlformats.org/drawingml/2006/main" noGrp="1"/>
          </p:cNvSpPr>
          <p:nvPr/>
        </p:nvSpPr>
        <p:spPr>
          <a:xfrm xmlns:a="http://schemas.openxmlformats.org/drawingml/2006/main" flipV="0">
            <a:off x="2933700" y="2352675"/>
            <a:ext cx="123825" cy="0"/>
          </a:xfrm>
          <a:prstGeom xmlns:a="http://schemas.openxmlformats.org/drawingml/2006/main" prst="line">
            <a:avLst/>
          </a:prstGeom>
          <a:noFill xmlns:a="http://schemas.openxmlformats.org/drawingml/2006/main"/>
          <a:ln xmlns:a="http://schemas.openxmlformats.org/drawingml/2006/main" w="19050">
            <a:solidFill>
              <a:srgbClr val="2864C5"/>
            </a:solidFill>
            <a:prstDash val="solid"/>
          </a:ln>
        </p:spPr>
      </p:sp>
      <p:sp>
        <p:nvSpPr>
          <p:cNvPr id="16" name="">
            <a:extLst xmlns:a="http://schemas.openxmlformats.org/drawingml/2006/main">
              <a:ext uri="{FF2B5EF4-FFF2-40B4-BE49-F238E27FC236}">
                <a16:creationId xmlns:a16="http://schemas.microsoft.com/office/drawing/2014/main" id="{921A5A03-3EB2-4BE4-8064-4C0A7EC117F2}"/>
              </a:ext>
            </a:extLst>
          </p:cNvPr>
          <p:cNvSpPr>
            <a:spLocks xmlns:a="http://schemas.openxmlformats.org/drawingml/2006/main" noGrp="1"/>
          </p:cNvSpPr>
          <p:nvPr/>
        </p:nvSpPr>
        <p:spPr>
          <a:xfrm xmlns:a="http://schemas.openxmlformats.org/drawingml/2006/main" rot="5400000">
            <a:off x="3009900" y="2295525"/>
            <a:ext cx="114300" cy="114300"/>
          </a:xfrm>
          <a:prstGeom xmlns:a="http://schemas.openxmlformats.org/drawingml/2006/main" prst="triangle">
            <a:avLst/>
          </a:prstGeom>
          <a:solidFill xmlns:a="http://schemas.openxmlformats.org/drawingml/2006/main">
            <a:srgbClr val="2864C5"/>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0FFEC64C-7519-420A-826B-EE519EDE54AF}"/>
              </a:ext>
            </a:extLst>
          </p:cNvPr>
          <p:cNvSpPr>
            <a:spLocks xmlns:a="http://schemas.openxmlformats.org/drawingml/2006/main" noGrp="1"/>
          </p:cNvSpPr>
          <p:nvPr/>
        </p:nvSpPr>
        <p:spPr>
          <a:xfrm xmlns:a="http://schemas.openxmlformats.org/drawingml/2006/main" flipV="0">
            <a:off x="2933700" y="3133725"/>
            <a:ext cx="123825" cy="0"/>
          </a:xfrm>
          <a:prstGeom xmlns:a="http://schemas.openxmlformats.org/drawingml/2006/main" prst="line">
            <a:avLst/>
          </a:prstGeom>
          <a:noFill xmlns:a="http://schemas.openxmlformats.org/drawingml/2006/main"/>
          <a:ln xmlns:a="http://schemas.openxmlformats.org/drawingml/2006/main" w="19050">
            <a:solidFill>
              <a:srgbClr val="148A8A"/>
            </a:solidFill>
            <a:prstDash val="solid"/>
          </a:ln>
        </p:spPr>
      </p:sp>
      <p:sp>
        <p:nvSpPr>
          <p:cNvPr id="18" name="">
            <a:extLst xmlns:a="http://schemas.openxmlformats.org/drawingml/2006/main">
              <a:ext uri="{FF2B5EF4-FFF2-40B4-BE49-F238E27FC236}">
                <a16:creationId xmlns:a16="http://schemas.microsoft.com/office/drawing/2014/main" id="{68482B46-4CCF-499D-8249-02585424FDA0}"/>
              </a:ext>
            </a:extLst>
          </p:cNvPr>
          <p:cNvSpPr>
            <a:spLocks xmlns:a="http://schemas.openxmlformats.org/drawingml/2006/main" noGrp="1"/>
          </p:cNvSpPr>
          <p:nvPr/>
        </p:nvSpPr>
        <p:spPr>
          <a:xfrm xmlns:a="http://schemas.openxmlformats.org/drawingml/2006/main" rot="5400000">
            <a:off x="3009900" y="3076575"/>
            <a:ext cx="114300" cy="114300"/>
          </a:xfrm>
          <a:prstGeom xmlns:a="http://schemas.openxmlformats.org/drawingml/2006/main" prst="triangle">
            <a:avLst/>
          </a:prstGeom>
          <a:solidFill xmlns:a="http://schemas.openxmlformats.org/drawingml/2006/main">
            <a:srgbClr val="148A8A"/>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6A7D3105-A91D-48B5-964D-D8EFFC494BC2}"/>
              </a:ext>
            </a:extLst>
          </p:cNvPr>
          <p:cNvSpPr>
            <a:spLocks xmlns:a="http://schemas.openxmlformats.org/drawingml/2006/main" noGrp="1"/>
          </p:cNvSpPr>
          <p:nvPr/>
        </p:nvSpPr>
        <p:spPr>
          <a:xfrm xmlns:a="http://schemas.openxmlformats.org/drawingml/2006/main">
            <a:off x="723900" y="3752850"/>
            <a:ext cx="5753100" cy="809625"/>
          </a:xfrm>
          <a:prstGeom xmlns:a="http://schemas.openxmlformats.org/drawingml/2006/main" prst="roundRect">
            <a:avLst>
              <a:gd name="adj" fmla="val 9412"/>
            </a:avLst>
          </a:prstGeom>
          <a:solidFill xmlns:a="http://schemas.openxmlformats.org/drawingml/2006/main">
            <a:srgbClr val="E8F0FC"/>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A07DA87F-9387-41DC-975A-4DCCADBCFDA8}"/>
              </a:ext>
            </a:extLst>
          </p:cNvPr>
          <p:cNvSpPr>
            <a:spLocks xmlns:a="http://schemas.openxmlformats.org/drawingml/2006/main" noGrp="1"/>
          </p:cNvSpPr>
          <p:nvPr/>
        </p:nvSpPr>
        <p:spPr>
          <a:xfrm xmlns:a="http://schemas.openxmlformats.org/drawingml/2006/main">
            <a:off x="914400" y="3914775"/>
            <a:ext cx="2286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1">
                <a:solidFill>
                  <a:srgbClr val="10253F"/>
                </a:solidFill>
                <a:latin typeface="Helvetica Neue"/>
                <a:ea typeface="Helvetica Neue"/>
                <a:cs typeface="Helvetica Neue"/>
              </a:defRPr>
            </a:defPPr>
          </a:lstStyle>
          <a:p xmlns:a="http://schemas.openxmlformats.org/drawingml/2006/main">
            <a:pPr algn="l">
              <a:lnSpc>
                <a:spcPct val="105000"/>
              </a:lnSpc>
              <a:buNone/>
              <a:defRPr sz="1350" b="1">
                <a:solidFill>
                  <a:srgbClr val="10253F"/>
                </a:solidFill>
                <a:latin typeface="Helvetica Neue"/>
                <a:ea typeface="Helvetica Neue"/>
                <a:cs typeface="Helvetica Neue"/>
              </a:defRPr>
            </a:pPr>
            <a:r>
              <a:rPr sz="1350" b="1">
                <a:solidFill>
                  <a:srgbClr val="10253F"/>
                </a:solidFill>
                <a:latin typeface="Helvetica Neue"/>
                <a:ea typeface="Helvetica Neue"/>
                <a:cs typeface="Helvetica Neue"/>
              </a:rPr>
              <a:t>Next-token distribution</a:t>
            </a:r>
          </a:p>
        </p:txBody>
      </p:sp>
      <p:sp>
        <p:nvSpPr>
          <p:cNvPr id="21" name="">
            <a:extLst xmlns:a="http://schemas.openxmlformats.org/drawingml/2006/main">
              <a:ext uri="{FF2B5EF4-FFF2-40B4-BE49-F238E27FC236}">
                <a16:creationId xmlns:a16="http://schemas.microsoft.com/office/drawing/2014/main" id="{BBD04B1C-482A-4A38-AA86-07551F052345}"/>
              </a:ext>
            </a:extLst>
          </p:cNvPr>
          <p:cNvSpPr>
            <a:spLocks xmlns:a="http://schemas.openxmlformats.org/drawingml/2006/main" noGrp="1"/>
          </p:cNvSpPr>
          <p:nvPr/>
        </p:nvSpPr>
        <p:spPr>
          <a:xfrm xmlns:a="http://schemas.openxmlformats.org/drawingml/2006/main">
            <a:off x="914400" y="4219575"/>
            <a:ext cx="3429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125" b="0">
                <a:solidFill>
                  <a:srgbClr val="536477"/>
                </a:solidFill>
                <a:latin typeface="Helvetica Neue"/>
                <a:ea typeface="Helvetica Neue"/>
                <a:cs typeface="Helvetica Neue"/>
              </a:defRPr>
            </a:defPPr>
          </a:lstStyle>
          <a:p xmlns:a="http://schemas.openxmlformats.org/drawingml/2006/main">
            <a:pPr algn="l">
              <a:lnSpc>
                <a:spcPct val="105000"/>
              </a:lnSpc>
              <a:buNone/>
              <a:defRPr sz="1125" b="0">
                <a:solidFill>
                  <a:srgbClr val="536477"/>
                </a:solidFill>
                <a:latin typeface="Helvetica Neue"/>
                <a:ea typeface="Helvetica Neue"/>
                <a:cs typeface="Helvetica Neue"/>
              </a:defRPr>
            </a:pPr>
            <a:r>
              <a:rPr sz="1125" b="0">
                <a:solidFill>
                  <a:srgbClr val="536477"/>
                </a:solidFill>
                <a:latin typeface="Helvetica Neue"/>
                <a:ea typeface="Helvetica Neue"/>
                <a:cs typeface="Helvetica Neue"/>
              </a:rPr>
              <a:t>softmax(contrastive logits)</a:t>
            </a:r>
          </a:p>
        </p:txBody>
      </p:sp>
      <p:sp>
        <p:nvSpPr>
          <p:cNvPr id="22" name="">
            <a:extLst xmlns:a="http://schemas.openxmlformats.org/drawingml/2006/main">
              <a:ext uri="{FF2B5EF4-FFF2-40B4-BE49-F238E27FC236}">
                <a16:creationId xmlns:a16="http://schemas.microsoft.com/office/drawing/2014/main" id="{347F30D4-4E6B-4414-90DA-36EE880A035D}"/>
              </a:ext>
            </a:extLst>
          </p:cNvPr>
          <p:cNvSpPr>
            <a:spLocks xmlns:a="http://schemas.openxmlformats.org/drawingml/2006/main" noGrp="1"/>
          </p:cNvSpPr>
          <p:nvPr/>
        </p:nvSpPr>
        <p:spPr>
          <a:xfrm xmlns:a="http://schemas.openxmlformats.org/drawingml/2006/main" flipV="0">
            <a:off x="4895850" y="3209925"/>
            <a:ext cx="0" cy="390525"/>
          </a:xfrm>
          <a:prstGeom xmlns:a="http://schemas.openxmlformats.org/drawingml/2006/main" prst="line">
            <a:avLst/>
          </a:prstGeom>
          <a:noFill xmlns:a="http://schemas.openxmlformats.org/drawingml/2006/main"/>
          <a:ln xmlns:a="http://schemas.openxmlformats.org/drawingml/2006/main" w="19050">
            <a:solidFill>
              <a:srgbClr val="2864C5"/>
            </a:solidFill>
            <a:prstDash val="solid"/>
          </a:ln>
        </p:spPr>
      </p:sp>
      <p:sp>
        <p:nvSpPr>
          <p:cNvPr id="23" name="">
            <a:extLst xmlns:a="http://schemas.openxmlformats.org/drawingml/2006/main">
              <a:ext uri="{FF2B5EF4-FFF2-40B4-BE49-F238E27FC236}">
                <a16:creationId xmlns:a16="http://schemas.microsoft.com/office/drawing/2014/main" id="{277942C0-1A57-42A8-88A0-2C7CDA3240B6}"/>
              </a:ext>
            </a:extLst>
          </p:cNvPr>
          <p:cNvSpPr>
            <a:spLocks xmlns:a="http://schemas.openxmlformats.org/drawingml/2006/main" noGrp="1"/>
          </p:cNvSpPr>
          <p:nvPr/>
        </p:nvSpPr>
        <p:spPr>
          <a:xfrm xmlns:a="http://schemas.openxmlformats.org/drawingml/2006/main" rot="10800000">
            <a:off x="4838700" y="3552825"/>
            <a:ext cx="114300" cy="114300"/>
          </a:xfrm>
          <a:prstGeom xmlns:a="http://schemas.openxmlformats.org/drawingml/2006/main" prst="triangle">
            <a:avLst/>
          </a:prstGeom>
          <a:solidFill xmlns:a="http://schemas.openxmlformats.org/drawingml/2006/main">
            <a:srgbClr val="2864C5"/>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A072E6EF-55DB-4BCF-BDD5-DED5A159B96C}"/>
              </a:ext>
            </a:extLst>
          </p:cNvPr>
          <p:cNvSpPr>
            <a:spLocks xmlns:a="http://schemas.openxmlformats.org/drawingml/2006/main" noGrp="1"/>
          </p:cNvSpPr>
          <p:nvPr/>
        </p:nvSpPr>
        <p:spPr>
          <a:xfrm xmlns:a="http://schemas.openxmlformats.org/drawingml/2006/main" flipV="0">
            <a:off x="6781800" y="1390650"/>
            <a:ext cx="0" cy="3543300"/>
          </a:xfrm>
          <a:prstGeom xmlns:a="http://schemas.openxmlformats.org/drawingml/2006/main" prst="line">
            <a:avLst/>
          </a:prstGeom>
          <a:noFill xmlns:a="http://schemas.openxmlformats.org/drawingml/2006/main"/>
          <a:ln xmlns:a="http://schemas.openxmlformats.org/drawingml/2006/main" w="9525">
            <a:solidFill>
              <a:srgbClr val="D6DEE8"/>
            </a:solidFill>
            <a:prstDash val="solid"/>
          </a:ln>
        </p:spPr>
      </p:sp>
      <p:sp>
        <p:nvSpPr>
          <p:cNvPr id="25" name="">
            <a:extLst xmlns:a="http://schemas.openxmlformats.org/drawingml/2006/main">
              <a:ext uri="{FF2B5EF4-FFF2-40B4-BE49-F238E27FC236}">
                <a16:creationId xmlns:a16="http://schemas.microsoft.com/office/drawing/2014/main" id="{F71C72C8-26E7-4A9B-A471-14B06D54A3AF}"/>
              </a:ext>
            </a:extLst>
          </p:cNvPr>
          <p:cNvSpPr>
            <a:spLocks xmlns:a="http://schemas.openxmlformats.org/drawingml/2006/main" noGrp="1"/>
          </p:cNvSpPr>
          <p:nvPr/>
        </p:nvSpPr>
        <p:spPr>
          <a:xfrm xmlns:a="http://schemas.openxmlformats.org/drawingml/2006/main">
            <a:off x="7124700" y="1390650"/>
            <a:ext cx="4191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1">
                <a:solidFill>
                  <a:srgbClr val="148A8A"/>
                </a:solidFill>
                <a:latin typeface="Helvetica Neue"/>
                <a:ea typeface="Helvetica Neue"/>
                <a:cs typeface="Helvetica Neue"/>
              </a:defRPr>
            </a:defPPr>
          </a:lstStyle>
          <a:p xmlns:a="http://schemas.openxmlformats.org/drawingml/2006/main">
            <a:pPr algn="l">
              <a:lnSpc>
                <a:spcPct val="105000"/>
              </a:lnSpc>
              <a:buNone/>
              <a:defRPr sz="975" b="1">
                <a:solidFill>
                  <a:srgbClr val="148A8A"/>
                </a:solidFill>
                <a:latin typeface="Helvetica Neue"/>
                <a:ea typeface="Helvetica Neue"/>
                <a:cs typeface="Helvetica Neue"/>
              </a:defRPr>
            </a:pPr>
            <a:r>
              <a:rPr sz="975" b="1">
                <a:solidFill>
                  <a:srgbClr val="148A8A"/>
                </a:solidFill>
                <a:latin typeface="Helvetica Neue"/>
                <a:ea typeface="Helvetica Neue"/>
                <a:cs typeface="Helvetica Neue"/>
              </a:rPr>
              <a:t>B  EPISTEMIC NEURAL NETWORK</a:t>
            </a:r>
          </a:p>
        </p:txBody>
      </p:sp>
      <p:sp>
        <p:nvSpPr>
          <p:cNvPr id="26" name="">
            <a:extLst xmlns:a="http://schemas.openxmlformats.org/drawingml/2006/main">
              <a:ext uri="{FF2B5EF4-FFF2-40B4-BE49-F238E27FC236}">
                <a16:creationId xmlns:a16="http://schemas.microsoft.com/office/drawing/2014/main" id="{54AF8559-9C1D-4E9A-B889-30851C860A1F}"/>
              </a:ext>
            </a:extLst>
          </p:cNvPr>
          <p:cNvSpPr>
            <a:spLocks xmlns:a="http://schemas.openxmlformats.org/drawingml/2006/main" noGrp="1"/>
          </p:cNvSpPr>
          <p:nvPr/>
        </p:nvSpPr>
        <p:spPr>
          <a:xfrm xmlns:a="http://schemas.openxmlformats.org/drawingml/2006/main">
            <a:off x="7143750" y="1809750"/>
            <a:ext cx="3905250" cy="638175"/>
          </a:xfrm>
          <a:prstGeom xmlns:a="http://schemas.openxmlformats.org/drawingml/2006/main" prst="roundRect">
            <a:avLst>
              <a:gd name="adj" fmla="val 11940"/>
            </a:avLst>
          </a:prstGeom>
          <a:solidFill xmlns:a="http://schemas.openxmlformats.org/drawingml/2006/main">
            <a:srgbClr val="FFFFFF"/>
          </a:solidFill>
          <a:ln xmlns:a="http://schemas.openxmlformats.org/drawingml/2006/main" w="9525">
            <a:solidFill>
              <a:srgbClr val="D6DEE8"/>
            </a:solidFill>
            <a:prstDash val="solid"/>
          </a:ln>
        </p:spPr>
      </p:sp>
      <p:sp>
        <p:nvSpPr>
          <p:cNvPr id="27" name="">
            <a:extLst xmlns:a="http://schemas.openxmlformats.org/drawingml/2006/main">
              <a:ext uri="{FF2B5EF4-FFF2-40B4-BE49-F238E27FC236}">
                <a16:creationId xmlns:a16="http://schemas.microsoft.com/office/drawing/2014/main" id="{1D863608-F2AE-41AC-B561-42D948B5E884}"/>
              </a:ext>
            </a:extLst>
          </p:cNvPr>
          <p:cNvSpPr>
            <a:spLocks xmlns:a="http://schemas.openxmlformats.org/drawingml/2006/main" noGrp="1"/>
          </p:cNvSpPr>
          <p:nvPr/>
        </p:nvSpPr>
        <p:spPr>
          <a:xfrm xmlns:a="http://schemas.openxmlformats.org/drawingml/2006/main">
            <a:off x="7143750" y="1809750"/>
            <a:ext cx="47625" cy="638175"/>
          </a:xfrm>
          <a:prstGeom xmlns:a="http://schemas.openxmlformats.org/drawingml/2006/main" prst="rect">
            <a:avLst/>
          </a:prstGeom>
          <a:solidFill xmlns:a="http://schemas.openxmlformats.org/drawingml/2006/main">
            <a:srgbClr val="2864C5"/>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7A9F17D4-51BE-4F75-94F6-CC9BBD53566C}"/>
              </a:ext>
            </a:extLst>
          </p:cNvPr>
          <p:cNvSpPr>
            <a:spLocks xmlns:a="http://schemas.openxmlformats.org/drawingml/2006/main" noGrp="1"/>
          </p:cNvSpPr>
          <p:nvPr/>
        </p:nvSpPr>
        <p:spPr>
          <a:xfrm xmlns:a="http://schemas.openxmlformats.org/drawingml/2006/main">
            <a:off x="7315200" y="1952625"/>
            <a:ext cx="35814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1">
                <a:solidFill>
                  <a:srgbClr val="10253F"/>
                </a:solidFill>
                <a:latin typeface="Helvetica Neue"/>
                <a:ea typeface="Helvetica Neue"/>
                <a:cs typeface="Helvetica Neue"/>
              </a:defRPr>
            </a:defPPr>
          </a:lstStyle>
          <a:p xmlns:a="http://schemas.openxmlformats.org/drawingml/2006/main">
            <a:pPr algn="l">
              <a:lnSpc>
                <a:spcPct val="105000"/>
              </a:lnSpc>
              <a:buNone/>
              <a:defRPr sz="1425" b="1">
                <a:solidFill>
                  <a:srgbClr val="10253F"/>
                </a:solidFill>
                <a:latin typeface="Helvetica Neue"/>
                <a:ea typeface="Helvetica Neue"/>
                <a:cs typeface="Helvetica Neue"/>
              </a:defRPr>
            </a:pPr>
            <a:r>
              <a:rPr sz="1425" b="1">
                <a:solidFill>
                  <a:srgbClr val="10253F"/>
                </a:solidFill>
                <a:latin typeface="Helvetica Neue"/>
                <a:ea typeface="Helvetica Neue"/>
                <a:cs typeface="Helvetica Neue"/>
              </a:rPr>
              <a:t>Input feature x</a:t>
            </a:r>
          </a:p>
        </p:txBody>
      </p:sp>
      <p:sp>
        <p:nvSpPr>
          <p:cNvPr id="29" name="">
            <a:extLst xmlns:a="http://schemas.openxmlformats.org/drawingml/2006/main">
              <a:ext uri="{FF2B5EF4-FFF2-40B4-BE49-F238E27FC236}">
                <a16:creationId xmlns:a16="http://schemas.microsoft.com/office/drawing/2014/main" id="{FF71C60F-2E28-425E-A729-DD934E33EE7A}"/>
              </a:ext>
            </a:extLst>
          </p:cNvPr>
          <p:cNvSpPr>
            <a:spLocks xmlns:a="http://schemas.openxmlformats.org/drawingml/2006/main" noGrp="1"/>
          </p:cNvSpPr>
          <p:nvPr/>
        </p:nvSpPr>
        <p:spPr>
          <a:xfrm xmlns:a="http://schemas.openxmlformats.org/drawingml/2006/main">
            <a:off x="7315200" y="2266950"/>
            <a:ext cx="3581400" cy="95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56689"/>
          </a:bodyPr>
          <a:lstStyle xmlns:a="http://schemas.openxmlformats.org/drawingml/2006/main">
            <a:defPPr algn="l">
              <a:defRPr sz="1050" b="0">
                <a:solidFill>
                  <a:srgbClr val="536477"/>
                </a:solidFill>
                <a:latin typeface="Helvetica Neue"/>
                <a:ea typeface="Helvetica Neue"/>
                <a:cs typeface="Helvetica Neue"/>
              </a:defRPr>
            </a:defPPr>
          </a:lstStyle>
          <a:p xmlns:a="http://schemas.openxmlformats.org/drawingml/2006/main">
            <a:pPr algn="l">
              <a:lnSpc>
                <a:spcPct val="105000"/>
              </a:lnSpc>
              <a:buNone/>
              <a:defRPr sz="1050" b="0">
                <a:solidFill>
                  <a:srgbClr val="536477"/>
                </a:solidFill>
                <a:latin typeface="Helvetica Neue"/>
                <a:ea typeface="Helvetica Neue"/>
                <a:cs typeface="Helvetica Neue"/>
              </a:defRPr>
            </a:pPr>
            <a:r>
              <a:rPr sz="1050" b="0">
                <a:solidFill>
                  <a:srgbClr val="536477"/>
                </a:solidFill>
                <a:latin typeface="Helvetica Neue"/>
                <a:ea typeface="Helvetica Neue"/>
                <a:cs typeface="Helvetica Neue"/>
              </a:rPr>
              <a:t>Concatenate mature + premature (2 × 2,048)</a:t>
            </a:r>
          </a:p>
        </p:txBody>
      </p:sp>
      <p:sp>
        <p:nvSpPr>
          <p:cNvPr id="30" name="">
            <a:extLst xmlns:a="http://schemas.openxmlformats.org/drawingml/2006/main">
              <a:ext uri="{FF2B5EF4-FFF2-40B4-BE49-F238E27FC236}">
                <a16:creationId xmlns:a16="http://schemas.microsoft.com/office/drawing/2014/main" id="{4D01931D-A034-4EF8-BEC1-C724E5746FC1}"/>
              </a:ext>
            </a:extLst>
          </p:cNvPr>
          <p:cNvSpPr>
            <a:spLocks xmlns:a="http://schemas.openxmlformats.org/drawingml/2006/main" noGrp="1"/>
          </p:cNvSpPr>
          <p:nvPr/>
        </p:nvSpPr>
        <p:spPr>
          <a:xfrm xmlns:a="http://schemas.openxmlformats.org/drawingml/2006/main" flipV="0">
            <a:off x="9029700" y="2447925"/>
            <a:ext cx="66675" cy="219075"/>
          </a:xfrm>
          <a:prstGeom xmlns:a="http://schemas.openxmlformats.org/drawingml/2006/main" prst="line">
            <a:avLst/>
          </a:prstGeom>
          <a:noFill xmlns:a="http://schemas.openxmlformats.org/drawingml/2006/main"/>
          <a:ln xmlns:a="http://schemas.openxmlformats.org/drawingml/2006/main" w="19050">
            <a:solidFill>
              <a:srgbClr val="2864C5"/>
            </a:solidFill>
            <a:prstDash val="solid"/>
          </a:ln>
        </p:spPr>
      </p:sp>
      <p:sp>
        <p:nvSpPr>
          <p:cNvPr id="31" name="">
            <a:extLst xmlns:a="http://schemas.openxmlformats.org/drawingml/2006/main">
              <a:ext uri="{FF2B5EF4-FFF2-40B4-BE49-F238E27FC236}">
                <a16:creationId xmlns:a16="http://schemas.microsoft.com/office/drawing/2014/main" id="{94952536-CDEB-454C-8D85-E11BB247DEC1}"/>
              </a:ext>
            </a:extLst>
          </p:cNvPr>
          <p:cNvSpPr>
            <a:spLocks xmlns:a="http://schemas.openxmlformats.org/drawingml/2006/main" noGrp="1"/>
          </p:cNvSpPr>
          <p:nvPr/>
        </p:nvSpPr>
        <p:spPr>
          <a:xfrm xmlns:a="http://schemas.openxmlformats.org/drawingml/2006/main" rot="5400000">
            <a:off x="8982075" y="2609850"/>
            <a:ext cx="114300" cy="114300"/>
          </a:xfrm>
          <a:prstGeom xmlns:a="http://schemas.openxmlformats.org/drawingml/2006/main" prst="triangle">
            <a:avLst/>
          </a:prstGeom>
          <a:solidFill xmlns:a="http://schemas.openxmlformats.org/drawingml/2006/main">
            <a:srgbClr val="2864C5"/>
          </a:solidFill>
          <a:ln xmlns:a="http://schemas.openxmlformats.org/drawingml/2006/main" w="0">
            <a:noFill/>
            <a:prstDash val="solid"/>
          </a:ln>
        </p:spPr>
      </p:sp>
      <p:sp>
        <p:nvSpPr>
          <p:cNvPr id="32" name="">
            <a:extLst xmlns:a="http://schemas.openxmlformats.org/drawingml/2006/main">
              <a:ext uri="{FF2B5EF4-FFF2-40B4-BE49-F238E27FC236}">
                <a16:creationId xmlns:a16="http://schemas.microsoft.com/office/drawing/2014/main" id="{CDFDECF6-879A-4BCD-A8D9-5FBCC2DCD371}"/>
              </a:ext>
            </a:extLst>
          </p:cNvPr>
          <p:cNvSpPr>
            <a:spLocks xmlns:a="http://schemas.openxmlformats.org/drawingml/2006/main" noGrp="1"/>
          </p:cNvSpPr>
          <p:nvPr/>
        </p:nvSpPr>
        <p:spPr>
          <a:xfrm xmlns:a="http://schemas.openxmlformats.org/drawingml/2006/main">
            <a:off x="7143750" y="2714625"/>
            <a:ext cx="1866900" cy="895350"/>
          </a:xfrm>
          <a:prstGeom xmlns:a="http://schemas.openxmlformats.org/drawingml/2006/main" prst="roundRect">
            <a:avLst>
              <a:gd name="adj" fmla="val 8511"/>
            </a:avLst>
          </a:prstGeom>
          <a:solidFill xmlns:a="http://schemas.openxmlformats.org/drawingml/2006/main">
            <a:srgbClr val="FFFFFF"/>
          </a:solidFill>
          <a:ln xmlns:a="http://schemas.openxmlformats.org/drawingml/2006/main" w="9525">
            <a:solidFill>
              <a:srgbClr val="D6DEE8"/>
            </a:solidFill>
            <a:prstDash val="solid"/>
          </a:ln>
        </p:spPr>
      </p:sp>
      <p:sp>
        <p:nvSpPr>
          <p:cNvPr id="33" name="">
            <a:extLst xmlns:a="http://schemas.openxmlformats.org/drawingml/2006/main">
              <a:ext uri="{FF2B5EF4-FFF2-40B4-BE49-F238E27FC236}">
                <a16:creationId xmlns:a16="http://schemas.microsoft.com/office/drawing/2014/main" id="{2B2BAA0F-7F20-4410-93D2-1E7F5877D04C}"/>
              </a:ext>
            </a:extLst>
          </p:cNvPr>
          <p:cNvSpPr>
            <a:spLocks xmlns:a="http://schemas.openxmlformats.org/drawingml/2006/main" noGrp="1"/>
          </p:cNvSpPr>
          <p:nvPr/>
        </p:nvSpPr>
        <p:spPr>
          <a:xfrm xmlns:a="http://schemas.openxmlformats.org/drawingml/2006/main">
            <a:off x="7143750" y="2714625"/>
            <a:ext cx="47625" cy="895350"/>
          </a:xfrm>
          <a:prstGeom xmlns:a="http://schemas.openxmlformats.org/drawingml/2006/main" prst="rect">
            <a:avLst/>
          </a:prstGeom>
          <a:solidFill xmlns:a="http://schemas.openxmlformats.org/drawingml/2006/main">
            <a:srgbClr val="536477"/>
          </a:solidFill>
          <a:ln xmlns:a="http://schemas.openxmlformats.org/drawingml/2006/main" w="0">
            <a:noFill/>
            <a:prstDash val="solid"/>
          </a:ln>
        </p:spPr>
      </p:sp>
      <p:sp>
        <p:nvSpPr>
          <p:cNvPr id="34" name="">
            <a:extLst xmlns:a="http://schemas.openxmlformats.org/drawingml/2006/main">
              <a:ext uri="{FF2B5EF4-FFF2-40B4-BE49-F238E27FC236}">
                <a16:creationId xmlns:a16="http://schemas.microsoft.com/office/drawing/2014/main" id="{522AFA21-C68C-4205-9A86-FCDB6024738F}"/>
              </a:ext>
            </a:extLst>
          </p:cNvPr>
          <p:cNvSpPr>
            <a:spLocks xmlns:a="http://schemas.openxmlformats.org/drawingml/2006/main" noGrp="1"/>
          </p:cNvSpPr>
          <p:nvPr/>
        </p:nvSpPr>
        <p:spPr>
          <a:xfrm xmlns:a="http://schemas.openxmlformats.org/drawingml/2006/main">
            <a:off x="7315200" y="2857500"/>
            <a:ext cx="1543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1">
                <a:solidFill>
                  <a:srgbClr val="10253F"/>
                </a:solidFill>
                <a:latin typeface="Helvetica Neue"/>
                <a:ea typeface="Helvetica Neue"/>
                <a:cs typeface="Helvetica Neue"/>
              </a:defRPr>
            </a:defPPr>
          </a:lstStyle>
          <a:p xmlns:a="http://schemas.openxmlformats.org/drawingml/2006/main">
            <a:pPr algn="l">
              <a:lnSpc>
                <a:spcPct val="105000"/>
              </a:lnSpc>
              <a:buNone/>
              <a:defRPr sz="1425" b="1">
                <a:solidFill>
                  <a:srgbClr val="10253F"/>
                </a:solidFill>
                <a:latin typeface="Helvetica Neue"/>
                <a:ea typeface="Helvetica Neue"/>
                <a:cs typeface="Helvetica Neue"/>
              </a:defRPr>
            </a:pPr>
            <a:r>
              <a:rPr sz="1425" b="1">
                <a:solidFill>
                  <a:srgbClr val="10253F"/>
                </a:solidFill>
                <a:latin typeface="Helvetica Neue"/>
                <a:ea typeface="Helvetica Neue"/>
                <a:cs typeface="Helvetica Neue"/>
              </a:rPr>
              <a:t>Frozen prior</a:t>
            </a:r>
          </a:p>
        </p:txBody>
      </p:sp>
      <p:sp>
        <p:nvSpPr>
          <p:cNvPr id="35" name="">
            <a:extLst xmlns:a="http://schemas.openxmlformats.org/drawingml/2006/main">
              <a:ext uri="{FF2B5EF4-FFF2-40B4-BE49-F238E27FC236}">
                <a16:creationId xmlns:a16="http://schemas.microsoft.com/office/drawing/2014/main" id="{5C3C73DB-5F1F-42F9-9451-CF46A457A385}"/>
              </a:ext>
            </a:extLst>
          </p:cNvPr>
          <p:cNvSpPr>
            <a:spLocks xmlns:a="http://schemas.openxmlformats.org/drawingml/2006/main" noGrp="1"/>
          </p:cNvSpPr>
          <p:nvPr/>
        </p:nvSpPr>
        <p:spPr>
          <a:xfrm xmlns:a="http://schemas.openxmlformats.org/drawingml/2006/main">
            <a:off x="7315200" y="3171825"/>
            <a:ext cx="154305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0">
                <a:solidFill>
                  <a:srgbClr val="536477"/>
                </a:solidFill>
                <a:latin typeface="Helvetica Neue"/>
                <a:ea typeface="Helvetica Neue"/>
                <a:cs typeface="Helvetica Neue"/>
              </a:defRPr>
            </a:defPPr>
          </a:lstStyle>
          <a:p xmlns:a="http://schemas.openxmlformats.org/drawingml/2006/main">
            <a:pPr algn="l">
              <a:lnSpc>
                <a:spcPct val="105000"/>
              </a:lnSpc>
              <a:buNone/>
              <a:defRPr sz="1050" b="0">
                <a:solidFill>
                  <a:srgbClr val="536477"/>
                </a:solidFill>
                <a:latin typeface="Helvetica Neue"/>
                <a:ea typeface="Helvetica Neue"/>
                <a:cs typeface="Helvetica Neue"/>
              </a:defRPr>
            </a:pPr>
            <a:r>
              <a:rPr sz="1050" b="0">
                <a:solidFill>
                  <a:srgbClr val="536477"/>
                </a:solidFill>
                <a:latin typeface="Helvetica Neue"/>
                <a:ea typeface="Helvetica Neue"/>
                <a:cs typeface="Helvetica Neue"/>
              </a:rPr>
              <a:t>Random indexed MLP</a:t>
            </a:r>
          </a:p>
        </p:txBody>
      </p:sp>
      <p:sp>
        <p:nvSpPr>
          <p:cNvPr id="36" name="">
            <a:extLst xmlns:a="http://schemas.openxmlformats.org/drawingml/2006/main">
              <a:ext uri="{FF2B5EF4-FFF2-40B4-BE49-F238E27FC236}">
                <a16:creationId xmlns:a16="http://schemas.microsoft.com/office/drawing/2014/main" id="{B66E3CCB-67B7-420C-9B39-B41BA1E47DCF}"/>
              </a:ext>
            </a:extLst>
          </p:cNvPr>
          <p:cNvSpPr>
            <a:spLocks xmlns:a="http://schemas.openxmlformats.org/drawingml/2006/main" noGrp="1"/>
          </p:cNvSpPr>
          <p:nvPr/>
        </p:nvSpPr>
        <p:spPr>
          <a:xfrm xmlns:a="http://schemas.openxmlformats.org/drawingml/2006/main">
            <a:off x="9182100" y="2714625"/>
            <a:ext cx="1866900" cy="895350"/>
          </a:xfrm>
          <a:prstGeom xmlns:a="http://schemas.openxmlformats.org/drawingml/2006/main" prst="roundRect">
            <a:avLst>
              <a:gd name="adj" fmla="val 8511"/>
            </a:avLst>
          </a:prstGeom>
          <a:solidFill xmlns:a="http://schemas.openxmlformats.org/drawingml/2006/main">
            <a:srgbClr val="FFFFFF"/>
          </a:solidFill>
          <a:ln xmlns:a="http://schemas.openxmlformats.org/drawingml/2006/main" w="9525">
            <a:solidFill>
              <a:srgbClr val="D6DEE8"/>
            </a:solidFill>
            <a:prstDash val="solid"/>
          </a:ln>
        </p:spPr>
      </p:sp>
      <p:sp>
        <p:nvSpPr>
          <p:cNvPr id="37" name="">
            <a:extLst xmlns:a="http://schemas.openxmlformats.org/drawingml/2006/main">
              <a:ext uri="{FF2B5EF4-FFF2-40B4-BE49-F238E27FC236}">
                <a16:creationId xmlns:a16="http://schemas.microsoft.com/office/drawing/2014/main" id="{0A98DD96-F31C-40F4-950C-095439734574}"/>
              </a:ext>
            </a:extLst>
          </p:cNvPr>
          <p:cNvSpPr>
            <a:spLocks xmlns:a="http://schemas.openxmlformats.org/drawingml/2006/main" noGrp="1"/>
          </p:cNvSpPr>
          <p:nvPr/>
        </p:nvSpPr>
        <p:spPr>
          <a:xfrm xmlns:a="http://schemas.openxmlformats.org/drawingml/2006/main">
            <a:off x="9182100" y="2714625"/>
            <a:ext cx="47625" cy="895350"/>
          </a:xfrm>
          <a:prstGeom xmlns:a="http://schemas.openxmlformats.org/drawingml/2006/main" prst="rect">
            <a:avLst/>
          </a:prstGeom>
          <a:solidFill xmlns:a="http://schemas.openxmlformats.org/drawingml/2006/main">
            <a:srgbClr val="148A8A"/>
          </a:solidFill>
          <a:ln xmlns:a="http://schemas.openxmlformats.org/drawingml/2006/main" w="0">
            <a:noFill/>
            <a:prstDash val="solid"/>
          </a:ln>
        </p:spPr>
      </p:sp>
      <p:sp>
        <p:nvSpPr>
          <p:cNvPr id="38" name="">
            <a:extLst xmlns:a="http://schemas.openxmlformats.org/drawingml/2006/main">
              <a:ext uri="{FF2B5EF4-FFF2-40B4-BE49-F238E27FC236}">
                <a16:creationId xmlns:a16="http://schemas.microsoft.com/office/drawing/2014/main" id="{58B81B8A-974D-47D8-9FF6-3D93BC86E182}"/>
              </a:ext>
            </a:extLst>
          </p:cNvPr>
          <p:cNvSpPr>
            <a:spLocks xmlns:a="http://schemas.openxmlformats.org/drawingml/2006/main" noGrp="1"/>
          </p:cNvSpPr>
          <p:nvPr/>
        </p:nvSpPr>
        <p:spPr>
          <a:xfrm xmlns:a="http://schemas.openxmlformats.org/drawingml/2006/main">
            <a:off x="9353550" y="2857500"/>
            <a:ext cx="1543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1">
                <a:solidFill>
                  <a:srgbClr val="10253F"/>
                </a:solidFill>
                <a:latin typeface="Helvetica Neue"/>
                <a:ea typeface="Helvetica Neue"/>
                <a:cs typeface="Helvetica Neue"/>
              </a:defRPr>
            </a:defPPr>
          </a:lstStyle>
          <a:p xmlns:a="http://schemas.openxmlformats.org/drawingml/2006/main">
            <a:pPr algn="l">
              <a:lnSpc>
                <a:spcPct val="105000"/>
              </a:lnSpc>
              <a:buNone/>
              <a:defRPr sz="1425" b="1">
                <a:solidFill>
                  <a:srgbClr val="10253F"/>
                </a:solidFill>
                <a:latin typeface="Helvetica Neue"/>
                <a:ea typeface="Helvetica Neue"/>
                <a:cs typeface="Helvetica Neue"/>
              </a:defRPr>
            </a:pPr>
            <a:r>
              <a:rPr sz="1425" b="1">
                <a:solidFill>
                  <a:srgbClr val="10253F"/>
                </a:solidFill>
                <a:latin typeface="Helvetica Neue"/>
                <a:ea typeface="Helvetica Neue"/>
                <a:cs typeface="Helvetica Neue"/>
              </a:rPr>
              <a:t>Learnable branch</a:t>
            </a:r>
          </a:p>
        </p:txBody>
      </p:sp>
      <p:sp>
        <p:nvSpPr>
          <p:cNvPr id="39" name="">
            <a:extLst xmlns:a="http://schemas.openxmlformats.org/drawingml/2006/main">
              <a:ext uri="{FF2B5EF4-FFF2-40B4-BE49-F238E27FC236}">
                <a16:creationId xmlns:a16="http://schemas.microsoft.com/office/drawing/2014/main" id="{9995C6BD-4117-455C-B330-8DF18084FEFD}"/>
              </a:ext>
            </a:extLst>
          </p:cNvPr>
          <p:cNvSpPr>
            <a:spLocks xmlns:a="http://schemas.openxmlformats.org/drawingml/2006/main" noGrp="1"/>
          </p:cNvSpPr>
          <p:nvPr/>
        </p:nvSpPr>
        <p:spPr>
          <a:xfrm xmlns:a="http://schemas.openxmlformats.org/drawingml/2006/main">
            <a:off x="9353550" y="3171825"/>
            <a:ext cx="154305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0">
                <a:solidFill>
                  <a:srgbClr val="536477"/>
                </a:solidFill>
                <a:latin typeface="Helvetica Neue"/>
                <a:ea typeface="Helvetica Neue"/>
                <a:cs typeface="Helvetica Neue"/>
              </a:defRPr>
            </a:defPPr>
          </a:lstStyle>
          <a:p xmlns:a="http://schemas.openxmlformats.org/drawingml/2006/main">
            <a:pPr algn="l">
              <a:lnSpc>
                <a:spcPct val="105000"/>
              </a:lnSpc>
              <a:buNone/>
              <a:defRPr sz="1050" b="0">
                <a:solidFill>
                  <a:srgbClr val="536477"/>
                </a:solidFill>
                <a:latin typeface="Helvetica Neue"/>
                <a:ea typeface="Helvetica Neue"/>
                <a:cs typeface="Helvetica Neue"/>
              </a:defRPr>
            </a:pPr>
            <a:r>
              <a:rPr sz="1050" b="0">
                <a:solidFill>
                  <a:srgbClr val="536477"/>
                </a:solidFill>
                <a:latin typeface="Helvetica Neue"/>
                <a:ea typeface="Helvetica Neue"/>
                <a:cs typeface="Helvetica Neue"/>
              </a:rPr>
              <a:t>Indexed MLP, width 512</a:t>
            </a:r>
          </a:p>
        </p:txBody>
      </p:sp>
      <p:sp>
        <p:nvSpPr>
          <p:cNvPr id="40" name="">
            <a:extLst xmlns:a="http://schemas.openxmlformats.org/drawingml/2006/main">
              <a:ext uri="{FF2B5EF4-FFF2-40B4-BE49-F238E27FC236}">
                <a16:creationId xmlns:a16="http://schemas.microsoft.com/office/drawing/2014/main" id="{E8D02CA1-8B9E-45AC-AE71-67579E3ABC5F}"/>
              </a:ext>
            </a:extLst>
          </p:cNvPr>
          <p:cNvSpPr>
            <a:spLocks xmlns:a="http://schemas.openxmlformats.org/drawingml/2006/main" noGrp="1"/>
          </p:cNvSpPr>
          <p:nvPr/>
        </p:nvSpPr>
        <p:spPr>
          <a:xfrm xmlns:a="http://schemas.openxmlformats.org/drawingml/2006/main">
            <a:off x="9077325" y="3648075"/>
            <a:ext cx="2019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975" b="0">
                <a:solidFill>
                  <a:srgbClr val="536477"/>
                </a:solidFill>
                <a:latin typeface="Helvetica Neue"/>
                <a:ea typeface="Helvetica Neue"/>
                <a:cs typeface="Helvetica Neue"/>
              </a:defRPr>
            </a:defPPr>
          </a:lstStyle>
          <a:p xmlns:a="http://schemas.openxmlformats.org/drawingml/2006/main">
            <a:pPr algn="ctr">
              <a:lnSpc>
                <a:spcPct val="105000"/>
              </a:lnSpc>
              <a:buNone/>
              <a:defRPr sz="975" b="0">
                <a:solidFill>
                  <a:srgbClr val="536477"/>
                </a:solidFill>
                <a:latin typeface="Helvetica Neue"/>
                <a:ea typeface="Helvetica Neue"/>
                <a:cs typeface="Helvetica Neue"/>
              </a:defRPr>
            </a:pPr>
            <a:r>
              <a:rPr sz="975" b="0">
                <a:solidFill>
                  <a:srgbClr val="536477"/>
                </a:solidFill>
                <a:latin typeface="Helvetica Neue"/>
                <a:ea typeface="Helvetica Neue"/>
                <a:cs typeface="Helvetica Neue"/>
              </a:rPr>
              <a:t>same sampled index z</a:t>
            </a:r>
          </a:p>
        </p:txBody>
      </p:sp>
      <p:sp>
        <p:nvSpPr>
          <p:cNvPr id="41" name="">
            <a:extLst xmlns:a="http://schemas.openxmlformats.org/drawingml/2006/main">
              <a:ext uri="{FF2B5EF4-FFF2-40B4-BE49-F238E27FC236}">
                <a16:creationId xmlns:a16="http://schemas.microsoft.com/office/drawing/2014/main" id="{6F4D53A5-433F-46F3-9349-ADF78C9A7A2B}"/>
              </a:ext>
            </a:extLst>
          </p:cNvPr>
          <p:cNvSpPr>
            <a:spLocks xmlns:a="http://schemas.openxmlformats.org/drawingml/2006/main" noGrp="1"/>
          </p:cNvSpPr>
          <p:nvPr/>
        </p:nvSpPr>
        <p:spPr>
          <a:xfrm xmlns:a="http://schemas.openxmlformats.org/drawingml/2006/main">
            <a:off x="7143750" y="4000500"/>
            <a:ext cx="3905250" cy="685800"/>
          </a:xfrm>
          <a:prstGeom xmlns:a="http://schemas.openxmlformats.org/drawingml/2006/main" prst="roundRect">
            <a:avLst>
              <a:gd name="adj" fmla="val 11111"/>
            </a:avLst>
          </a:prstGeom>
          <a:solidFill xmlns:a="http://schemas.openxmlformats.org/drawingml/2006/main">
            <a:srgbClr val="FFFFFF"/>
          </a:solidFill>
          <a:ln xmlns:a="http://schemas.openxmlformats.org/drawingml/2006/main" w="9525">
            <a:solidFill>
              <a:srgbClr val="D6DEE8"/>
            </a:solidFill>
            <a:prstDash val="solid"/>
          </a:ln>
        </p:spPr>
      </p:sp>
      <p:sp>
        <p:nvSpPr>
          <p:cNvPr id="42" name="">
            <a:extLst xmlns:a="http://schemas.openxmlformats.org/drawingml/2006/main">
              <a:ext uri="{FF2B5EF4-FFF2-40B4-BE49-F238E27FC236}">
                <a16:creationId xmlns:a16="http://schemas.microsoft.com/office/drawing/2014/main" id="{38DBF98A-7DCE-488F-A8E6-325C339402D7}"/>
              </a:ext>
            </a:extLst>
          </p:cNvPr>
          <p:cNvSpPr>
            <a:spLocks xmlns:a="http://schemas.openxmlformats.org/drawingml/2006/main" noGrp="1"/>
          </p:cNvSpPr>
          <p:nvPr/>
        </p:nvSpPr>
        <p:spPr>
          <a:xfrm xmlns:a="http://schemas.openxmlformats.org/drawingml/2006/main">
            <a:off x="7143750" y="4000500"/>
            <a:ext cx="47625" cy="685800"/>
          </a:xfrm>
          <a:prstGeom xmlns:a="http://schemas.openxmlformats.org/drawingml/2006/main" prst="rect">
            <a:avLst/>
          </a:prstGeom>
          <a:solidFill xmlns:a="http://schemas.openxmlformats.org/drawingml/2006/main">
            <a:srgbClr val="C7782B"/>
          </a:solidFill>
          <a:ln xmlns:a="http://schemas.openxmlformats.org/drawingml/2006/main" w="0">
            <a:noFill/>
            <a:prstDash val="solid"/>
          </a:ln>
        </p:spPr>
      </p:sp>
      <p:sp>
        <p:nvSpPr>
          <p:cNvPr id="43" name="">
            <a:extLst xmlns:a="http://schemas.openxmlformats.org/drawingml/2006/main">
              <a:ext uri="{FF2B5EF4-FFF2-40B4-BE49-F238E27FC236}">
                <a16:creationId xmlns:a16="http://schemas.microsoft.com/office/drawing/2014/main" id="{BB79AFD6-9A30-4F6F-8B66-99CB8E855166}"/>
              </a:ext>
            </a:extLst>
          </p:cNvPr>
          <p:cNvSpPr>
            <a:spLocks xmlns:a="http://schemas.openxmlformats.org/drawingml/2006/main" noGrp="1"/>
          </p:cNvSpPr>
          <p:nvPr/>
        </p:nvSpPr>
        <p:spPr>
          <a:xfrm xmlns:a="http://schemas.openxmlformats.org/drawingml/2006/main">
            <a:off x="7315200" y="4143375"/>
            <a:ext cx="35814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1">
                <a:solidFill>
                  <a:srgbClr val="10253F"/>
                </a:solidFill>
                <a:latin typeface="Helvetica Neue"/>
                <a:ea typeface="Helvetica Neue"/>
                <a:cs typeface="Helvetica Neue"/>
              </a:defRPr>
            </a:defPPr>
          </a:lstStyle>
          <a:p xmlns:a="http://schemas.openxmlformats.org/drawingml/2006/main">
            <a:pPr algn="l">
              <a:lnSpc>
                <a:spcPct val="105000"/>
              </a:lnSpc>
              <a:buNone/>
              <a:defRPr sz="1425" b="1">
                <a:solidFill>
                  <a:srgbClr val="10253F"/>
                </a:solidFill>
                <a:latin typeface="Helvetica Neue"/>
                <a:ea typeface="Helvetica Neue"/>
                <a:cs typeface="Helvetica Neue"/>
              </a:defRPr>
            </a:pPr>
            <a:r>
              <a:rPr sz="1425" b="1">
                <a:solidFill>
                  <a:srgbClr val="10253F"/>
                </a:solidFill>
                <a:latin typeface="Helvetica Neue"/>
                <a:ea typeface="Helvetica Neue"/>
                <a:cs typeface="Helvetica Neue"/>
              </a:rPr>
              <a:t>Combined correction → vocabulary logits</a:t>
            </a:r>
          </a:p>
        </p:txBody>
      </p:sp>
      <p:sp>
        <p:nvSpPr>
          <p:cNvPr id="44" name="">
            <a:extLst xmlns:a="http://schemas.openxmlformats.org/drawingml/2006/main">
              <a:ext uri="{FF2B5EF4-FFF2-40B4-BE49-F238E27FC236}">
                <a16:creationId xmlns:a16="http://schemas.microsoft.com/office/drawing/2014/main" id="{B61EDFAB-3090-4DEA-8BA3-5D3E483A9741}"/>
              </a:ext>
            </a:extLst>
          </p:cNvPr>
          <p:cNvSpPr>
            <a:spLocks xmlns:a="http://schemas.openxmlformats.org/drawingml/2006/main" noGrp="1"/>
          </p:cNvSpPr>
          <p:nvPr/>
        </p:nvSpPr>
        <p:spPr>
          <a:xfrm xmlns:a="http://schemas.openxmlformats.org/drawingml/2006/main">
            <a:off x="7315200" y="4457700"/>
            <a:ext cx="358140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85034"/>
          </a:bodyPr>
          <a:lstStyle xmlns:a="http://schemas.openxmlformats.org/drawingml/2006/main">
            <a:defPPr algn="l">
              <a:defRPr sz="1050" b="0">
                <a:solidFill>
                  <a:srgbClr val="536477"/>
                </a:solidFill>
                <a:latin typeface="Helvetica Neue"/>
                <a:ea typeface="Helvetica Neue"/>
                <a:cs typeface="Helvetica Neue"/>
              </a:defRPr>
            </a:defPPr>
          </a:lstStyle>
          <a:p xmlns:a="http://schemas.openxmlformats.org/drawingml/2006/main">
            <a:pPr algn="l">
              <a:lnSpc>
                <a:spcPct val="105000"/>
              </a:lnSpc>
              <a:buNone/>
              <a:defRPr sz="1050" b="0">
                <a:solidFill>
                  <a:srgbClr val="536477"/>
                </a:solidFill>
                <a:latin typeface="Helvetica Neue"/>
                <a:ea typeface="Helvetica Neue"/>
                <a:cs typeface="Helvetica Neue"/>
              </a:defRPr>
            </a:pPr>
            <a:r>
              <a:rPr sz="1050" b="0">
                <a:solidFill>
                  <a:srgbClr val="536477"/>
                </a:solidFill>
                <a:latin typeface="Helvetica Neue"/>
                <a:ea typeface="Helvetica Neue"/>
                <a:cs typeface="Helvetica Neue"/>
              </a:rPr>
              <a:t>K = 3 epistemic samples by default</a:t>
            </a:r>
          </a:p>
        </p:txBody>
      </p:sp>
      <p:sp>
        <p:nvSpPr>
          <p:cNvPr id="45" name="">
            <a:extLst xmlns:a="http://schemas.openxmlformats.org/drawingml/2006/main">
              <a:ext uri="{FF2B5EF4-FFF2-40B4-BE49-F238E27FC236}">
                <a16:creationId xmlns:a16="http://schemas.microsoft.com/office/drawing/2014/main" id="{6948ADF6-B491-417F-98A2-FD690B285453}"/>
              </a:ext>
            </a:extLst>
          </p:cNvPr>
          <p:cNvSpPr>
            <a:spLocks xmlns:a="http://schemas.openxmlformats.org/drawingml/2006/main" noGrp="1"/>
          </p:cNvSpPr>
          <p:nvPr/>
        </p:nvSpPr>
        <p:spPr>
          <a:xfrm xmlns:a="http://schemas.openxmlformats.org/drawingml/2006/main" flipV="0">
            <a:off x="8115300" y="3609975"/>
            <a:ext cx="0" cy="238125"/>
          </a:xfrm>
          <a:prstGeom xmlns:a="http://schemas.openxmlformats.org/drawingml/2006/main" prst="line">
            <a:avLst/>
          </a:prstGeom>
          <a:noFill xmlns:a="http://schemas.openxmlformats.org/drawingml/2006/main"/>
          <a:ln xmlns:a="http://schemas.openxmlformats.org/drawingml/2006/main" w="19050">
            <a:solidFill>
              <a:srgbClr val="536477"/>
            </a:solidFill>
            <a:prstDash val="solid"/>
          </a:ln>
        </p:spPr>
      </p:sp>
      <p:sp>
        <p:nvSpPr>
          <p:cNvPr id="46" name="">
            <a:extLst xmlns:a="http://schemas.openxmlformats.org/drawingml/2006/main">
              <a:ext uri="{FF2B5EF4-FFF2-40B4-BE49-F238E27FC236}">
                <a16:creationId xmlns:a16="http://schemas.microsoft.com/office/drawing/2014/main" id="{A4EADFF9-A4D8-49FA-8A21-95F12BD8C973}"/>
              </a:ext>
            </a:extLst>
          </p:cNvPr>
          <p:cNvSpPr>
            <a:spLocks xmlns:a="http://schemas.openxmlformats.org/drawingml/2006/main" noGrp="1"/>
          </p:cNvSpPr>
          <p:nvPr/>
        </p:nvSpPr>
        <p:spPr>
          <a:xfrm xmlns:a="http://schemas.openxmlformats.org/drawingml/2006/main" rot="10800000">
            <a:off x="8058150" y="3800475"/>
            <a:ext cx="114300" cy="114300"/>
          </a:xfrm>
          <a:prstGeom xmlns:a="http://schemas.openxmlformats.org/drawingml/2006/main" prst="triangle">
            <a:avLst/>
          </a:prstGeom>
          <a:solidFill xmlns:a="http://schemas.openxmlformats.org/drawingml/2006/main">
            <a:srgbClr val="536477"/>
          </a:solidFill>
          <a:ln xmlns:a="http://schemas.openxmlformats.org/drawingml/2006/main" w="0">
            <a:noFill/>
            <a:prstDash val="solid"/>
          </a:ln>
        </p:spPr>
      </p:sp>
      <p:sp>
        <p:nvSpPr>
          <p:cNvPr id="47" name="">
            <a:extLst xmlns:a="http://schemas.openxmlformats.org/drawingml/2006/main">
              <a:ext uri="{FF2B5EF4-FFF2-40B4-BE49-F238E27FC236}">
                <a16:creationId xmlns:a16="http://schemas.microsoft.com/office/drawing/2014/main" id="{5DE31FF9-B867-46EA-9709-DCE524161C78}"/>
              </a:ext>
            </a:extLst>
          </p:cNvPr>
          <p:cNvSpPr>
            <a:spLocks xmlns:a="http://schemas.openxmlformats.org/drawingml/2006/main" noGrp="1"/>
          </p:cNvSpPr>
          <p:nvPr/>
        </p:nvSpPr>
        <p:spPr>
          <a:xfrm xmlns:a="http://schemas.openxmlformats.org/drawingml/2006/main" flipV="0">
            <a:off x="10096500" y="3609975"/>
            <a:ext cx="0" cy="238125"/>
          </a:xfrm>
          <a:prstGeom xmlns:a="http://schemas.openxmlformats.org/drawingml/2006/main" prst="line">
            <a:avLst/>
          </a:prstGeom>
          <a:noFill xmlns:a="http://schemas.openxmlformats.org/drawingml/2006/main"/>
          <a:ln xmlns:a="http://schemas.openxmlformats.org/drawingml/2006/main" w="19050">
            <a:solidFill>
              <a:srgbClr val="148A8A"/>
            </a:solidFill>
            <a:prstDash val="solid"/>
          </a:ln>
        </p:spPr>
      </p:sp>
      <p:sp>
        <p:nvSpPr>
          <p:cNvPr id="48" name="">
            <a:extLst xmlns:a="http://schemas.openxmlformats.org/drawingml/2006/main">
              <a:ext uri="{FF2B5EF4-FFF2-40B4-BE49-F238E27FC236}">
                <a16:creationId xmlns:a16="http://schemas.microsoft.com/office/drawing/2014/main" id="{D9177172-F9B2-4645-992A-872222565DBB}"/>
              </a:ext>
            </a:extLst>
          </p:cNvPr>
          <p:cNvSpPr>
            <a:spLocks xmlns:a="http://schemas.openxmlformats.org/drawingml/2006/main" noGrp="1"/>
          </p:cNvSpPr>
          <p:nvPr/>
        </p:nvSpPr>
        <p:spPr>
          <a:xfrm xmlns:a="http://schemas.openxmlformats.org/drawingml/2006/main" rot="10800000">
            <a:off x="10039350" y="3800475"/>
            <a:ext cx="114300" cy="114300"/>
          </a:xfrm>
          <a:prstGeom xmlns:a="http://schemas.openxmlformats.org/drawingml/2006/main" prst="triangle">
            <a:avLst/>
          </a:prstGeom>
          <a:solidFill xmlns:a="http://schemas.openxmlformats.org/drawingml/2006/main">
            <a:srgbClr val="148A8A"/>
          </a:solidFill>
          <a:ln xmlns:a="http://schemas.openxmlformats.org/drawingml/2006/main" w="0">
            <a:noFill/>
            <a:prstDash val="solid"/>
          </a:ln>
        </p:spPr>
      </p:sp>
      <p:sp>
        <p:nvSpPr>
          <p:cNvPr id="49" name="">
            <a:extLst xmlns:a="http://schemas.openxmlformats.org/drawingml/2006/main">
              <a:ext uri="{FF2B5EF4-FFF2-40B4-BE49-F238E27FC236}">
                <a16:creationId xmlns:a16="http://schemas.microsoft.com/office/drawing/2014/main" id="{955F191F-23AA-4F54-85B1-745A10F86794}"/>
              </a:ext>
            </a:extLst>
          </p:cNvPr>
          <p:cNvSpPr>
            <a:spLocks xmlns:a="http://schemas.openxmlformats.org/drawingml/2006/main" noGrp="1"/>
          </p:cNvSpPr>
          <p:nvPr/>
        </p:nvSpPr>
        <p:spPr>
          <a:xfrm xmlns:a="http://schemas.openxmlformats.org/drawingml/2006/main">
            <a:off x="7143750" y="5105400"/>
            <a:ext cx="40957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0">
                <a:solidFill>
                  <a:srgbClr val="536477"/>
                </a:solidFill>
                <a:latin typeface="Helvetica Neue"/>
                <a:ea typeface="Helvetica Neue"/>
                <a:cs typeface="Helvetica Neue"/>
              </a:defRPr>
            </a:defPPr>
          </a:lstStyle>
          <a:p xmlns:a="http://schemas.openxmlformats.org/drawingml/2006/main">
            <a:pPr algn="l">
              <a:lnSpc>
                <a:spcPct val="105000"/>
              </a:lnSpc>
              <a:buNone/>
              <a:defRPr sz="1200" b="0">
                <a:solidFill>
                  <a:srgbClr val="536477"/>
                </a:solidFill>
                <a:latin typeface="Helvetica Neue"/>
                <a:ea typeface="Helvetica Neue"/>
                <a:cs typeface="Helvetica Neue"/>
              </a:defRPr>
            </a:pPr>
            <a:r>
              <a:rPr sz="1200" b="0">
                <a:solidFill>
                  <a:srgbClr val="536477"/>
                </a:solidFill>
                <a:latin typeface="Helvetica Neue"/>
                <a:ea typeface="Helvetica Neue"/>
                <a:cs typeface="Helvetica Neue"/>
              </a:rPr>
              <a:t>Output: predictive entropy and an epistemic proxy. These describe token distributions, not answer correctness directly.</a:t>
            </a:r>
          </a:p>
        </p:txBody>
      </p:sp>
    </p:spTree>
    <p:extLst>
      <p:ext uri="{BB962C8B-B14F-4D97-AF65-F5344CB8AC3E}">
        <p14:creationId xmlns:p14="http://schemas.microsoft.com/office/powerpoint/2010/main" val="1526185184"/>
      </p:ext>
    </p:extLst>
  </p:cSld>
</p:sld>
</file>

<file path=ppt/slides/slide8.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417A1ADB-E692-4E09-AB35-A149DA0439C4}"/>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2864C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DF49B265-5EB2-40F7-BD01-FEF3D3D6C066}"/>
              </a:ext>
            </a:extLst>
          </p:cNvPr>
          <p:cNvSpPr>
            <a:spLocks xmlns:a="http://schemas.openxmlformats.org/drawingml/2006/main" noGrp="1"/>
          </p:cNvSpPr>
          <p:nvPr/>
        </p:nvSpPr>
        <p:spPr>
          <a:xfrm xmlns:a="http://schemas.openxmlformats.org/drawingml/2006/main">
            <a:off x="552450" y="361950"/>
            <a:ext cx="11049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550" b="1">
                <a:solidFill>
                  <a:srgbClr val="10253F"/>
                </a:solidFill>
                <a:latin typeface="Helvetica Neue"/>
                <a:ea typeface="Helvetica Neue"/>
                <a:cs typeface="Helvetica Neue"/>
              </a:defRPr>
            </a:defPPr>
          </a:lstStyle>
          <a:p xmlns:a="http://schemas.openxmlformats.org/drawingml/2006/main">
            <a:pPr algn="l">
              <a:lnSpc>
                <a:spcPct val="105000"/>
              </a:lnSpc>
              <a:buNone/>
              <a:defRPr sz="2550" b="1">
                <a:solidFill>
                  <a:srgbClr val="10253F"/>
                </a:solidFill>
                <a:latin typeface="Helvetica Neue"/>
                <a:ea typeface="Helvetica Neue"/>
                <a:cs typeface="Helvetica Neue"/>
              </a:defRPr>
            </a:pPr>
            <a:r>
              <a:rPr sz="2550" b="1">
                <a:solidFill>
                  <a:srgbClr val="10253F"/>
                </a:solidFill>
                <a:latin typeface="Helvetica Neue"/>
                <a:ea typeface="Helvetica Neue"/>
                <a:cs typeface="Helvetica Neue"/>
              </a:rPr>
              <a:t>Implementation &amp; Experimental Setup</a:t>
            </a:r>
          </a:p>
        </p:txBody>
      </p:sp>
      <p:sp>
        <p:nvSpPr>
          <p:cNvPr id="3" name="">
            <a:extLst xmlns:a="http://schemas.openxmlformats.org/drawingml/2006/main">
              <a:ext uri="{FF2B5EF4-FFF2-40B4-BE49-F238E27FC236}">
                <a16:creationId xmlns:a16="http://schemas.microsoft.com/office/drawing/2014/main" id="{10F9624D-B2D8-4E8F-BAFA-9CF1C767A8F8}"/>
              </a:ext>
            </a:extLst>
          </p:cNvPr>
          <p:cNvSpPr>
            <a:spLocks xmlns:a="http://schemas.openxmlformats.org/drawingml/2006/main" noGrp="1"/>
          </p:cNvSpPr>
          <p:nvPr/>
        </p:nvSpPr>
        <p:spPr>
          <a:xfrm xmlns:a="http://schemas.openxmlformats.org/drawingml/2006/main">
            <a:off x="571500" y="876300"/>
            <a:ext cx="10953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a:solidFill>
                  <a:srgbClr val="536477"/>
                </a:solidFill>
                <a:latin typeface="Helvetica Neue"/>
                <a:ea typeface="Helvetica Neue"/>
                <a:cs typeface="Helvetica Neue"/>
              </a:defRPr>
            </a:defPPr>
          </a:lstStyle>
          <a:p xmlns:a="http://schemas.openxmlformats.org/drawingml/2006/main">
            <a:pPr algn="l">
              <a:lnSpc>
                <a:spcPct val="105000"/>
              </a:lnSpc>
              <a:buNone/>
              <a:defRPr sz="1275" b="0">
                <a:solidFill>
                  <a:srgbClr val="536477"/>
                </a:solidFill>
                <a:latin typeface="Helvetica Neue"/>
                <a:ea typeface="Helvetica Neue"/>
                <a:cs typeface="Helvetica Neue"/>
              </a:defRPr>
            </a:pPr>
            <a:r>
              <a:rPr sz="1275" b="0">
                <a:solidFill>
                  <a:srgbClr val="536477"/>
                </a:solidFill>
                <a:latin typeface="Helvetica Neue"/>
                <a:ea typeface="Helvetica Neue"/>
                <a:cs typeface="Helvetica Neue"/>
              </a:rPr>
              <a:t>Configured defaults and available artifacts are separated from completed experimental evidence.</a:t>
            </a:r>
          </a:p>
        </p:txBody>
      </p:sp>
      <p:sp>
        <p:nvSpPr>
          <p:cNvPr id="4" name="">
            <a:extLst xmlns:a="http://schemas.openxmlformats.org/drawingml/2006/main">
              <a:ext uri="{FF2B5EF4-FFF2-40B4-BE49-F238E27FC236}">
                <a16:creationId xmlns:a16="http://schemas.microsoft.com/office/drawing/2014/main" id="{2A11F7FE-3440-40E9-96FC-FA4EB1C744DC}"/>
              </a:ext>
            </a:extLst>
          </p:cNvPr>
          <p:cNvSpPr>
            <a:spLocks xmlns:a="http://schemas.openxmlformats.org/drawingml/2006/main" noGrp="1"/>
          </p:cNvSpPr>
          <p:nvPr/>
        </p:nvSpPr>
        <p:spPr>
          <a:xfrm xmlns:a="http://schemas.openxmlformats.org/drawingml/2006/main" flipV="0">
            <a:off x="571500" y="6438900"/>
            <a:ext cx="11049000" cy="0"/>
          </a:xfrm>
          <a:prstGeom xmlns:a="http://schemas.openxmlformats.org/drawingml/2006/main" prst="line">
            <a:avLst/>
          </a:prstGeom>
          <a:noFill xmlns:a="http://schemas.openxmlformats.org/drawingml/2006/main"/>
          <a:ln xmlns:a="http://schemas.openxmlformats.org/drawingml/2006/main" w="9525">
            <a:solidFill>
              <a:srgbClr val="D6DEE8"/>
            </a:solidFill>
            <a:prstDash val="solid"/>
          </a:ln>
        </p:spPr>
      </p:sp>
      <p:sp>
        <p:nvSpPr>
          <p:cNvPr id="5" name="">
            <a:extLst xmlns:a="http://schemas.openxmlformats.org/drawingml/2006/main">
              <a:ext uri="{FF2B5EF4-FFF2-40B4-BE49-F238E27FC236}">
                <a16:creationId xmlns:a16="http://schemas.microsoft.com/office/drawing/2014/main" id="{F0EB788E-9FEC-45AF-B517-DE4C600B427A}"/>
              </a:ext>
            </a:extLst>
          </p:cNvPr>
          <p:cNvSpPr>
            <a:spLocks xmlns:a="http://schemas.openxmlformats.org/drawingml/2006/main" noGrp="1"/>
          </p:cNvSpPr>
          <p:nvPr/>
        </p:nvSpPr>
        <p:spPr>
          <a:xfrm xmlns:a="http://schemas.openxmlformats.org/drawingml/2006/main">
            <a:off x="571500" y="6534150"/>
            <a:ext cx="4572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1">
                <a:solidFill>
                  <a:srgbClr val="536477"/>
                </a:solidFill>
                <a:latin typeface="Helvetica Neue"/>
                <a:ea typeface="Helvetica Neue"/>
                <a:cs typeface="Helvetica Neue"/>
              </a:defRPr>
            </a:defPPr>
          </a:lstStyle>
          <a:p xmlns:a="http://schemas.openxmlformats.org/drawingml/2006/main">
            <a:pPr algn="l">
              <a:lnSpc>
                <a:spcPct val="105000"/>
              </a:lnSpc>
              <a:buNone/>
              <a:defRPr sz="900" b="1">
                <a:solidFill>
                  <a:srgbClr val="536477"/>
                </a:solidFill>
                <a:latin typeface="Helvetica Neue"/>
                <a:ea typeface="Helvetica Neue"/>
                <a:cs typeface="Helvetica Neue"/>
              </a:defRPr>
            </a:pPr>
            <a:r>
              <a:rPr sz="900" b="1">
                <a:solidFill>
                  <a:srgbClr val="536477"/>
                </a:solidFill>
                <a:latin typeface="Helvetica Neue"/>
                <a:ea typeface="Helvetica Neue"/>
                <a:cs typeface="Helvetica Neue"/>
              </a:rPr>
              <a:t>VIT-AP UNIVERSITY  /  SCOPE</a:t>
            </a:r>
          </a:p>
        </p:txBody>
      </p:sp>
      <p:sp>
        <p:nvSpPr>
          <p:cNvPr id="6" name="">
            <a:extLst xmlns:a="http://schemas.openxmlformats.org/drawingml/2006/main">
              <a:ext uri="{FF2B5EF4-FFF2-40B4-BE49-F238E27FC236}">
                <a16:creationId xmlns:a16="http://schemas.microsoft.com/office/drawing/2014/main" id="{985165F7-FC5A-4D45-8EA9-D6B0860C78BF}"/>
              </a:ext>
            </a:extLst>
          </p:cNvPr>
          <p:cNvSpPr>
            <a:spLocks xmlns:a="http://schemas.openxmlformats.org/drawingml/2006/main" noGrp="1"/>
          </p:cNvSpPr>
          <p:nvPr/>
        </p:nvSpPr>
        <p:spPr>
          <a:xfrm xmlns:a="http://schemas.openxmlformats.org/drawingml/2006/main">
            <a:off x="11087100" y="6515100"/>
            <a:ext cx="5334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975" b="1">
                <a:solidFill>
                  <a:srgbClr val="536477"/>
                </a:solidFill>
                <a:latin typeface="Helvetica Neue"/>
                <a:ea typeface="Helvetica Neue"/>
                <a:cs typeface="Helvetica Neue"/>
              </a:defRPr>
            </a:defPPr>
          </a:lstStyle>
          <a:p xmlns:a="http://schemas.openxmlformats.org/drawingml/2006/main">
            <a:pPr algn="r">
              <a:lnSpc>
                <a:spcPct val="105000"/>
              </a:lnSpc>
              <a:buNone/>
              <a:defRPr sz="975" b="1">
                <a:solidFill>
                  <a:srgbClr val="536477"/>
                </a:solidFill>
                <a:latin typeface="Helvetica Neue"/>
                <a:ea typeface="Helvetica Neue"/>
                <a:cs typeface="Helvetica Neue"/>
              </a:defRPr>
            </a:pPr>
            <a:r>
              <a:rPr sz="975" b="1">
                <a:solidFill>
                  <a:srgbClr val="536477"/>
                </a:solidFill>
                <a:latin typeface="Helvetica Neue"/>
                <a:ea typeface="Helvetica Neue"/>
                <a:cs typeface="Helvetica Neue"/>
              </a:rPr>
              <a:t>08</a:t>
            </a:r>
          </a:p>
        </p:txBody>
      </p:sp>
      <p:sp>
        <p:nvSpPr>
          <p:cNvPr id="7" name="">
            <a:extLst xmlns:a="http://schemas.openxmlformats.org/drawingml/2006/main">
              <a:ext uri="{FF2B5EF4-FFF2-40B4-BE49-F238E27FC236}">
                <a16:creationId xmlns:a16="http://schemas.microsoft.com/office/drawing/2014/main" id="{8A8EC81C-2FEA-4E40-8160-74BCE2412820}"/>
              </a:ext>
            </a:extLst>
          </p:cNvPr>
          <p:cNvSpPr>
            <a:spLocks xmlns:a="http://schemas.openxmlformats.org/drawingml/2006/main" noGrp="1"/>
          </p:cNvSpPr>
          <p:nvPr/>
        </p:nvSpPr>
        <p:spPr>
          <a:xfrm xmlns:a="http://schemas.openxmlformats.org/drawingml/2006/main">
            <a:off x="685800" y="1428750"/>
            <a:ext cx="2667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1">
                <a:solidFill>
                  <a:srgbClr val="2864C5"/>
                </a:solidFill>
                <a:latin typeface="Helvetica Neue"/>
                <a:ea typeface="Helvetica Neue"/>
                <a:cs typeface="Helvetica Neue"/>
              </a:defRPr>
            </a:defPPr>
          </a:lstStyle>
          <a:p xmlns:a="http://schemas.openxmlformats.org/drawingml/2006/main">
            <a:pPr algn="l">
              <a:lnSpc>
                <a:spcPct val="105000"/>
              </a:lnSpc>
              <a:buNone/>
              <a:defRPr sz="975" b="1">
                <a:solidFill>
                  <a:srgbClr val="2864C5"/>
                </a:solidFill>
                <a:latin typeface="Helvetica Neue"/>
                <a:ea typeface="Helvetica Neue"/>
                <a:cs typeface="Helvetica Neue"/>
              </a:defRPr>
            </a:pPr>
            <a:r>
              <a:rPr sz="975" b="1">
                <a:solidFill>
                  <a:srgbClr val="2864C5"/>
                </a:solidFill>
                <a:latin typeface="Helvetica Neue"/>
                <a:ea typeface="Helvetica Neue"/>
                <a:cs typeface="Helvetica Neue"/>
              </a:rPr>
              <a:t>SOFTWARE STACK</a:t>
            </a:r>
          </a:p>
        </p:txBody>
      </p:sp>
      <p:sp>
        <p:nvSpPr>
          <p:cNvPr id="8" name="">
            <a:extLst xmlns:a="http://schemas.openxmlformats.org/drawingml/2006/main">
              <a:ext uri="{FF2B5EF4-FFF2-40B4-BE49-F238E27FC236}">
                <a16:creationId xmlns:a16="http://schemas.microsoft.com/office/drawing/2014/main" id="{CE601AAB-9ADA-410C-BDF9-796458269B83}"/>
              </a:ext>
            </a:extLst>
          </p:cNvPr>
          <p:cNvSpPr>
            <a:spLocks xmlns:a="http://schemas.openxmlformats.org/drawingml/2006/main" noGrp="1"/>
          </p:cNvSpPr>
          <p:nvPr/>
        </p:nvSpPr>
        <p:spPr>
          <a:xfrm xmlns:a="http://schemas.openxmlformats.org/drawingml/2006/main">
            <a:off x="685800" y="1714500"/>
            <a:ext cx="47625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1">
                <a:solidFill>
                  <a:srgbClr val="10253F"/>
                </a:solidFill>
                <a:latin typeface="Helvetica Neue"/>
                <a:ea typeface="Helvetica Neue"/>
                <a:cs typeface="Helvetica Neue"/>
              </a:defRPr>
            </a:defPPr>
          </a:lstStyle>
          <a:p xmlns:a="http://schemas.openxmlformats.org/drawingml/2006/main">
            <a:pPr algn="l">
              <a:lnSpc>
                <a:spcPct val="105000"/>
              </a:lnSpc>
              <a:buNone/>
              <a:defRPr sz="1425" b="1">
                <a:solidFill>
                  <a:srgbClr val="10253F"/>
                </a:solidFill>
                <a:latin typeface="Helvetica Neue"/>
                <a:ea typeface="Helvetica Neue"/>
                <a:cs typeface="Helvetica Neue"/>
              </a:defRPr>
            </a:pPr>
            <a:r>
              <a:rPr sz="1425" b="1">
                <a:solidFill>
                  <a:srgbClr val="10253F"/>
                </a:solidFill>
                <a:latin typeface="Helvetica Neue"/>
                <a:ea typeface="Helvetica Neue"/>
                <a:cs typeface="Helvetica Neue"/>
              </a:rPr>
              <a:t>Python  ·  PyTorch  ·  Transformers</a:t>
            </a:r>
          </a:p>
          <a:p xmlns:a="http://schemas.openxmlformats.org/drawingml/2006/main">
            <a:pPr algn="l">
              <a:lnSpc>
                <a:spcPct val="105000"/>
              </a:lnSpc>
              <a:buNone/>
              <a:defRPr sz="1425" b="1">
                <a:solidFill>
                  <a:srgbClr val="10253F"/>
                </a:solidFill>
                <a:latin typeface="Helvetica Neue"/>
                <a:ea typeface="Helvetica Neue"/>
                <a:cs typeface="Helvetica Neue"/>
              </a:defRPr>
            </a:pPr>
            <a:r>
              <a:rPr sz="1425" b="1">
                <a:solidFill>
                  <a:srgbClr val="10253F"/>
                </a:solidFill>
                <a:latin typeface="Helvetica Neue"/>
                <a:ea typeface="Helvetica Neue"/>
                <a:cs typeface="Helvetica Neue"/>
              </a:rPr>
              <a:t>Datasets  ·  NumPy</a:t>
            </a:r>
          </a:p>
        </p:txBody>
      </p:sp>
      <p:sp>
        <p:nvSpPr>
          <p:cNvPr id="9" name="">
            <a:extLst xmlns:a="http://schemas.openxmlformats.org/drawingml/2006/main">
              <a:ext uri="{FF2B5EF4-FFF2-40B4-BE49-F238E27FC236}">
                <a16:creationId xmlns:a16="http://schemas.microsoft.com/office/drawing/2014/main" id="{D61A9A8A-C5BA-4352-A628-DA9626CA859D}"/>
              </a:ext>
            </a:extLst>
          </p:cNvPr>
          <p:cNvSpPr>
            <a:spLocks xmlns:a="http://schemas.openxmlformats.org/drawingml/2006/main" noGrp="1"/>
          </p:cNvSpPr>
          <p:nvPr/>
        </p:nvSpPr>
        <p:spPr>
          <a:xfrm xmlns:a="http://schemas.openxmlformats.org/drawingml/2006/main">
            <a:off x="685800" y="2724150"/>
            <a:ext cx="2476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1">
                <a:solidFill>
                  <a:srgbClr val="148A8A"/>
                </a:solidFill>
                <a:latin typeface="Helvetica Neue"/>
                <a:ea typeface="Helvetica Neue"/>
                <a:cs typeface="Helvetica Neue"/>
              </a:defRPr>
            </a:defPPr>
          </a:lstStyle>
          <a:p xmlns:a="http://schemas.openxmlformats.org/drawingml/2006/main">
            <a:pPr algn="l">
              <a:lnSpc>
                <a:spcPct val="105000"/>
              </a:lnSpc>
              <a:buNone/>
              <a:defRPr sz="975" b="1">
                <a:solidFill>
                  <a:srgbClr val="148A8A"/>
                </a:solidFill>
                <a:latin typeface="Helvetica Neue"/>
                <a:ea typeface="Helvetica Neue"/>
                <a:cs typeface="Helvetica Neue"/>
              </a:defRPr>
            </a:pPr>
            <a:r>
              <a:rPr sz="975" b="1">
                <a:solidFill>
                  <a:srgbClr val="148A8A"/>
                </a:solidFill>
                <a:latin typeface="Helvetica Neue"/>
                <a:ea typeface="Helvetica Neue"/>
                <a:cs typeface="Helvetica Neue"/>
              </a:rPr>
              <a:t>DATA ARTIFACTS</a:t>
            </a:r>
          </a:p>
        </p:txBody>
      </p:sp>
      <p:sp>
        <p:nvSpPr>
          <p:cNvPr id="10" name="">
            <a:extLst xmlns:a="http://schemas.openxmlformats.org/drawingml/2006/main">
              <a:ext uri="{FF2B5EF4-FFF2-40B4-BE49-F238E27FC236}">
                <a16:creationId xmlns:a16="http://schemas.microsoft.com/office/drawing/2014/main" id="{54B69142-D73B-49CA-B0E3-BC3EF32F4130}"/>
              </a:ext>
            </a:extLst>
          </p:cNvPr>
          <p:cNvSpPr>
            <a:spLocks xmlns:a="http://schemas.openxmlformats.org/drawingml/2006/main" noGrp="1"/>
          </p:cNvSpPr>
          <p:nvPr/>
        </p:nvSpPr>
        <p:spPr>
          <a:xfrm xmlns:a="http://schemas.openxmlformats.org/drawingml/2006/main">
            <a:off x="685800" y="3028950"/>
            <a:ext cx="49530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a:solidFill>
                  <a:srgbClr val="13283F"/>
                </a:solidFill>
                <a:latin typeface="Helvetica Neue"/>
                <a:ea typeface="Helvetica Neue"/>
                <a:cs typeface="Helvetica Neue"/>
              </a:defRPr>
            </a:defPPr>
          </a:lstStyle>
          <a:p xmlns:a="http://schemas.openxmlformats.org/drawingml/2006/main">
            <a:pPr algn="l">
              <a:lnSpc>
                <a:spcPct val="105000"/>
              </a:lnSpc>
              <a:buNone/>
              <a:defRPr sz="1275" b="0">
                <a:solidFill>
                  <a:srgbClr val="13283F"/>
                </a:solidFill>
                <a:latin typeface="Helvetica Neue"/>
                <a:ea typeface="Helvetica Neue"/>
                <a:cs typeface="Helvetica Neue"/>
              </a:defRPr>
            </a:pPr>
            <a:r>
              <a:rPr sz="1275" b="0">
                <a:solidFill>
                  <a:srgbClr val="13283F"/>
                </a:solidFill>
                <a:latin typeface="Helvetica Neue"/>
                <a:ea typeface="Helvetica Neue"/>
                <a:cs typeface="Helvetica Neue"/>
              </a:rPr>
              <a:t>C4 feature cache</a:t>
            </a:r>
          </a:p>
          <a:p xmlns:a="http://schemas.openxmlformats.org/drawingml/2006/main">
            <a:pPr algn="l">
              <a:lnSpc>
                <a:spcPct val="105000"/>
              </a:lnSpc>
              <a:buNone/>
              <a:defRPr sz="1275" b="0">
                <a:solidFill>
                  <a:srgbClr val="13283F"/>
                </a:solidFill>
                <a:latin typeface="Helvetica Neue"/>
                <a:ea typeface="Helvetica Neue"/>
                <a:cs typeface="Helvetica Neue"/>
              </a:defRPr>
            </a:pPr>
            <a:r>
              <a:rPr sz="1275" b="0">
                <a:solidFill>
                  <a:srgbClr val="13283F"/>
                </a:solidFill>
                <a:latin typeface="Helvetica Neue"/>
                <a:ea typeface="Helvetica Neue"/>
                <a:cs typeface="Helvetica Neue"/>
              </a:rPr>
              <a:t>1,841 token examples  /  20 document IDs</a:t>
            </a:r>
          </a:p>
          <a:p xmlns:a="http://schemas.openxmlformats.org/drawingml/2006/main">
            <a:pPr algn="l">
              <a:lnSpc>
                <a:spcPct val="105000"/>
              </a:lnSpc>
              <a:buNone/>
              <a:defRPr sz="1275" b="0">
                <a:solidFill>
                  <a:srgbClr val="13283F"/>
                </a:solidFill>
                <a:latin typeface="Helvetica Neue"/>
                <a:ea typeface="Helvetica Neue"/>
                <a:cs typeface="Helvetica Neue"/>
              </a:defRPr>
            </a:pPr>
            <a:r>
              <a:rPr sz="1275" b="0">
                <a:solidFill>
                  <a:srgbClr val="13283F"/>
                </a:solidFill>
                <a:latin typeface="Helvetica Neue"/>
                <a:ea typeface="Helvetica Neue"/>
                <a:cs typeface="Helvetica Neue"/>
              </a:rPr>
              <a:t>2,048 dimensions per hidden-state vector</a:t>
            </a:r>
          </a:p>
          <a:p xmlns:a="http://schemas.openxmlformats.org/drawingml/2006/main">
            <a:pPr algn="l">
              <a:lnSpc>
                <a:spcPct val="105000"/>
              </a:lnSpc>
              <a:buNone/>
              <a:defRPr sz="1275" b="0">
                <a:solidFill>
                  <a:srgbClr val="13283F"/>
                </a:solidFill>
                <a:latin typeface="Helvetica Neue"/>
                <a:ea typeface="Helvetica Neue"/>
                <a:cs typeface="Helvetica Neue"/>
              </a:defRPr>
            </a:pPr>
            <a:r>
              <a:rPr sz="1275" b="0">
                <a:solidFill>
                  <a:srgbClr val="13283F"/>
                </a:solidFill>
                <a:latin typeface="Helvetica Neue"/>
                <a:ea typeface="Helvetica Neue"/>
                <a:cs typeface="Helvetica Neue"/>
              </a:rPr>
              <a:t>Max length 128  /  90:10 document-level split</a:t>
            </a:r>
          </a:p>
        </p:txBody>
      </p:sp>
      <p:sp>
        <p:nvSpPr>
          <p:cNvPr id="11" name="">
            <a:extLst xmlns:a="http://schemas.openxmlformats.org/drawingml/2006/main">
              <a:ext uri="{FF2B5EF4-FFF2-40B4-BE49-F238E27FC236}">
                <a16:creationId xmlns:a16="http://schemas.microsoft.com/office/drawing/2014/main" id="{76420A30-BF44-464D-B9B6-7B2861F12E73}"/>
              </a:ext>
            </a:extLst>
          </p:cNvPr>
          <p:cNvSpPr>
            <a:spLocks xmlns:a="http://schemas.openxmlformats.org/drawingml/2006/main" noGrp="1"/>
          </p:cNvSpPr>
          <p:nvPr/>
        </p:nvSpPr>
        <p:spPr>
          <a:xfrm xmlns:a="http://schemas.openxmlformats.org/drawingml/2006/main">
            <a:off x="685800" y="4267200"/>
            <a:ext cx="495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1">
                <a:solidFill>
                  <a:srgbClr val="536477"/>
                </a:solidFill>
                <a:latin typeface="Helvetica Neue"/>
                <a:ea typeface="Helvetica Neue"/>
                <a:cs typeface="Helvetica Neue"/>
              </a:defRPr>
            </a:defPPr>
          </a:lstStyle>
          <a:p xmlns:a="http://schemas.openxmlformats.org/drawingml/2006/main">
            <a:pPr algn="l">
              <a:lnSpc>
                <a:spcPct val="105000"/>
              </a:lnSpc>
              <a:buNone/>
              <a:defRPr sz="1200" b="1">
                <a:solidFill>
                  <a:srgbClr val="536477"/>
                </a:solidFill>
                <a:latin typeface="Helvetica Neue"/>
                <a:ea typeface="Helvetica Neue"/>
                <a:cs typeface="Helvetica Neue"/>
              </a:defRPr>
            </a:pPr>
            <a:r>
              <a:rPr sz="1200" b="1">
                <a:solidFill>
                  <a:srgbClr val="536477"/>
                </a:solidFill>
                <a:latin typeface="Helvetica Neue"/>
                <a:ea typeface="Helvetica Neue"/>
                <a:cs typeface="Helvetica Neue"/>
              </a:rPr>
              <a:t>Local QA file: 10 labeled questions</a:t>
            </a:r>
          </a:p>
        </p:txBody>
      </p:sp>
      <p:sp>
        <p:nvSpPr>
          <p:cNvPr id="12" name="">
            <a:extLst xmlns:a="http://schemas.openxmlformats.org/drawingml/2006/main">
              <a:ext uri="{FF2B5EF4-FFF2-40B4-BE49-F238E27FC236}">
                <a16:creationId xmlns:a16="http://schemas.microsoft.com/office/drawing/2014/main" id="{8098B985-4004-48F0-A59B-D1FB00C42E0A}"/>
              </a:ext>
            </a:extLst>
          </p:cNvPr>
          <p:cNvSpPr>
            <a:spLocks xmlns:a="http://schemas.openxmlformats.org/drawingml/2006/main" noGrp="1"/>
          </p:cNvSpPr>
          <p:nvPr/>
        </p:nvSpPr>
        <p:spPr>
          <a:xfrm xmlns:a="http://schemas.openxmlformats.org/drawingml/2006/main">
            <a:off x="6496050" y="1428750"/>
            <a:ext cx="4000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1">
                <a:solidFill>
                  <a:srgbClr val="C7782B"/>
                </a:solidFill>
                <a:latin typeface="Helvetica Neue"/>
                <a:ea typeface="Helvetica Neue"/>
                <a:cs typeface="Helvetica Neue"/>
              </a:defRPr>
            </a:defPPr>
          </a:lstStyle>
          <a:p xmlns:a="http://schemas.openxmlformats.org/drawingml/2006/main">
            <a:pPr algn="l">
              <a:lnSpc>
                <a:spcPct val="105000"/>
              </a:lnSpc>
              <a:buNone/>
              <a:defRPr sz="975" b="1">
                <a:solidFill>
                  <a:srgbClr val="C7782B"/>
                </a:solidFill>
                <a:latin typeface="Helvetica Neue"/>
                <a:ea typeface="Helvetica Neue"/>
                <a:cs typeface="Helvetica Neue"/>
              </a:defRPr>
            </a:pPr>
            <a:r>
              <a:rPr sz="975" b="1">
                <a:solidFill>
                  <a:srgbClr val="C7782B"/>
                </a:solidFill>
                <a:latin typeface="Helvetica Neue"/>
                <a:ea typeface="Helvetica Neue"/>
                <a:cs typeface="Helvetica Neue"/>
              </a:rPr>
              <a:t>ENN TRAINING CONFIGURATION</a:t>
            </a:r>
          </a:p>
        </p:txBody>
      </p:sp>
      <p:sp>
        <p:nvSpPr>
          <p:cNvPr id="13" name="">
            <a:extLst xmlns:a="http://schemas.openxmlformats.org/drawingml/2006/main">
              <a:ext uri="{FF2B5EF4-FFF2-40B4-BE49-F238E27FC236}">
                <a16:creationId xmlns:a16="http://schemas.microsoft.com/office/drawing/2014/main" id="{63D6648C-5F2D-4305-BBF0-AB2A45F116DE}"/>
              </a:ext>
            </a:extLst>
          </p:cNvPr>
          <p:cNvSpPr>
            <a:spLocks xmlns:a="http://schemas.openxmlformats.org/drawingml/2006/main" noGrp="1"/>
          </p:cNvSpPr>
          <p:nvPr/>
        </p:nvSpPr>
        <p:spPr>
          <a:xfrm xmlns:a="http://schemas.openxmlformats.org/drawingml/2006/main">
            <a:off x="6496050" y="1714500"/>
            <a:ext cx="5010150"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a:solidFill>
                  <a:srgbClr val="13283F"/>
                </a:solidFill>
                <a:latin typeface="Helvetica Neue"/>
                <a:ea typeface="Helvetica Neue"/>
                <a:cs typeface="Helvetica Neue"/>
              </a:defRPr>
            </a:defPPr>
          </a:lstStyle>
          <a:p xmlns:a="http://schemas.openxmlformats.org/drawingml/2006/main">
            <a:pPr algn="l">
              <a:lnSpc>
                <a:spcPct val="105000"/>
              </a:lnSpc>
              <a:buNone/>
              <a:defRPr sz="1275" b="0">
                <a:solidFill>
                  <a:srgbClr val="13283F"/>
                </a:solidFill>
                <a:latin typeface="Helvetica Neue"/>
                <a:ea typeface="Helvetica Neue"/>
                <a:cs typeface="Helvetica Neue"/>
              </a:defRPr>
            </a:pPr>
            <a:r>
              <a:rPr sz="1275" b="0">
                <a:solidFill>
                  <a:srgbClr val="13283F"/>
                </a:solidFill>
                <a:latin typeface="Helvetica Neue"/>
                <a:ea typeface="Helvetica Neue"/>
                <a:cs typeface="Helvetica Neue"/>
              </a:rPr>
              <a:t>AdamW  /  learning rate 1 × 10⁻⁴</a:t>
            </a:r>
          </a:p>
          <a:p xmlns:a="http://schemas.openxmlformats.org/drawingml/2006/main">
            <a:pPr algn="l">
              <a:lnSpc>
                <a:spcPct val="105000"/>
              </a:lnSpc>
              <a:buNone/>
              <a:defRPr sz="1275" b="0">
                <a:solidFill>
                  <a:srgbClr val="13283F"/>
                </a:solidFill>
                <a:latin typeface="Helvetica Neue"/>
                <a:ea typeface="Helvetica Neue"/>
                <a:cs typeface="Helvetica Neue"/>
              </a:defRPr>
            </a:pPr>
            <a:r>
              <a:rPr sz="1275" b="0">
                <a:solidFill>
                  <a:srgbClr val="13283F"/>
                </a:solidFill>
                <a:latin typeface="Helvetica Neue"/>
                <a:ea typeface="Helvetica Neue"/>
                <a:cs typeface="Helvetica Neue"/>
              </a:rPr>
              <a:t>Batch size 1  /  2 epochs  /  3 z-samples</a:t>
            </a:r>
          </a:p>
          <a:p xmlns:a="http://schemas.openxmlformats.org/drawingml/2006/main">
            <a:pPr algn="l">
              <a:lnSpc>
                <a:spcPct val="105000"/>
              </a:lnSpc>
              <a:buNone/>
              <a:defRPr sz="1275" b="0">
                <a:solidFill>
                  <a:srgbClr val="13283F"/>
                </a:solidFill>
                <a:latin typeface="Helvetica Neue"/>
                <a:ea typeface="Helvetica Neue"/>
                <a:cs typeface="Helvetica Neue"/>
              </a:defRPr>
            </a:pPr>
            <a:r>
              <a:rPr sz="1275" b="0">
                <a:solidFill>
                  <a:srgbClr val="13283F"/>
                </a:solidFill>
                <a:latin typeface="Helvetica Neue"/>
                <a:ea typeface="Helvetica Neue"/>
                <a:cs typeface="Helvetica Neue"/>
              </a:rPr>
              <a:t>Next-token cross-entropy  /  weight decay 1 × 10⁻⁴</a:t>
            </a:r>
          </a:p>
        </p:txBody>
      </p:sp>
      <p:sp>
        <p:nvSpPr>
          <p:cNvPr id="14" name="">
            <a:extLst xmlns:a="http://schemas.openxmlformats.org/drawingml/2006/main">
              <a:ext uri="{FF2B5EF4-FFF2-40B4-BE49-F238E27FC236}">
                <a16:creationId xmlns:a16="http://schemas.microsoft.com/office/drawing/2014/main" id="{BF14AD7D-6107-44E9-A282-8BCBE7AE2871}"/>
              </a:ext>
            </a:extLst>
          </p:cNvPr>
          <p:cNvSpPr>
            <a:spLocks xmlns:a="http://schemas.openxmlformats.org/drawingml/2006/main" noGrp="1"/>
          </p:cNvSpPr>
          <p:nvPr/>
        </p:nvSpPr>
        <p:spPr>
          <a:xfrm xmlns:a="http://schemas.openxmlformats.org/drawingml/2006/main">
            <a:off x="6496050" y="2952750"/>
            <a:ext cx="4000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1">
                <a:solidFill>
                  <a:srgbClr val="2864C5"/>
                </a:solidFill>
                <a:latin typeface="Helvetica Neue"/>
                <a:ea typeface="Helvetica Neue"/>
                <a:cs typeface="Helvetica Neue"/>
              </a:defRPr>
            </a:defPPr>
          </a:lstStyle>
          <a:p xmlns:a="http://schemas.openxmlformats.org/drawingml/2006/main">
            <a:pPr algn="l">
              <a:lnSpc>
                <a:spcPct val="105000"/>
              </a:lnSpc>
              <a:buNone/>
              <a:defRPr sz="975" b="1">
                <a:solidFill>
                  <a:srgbClr val="2864C5"/>
                </a:solidFill>
                <a:latin typeface="Helvetica Neue"/>
                <a:ea typeface="Helvetica Neue"/>
                <a:cs typeface="Helvetica Neue"/>
              </a:defRPr>
            </a:pPr>
            <a:r>
              <a:rPr sz="975" b="1">
                <a:solidFill>
                  <a:srgbClr val="2864C5"/>
                </a:solidFill>
                <a:latin typeface="Helvetica Neue"/>
                <a:ea typeface="Helvetica Neue"/>
                <a:cs typeface="Helvetica Neue"/>
              </a:rPr>
              <a:t>EVALUATION AND AVAILABILITY</a:t>
            </a:r>
          </a:p>
        </p:txBody>
      </p:sp>
      <p:sp>
        <p:nvSpPr>
          <p:cNvPr id="15" name="">
            <a:extLst xmlns:a="http://schemas.openxmlformats.org/drawingml/2006/main">
              <a:ext uri="{FF2B5EF4-FFF2-40B4-BE49-F238E27FC236}">
                <a16:creationId xmlns:a16="http://schemas.microsoft.com/office/drawing/2014/main" id="{2762E581-1962-484E-B5DD-0E2A02C303A5}"/>
              </a:ext>
            </a:extLst>
          </p:cNvPr>
          <p:cNvSpPr>
            <a:spLocks xmlns:a="http://schemas.openxmlformats.org/drawingml/2006/main" noGrp="1"/>
          </p:cNvSpPr>
          <p:nvPr/>
        </p:nvSpPr>
        <p:spPr>
          <a:xfrm xmlns:a="http://schemas.openxmlformats.org/drawingml/2006/main">
            <a:off x="6496050" y="3257550"/>
            <a:ext cx="5010150" cy="1123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a:solidFill>
                  <a:srgbClr val="13283F"/>
                </a:solidFill>
                <a:latin typeface="Helvetica Neue"/>
                <a:ea typeface="Helvetica Neue"/>
                <a:cs typeface="Helvetica Neue"/>
              </a:defRPr>
            </a:defPPr>
          </a:lstStyle>
          <a:p xmlns:a="http://schemas.openxmlformats.org/drawingml/2006/main">
            <a:pPr algn="l">
              <a:lnSpc>
                <a:spcPct val="105000"/>
              </a:lnSpc>
              <a:buNone/>
              <a:defRPr sz="1275" b="0">
                <a:solidFill>
                  <a:srgbClr val="13283F"/>
                </a:solidFill>
                <a:latin typeface="Helvetica Neue"/>
                <a:ea typeface="Helvetica Neue"/>
                <a:cs typeface="Helvetica Neue"/>
              </a:defRPr>
            </a:pPr>
            <a:r>
              <a:rPr sz="1275" b="0">
                <a:solidFill>
                  <a:srgbClr val="13283F"/>
                </a:solidFill>
                <a:latin typeface="Helvetica Neue"/>
                <a:ea typeface="Helvetica Neue"/>
                <a:cs typeface="Helvetica Neue"/>
              </a:rPr>
              <a:t>TruthfulQA MC1/MC2 and local exact-match evaluation are supported in code.</a:t>
            </a:r>
          </a:p>
          <a:p xmlns:a="http://schemas.openxmlformats.org/drawingml/2006/main">
            <a:r>
              <a:t/>
            </a:r>
          </a:p>
          <a:p xmlns:a="http://schemas.openxmlformats.org/drawingml/2006/main">
            <a:pPr algn="l">
              <a:lnSpc>
                <a:spcPct val="105000"/>
              </a:lnSpc>
              <a:buNone/>
              <a:defRPr sz="1275" b="0">
                <a:solidFill>
                  <a:srgbClr val="13283F"/>
                </a:solidFill>
                <a:latin typeface="Helvetica Neue"/>
                <a:ea typeface="Helvetica Neue"/>
                <a:cs typeface="Helvetica Neue"/>
              </a:defRPr>
            </a:pPr>
            <a:r>
              <a:rPr sz="1275" b="0">
                <a:solidFill>
                  <a:srgbClr val="13283F"/>
                </a:solidFill>
                <a:latin typeface="Helvetica Neue"/>
                <a:ea typeface="Helvetica Neue"/>
                <a:cs typeface="Helvetica Neue"/>
              </a:rPr>
              <a:t>Active PyTorch checkpoint: absent</a:t>
            </a:r>
          </a:p>
          <a:p xmlns:a="http://schemas.openxmlformats.org/drawingml/2006/main">
            <a:pPr algn="l">
              <a:lnSpc>
                <a:spcPct val="105000"/>
              </a:lnSpc>
              <a:buNone/>
              <a:defRPr sz="1275" b="0">
                <a:solidFill>
                  <a:srgbClr val="13283F"/>
                </a:solidFill>
                <a:latin typeface="Helvetica Neue"/>
                <a:ea typeface="Helvetica Neue"/>
                <a:cs typeface="Helvetica Neue"/>
              </a:defRPr>
            </a:pPr>
            <a:r>
              <a:rPr sz="1275" b="0">
                <a:solidFill>
                  <a:srgbClr val="13283F"/>
                </a:solidFill>
                <a:latin typeface="Helvetica Neue"/>
                <a:ea typeface="Helvetica Neue"/>
                <a:cs typeface="Helvetica Neue"/>
              </a:rPr>
              <a:t>Saved benchmark results: absent</a:t>
            </a:r>
          </a:p>
        </p:txBody>
      </p:sp>
      <p:sp>
        <p:nvSpPr>
          <p:cNvPr id="16" name="">
            <a:extLst xmlns:a="http://schemas.openxmlformats.org/drawingml/2006/main">
              <a:ext uri="{FF2B5EF4-FFF2-40B4-BE49-F238E27FC236}">
                <a16:creationId xmlns:a16="http://schemas.microsoft.com/office/drawing/2014/main" id="{3D01F235-4BB0-4B81-A6BF-706F52CE36E4}"/>
              </a:ext>
            </a:extLst>
          </p:cNvPr>
          <p:cNvSpPr>
            <a:spLocks xmlns:a="http://schemas.openxmlformats.org/drawingml/2006/main" noGrp="1"/>
          </p:cNvSpPr>
          <p:nvPr/>
        </p:nvSpPr>
        <p:spPr>
          <a:xfrm xmlns:a="http://schemas.openxmlformats.org/drawingml/2006/main">
            <a:off x="685800" y="4972050"/>
            <a:ext cx="10668000" cy="838200"/>
          </a:xfrm>
          <a:prstGeom xmlns:a="http://schemas.openxmlformats.org/drawingml/2006/main" prst="roundRect">
            <a:avLst>
              <a:gd name="adj" fmla="val 9091"/>
            </a:avLst>
          </a:prstGeom>
          <a:solidFill xmlns:a="http://schemas.openxmlformats.org/drawingml/2006/main">
            <a:srgbClr val="F5EBDD"/>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BDC79BEF-34B8-4C9A-AE6C-2E119108EB42}"/>
              </a:ext>
            </a:extLst>
          </p:cNvPr>
          <p:cNvSpPr>
            <a:spLocks xmlns:a="http://schemas.openxmlformats.org/drawingml/2006/main" noGrp="1"/>
          </p:cNvSpPr>
          <p:nvPr/>
        </p:nvSpPr>
        <p:spPr>
          <a:xfrm xmlns:a="http://schemas.openxmlformats.org/drawingml/2006/main">
            <a:off x="914400" y="5181600"/>
            <a:ext cx="101536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1">
                <a:solidFill>
                  <a:srgbClr val="10253F"/>
                </a:solidFill>
                <a:latin typeface="Helvetica Neue"/>
                <a:ea typeface="Helvetica Neue"/>
                <a:cs typeface="Helvetica Neue"/>
              </a:defRPr>
            </a:defPPr>
          </a:lstStyle>
          <a:p xmlns:a="http://schemas.openxmlformats.org/drawingml/2006/main">
            <a:pPr algn="l">
              <a:lnSpc>
                <a:spcPct val="105000"/>
              </a:lnSpc>
              <a:buNone/>
              <a:defRPr sz="1500" b="1">
                <a:solidFill>
                  <a:srgbClr val="10253F"/>
                </a:solidFill>
                <a:latin typeface="Helvetica Neue"/>
                <a:ea typeface="Helvetica Neue"/>
                <a:cs typeface="Helvetica Neue"/>
              </a:defRPr>
            </a:pPr>
            <a:r>
              <a:rPr sz="1500" b="1">
                <a:solidFill>
                  <a:srgbClr val="10253F"/>
                </a:solidFill>
                <a:latin typeface="Helvetica Neue"/>
                <a:ea typeface="Helvetica Neue"/>
                <a:cs typeface="Helvetica Neue"/>
              </a:rPr>
              <a:t>Hardware and successful training-run details: [TO BE PROVIDED]</a:t>
            </a:r>
          </a:p>
        </p:txBody>
      </p:sp>
      <p:sp>
        <p:nvSpPr>
          <p:cNvPr id="18" name="">
            <a:extLst xmlns:a="http://schemas.openxmlformats.org/drawingml/2006/main">
              <a:ext uri="{FF2B5EF4-FFF2-40B4-BE49-F238E27FC236}">
                <a16:creationId xmlns:a16="http://schemas.microsoft.com/office/drawing/2014/main" id="{5D938737-C6E9-4F71-945D-67BC095557A1}"/>
              </a:ext>
            </a:extLst>
          </p:cNvPr>
          <p:cNvSpPr>
            <a:spLocks xmlns:a="http://schemas.openxmlformats.org/drawingml/2006/main" noGrp="1"/>
          </p:cNvSpPr>
          <p:nvPr/>
        </p:nvSpPr>
        <p:spPr>
          <a:xfrm xmlns:a="http://schemas.openxmlformats.org/drawingml/2006/main">
            <a:off x="914400" y="5495925"/>
            <a:ext cx="10096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0">
                <a:solidFill>
                  <a:srgbClr val="536477"/>
                </a:solidFill>
                <a:latin typeface="Helvetica Neue"/>
                <a:ea typeface="Helvetica Neue"/>
                <a:cs typeface="Helvetica Neue"/>
              </a:defRPr>
            </a:defPPr>
          </a:lstStyle>
          <a:p xmlns:a="http://schemas.openxmlformats.org/drawingml/2006/main">
            <a:pPr algn="l">
              <a:lnSpc>
                <a:spcPct val="105000"/>
              </a:lnSpc>
              <a:buNone/>
              <a:defRPr sz="1050" b="0">
                <a:solidFill>
                  <a:srgbClr val="536477"/>
                </a:solidFill>
                <a:latin typeface="Helvetica Neue"/>
                <a:ea typeface="Helvetica Neue"/>
                <a:cs typeface="Helvetica Neue"/>
              </a:defRPr>
            </a:pPr>
            <a:r>
              <a:rPr sz="1050" b="0">
                <a:solidFill>
                  <a:srgbClr val="536477"/>
                </a:solidFill>
                <a:latin typeface="Helvetica Neue"/>
                <a:ea typeface="Helvetica Neue"/>
                <a:cs typeface="Helvetica Neue"/>
              </a:rPr>
              <a:t>Settings above are repository defaults. They do not confirm a completed training run.</a:t>
            </a:r>
          </a:p>
        </p:txBody>
      </p:sp>
    </p:spTree>
    <p:extLst>
      <p:ext uri="{BB962C8B-B14F-4D97-AF65-F5344CB8AC3E}">
        <p14:creationId xmlns:p14="http://schemas.microsoft.com/office/powerpoint/2010/main" val="1030452204"/>
      </p:ext>
    </p:extLst>
  </p:cSld>
</p:sld>
</file>

<file path=ppt/slides/slide9.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28FE2073-870F-4A8F-A2E4-194B6ADEFF81}"/>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2864C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F9587B04-F5D8-46A5-8444-85C98FAC6F98}"/>
              </a:ext>
            </a:extLst>
          </p:cNvPr>
          <p:cNvSpPr>
            <a:spLocks xmlns:a="http://schemas.openxmlformats.org/drawingml/2006/main" noGrp="1"/>
          </p:cNvSpPr>
          <p:nvPr/>
        </p:nvSpPr>
        <p:spPr>
          <a:xfrm xmlns:a="http://schemas.openxmlformats.org/drawingml/2006/main">
            <a:off x="552450" y="361950"/>
            <a:ext cx="11049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550" b="1">
                <a:solidFill>
                  <a:srgbClr val="10253F"/>
                </a:solidFill>
                <a:latin typeface="Helvetica Neue"/>
                <a:ea typeface="Helvetica Neue"/>
                <a:cs typeface="Helvetica Neue"/>
              </a:defRPr>
            </a:defPPr>
          </a:lstStyle>
          <a:p xmlns:a="http://schemas.openxmlformats.org/drawingml/2006/main">
            <a:pPr algn="l">
              <a:lnSpc>
                <a:spcPct val="105000"/>
              </a:lnSpc>
              <a:buNone/>
              <a:defRPr sz="2550" b="1">
                <a:solidFill>
                  <a:srgbClr val="10253F"/>
                </a:solidFill>
                <a:latin typeface="Helvetica Neue"/>
                <a:ea typeface="Helvetica Neue"/>
                <a:cs typeface="Helvetica Neue"/>
              </a:defRPr>
            </a:pPr>
            <a:r>
              <a:rPr sz="2550" b="1">
                <a:solidFill>
                  <a:srgbClr val="10253F"/>
                </a:solidFill>
                <a:latin typeface="Helvetica Neue"/>
                <a:ea typeface="Helvetica Neue"/>
                <a:cs typeface="Helvetica Neue"/>
              </a:rPr>
              <a:t>Results &amp; Performance Analysis</a:t>
            </a:r>
          </a:p>
        </p:txBody>
      </p:sp>
      <p:sp>
        <p:nvSpPr>
          <p:cNvPr id="3" name="">
            <a:extLst xmlns:a="http://schemas.openxmlformats.org/drawingml/2006/main">
              <a:ext uri="{FF2B5EF4-FFF2-40B4-BE49-F238E27FC236}">
                <a16:creationId xmlns:a16="http://schemas.microsoft.com/office/drawing/2014/main" id="{578F389E-7E42-45F6-9EBD-821AE7D0A505}"/>
              </a:ext>
            </a:extLst>
          </p:cNvPr>
          <p:cNvSpPr>
            <a:spLocks xmlns:a="http://schemas.openxmlformats.org/drawingml/2006/main" noGrp="1"/>
          </p:cNvSpPr>
          <p:nvPr/>
        </p:nvSpPr>
        <p:spPr>
          <a:xfrm xmlns:a="http://schemas.openxmlformats.org/drawingml/2006/main">
            <a:off x="571500" y="876300"/>
            <a:ext cx="10953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a:solidFill>
                  <a:srgbClr val="536477"/>
                </a:solidFill>
                <a:latin typeface="Helvetica Neue"/>
                <a:ea typeface="Helvetica Neue"/>
                <a:cs typeface="Helvetica Neue"/>
              </a:defRPr>
            </a:defPPr>
          </a:lstStyle>
          <a:p xmlns:a="http://schemas.openxmlformats.org/drawingml/2006/main">
            <a:pPr algn="l">
              <a:lnSpc>
                <a:spcPct val="105000"/>
              </a:lnSpc>
              <a:buNone/>
              <a:defRPr sz="1275" b="0">
                <a:solidFill>
                  <a:srgbClr val="536477"/>
                </a:solidFill>
                <a:latin typeface="Helvetica Neue"/>
                <a:ea typeface="Helvetica Neue"/>
                <a:cs typeface="Helvetica Neue"/>
              </a:defRPr>
            </a:pPr>
            <a:r>
              <a:rPr sz="1275" b="0">
                <a:solidFill>
                  <a:srgbClr val="536477"/>
                </a:solidFill>
                <a:latin typeface="Helvetica Neue"/>
                <a:ea typeface="Helvetica Neue"/>
                <a:cs typeface="Helvetica Neue"/>
              </a:rPr>
              <a:t>No saved prediction file or active PyTorch ENN checkpoint was available for this draft.</a:t>
            </a:r>
          </a:p>
        </p:txBody>
      </p:sp>
      <p:sp>
        <p:nvSpPr>
          <p:cNvPr id="4" name="">
            <a:extLst xmlns:a="http://schemas.openxmlformats.org/drawingml/2006/main">
              <a:ext uri="{FF2B5EF4-FFF2-40B4-BE49-F238E27FC236}">
                <a16:creationId xmlns:a16="http://schemas.microsoft.com/office/drawing/2014/main" id="{07DAFEC1-19F1-4EEF-94D6-529CE9FFBC10}"/>
              </a:ext>
            </a:extLst>
          </p:cNvPr>
          <p:cNvSpPr>
            <a:spLocks xmlns:a="http://schemas.openxmlformats.org/drawingml/2006/main" noGrp="1"/>
          </p:cNvSpPr>
          <p:nvPr/>
        </p:nvSpPr>
        <p:spPr>
          <a:xfrm xmlns:a="http://schemas.openxmlformats.org/drawingml/2006/main" flipV="0">
            <a:off x="571500" y="6438900"/>
            <a:ext cx="11049000" cy="0"/>
          </a:xfrm>
          <a:prstGeom xmlns:a="http://schemas.openxmlformats.org/drawingml/2006/main" prst="line">
            <a:avLst/>
          </a:prstGeom>
          <a:noFill xmlns:a="http://schemas.openxmlformats.org/drawingml/2006/main"/>
          <a:ln xmlns:a="http://schemas.openxmlformats.org/drawingml/2006/main" w="9525">
            <a:solidFill>
              <a:srgbClr val="D6DEE8"/>
            </a:solidFill>
            <a:prstDash val="solid"/>
          </a:ln>
        </p:spPr>
      </p:sp>
      <p:sp>
        <p:nvSpPr>
          <p:cNvPr id="5" name="">
            <a:extLst xmlns:a="http://schemas.openxmlformats.org/drawingml/2006/main">
              <a:ext uri="{FF2B5EF4-FFF2-40B4-BE49-F238E27FC236}">
                <a16:creationId xmlns:a16="http://schemas.microsoft.com/office/drawing/2014/main" id="{24B26771-3CDF-4E68-A9C1-09C78AC8152D}"/>
              </a:ext>
            </a:extLst>
          </p:cNvPr>
          <p:cNvSpPr>
            <a:spLocks xmlns:a="http://schemas.openxmlformats.org/drawingml/2006/main" noGrp="1"/>
          </p:cNvSpPr>
          <p:nvPr/>
        </p:nvSpPr>
        <p:spPr>
          <a:xfrm xmlns:a="http://schemas.openxmlformats.org/drawingml/2006/main">
            <a:off x="571500" y="6534150"/>
            <a:ext cx="4572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1">
                <a:solidFill>
                  <a:srgbClr val="536477"/>
                </a:solidFill>
                <a:latin typeface="Helvetica Neue"/>
                <a:ea typeface="Helvetica Neue"/>
                <a:cs typeface="Helvetica Neue"/>
              </a:defRPr>
            </a:defPPr>
          </a:lstStyle>
          <a:p xmlns:a="http://schemas.openxmlformats.org/drawingml/2006/main">
            <a:pPr algn="l">
              <a:lnSpc>
                <a:spcPct val="105000"/>
              </a:lnSpc>
              <a:buNone/>
              <a:defRPr sz="900" b="1">
                <a:solidFill>
                  <a:srgbClr val="536477"/>
                </a:solidFill>
                <a:latin typeface="Helvetica Neue"/>
                <a:ea typeface="Helvetica Neue"/>
                <a:cs typeface="Helvetica Neue"/>
              </a:defRPr>
            </a:pPr>
            <a:r>
              <a:rPr sz="900" b="1">
                <a:solidFill>
                  <a:srgbClr val="536477"/>
                </a:solidFill>
                <a:latin typeface="Helvetica Neue"/>
                <a:ea typeface="Helvetica Neue"/>
                <a:cs typeface="Helvetica Neue"/>
              </a:rPr>
              <a:t>VIT-AP UNIVERSITY  /  SCOPE</a:t>
            </a:r>
          </a:p>
        </p:txBody>
      </p:sp>
      <p:sp>
        <p:nvSpPr>
          <p:cNvPr id="6" name="">
            <a:extLst xmlns:a="http://schemas.openxmlformats.org/drawingml/2006/main">
              <a:ext uri="{FF2B5EF4-FFF2-40B4-BE49-F238E27FC236}">
                <a16:creationId xmlns:a16="http://schemas.microsoft.com/office/drawing/2014/main" id="{D0C1EC5E-05A4-4D47-B704-26C03E8B56B2}"/>
              </a:ext>
            </a:extLst>
          </p:cNvPr>
          <p:cNvSpPr>
            <a:spLocks xmlns:a="http://schemas.openxmlformats.org/drawingml/2006/main" noGrp="1"/>
          </p:cNvSpPr>
          <p:nvPr/>
        </p:nvSpPr>
        <p:spPr>
          <a:xfrm xmlns:a="http://schemas.openxmlformats.org/drawingml/2006/main">
            <a:off x="11087100" y="6515100"/>
            <a:ext cx="5334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975" b="1">
                <a:solidFill>
                  <a:srgbClr val="536477"/>
                </a:solidFill>
                <a:latin typeface="Helvetica Neue"/>
                <a:ea typeface="Helvetica Neue"/>
                <a:cs typeface="Helvetica Neue"/>
              </a:defRPr>
            </a:defPPr>
          </a:lstStyle>
          <a:p xmlns:a="http://schemas.openxmlformats.org/drawingml/2006/main">
            <a:pPr algn="r">
              <a:lnSpc>
                <a:spcPct val="105000"/>
              </a:lnSpc>
              <a:buNone/>
              <a:defRPr sz="975" b="1">
                <a:solidFill>
                  <a:srgbClr val="536477"/>
                </a:solidFill>
                <a:latin typeface="Helvetica Neue"/>
                <a:ea typeface="Helvetica Neue"/>
                <a:cs typeface="Helvetica Neue"/>
              </a:defRPr>
            </a:pPr>
            <a:r>
              <a:rPr sz="975" b="1">
                <a:solidFill>
                  <a:srgbClr val="536477"/>
                </a:solidFill>
                <a:latin typeface="Helvetica Neue"/>
                <a:ea typeface="Helvetica Neue"/>
                <a:cs typeface="Helvetica Neue"/>
              </a:rPr>
              <a:t>09</a:t>
            </a:r>
          </a:p>
        </p:txBody>
      </p:sp>
      <p:sp>
        <p:nvSpPr>
          <p:cNvPr id="7" name="">
            <a:extLst xmlns:a="http://schemas.openxmlformats.org/drawingml/2006/main">
              <a:ext uri="{FF2B5EF4-FFF2-40B4-BE49-F238E27FC236}">
                <a16:creationId xmlns:a16="http://schemas.microsoft.com/office/drawing/2014/main" id="{78368BA7-1AB3-40EF-A9D3-3D7E2562C497}"/>
              </a:ext>
            </a:extLst>
          </p:cNvPr>
          <p:cNvSpPr>
            <a:spLocks xmlns:a="http://schemas.openxmlformats.org/drawingml/2006/main" noGrp="1"/>
          </p:cNvSpPr>
          <p:nvPr/>
        </p:nvSpPr>
        <p:spPr>
          <a:xfrm xmlns:a="http://schemas.openxmlformats.org/drawingml/2006/main">
            <a:off x="704850" y="1428750"/>
            <a:ext cx="285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650" b="1">
                <a:solidFill>
                  <a:srgbClr val="10253F"/>
                </a:solidFill>
                <a:latin typeface="Helvetica Neue"/>
                <a:ea typeface="Helvetica Neue"/>
                <a:cs typeface="Helvetica Neue"/>
              </a:defRPr>
            </a:defPPr>
          </a:lstStyle>
          <a:p xmlns:a="http://schemas.openxmlformats.org/drawingml/2006/main">
            <a:pPr algn="l">
              <a:lnSpc>
                <a:spcPct val="105000"/>
              </a:lnSpc>
              <a:buNone/>
              <a:defRPr sz="1650" b="1">
                <a:solidFill>
                  <a:srgbClr val="10253F"/>
                </a:solidFill>
                <a:latin typeface="Helvetica Neue"/>
                <a:ea typeface="Helvetica Neue"/>
                <a:cs typeface="Helvetica Neue"/>
              </a:defRPr>
            </a:pPr>
            <a:r>
              <a:rPr sz="1650" b="1">
                <a:solidFill>
                  <a:srgbClr val="10253F"/>
                </a:solidFill>
                <a:latin typeface="Helvetica Neue"/>
                <a:ea typeface="Helvetica Neue"/>
                <a:cs typeface="Helvetica Neue"/>
              </a:rPr>
              <a:t>Results table</a:t>
            </a:r>
          </a:p>
        </p:txBody>
      </p:sp>
      <p:sp>
        <p:nvSpPr>
          <p:cNvPr id="8" name="">
            <a:extLst xmlns:a="http://schemas.openxmlformats.org/drawingml/2006/main">
              <a:ext uri="{FF2B5EF4-FFF2-40B4-BE49-F238E27FC236}">
                <a16:creationId xmlns:a16="http://schemas.microsoft.com/office/drawing/2014/main" id="{9EF3D2E1-65A5-4D84-9DFE-8ACCA231CA5A}"/>
              </a:ext>
            </a:extLst>
          </p:cNvPr>
          <p:cNvSpPr>
            <a:spLocks xmlns:a="http://schemas.openxmlformats.org/drawingml/2006/main" noGrp="1"/>
          </p:cNvSpPr>
          <p:nvPr/>
        </p:nvSpPr>
        <p:spPr>
          <a:xfrm xmlns:a="http://schemas.openxmlformats.org/drawingml/2006/main">
            <a:off x="704850" y="1752600"/>
            <a:ext cx="103251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0">
                <a:solidFill>
                  <a:srgbClr val="536477"/>
                </a:solidFill>
                <a:latin typeface="Helvetica Neue"/>
                <a:ea typeface="Helvetica Neue"/>
                <a:cs typeface="Helvetica Neue"/>
              </a:defRPr>
            </a:defPPr>
          </a:lstStyle>
          <a:p xmlns:a="http://schemas.openxmlformats.org/drawingml/2006/main">
            <a:pPr algn="l">
              <a:lnSpc>
                <a:spcPct val="105000"/>
              </a:lnSpc>
              <a:buNone/>
              <a:defRPr sz="1200" b="0">
                <a:solidFill>
                  <a:srgbClr val="536477"/>
                </a:solidFill>
                <a:latin typeface="Helvetica Neue"/>
                <a:ea typeface="Helvetica Neue"/>
                <a:cs typeface="Helvetica Neue"/>
              </a:defRPr>
            </a:pPr>
            <a:r>
              <a:rPr sz="1200" b="0">
                <a:solidFill>
                  <a:srgbClr val="536477"/>
                </a:solidFill>
                <a:latin typeface="Helvetica Neue"/>
                <a:ea typeface="Helvetica Neue"/>
                <a:cs typeface="Helvetica Neue"/>
              </a:rPr>
              <a:t>Values are left open for the measured run. No performance claim is made.</a:t>
            </a:r>
          </a:p>
        </p:txBody>
      </p:sp>
      <p:graphicFrame>
        <p:nvGraphicFramePr>
          <p:cNvPr id="9" name="">
            <a:extLst xmlns:a="http://schemas.openxmlformats.org/drawingml/2006/main">
              <a:ext uri="{FF2B5EF4-FFF2-40B4-BE49-F238E27FC236}">
                <a16:creationId xmlns:a16="http://schemas.microsoft.com/office/drawing/2014/main" id="{2A1E5688-969F-4133-81C6-8B4BF74C7E24}"/>
              </a:ext>
            </a:extLst>
          </p:cNvPr>
          <p:cNvGraphicFramePr/>
          <p:nvPr/>
        </p:nvGraphicFramePr>
        <p:xfrm>
          <a:off xmlns:a="http://schemas.openxmlformats.org/drawingml/2006/main" x="685800" y="2209800"/>
          <a:ext xmlns:a="http://schemas.openxmlformats.org/drawingml/2006/main" cx="10706100" cy="2552700"/>
        </p:xfrm>
        <a:graphic xmlns:a="http://schemas.openxmlformats.org/drawingml/2006/main">
          <a:graphicData uri="http://schemas.openxmlformats.org/drawingml/2006/table">
            <a:tbl>
              <a:tblPr firstRow="1" firstCol="1" bandRow="1"/>
              <a:tblGrid>
                <a:gridCol w="2141220"/>
                <a:gridCol w="2141220"/>
                <a:gridCol w="2141220"/>
                <a:gridCol w="2141220"/>
                <a:gridCol w="2141220"/>
              </a:tblGrid>
              <a:tr h="510540">
                <a:tc>
                  <a:txBody>
                    <a:bodyPr wrap="square">
                      <a:normAutofit/>
                    </a:bodyPr>
                    <a:lstStyle/>
                    <a:p>
                      <a:pPr algn="l"/>
                      <a:r>
                        <a:rPr sz="1275" b="1">
                          <a:solidFill>
                            <a:srgbClr val="FFFFFF"/>
                          </a:solidFill>
                          <a:latin typeface="Helvetica Neue"/>
                          <a:ea typeface="Helvetica Neue"/>
                          <a:cs typeface="Helvetica Neue"/>
                        </a:rPr>
                        <a:t>Method</a:t>
                      </a:r>
                    </a:p>
                  </a:txBody>
                  <a:tcPr marL="91440" marR="91440" marT="45720" marB="45720" anchor="ctr">
                    <a:solidFill>
                      <a:srgbClr val="10253F"/>
                    </a:solidFill>
                  </a:tcPr>
                </a:tc>
                <a:tc>
                  <a:txBody>
                    <a:bodyPr wrap="square">
                      <a:normAutofit/>
                    </a:bodyPr>
                    <a:lstStyle/>
                    <a:p>
                      <a:pPr algn="ctr"/>
                      <a:r>
                        <a:rPr sz="1275" b="1">
                          <a:solidFill>
                            <a:srgbClr val="FFFFFF"/>
                          </a:solidFill>
                          <a:latin typeface="Helvetica Neue"/>
                          <a:ea typeface="Helvetica Neue"/>
                          <a:cs typeface="Helvetica Neue"/>
                        </a:rPr>
                        <a:t>Exact-match</a:t>
                      </a:r>
                    </a:p>
                    <a:p>
                      <a:pPr algn="ctr"/>
                      <a:r>
                        <a:rPr sz="1275" b="1">
                          <a:solidFill>
                            <a:srgbClr val="FFFFFF"/>
                          </a:solidFill>
                          <a:latin typeface="Helvetica Neue"/>
                          <a:ea typeface="Helvetica Neue"/>
                          <a:cs typeface="Helvetica Neue"/>
                        </a:rPr>
                        <a:t>accuracy</a:t>
                      </a:r>
                    </a:p>
                  </a:txBody>
                  <a:tcPr marL="91440" marR="91440" marT="45720" marB="45720" anchor="ctr">
                    <a:solidFill>
                      <a:srgbClr val="10253F"/>
                    </a:solidFill>
                  </a:tcPr>
                </a:tc>
                <a:tc>
                  <a:txBody>
                    <a:bodyPr wrap="square">
                      <a:normAutofit/>
                    </a:bodyPr>
                    <a:lstStyle/>
                    <a:p>
                      <a:pPr algn="ctr"/>
                      <a:r>
                        <a:rPr sz="1275" b="1">
                          <a:solidFill>
                            <a:srgbClr val="FFFFFF"/>
                          </a:solidFill>
                          <a:latin typeface="Helvetica Neue"/>
                          <a:ea typeface="Helvetica Neue"/>
                          <a:cs typeface="Helvetica Neue"/>
                        </a:rPr>
                        <a:t>ECE</a:t>
                      </a:r>
                    </a:p>
                  </a:txBody>
                  <a:tcPr marL="91440" marR="91440" marT="45720" marB="45720" anchor="ctr">
                    <a:solidFill>
                      <a:srgbClr val="10253F"/>
                    </a:solidFill>
                  </a:tcPr>
                </a:tc>
                <a:tc>
                  <a:txBody>
                    <a:bodyPr wrap="square">
                      <a:normAutofit/>
                    </a:bodyPr>
                    <a:lstStyle/>
                    <a:p>
                      <a:pPr algn="ctr"/>
                      <a:r>
                        <a:rPr sz="1275" b="1">
                          <a:solidFill>
                            <a:srgbClr val="FFFFFF"/>
                          </a:solidFill>
                          <a:latin typeface="Helvetica Neue"/>
                          <a:ea typeface="Helvetica Neue"/>
                          <a:cs typeface="Helvetica Neue"/>
                        </a:rPr>
                        <a:t>Brier</a:t>
                      </a:r>
                    </a:p>
                  </a:txBody>
                  <a:tcPr marL="91440" marR="91440" marT="45720" marB="45720" anchor="ctr">
                    <a:solidFill>
                      <a:srgbClr val="10253F"/>
                    </a:solidFill>
                  </a:tcPr>
                </a:tc>
                <a:tc>
                  <a:txBody>
                    <a:bodyPr wrap="square">
                      <a:normAutofit/>
                    </a:bodyPr>
                    <a:lstStyle/>
                    <a:p>
                      <a:pPr algn="ctr"/>
                      <a:r>
                        <a:rPr sz="1275" b="1">
                          <a:solidFill>
                            <a:srgbClr val="FFFFFF"/>
                          </a:solidFill>
                          <a:latin typeface="Helvetica Neue"/>
                          <a:ea typeface="Helvetica Neue"/>
                          <a:cs typeface="Helvetica Neue"/>
                        </a:rPr>
                        <a:t>Candidates N</a:t>
                      </a:r>
                    </a:p>
                  </a:txBody>
                  <a:tcPr marL="91440" marR="91440" marT="45720" marB="45720" anchor="ctr">
                    <a:solidFill>
                      <a:srgbClr val="10253F"/>
                    </a:solidFill>
                  </a:tcPr>
                </a:tc>
              </a:tr>
              <a:tr h="510540">
                <a:tc>
                  <a:txBody>
                    <a:bodyPr wrap="square">
                      <a:normAutofit/>
                    </a:bodyPr>
                    <a:lstStyle/>
                    <a:p>
                      <a:pPr algn="l"/>
                      <a:r>
                        <a:rPr sz="1125" b="1">
                          <a:solidFill>
                            <a:srgbClr val="10253F"/>
                          </a:solidFill>
                          <a:latin typeface="Helvetica Neue"/>
                          <a:ea typeface="Helvetica Neue"/>
                          <a:cs typeface="Helvetica Neue"/>
                        </a:rPr>
                        <a:t>Base</a:t>
                      </a:r>
                    </a:p>
                  </a:txBody>
                  <a:tcPr marL="91440" marR="91440" marT="45720" marB="45720" anchor="ctr">
                    <a:solidFill>
                      <a:srgbClr val="FFFFFF"/>
                    </a:solidFill>
                  </a:tcPr>
                </a:tc>
                <a:tc>
                  <a:txBody>
                    <a:bodyPr wrap="square">
                      <a:normAutofit/>
                    </a:bodyPr>
                    <a:lstStyle/>
                    <a:p>
                      <a:pPr algn="ctr"/>
                      <a:r>
                        <a:rPr sz="1125" b="0">
                          <a:solidFill>
                            <a:srgbClr val="536477"/>
                          </a:solidFill>
                          <a:latin typeface="Helvetica Neue"/>
                          <a:ea typeface="Helvetica Neue"/>
                          <a:cs typeface="Helvetica Neue"/>
                        </a:rPr>
                        <a:t>[TO BE PROVIDED]</a:t>
                      </a:r>
                    </a:p>
                  </a:txBody>
                  <a:tcPr marL="91440" marR="91440" marT="45720" marB="45720" anchor="ctr">
                    <a:solidFill>
                      <a:srgbClr val="FFFFFF"/>
                    </a:solidFill>
                  </a:tcPr>
                </a:tc>
                <a:tc>
                  <a:txBody>
                    <a:bodyPr wrap="square">
                      <a:normAutofit/>
                    </a:bodyPr>
                    <a:lstStyle/>
                    <a:p>
                      <a:pPr algn="ctr"/>
                      <a:r>
                        <a:rPr sz="1125" b="0">
                          <a:solidFill>
                            <a:srgbClr val="536477"/>
                          </a:solidFill>
                          <a:latin typeface="Helvetica Neue"/>
                          <a:ea typeface="Helvetica Neue"/>
                          <a:cs typeface="Helvetica Neue"/>
                        </a:rPr>
                        <a:t>[TO BE PROVIDED]</a:t>
                      </a:r>
                    </a:p>
                  </a:txBody>
                  <a:tcPr marL="91440" marR="91440" marT="45720" marB="45720" anchor="ctr">
                    <a:solidFill>
                      <a:srgbClr val="FFFFFF"/>
                    </a:solidFill>
                  </a:tcPr>
                </a:tc>
                <a:tc>
                  <a:txBody>
                    <a:bodyPr wrap="square">
                      <a:normAutofit/>
                    </a:bodyPr>
                    <a:lstStyle/>
                    <a:p>
                      <a:pPr algn="ctr"/>
                      <a:r>
                        <a:rPr sz="1125" b="0">
                          <a:solidFill>
                            <a:srgbClr val="536477"/>
                          </a:solidFill>
                          <a:latin typeface="Helvetica Neue"/>
                          <a:ea typeface="Helvetica Neue"/>
                          <a:cs typeface="Helvetica Neue"/>
                        </a:rPr>
                        <a:t>[TO BE PROVIDED]</a:t>
                      </a:r>
                    </a:p>
                  </a:txBody>
                  <a:tcPr marL="91440" marR="91440" marT="45720" marB="45720" anchor="ctr">
                    <a:solidFill>
                      <a:srgbClr val="FFFFFF"/>
                    </a:solidFill>
                  </a:tcPr>
                </a:tc>
                <a:tc>
                  <a:txBody>
                    <a:bodyPr wrap="square">
                      <a:normAutofit/>
                    </a:bodyPr>
                    <a:lstStyle/>
                    <a:p>
                      <a:pPr algn="ctr"/>
                      <a:r>
                        <a:rPr sz="1125" b="0">
                          <a:solidFill>
                            <a:srgbClr val="536477"/>
                          </a:solidFill>
                          <a:latin typeface="Helvetica Neue"/>
                          <a:ea typeface="Helvetica Neue"/>
                          <a:cs typeface="Helvetica Neue"/>
                        </a:rPr>
                        <a:t>1</a:t>
                      </a:r>
                    </a:p>
                  </a:txBody>
                  <a:tcPr marL="91440" marR="91440" marT="45720" marB="45720" anchor="ctr">
                    <a:solidFill>
                      <a:srgbClr val="FFFFFF"/>
                    </a:solidFill>
                  </a:tcPr>
                </a:tc>
              </a:tr>
              <a:tr h="510540">
                <a:tc>
                  <a:txBody>
                    <a:bodyPr wrap="square">
                      <a:normAutofit/>
                    </a:bodyPr>
                    <a:lstStyle/>
                    <a:p>
                      <a:pPr algn="l"/>
                      <a:r>
                        <a:rPr sz="1125" b="1">
                          <a:solidFill>
                            <a:srgbClr val="10253F"/>
                          </a:solidFill>
                          <a:latin typeface="Helvetica Neue"/>
                          <a:ea typeface="Helvetica Neue"/>
                          <a:cs typeface="Helvetica Neue"/>
                        </a:rPr>
                        <a:t>Base + DoLa</a:t>
                      </a:r>
                    </a:p>
                  </a:txBody>
                  <a:tcPr marL="91440" marR="91440" marT="45720" marB="45720" anchor="ctr">
                    <a:solidFill>
                      <a:srgbClr val="E8F0FC"/>
                    </a:solidFill>
                  </a:tcPr>
                </a:tc>
                <a:tc>
                  <a:txBody>
                    <a:bodyPr wrap="square">
                      <a:normAutofit/>
                    </a:bodyPr>
                    <a:lstStyle/>
                    <a:p>
                      <a:pPr algn="ctr"/>
                      <a:r>
                        <a:rPr sz="1125" b="0">
                          <a:solidFill>
                            <a:srgbClr val="536477"/>
                          </a:solidFill>
                          <a:latin typeface="Helvetica Neue"/>
                          <a:ea typeface="Helvetica Neue"/>
                          <a:cs typeface="Helvetica Neue"/>
                        </a:rPr>
                        <a:t>[TO BE PROVIDED]</a:t>
                      </a:r>
                    </a:p>
                  </a:txBody>
                  <a:tcPr marL="91440" marR="91440" marT="45720" marB="45720" anchor="ctr">
                    <a:solidFill>
                      <a:srgbClr val="E8F0FC"/>
                    </a:solidFill>
                  </a:tcPr>
                </a:tc>
                <a:tc>
                  <a:txBody>
                    <a:bodyPr wrap="square">
                      <a:normAutofit/>
                    </a:bodyPr>
                    <a:lstStyle/>
                    <a:p>
                      <a:pPr algn="ctr"/>
                      <a:r>
                        <a:rPr sz="1125" b="0">
                          <a:solidFill>
                            <a:srgbClr val="536477"/>
                          </a:solidFill>
                          <a:latin typeface="Helvetica Neue"/>
                          <a:ea typeface="Helvetica Neue"/>
                          <a:cs typeface="Helvetica Neue"/>
                        </a:rPr>
                        <a:t>[TO BE PROVIDED]</a:t>
                      </a:r>
                    </a:p>
                  </a:txBody>
                  <a:tcPr marL="91440" marR="91440" marT="45720" marB="45720" anchor="ctr">
                    <a:solidFill>
                      <a:srgbClr val="E8F0FC"/>
                    </a:solidFill>
                  </a:tcPr>
                </a:tc>
                <a:tc>
                  <a:txBody>
                    <a:bodyPr wrap="square">
                      <a:normAutofit/>
                    </a:bodyPr>
                    <a:lstStyle/>
                    <a:p>
                      <a:pPr algn="ctr"/>
                      <a:r>
                        <a:rPr sz="1125" b="0">
                          <a:solidFill>
                            <a:srgbClr val="536477"/>
                          </a:solidFill>
                          <a:latin typeface="Helvetica Neue"/>
                          <a:ea typeface="Helvetica Neue"/>
                          <a:cs typeface="Helvetica Neue"/>
                        </a:rPr>
                        <a:t>[TO BE PROVIDED]</a:t>
                      </a:r>
                    </a:p>
                  </a:txBody>
                  <a:tcPr marL="91440" marR="91440" marT="45720" marB="45720" anchor="ctr">
                    <a:solidFill>
                      <a:srgbClr val="E8F0FC"/>
                    </a:solidFill>
                  </a:tcPr>
                </a:tc>
                <a:tc>
                  <a:txBody>
                    <a:bodyPr wrap="square">
                      <a:normAutofit/>
                    </a:bodyPr>
                    <a:lstStyle/>
                    <a:p>
                      <a:pPr algn="ctr"/>
                      <a:r>
                        <a:rPr sz="1125" b="0">
                          <a:solidFill>
                            <a:srgbClr val="536477"/>
                          </a:solidFill>
                          <a:latin typeface="Helvetica Neue"/>
                          <a:ea typeface="Helvetica Neue"/>
                          <a:cs typeface="Helvetica Neue"/>
                        </a:rPr>
                        <a:t>1</a:t>
                      </a:r>
                    </a:p>
                  </a:txBody>
                  <a:tcPr marL="91440" marR="91440" marT="45720" marB="45720" anchor="ctr">
                    <a:solidFill>
                      <a:srgbClr val="E8F0FC"/>
                    </a:solidFill>
                  </a:tcPr>
                </a:tc>
              </a:tr>
              <a:tr h="510540">
                <a:tc>
                  <a:txBody>
                    <a:bodyPr wrap="square">
                      <a:normAutofit/>
                    </a:bodyPr>
                    <a:lstStyle/>
                    <a:p>
                      <a:pPr algn="l"/>
                      <a:r>
                        <a:rPr sz="1125" b="1">
                          <a:solidFill>
                            <a:srgbClr val="10253F"/>
                          </a:solidFill>
                          <a:latin typeface="Helvetica Neue"/>
                          <a:ea typeface="Helvetica Neue"/>
                          <a:cs typeface="Helvetica Neue"/>
                        </a:rPr>
                        <a:t>DoLa + self-consistency</a:t>
                      </a:r>
                    </a:p>
                  </a:txBody>
                  <a:tcPr marL="91440" marR="91440" marT="45720" marB="45720" anchor="ctr">
                    <a:solidFill>
                      <a:srgbClr val="FFFFFF"/>
                    </a:solidFill>
                  </a:tcPr>
                </a:tc>
                <a:tc>
                  <a:txBody>
                    <a:bodyPr wrap="square">
                      <a:normAutofit/>
                    </a:bodyPr>
                    <a:lstStyle/>
                    <a:p>
                      <a:pPr algn="ctr"/>
                      <a:r>
                        <a:rPr sz="1125" b="0">
                          <a:solidFill>
                            <a:srgbClr val="536477"/>
                          </a:solidFill>
                          <a:latin typeface="Helvetica Neue"/>
                          <a:ea typeface="Helvetica Neue"/>
                          <a:cs typeface="Helvetica Neue"/>
                        </a:rPr>
                        <a:t>[TO BE PROVIDED]</a:t>
                      </a:r>
                    </a:p>
                  </a:txBody>
                  <a:tcPr marL="91440" marR="91440" marT="45720" marB="45720" anchor="ctr">
                    <a:solidFill>
                      <a:srgbClr val="FFFFFF"/>
                    </a:solidFill>
                  </a:tcPr>
                </a:tc>
                <a:tc>
                  <a:txBody>
                    <a:bodyPr wrap="square">
                      <a:normAutofit/>
                    </a:bodyPr>
                    <a:lstStyle/>
                    <a:p>
                      <a:pPr algn="ctr"/>
                      <a:r>
                        <a:rPr sz="1125" b="0">
                          <a:solidFill>
                            <a:srgbClr val="536477"/>
                          </a:solidFill>
                          <a:latin typeface="Helvetica Neue"/>
                          <a:ea typeface="Helvetica Neue"/>
                          <a:cs typeface="Helvetica Neue"/>
                        </a:rPr>
                        <a:t>[TO BE PROVIDED]</a:t>
                      </a:r>
                    </a:p>
                  </a:txBody>
                  <a:tcPr marL="91440" marR="91440" marT="45720" marB="45720" anchor="ctr">
                    <a:solidFill>
                      <a:srgbClr val="FFFFFF"/>
                    </a:solidFill>
                  </a:tcPr>
                </a:tc>
                <a:tc>
                  <a:txBody>
                    <a:bodyPr wrap="square">
                      <a:normAutofit/>
                    </a:bodyPr>
                    <a:lstStyle/>
                    <a:p>
                      <a:pPr algn="ctr"/>
                      <a:r>
                        <a:rPr sz="1125" b="0">
                          <a:solidFill>
                            <a:srgbClr val="536477"/>
                          </a:solidFill>
                          <a:latin typeface="Helvetica Neue"/>
                          <a:ea typeface="Helvetica Neue"/>
                          <a:cs typeface="Helvetica Neue"/>
                        </a:rPr>
                        <a:t>[TO BE PROVIDED]</a:t>
                      </a:r>
                    </a:p>
                  </a:txBody>
                  <a:tcPr marL="91440" marR="91440" marT="45720" marB="45720" anchor="ctr">
                    <a:solidFill>
                      <a:srgbClr val="FFFFFF"/>
                    </a:solidFill>
                  </a:tcPr>
                </a:tc>
                <a:tc>
                  <a:txBody>
                    <a:bodyPr wrap="square">
                      <a:normAutofit/>
                    </a:bodyPr>
                    <a:lstStyle/>
                    <a:p>
                      <a:pPr algn="ctr"/>
                      <a:r>
                        <a:rPr sz="1125" b="0">
                          <a:solidFill>
                            <a:srgbClr val="536477"/>
                          </a:solidFill>
                          <a:latin typeface="Helvetica Neue"/>
                          <a:ea typeface="Helvetica Neue"/>
                          <a:cs typeface="Helvetica Neue"/>
                        </a:rPr>
                        <a:t>1, 3, 5, 10</a:t>
                      </a:r>
                    </a:p>
                  </a:txBody>
                  <a:tcPr marL="91440" marR="91440" marT="45720" marB="45720" anchor="ctr">
                    <a:solidFill>
                      <a:srgbClr val="FFFFFF"/>
                    </a:solidFill>
                  </a:tcPr>
                </a:tc>
              </a:tr>
              <a:tr h="510540">
                <a:tc>
                  <a:txBody>
                    <a:bodyPr wrap="square">
                      <a:normAutofit/>
                    </a:bodyPr>
                    <a:lstStyle/>
                    <a:p>
                      <a:pPr algn="l"/>
                      <a:r>
                        <a:rPr sz="1125" b="1">
                          <a:solidFill>
                            <a:srgbClr val="10253F"/>
                          </a:solidFill>
                          <a:latin typeface="Helvetica Neue"/>
                          <a:ea typeface="Helvetica Neue"/>
                          <a:cs typeface="Helvetica Neue"/>
                        </a:rPr>
                        <a:t>DoLa + ENN + weighted vote</a:t>
                      </a:r>
                    </a:p>
                  </a:txBody>
                  <a:tcPr marL="91440" marR="91440" marT="45720" marB="45720" anchor="ctr">
                    <a:solidFill>
                      <a:srgbClr val="E8F0FC"/>
                    </a:solidFill>
                  </a:tcPr>
                </a:tc>
                <a:tc>
                  <a:txBody>
                    <a:bodyPr wrap="square">
                      <a:normAutofit/>
                    </a:bodyPr>
                    <a:lstStyle/>
                    <a:p>
                      <a:pPr algn="ctr"/>
                      <a:r>
                        <a:rPr sz="1125" b="0">
                          <a:solidFill>
                            <a:srgbClr val="536477"/>
                          </a:solidFill>
                          <a:latin typeface="Helvetica Neue"/>
                          <a:ea typeface="Helvetica Neue"/>
                          <a:cs typeface="Helvetica Neue"/>
                        </a:rPr>
                        <a:t>[TO BE PROVIDED]</a:t>
                      </a:r>
                    </a:p>
                  </a:txBody>
                  <a:tcPr marL="91440" marR="91440" marT="45720" marB="45720" anchor="ctr">
                    <a:solidFill>
                      <a:srgbClr val="E8F0FC"/>
                    </a:solidFill>
                  </a:tcPr>
                </a:tc>
                <a:tc>
                  <a:txBody>
                    <a:bodyPr wrap="square">
                      <a:normAutofit/>
                    </a:bodyPr>
                    <a:lstStyle/>
                    <a:p>
                      <a:pPr algn="ctr"/>
                      <a:r>
                        <a:rPr sz="1125" b="0">
                          <a:solidFill>
                            <a:srgbClr val="536477"/>
                          </a:solidFill>
                          <a:latin typeface="Helvetica Neue"/>
                          <a:ea typeface="Helvetica Neue"/>
                          <a:cs typeface="Helvetica Neue"/>
                        </a:rPr>
                        <a:t>[TO BE PROVIDED]</a:t>
                      </a:r>
                    </a:p>
                  </a:txBody>
                  <a:tcPr marL="91440" marR="91440" marT="45720" marB="45720" anchor="ctr">
                    <a:solidFill>
                      <a:srgbClr val="E8F0FC"/>
                    </a:solidFill>
                  </a:tcPr>
                </a:tc>
                <a:tc>
                  <a:txBody>
                    <a:bodyPr wrap="square">
                      <a:normAutofit/>
                    </a:bodyPr>
                    <a:lstStyle/>
                    <a:p>
                      <a:pPr algn="ctr"/>
                      <a:r>
                        <a:rPr sz="1125" b="0">
                          <a:solidFill>
                            <a:srgbClr val="536477"/>
                          </a:solidFill>
                          <a:latin typeface="Helvetica Neue"/>
                          <a:ea typeface="Helvetica Neue"/>
                          <a:cs typeface="Helvetica Neue"/>
                        </a:rPr>
                        <a:t>[TO BE PROVIDED]</a:t>
                      </a:r>
                    </a:p>
                  </a:txBody>
                  <a:tcPr marL="91440" marR="91440" marT="45720" marB="45720" anchor="ctr">
                    <a:solidFill>
                      <a:srgbClr val="E8F0FC"/>
                    </a:solidFill>
                  </a:tcPr>
                </a:tc>
                <a:tc>
                  <a:txBody>
                    <a:bodyPr wrap="square">
                      <a:normAutofit/>
                    </a:bodyPr>
                    <a:lstStyle/>
                    <a:p>
                      <a:pPr algn="ctr"/>
                      <a:r>
                        <a:rPr sz="1125" b="0">
                          <a:solidFill>
                            <a:srgbClr val="536477"/>
                          </a:solidFill>
                          <a:latin typeface="Helvetica Neue"/>
                          <a:ea typeface="Helvetica Neue"/>
                          <a:cs typeface="Helvetica Neue"/>
                        </a:rPr>
                        <a:t>1, 3, 5, 10</a:t>
                      </a:r>
                    </a:p>
                  </a:txBody>
                  <a:tcPr marL="91440" marR="91440" marT="45720" marB="45720" anchor="ctr">
                    <a:solidFill>
                      <a:srgbClr val="E8F0FC"/>
                    </a:solidFill>
                  </a:tcPr>
                </a:tc>
              </a:tr>
            </a:tbl>
          </a:graphicData>
        </a:graphic>
      </p:graphicFrame>
      <p:sp>
        <p:nvSpPr>
          <p:cNvPr id="10" name="">
            <a:extLst xmlns:a="http://schemas.openxmlformats.org/drawingml/2006/main">
              <a:ext uri="{FF2B5EF4-FFF2-40B4-BE49-F238E27FC236}">
                <a16:creationId xmlns:a16="http://schemas.microsoft.com/office/drawing/2014/main" id="{1947B4ED-15EB-4B27-B16F-E07F2D9E9E00}"/>
              </a:ext>
            </a:extLst>
          </p:cNvPr>
          <p:cNvSpPr>
            <a:spLocks xmlns:a="http://schemas.openxmlformats.org/drawingml/2006/main" noGrp="1"/>
          </p:cNvSpPr>
          <p:nvPr/>
        </p:nvSpPr>
        <p:spPr>
          <a:xfrm xmlns:a="http://schemas.openxmlformats.org/drawingml/2006/main">
            <a:off x="723900" y="5048250"/>
            <a:ext cx="1057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0">
                <a:solidFill>
                  <a:srgbClr val="536477"/>
                </a:solidFill>
                <a:latin typeface="Helvetica Neue"/>
                <a:ea typeface="Helvetica Neue"/>
                <a:cs typeface="Helvetica Neue"/>
              </a:defRPr>
            </a:defPPr>
          </a:lstStyle>
          <a:p xmlns:a="http://schemas.openxmlformats.org/drawingml/2006/main">
            <a:pPr algn="l">
              <a:lnSpc>
                <a:spcPct val="105000"/>
              </a:lnSpc>
              <a:buNone/>
              <a:defRPr sz="1200" b="0">
                <a:solidFill>
                  <a:srgbClr val="536477"/>
                </a:solidFill>
                <a:latin typeface="Helvetica Neue"/>
                <a:ea typeface="Helvetica Neue"/>
                <a:cs typeface="Helvetica Neue"/>
              </a:defRPr>
            </a:pPr>
            <a:r>
              <a:rPr sz="1200" b="0">
                <a:solidFill>
                  <a:srgbClr val="536477"/>
                </a:solidFill>
                <a:latin typeface="Helvetica Neue"/>
                <a:ea typeface="Helvetica Neue"/>
                <a:cs typeface="Helvetica Neue"/>
              </a:rPr>
              <a:t>N is the number of sampled answer candidates. Self-consistency sweeps are configured for N = 1, 3, 5, 10.</a:t>
            </a:r>
          </a:p>
        </p:txBody>
      </p:sp>
      <p:sp>
        <p:nvSpPr>
          <p:cNvPr id="11" name="">
            <a:extLst xmlns:a="http://schemas.openxmlformats.org/drawingml/2006/main">
              <a:ext uri="{FF2B5EF4-FFF2-40B4-BE49-F238E27FC236}">
                <a16:creationId xmlns:a16="http://schemas.microsoft.com/office/drawing/2014/main" id="{D9F35FB2-77A5-4C15-B221-76DCD578CD71}"/>
              </a:ext>
            </a:extLst>
          </p:cNvPr>
          <p:cNvSpPr>
            <a:spLocks xmlns:a="http://schemas.openxmlformats.org/drawingml/2006/main" noGrp="1"/>
          </p:cNvSpPr>
          <p:nvPr/>
        </p:nvSpPr>
        <p:spPr>
          <a:xfrm xmlns:a="http://schemas.openxmlformats.org/drawingml/2006/main">
            <a:off x="685800" y="5562600"/>
            <a:ext cx="10706100" cy="457200"/>
          </a:xfrm>
          <a:prstGeom xmlns:a="http://schemas.openxmlformats.org/drawingml/2006/main" prst="roundRect">
            <a:avLst>
              <a:gd name="adj" fmla="val 16667"/>
            </a:avLst>
          </a:prstGeom>
          <a:solidFill xmlns:a="http://schemas.openxmlformats.org/drawingml/2006/main">
            <a:srgbClr val="E8F0FC"/>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A7C95074-CFB3-47C1-812C-32CB3B91C1AD}"/>
              </a:ext>
            </a:extLst>
          </p:cNvPr>
          <p:cNvSpPr>
            <a:spLocks xmlns:a="http://schemas.openxmlformats.org/drawingml/2006/main" noGrp="1"/>
          </p:cNvSpPr>
          <p:nvPr/>
        </p:nvSpPr>
        <p:spPr>
          <a:xfrm xmlns:a="http://schemas.openxmlformats.org/drawingml/2006/main">
            <a:off x="876300" y="5676900"/>
            <a:ext cx="103060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1">
                <a:solidFill>
                  <a:srgbClr val="10253F"/>
                </a:solidFill>
                <a:latin typeface="Helvetica Neue"/>
                <a:ea typeface="Helvetica Neue"/>
                <a:cs typeface="Helvetica Neue"/>
              </a:defRPr>
            </a:defPPr>
          </a:lstStyle>
          <a:p xmlns:a="http://schemas.openxmlformats.org/drawingml/2006/main">
            <a:pPr algn="l">
              <a:lnSpc>
                <a:spcPct val="105000"/>
              </a:lnSpc>
              <a:buNone/>
              <a:defRPr sz="1275" b="1">
                <a:solidFill>
                  <a:srgbClr val="10253F"/>
                </a:solidFill>
                <a:latin typeface="Helvetica Neue"/>
                <a:ea typeface="Helvetica Neue"/>
                <a:cs typeface="Helvetica Neue"/>
              </a:defRPr>
            </a:pPr>
            <a:r>
              <a:rPr sz="1275" b="1">
                <a:solidFill>
                  <a:srgbClr val="10253F"/>
                </a:solidFill>
                <a:latin typeface="Helvetica Neue"/>
                <a:ea typeface="Helvetica Neue"/>
                <a:cs typeface="Helvetica Neue"/>
              </a:rPr>
              <a:t>Evidence status: cached features are verified; model performance and calibration are not yet measured here.</a:t>
            </a:r>
          </a:p>
        </p:txBody>
      </p:sp>
    </p:spTree>
    <p:extLst>
      <p:ext uri="{BB962C8B-B14F-4D97-AF65-F5344CB8AC3E}">
        <p14:creationId xmlns:p14="http://schemas.microsoft.com/office/powerpoint/2010/main" val="1158242628"/>
      </p:ext>
    </p:extLst>
  </p:cSld>
</p:sld>
</file>

<file path=ppt/slides/slide10.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28" name="">
            <a:extLst xmlns:a="http://schemas.openxmlformats.org/drawingml/2006/main">
              <a:ext uri="{FF2B5EF4-FFF2-40B4-BE49-F238E27FC236}">
                <a16:creationId xmlns:a16="http://schemas.microsoft.com/office/drawing/2014/main" id="{25F769AE-D15C-4597-AB56-BA29E2ABB51F}"/>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2864C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1F8D2B69-528F-440A-92A9-10A24DDE8E5E}"/>
              </a:ext>
            </a:extLst>
          </p:cNvPr>
          <p:cNvSpPr>
            <a:spLocks xmlns:a="http://schemas.openxmlformats.org/drawingml/2006/main" noGrp="1"/>
          </p:cNvSpPr>
          <p:nvPr/>
        </p:nvSpPr>
        <p:spPr>
          <a:xfrm xmlns:a="http://schemas.openxmlformats.org/drawingml/2006/main">
            <a:off x="552450" y="361950"/>
            <a:ext cx="11049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550" b="1">
                <a:solidFill>
                  <a:srgbClr val="10253F"/>
                </a:solidFill>
                <a:latin typeface="Helvetica Neue"/>
                <a:ea typeface="Helvetica Neue"/>
                <a:cs typeface="Helvetica Neue"/>
              </a:defRPr>
            </a:defPPr>
          </a:lstStyle>
          <a:p xmlns:a="http://schemas.openxmlformats.org/drawingml/2006/main">
            <a:pPr algn="l">
              <a:lnSpc>
                <a:spcPct val="105000"/>
              </a:lnSpc>
              <a:buNone/>
              <a:defRPr sz="2550" b="1">
                <a:solidFill>
                  <a:srgbClr val="10253F"/>
                </a:solidFill>
                <a:latin typeface="Helvetica Neue"/>
                <a:ea typeface="Helvetica Neue"/>
                <a:cs typeface="Helvetica Neue"/>
              </a:defRPr>
            </a:pPr>
            <a:r>
              <a:rPr sz="2550" b="1">
                <a:solidFill>
                  <a:srgbClr val="10253F"/>
                </a:solidFill>
                <a:latin typeface="Helvetica Neue"/>
                <a:ea typeface="Helvetica Neue"/>
                <a:cs typeface="Helvetica Neue"/>
              </a:rPr>
              <a:t>Conclusion &amp; Future Work</a:t>
            </a:r>
          </a:p>
        </p:txBody>
      </p:sp>
      <p:sp>
        <p:nvSpPr>
          <p:cNvPr id="3" name="">
            <a:extLst xmlns:a="http://schemas.openxmlformats.org/drawingml/2006/main">
              <a:ext uri="{FF2B5EF4-FFF2-40B4-BE49-F238E27FC236}">
                <a16:creationId xmlns:a16="http://schemas.microsoft.com/office/drawing/2014/main" id="{E4378C3C-E2A5-4139-B1F7-50AC20C0BAA7}"/>
              </a:ext>
            </a:extLst>
          </p:cNvPr>
          <p:cNvSpPr>
            <a:spLocks xmlns:a="http://schemas.openxmlformats.org/drawingml/2006/main" noGrp="1"/>
          </p:cNvSpPr>
          <p:nvPr/>
        </p:nvSpPr>
        <p:spPr>
          <a:xfrm xmlns:a="http://schemas.openxmlformats.org/drawingml/2006/main">
            <a:off x="571500" y="876300"/>
            <a:ext cx="10953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a:solidFill>
                  <a:srgbClr val="536477"/>
                </a:solidFill>
                <a:latin typeface="Helvetica Neue"/>
                <a:ea typeface="Helvetica Neue"/>
                <a:cs typeface="Helvetica Neue"/>
              </a:defRPr>
            </a:defPPr>
          </a:lstStyle>
          <a:p xmlns:a="http://schemas.openxmlformats.org/drawingml/2006/main">
            <a:pPr algn="l">
              <a:lnSpc>
                <a:spcPct val="105000"/>
              </a:lnSpc>
              <a:buNone/>
              <a:defRPr sz="1275" b="0">
                <a:solidFill>
                  <a:srgbClr val="536477"/>
                </a:solidFill>
                <a:latin typeface="Helvetica Neue"/>
                <a:ea typeface="Helvetica Neue"/>
                <a:cs typeface="Helvetica Neue"/>
              </a:defRPr>
            </a:pPr>
            <a:r>
              <a:rPr sz="1275" b="0">
                <a:solidFill>
                  <a:srgbClr val="536477"/>
                </a:solidFill>
                <a:latin typeface="Helvetica Neue"/>
                <a:ea typeface="Helvetica Neue"/>
                <a:cs typeface="Helvetica Neue"/>
              </a:rPr>
              <a:t>The current contribution is an implementable comparison pipeline; empirical conclusions require the next evaluation run.</a:t>
            </a:r>
          </a:p>
        </p:txBody>
      </p:sp>
      <p:sp>
        <p:nvSpPr>
          <p:cNvPr id="4" name="">
            <a:extLst xmlns:a="http://schemas.openxmlformats.org/drawingml/2006/main">
              <a:ext uri="{FF2B5EF4-FFF2-40B4-BE49-F238E27FC236}">
                <a16:creationId xmlns:a16="http://schemas.microsoft.com/office/drawing/2014/main" id="{AEA30860-2A73-4D31-BBF4-B4C37611C79B}"/>
              </a:ext>
            </a:extLst>
          </p:cNvPr>
          <p:cNvSpPr>
            <a:spLocks xmlns:a="http://schemas.openxmlformats.org/drawingml/2006/main" noGrp="1"/>
          </p:cNvSpPr>
          <p:nvPr/>
        </p:nvSpPr>
        <p:spPr>
          <a:xfrm xmlns:a="http://schemas.openxmlformats.org/drawingml/2006/main" flipV="0">
            <a:off x="571500" y="6438900"/>
            <a:ext cx="11049000" cy="0"/>
          </a:xfrm>
          <a:prstGeom xmlns:a="http://schemas.openxmlformats.org/drawingml/2006/main" prst="line">
            <a:avLst/>
          </a:prstGeom>
          <a:noFill xmlns:a="http://schemas.openxmlformats.org/drawingml/2006/main"/>
          <a:ln xmlns:a="http://schemas.openxmlformats.org/drawingml/2006/main" w="9525">
            <a:solidFill>
              <a:srgbClr val="D6DEE8"/>
            </a:solidFill>
            <a:prstDash val="solid"/>
          </a:ln>
        </p:spPr>
      </p:sp>
      <p:sp>
        <p:nvSpPr>
          <p:cNvPr id="5" name="">
            <a:extLst xmlns:a="http://schemas.openxmlformats.org/drawingml/2006/main">
              <a:ext uri="{FF2B5EF4-FFF2-40B4-BE49-F238E27FC236}">
                <a16:creationId xmlns:a16="http://schemas.microsoft.com/office/drawing/2014/main" id="{B4A21D73-A0D0-411E-9C9D-418061CE07B7}"/>
              </a:ext>
            </a:extLst>
          </p:cNvPr>
          <p:cNvSpPr>
            <a:spLocks xmlns:a="http://schemas.openxmlformats.org/drawingml/2006/main" noGrp="1"/>
          </p:cNvSpPr>
          <p:nvPr/>
        </p:nvSpPr>
        <p:spPr>
          <a:xfrm xmlns:a="http://schemas.openxmlformats.org/drawingml/2006/main">
            <a:off x="571500" y="6534150"/>
            <a:ext cx="4572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1">
                <a:solidFill>
                  <a:srgbClr val="536477"/>
                </a:solidFill>
                <a:latin typeface="Helvetica Neue"/>
                <a:ea typeface="Helvetica Neue"/>
                <a:cs typeface="Helvetica Neue"/>
              </a:defRPr>
            </a:defPPr>
          </a:lstStyle>
          <a:p xmlns:a="http://schemas.openxmlformats.org/drawingml/2006/main">
            <a:pPr algn="l">
              <a:lnSpc>
                <a:spcPct val="105000"/>
              </a:lnSpc>
              <a:buNone/>
              <a:defRPr sz="900" b="1">
                <a:solidFill>
                  <a:srgbClr val="536477"/>
                </a:solidFill>
                <a:latin typeface="Helvetica Neue"/>
                <a:ea typeface="Helvetica Neue"/>
                <a:cs typeface="Helvetica Neue"/>
              </a:defRPr>
            </a:pPr>
            <a:r>
              <a:rPr sz="900" b="1">
                <a:solidFill>
                  <a:srgbClr val="536477"/>
                </a:solidFill>
                <a:latin typeface="Helvetica Neue"/>
                <a:ea typeface="Helvetica Neue"/>
                <a:cs typeface="Helvetica Neue"/>
              </a:rPr>
              <a:t>VIT-AP UNIVERSITY  /  SCOPE</a:t>
            </a:r>
          </a:p>
        </p:txBody>
      </p:sp>
      <p:sp>
        <p:nvSpPr>
          <p:cNvPr id="6" name="">
            <a:extLst xmlns:a="http://schemas.openxmlformats.org/drawingml/2006/main">
              <a:ext uri="{FF2B5EF4-FFF2-40B4-BE49-F238E27FC236}">
                <a16:creationId xmlns:a16="http://schemas.microsoft.com/office/drawing/2014/main" id="{8F16C0E4-AA59-451A-8D09-3F450B22075F}"/>
              </a:ext>
            </a:extLst>
          </p:cNvPr>
          <p:cNvSpPr>
            <a:spLocks xmlns:a="http://schemas.openxmlformats.org/drawingml/2006/main" noGrp="1"/>
          </p:cNvSpPr>
          <p:nvPr/>
        </p:nvSpPr>
        <p:spPr>
          <a:xfrm xmlns:a="http://schemas.openxmlformats.org/drawingml/2006/main">
            <a:off x="11087100" y="6515100"/>
            <a:ext cx="5334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975" b="1">
                <a:solidFill>
                  <a:srgbClr val="536477"/>
                </a:solidFill>
                <a:latin typeface="Helvetica Neue"/>
                <a:ea typeface="Helvetica Neue"/>
                <a:cs typeface="Helvetica Neue"/>
              </a:defRPr>
            </a:defPPr>
          </a:lstStyle>
          <a:p xmlns:a="http://schemas.openxmlformats.org/drawingml/2006/main">
            <a:pPr algn="r">
              <a:lnSpc>
                <a:spcPct val="105000"/>
              </a:lnSpc>
              <a:buNone/>
              <a:defRPr sz="975" b="1">
                <a:solidFill>
                  <a:srgbClr val="536477"/>
                </a:solidFill>
                <a:latin typeface="Helvetica Neue"/>
                <a:ea typeface="Helvetica Neue"/>
                <a:cs typeface="Helvetica Neue"/>
              </a:defRPr>
            </a:pPr>
            <a:r>
              <a:rPr sz="975" b="1">
                <a:solidFill>
                  <a:srgbClr val="536477"/>
                </a:solidFill>
                <a:latin typeface="Helvetica Neue"/>
                <a:ea typeface="Helvetica Neue"/>
                <a:cs typeface="Helvetica Neue"/>
              </a:rPr>
              <a:t>10</a:t>
            </a:r>
          </a:p>
        </p:txBody>
      </p:sp>
      <p:sp>
        <p:nvSpPr>
          <p:cNvPr id="7" name="">
            <a:extLst xmlns:a="http://schemas.openxmlformats.org/drawingml/2006/main">
              <a:ext uri="{FF2B5EF4-FFF2-40B4-BE49-F238E27FC236}">
                <a16:creationId xmlns:a16="http://schemas.microsoft.com/office/drawing/2014/main" id="{D6DAC832-A5D1-48F8-A564-6C6F03CB0DF2}"/>
              </a:ext>
            </a:extLst>
          </p:cNvPr>
          <p:cNvSpPr>
            <a:spLocks xmlns:a="http://schemas.openxmlformats.org/drawingml/2006/main" noGrp="1"/>
          </p:cNvSpPr>
          <p:nvPr/>
        </p:nvSpPr>
        <p:spPr>
          <a:xfrm xmlns:a="http://schemas.openxmlformats.org/drawingml/2006/main">
            <a:off x="685800" y="1466850"/>
            <a:ext cx="2095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1">
                <a:solidFill>
                  <a:srgbClr val="2864C5"/>
                </a:solidFill>
                <a:latin typeface="Helvetica Neue"/>
                <a:ea typeface="Helvetica Neue"/>
                <a:cs typeface="Helvetica Neue"/>
              </a:defRPr>
            </a:defPPr>
          </a:lstStyle>
          <a:p xmlns:a="http://schemas.openxmlformats.org/drawingml/2006/main">
            <a:pPr algn="l">
              <a:lnSpc>
                <a:spcPct val="105000"/>
              </a:lnSpc>
              <a:buNone/>
              <a:defRPr sz="975" b="1">
                <a:solidFill>
                  <a:srgbClr val="2864C5"/>
                </a:solidFill>
                <a:latin typeface="Helvetica Neue"/>
                <a:ea typeface="Helvetica Neue"/>
                <a:cs typeface="Helvetica Neue"/>
              </a:defRPr>
            </a:pPr>
            <a:r>
              <a:rPr sz="975" b="1">
                <a:solidFill>
                  <a:srgbClr val="2864C5"/>
                </a:solidFill>
                <a:latin typeface="Helvetica Neue"/>
                <a:ea typeface="Helvetica Neue"/>
                <a:cs typeface="Helvetica Neue"/>
              </a:rPr>
              <a:t>CONCLUSION</a:t>
            </a:r>
          </a:p>
        </p:txBody>
      </p:sp>
      <p:sp>
        <p:nvSpPr>
          <p:cNvPr id="8" name="">
            <a:extLst xmlns:a="http://schemas.openxmlformats.org/drawingml/2006/main">
              <a:ext uri="{FF2B5EF4-FFF2-40B4-BE49-F238E27FC236}">
                <a16:creationId xmlns:a16="http://schemas.microsoft.com/office/drawing/2014/main" id="{F8EEB846-7CCF-49DA-BBA8-CD1EA27057C6}"/>
              </a:ext>
            </a:extLst>
          </p:cNvPr>
          <p:cNvSpPr>
            <a:spLocks xmlns:a="http://schemas.openxmlformats.org/drawingml/2006/main" noGrp="1"/>
          </p:cNvSpPr>
          <p:nvPr/>
        </p:nvSpPr>
        <p:spPr>
          <a:xfrm xmlns:a="http://schemas.openxmlformats.org/drawingml/2006/main">
            <a:off x="685800" y="1790700"/>
            <a:ext cx="48577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725" b="1">
                <a:solidFill>
                  <a:srgbClr val="10253F"/>
                </a:solidFill>
                <a:latin typeface="Helvetica Neue"/>
                <a:ea typeface="Helvetica Neue"/>
                <a:cs typeface="Helvetica Neue"/>
              </a:defRPr>
            </a:defPPr>
          </a:lstStyle>
          <a:p xmlns:a="http://schemas.openxmlformats.org/drawingml/2006/main">
            <a:pPr algn="l">
              <a:lnSpc>
                <a:spcPct val="105000"/>
              </a:lnSpc>
              <a:buNone/>
              <a:defRPr sz="1725" b="1">
                <a:solidFill>
                  <a:srgbClr val="10253F"/>
                </a:solidFill>
                <a:latin typeface="Helvetica Neue"/>
                <a:ea typeface="Helvetica Neue"/>
                <a:cs typeface="Helvetica Neue"/>
              </a:defRPr>
            </a:pPr>
            <a:r>
              <a:rPr sz="1725" b="1">
                <a:solidFill>
                  <a:srgbClr val="10253F"/>
                </a:solidFill>
                <a:latin typeface="Helvetica Neue"/>
                <a:ea typeface="Helvetica Neue"/>
                <a:cs typeface="Helvetica Neue"/>
              </a:rPr>
              <a:t>The system combines TinyLlama, dynamic DoLa layer contrast, an Epinet trained on C4 next-token features, and answer-level voting.</a:t>
            </a:r>
          </a:p>
        </p:txBody>
      </p:sp>
      <p:sp>
        <p:nvSpPr>
          <p:cNvPr id="9" name="">
            <a:extLst xmlns:a="http://schemas.openxmlformats.org/drawingml/2006/main">
              <a:ext uri="{FF2B5EF4-FFF2-40B4-BE49-F238E27FC236}">
                <a16:creationId xmlns:a16="http://schemas.microsoft.com/office/drawing/2014/main" id="{2628049A-11AF-4F88-8E52-7531925BF3FE}"/>
              </a:ext>
            </a:extLst>
          </p:cNvPr>
          <p:cNvSpPr>
            <a:spLocks xmlns:a="http://schemas.openxmlformats.org/drawingml/2006/main" noGrp="1"/>
          </p:cNvSpPr>
          <p:nvPr/>
        </p:nvSpPr>
        <p:spPr>
          <a:xfrm xmlns:a="http://schemas.openxmlformats.org/drawingml/2006/main">
            <a:off x="685800" y="3028950"/>
            <a:ext cx="48577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a:solidFill>
                  <a:srgbClr val="536477"/>
                </a:solidFill>
                <a:latin typeface="Helvetica Neue"/>
                <a:ea typeface="Helvetica Neue"/>
                <a:cs typeface="Helvetica Neue"/>
              </a:defRPr>
            </a:defPPr>
          </a:lstStyle>
          <a:p xmlns:a="http://schemas.openxmlformats.org/drawingml/2006/main">
            <a:pPr algn="l">
              <a:lnSpc>
                <a:spcPct val="105000"/>
              </a:lnSpc>
              <a:buNone/>
              <a:defRPr sz="1275" b="0">
                <a:solidFill>
                  <a:srgbClr val="536477"/>
                </a:solidFill>
                <a:latin typeface="Helvetica Neue"/>
                <a:ea typeface="Helvetica Neue"/>
                <a:cs typeface="Helvetica Neue"/>
              </a:defRPr>
            </a:pPr>
            <a:r>
              <a:rPr sz="1275" b="0">
                <a:solidFill>
                  <a:srgbClr val="536477"/>
                </a:solidFill>
                <a:latin typeface="Helvetica Neue"/>
                <a:ea typeface="Helvetica Neue"/>
                <a:cs typeface="Helvetica Neue"/>
              </a:rPr>
              <a:t>The repository supports evaluation on TruthfulQA and a local question set. No benchmark result is available in the inspected workspace.</a:t>
            </a:r>
          </a:p>
        </p:txBody>
      </p:sp>
      <p:sp>
        <p:nvSpPr>
          <p:cNvPr id="10" name="">
            <a:extLst xmlns:a="http://schemas.openxmlformats.org/drawingml/2006/main">
              <a:ext uri="{FF2B5EF4-FFF2-40B4-BE49-F238E27FC236}">
                <a16:creationId xmlns:a16="http://schemas.microsoft.com/office/drawing/2014/main" id="{08B4DF6E-C14B-4F2F-ABFE-2D4B10A6F568}"/>
              </a:ext>
            </a:extLst>
          </p:cNvPr>
          <p:cNvSpPr>
            <a:spLocks xmlns:a="http://schemas.openxmlformats.org/drawingml/2006/main" noGrp="1"/>
          </p:cNvSpPr>
          <p:nvPr/>
        </p:nvSpPr>
        <p:spPr>
          <a:xfrm xmlns:a="http://schemas.openxmlformats.org/drawingml/2006/main" flipV="0">
            <a:off x="6000750" y="1466850"/>
            <a:ext cx="0" cy="3429000"/>
          </a:xfrm>
          <a:prstGeom xmlns:a="http://schemas.openxmlformats.org/drawingml/2006/main" prst="line">
            <a:avLst/>
          </a:prstGeom>
          <a:noFill xmlns:a="http://schemas.openxmlformats.org/drawingml/2006/main"/>
          <a:ln xmlns:a="http://schemas.openxmlformats.org/drawingml/2006/main" w="9525">
            <a:solidFill>
              <a:srgbClr val="D6DEE8"/>
            </a:solidFill>
            <a:prstDash val="solid"/>
          </a:ln>
        </p:spPr>
      </p:sp>
      <p:sp>
        <p:nvSpPr>
          <p:cNvPr id="11" name="">
            <a:extLst xmlns:a="http://schemas.openxmlformats.org/drawingml/2006/main">
              <a:ext uri="{FF2B5EF4-FFF2-40B4-BE49-F238E27FC236}">
                <a16:creationId xmlns:a16="http://schemas.microsoft.com/office/drawing/2014/main" id="{1036947B-D3B7-4420-9BAE-A7F9170897F9}"/>
              </a:ext>
            </a:extLst>
          </p:cNvPr>
          <p:cNvSpPr>
            <a:spLocks xmlns:a="http://schemas.openxmlformats.org/drawingml/2006/main" noGrp="1"/>
          </p:cNvSpPr>
          <p:nvPr/>
        </p:nvSpPr>
        <p:spPr>
          <a:xfrm xmlns:a="http://schemas.openxmlformats.org/drawingml/2006/main">
            <a:off x="6457950" y="1466850"/>
            <a:ext cx="2286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1">
                <a:solidFill>
                  <a:srgbClr val="148A8A"/>
                </a:solidFill>
                <a:latin typeface="Helvetica Neue"/>
                <a:ea typeface="Helvetica Neue"/>
                <a:cs typeface="Helvetica Neue"/>
              </a:defRPr>
            </a:defPPr>
          </a:lstStyle>
          <a:p xmlns:a="http://schemas.openxmlformats.org/drawingml/2006/main">
            <a:pPr algn="l">
              <a:lnSpc>
                <a:spcPct val="105000"/>
              </a:lnSpc>
              <a:buNone/>
              <a:defRPr sz="975" b="1">
                <a:solidFill>
                  <a:srgbClr val="148A8A"/>
                </a:solidFill>
                <a:latin typeface="Helvetica Neue"/>
                <a:ea typeface="Helvetica Neue"/>
                <a:cs typeface="Helvetica Neue"/>
              </a:defRPr>
            </a:pPr>
            <a:r>
              <a:rPr sz="975" b="1">
                <a:solidFill>
                  <a:srgbClr val="148A8A"/>
                </a:solidFill>
                <a:latin typeface="Helvetica Neue"/>
                <a:ea typeface="Helvetica Neue"/>
                <a:cs typeface="Helvetica Neue"/>
              </a:rPr>
              <a:t>FUTURE WORK</a:t>
            </a:r>
          </a:p>
        </p:txBody>
      </p:sp>
      <p:sp>
        <p:nvSpPr>
          <p:cNvPr id="12" name="">
            <a:extLst xmlns:a="http://schemas.openxmlformats.org/drawingml/2006/main">
              <a:ext uri="{FF2B5EF4-FFF2-40B4-BE49-F238E27FC236}">
                <a16:creationId xmlns:a16="http://schemas.microsoft.com/office/drawing/2014/main" id="{93B13B95-DE0D-4022-8387-6FEFE23B93C0}"/>
              </a:ext>
            </a:extLst>
          </p:cNvPr>
          <p:cNvSpPr>
            <a:spLocks xmlns:a="http://schemas.openxmlformats.org/drawingml/2006/main" noGrp="1"/>
          </p:cNvSpPr>
          <p:nvPr/>
        </p:nvSpPr>
        <p:spPr>
          <a:xfrm xmlns:a="http://schemas.openxmlformats.org/drawingml/2006/main">
            <a:off x="6477000" y="1857375"/>
            <a:ext cx="247650" cy="247650"/>
          </a:xfrm>
          <a:prstGeom xmlns:a="http://schemas.openxmlformats.org/drawingml/2006/main" prst="ellipse">
            <a:avLst/>
          </a:prstGeom>
          <a:solidFill xmlns:a="http://schemas.openxmlformats.org/drawingml/2006/main">
            <a:srgbClr val="DDF3F1"/>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60CD0D06-5DA7-4C11-8C1C-8110D12A09DA}"/>
              </a:ext>
            </a:extLst>
          </p:cNvPr>
          <p:cNvSpPr>
            <a:spLocks xmlns:a="http://schemas.openxmlformats.org/drawingml/2006/main" noGrp="1"/>
          </p:cNvSpPr>
          <p:nvPr/>
        </p:nvSpPr>
        <p:spPr>
          <a:xfrm xmlns:a="http://schemas.openxmlformats.org/drawingml/2006/main">
            <a:off x="6477000" y="1905000"/>
            <a:ext cx="247650"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900" b="1">
                <a:solidFill>
                  <a:srgbClr val="148A8A"/>
                </a:solidFill>
                <a:latin typeface="Helvetica Neue"/>
                <a:ea typeface="Helvetica Neue"/>
                <a:cs typeface="Helvetica Neue"/>
              </a:defRPr>
            </a:defPPr>
          </a:lstStyle>
          <a:p xmlns:a="http://schemas.openxmlformats.org/drawingml/2006/main">
            <a:pPr algn="ctr">
              <a:lnSpc>
                <a:spcPct val="105000"/>
              </a:lnSpc>
              <a:buNone/>
              <a:defRPr sz="900" b="1">
                <a:solidFill>
                  <a:srgbClr val="148A8A"/>
                </a:solidFill>
                <a:latin typeface="Helvetica Neue"/>
                <a:ea typeface="Helvetica Neue"/>
                <a:cs typeface="Helvetica Neue"/>
              </a:defRPr>
            </a:pPr>
            <a:r>
              <a:rPr sz="900" b="1">
                <a:solidFill>
                  <a:srgbClr val="148A8A"/>
                </a:solidFill>
                <a:latin typeface="Helvetica Neue"/>
                <a:ea typeface="Helvetica Neue"/>
                <a:cs typeface="Helvetica Neue"/>
              </a:rPr>
              <a:t>1</a:t>
            </a:r>
          </a:p>
        </p:txBody>
      </p:sp>
      <p:sp>
        <p:nvSpPr>
          <p:cNvPr id="14" name="">
            <a:extLst xmlns:a="http://schemas.openxmlformats.org/drawingml/2006/main">
              <a:ext uri="{FF2B5EF4-FFF2-40B4-BE49-F238E27FC236}">
                <a16:creationId xmlns:a16="http://schemas.microsoft.com/office/drawing/2014/main" id="{D0B567CF-C374-407E-9898-B5C471FD6029}"/>
              </a:ext>
            </a:extLst>
          </p:cNvPr>
          <p:cNvSpPr>
            <a:spLocks xmlns:a="http://schemas.openxmlformats.org/drawingml/2006/main" noGrp="1"/>
          </p:cNvSpPr>
          <p:nvPr/>
        </p:nvSpPr>
        <p:spPr>
          <a:xfrm xmlns:a="http://schemas.openxmlformats.org/drawingml/2006/main">
            <a:off x="6896100" y="1847850"/>
            <a:ext cx="43624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a:solidFill>
                  <a:srgbClr val="13283F"/>
                </a:solidFill>
                <a:latin typeface="Helvetica Neue"/>
                <a:ea typeface="Helvetica Neue"/>
                <a:cs typeface="Helvetica Neue"/>
              </a:defRPr>
            </a:defPPr>
          </a:lstStyle>
          <a:p xmlns:a="http://schemas.openxmlformats.org/drawingml/2006/main">
            <a:pPr algn="l">
              <a:lnSpc>
                <a:spcPct val="105000"/>
              </a:lnSpc>
              <a:buNone/>
              <a:defRPr sz="1275" b="0">
                <a:solidFill>
                  <a:srgbClr val="13283F"/>
                </a:solidFill>
                <a:latin typeface="Helvetica Neue"/>
                <a:ea typeface="Helvetica Neue"/>
                <a:cs typeface="Helvetica Neue"/>
              </a:defRPr>
            </a:pPr>
            <a:r>
              <a:rPr sz="1275" b="0">
                <a:solidFill>
                  <a:srgbClr val="13283F"/>
                </a:solidFill>
                <a:latin typeface="Helvetica Neue"/>
                <a:ea typeface="Helvetica Neue"/>
                <a:cs typeface="Helvetica Neue"/>
              </a:rPr>
              <a:t>Train and archive the active PyTorch ENN checkpoint</a:t>
            </a:r>
          </a:p>
        </p:txBody>
      </p:sp>
      <p:sp>
        <p:nvSpPr>
          <p:cNvPr id="15" name="">
            <a:extLst xmlns:a="http://schemas.openxmlformats.org/drawingml/2006/main">
              <a:ext uri="{FF2B5EF4-FFF2-40B4-BE49-F238E27FC236}">
                <a16:creationId xmlns:a16="http://schemas.microsoft.com/office/drawing/2014/main" id="{1B7EC349-683F-4C8E-9F7F-5FEA5DA7FE2F}"/>
              </a:ext>
            </a:extLst>
          </p:cNvPr>
          <p:cNvSpPr>
            <a:spLocks xmlns:a="http://schemas.openxmlformats.org/drawingml/2006/main" noGrp="1"/>
          </p:cNvSpPr>
          <p:nvPr/>
        </p:nvSpPr>
        <p:spPr>
          <a:xfrm xmlns:a="http://schemas.openxmlformats.org/drawingml/2006/main">
            <a:off x="6477000" y="2524125"/>
            <a:ext cx="247650" cy="247650"/>
          </a:xfrm>
          <a:prstGeom xmlns:a="http://schemas.openxmlformats.org/drawingml/2006/main" prst="ellipse">
            <a:avLst/>
          </a:prstGeom>
          <a:solidFill xmlns:a="http://schemas.openxmlformats.org/drawingml/2006/main">
            <a:srgbClr val="DDF3F1"/>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6EE0EE64-80E0-4FFA-B52A-8D6F5ACA68A7}"/>
              </a:ext>
            </a:extLst>
          </p:cNvPr>
          <p:cNvSpPr>
            <a:spLocks xmlns:a="http://schemas.openxmlformats.org/drawingml/2006/main" noGrp="1"/>
          </p:cNvSpPr>
          <p:nvPr/>
        </p:nvSpPr>
        <p:spPr>
          <a:xfrm xmlns:a="http://schemas.openxmlformats.org/drawingml/2006/main">
            <a:off x="6477000" y="2571750"/>
            <a:ext cx="247650"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900" b="1">
                <a:solidFill>
                  <a:srgbClr val="148A8A"/>
                </a:solidFill>
                <a:latin typeface="Helvetica Neue"/>
                <a:ea typeface="Helvetica Neue"/>
                <a:cs typeface="Helvetica Neue"/>
              </a:defRPr>
            </a:defPPr>
          </a:lstStyle>
          <a:p xmlns:a="http://schemas.openxmlformats.org/drawingml/2006/main">
            <a:pPr algn="ctr">
              <a:lnSpc>
                <a:spcPct val="105000"/>
              </a:lnSpc>
              <a:buNone/>
              <a:defRPr sz="900" b="1">
                <a:solidFill>
                  <a:srgbClr val="148A8A"/>
                </a:solidFill>
                <a:latin typeface="Helvetica Neue"/>
                <a:ea typeface="Helvetica Neue"/>
                <a:cs typeface="Helvetica Neue"/>
              </a:defRPr>
            </a:pPr>
            <a:r>
              <a:rPr sz="900" b="1">
                <a:solidFill>
                  <a:srgbClr val="148A8A"/>
                </a:solidFill>
                <a:latin typeface="Helvetica Neue"/>
                <a:ea typeface="Helvetica Neue"/>
                <a:cs typeface="Helvetica Neue"/>
              </a:rPr>
              <a:t>2</a:t>
            </a:r>
          </a:p>
        </p:txBody>
      </p:sp>
      <p:sp>
        <p:nvSpPr>
          <p:cNvPr id="17" name="">
            <a:extLst xmlns:a="http://schemas.openxmlformats.org/drawingml/2006/main">
              <a:ext uri="{FF2B5EF4-FFF2-40B4-BE49-F238E27FC236}">
                <a16:creationId xmlns:a16="http://schemas.microsoft.com/office/drawing/2014/main" id="{3465D6CB-E396-48C4-9DF0-C5FA7B8D3260}"/>
              </a:ext>
            </a:extLst>
          </p:cNvPr>
          <p:cNvSpPr>
            <a:spLocks xmlns:a="http://schemas.openxmlformats.org/drawingml/2006/main" noGrp="1"/>
          </p:cNvSpPr>
          <p:nvPr/>
        </p:nvSpPr>
        <p:spPr>
          <a:xfrm xmlns:a="http://schemas.openxmlformats.org/drawingml/2006/main">
            <a:off x="6896100" y="2514600"/>
            <a:ext cx="43624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a:solidFill>
                  <a:srgbClr val="13283F"/>
                </a:solidFill>
                <a:latin typeface="Helvetica Neue"/>
                <a:ea typeface="Helvetica Neue"/>
                <a:cs typeface="Helvetica Neue"/>
              </a:defRPr>
            </a:defPPr>
          </a:lstStyle>
          <a:p xmlns:a="http://schemas.openxmlformats.org/drawingml/2006/main">
            <a:pPr algn="l">
              <a:lnSpc>
                <a:spcPct val="105000"/>
              </a:lnSpc>
              <a:buNone/>
              <a:defRPr sz="1275" b="0">
                <a:solidFill>
                  <a:srgbClr val="13283F"/>
                </a:solidFill>
                <a:latin typeface="Helvetica Neue"/>
                <a:ea typeface="Helvetica Neue"/>
                <a:cs typeface="Helvetica Neue"/>
              </a:defRPr>
            </a:pPr>
            <a:r>
              <a:rPr sz="1275" b="0">
                <a:solidFill>
                  <a:srgbClr val="13283F"/>
                </a:solidFill>
                <a:latin typeface="Helvetica Neue"/>
                <a:ea typeface="Helvetica Neue"/>
                <a:cs typeface="Helvetica Neue"/>
              </a:rPr>
              <a:t>Run held-out TruthfulQA and larger QA evaluations</a:t>
            </a:r>
          </a:p>
        </p:txBody>
      </p:sp>
      <p:sp>
        <p:nvSpPr>
          <p:cNvPr id="18" name="">
            <a:extLst xmlns:a="http://schemas.openxmlformats.org/drawingml/2006/main">
              <a:ext uri="{FF2B5EF4-FFF2-40B4-BE49-F238E27FC236}">
                <a16:creationId xmlns:a16="http://schemas.microsoft.com/office/drawing/2014/main" id="{30F8A5A4-88D9-417C-BE23-C87684B9CF60}"/>
              </a:ext>
            </a:extLst>
          </p:cNvPr>
          <p:cNvSpPr>
            <a:spLocks xmlns:a="http://schemas.openxmlformats.org/drawingml/2006/main" noGrp="1"/>
          </p:cNvSpPr>
          <p:nvPr/>
        </p:nvSpPr>
        <p:spPr>
          <a:xfrm xmlns:a="http://schemas.openxmlformats.org/drawingml/2006/main">
            <a:off x="6477000" y="3190875"/>
            <a:ext cx="247650" cy="247650"/>
          </a:xfrm>
          <a:prstGeom xmlns:a="http://schemas.openxmlformats.org/drawingml/2006/main" prst="ellipse">
            <a:avLst/>
          </a:prstGeom>
          <a:solidFill xmlns:a="http://schemas.openxmlformats.org/drawingml/2006/main">
            <a:srgbClr val="DDF3F1"/>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C1ED9AFF-423A-483C-8F8E-C2FC9DCD6D6A}"/>
              </a:ext>
            </a:extLst>
          </p:cNvPr>
          <p:cNvSpPr>
            <a:spLocks xmlns:a="http://schemas.openxmlformats.org/drawingml/2006/main" noGrp="1"/>
          </p:cNvSpPr>
          <p:nvPr/>
        </p:nvSpPr>
        <p:spPr>
          <a:xfrm xmlns:a="http://schemas.openxmlformats.org/drawingml/2006/main">
            <a:off x="6477000" y="3238500"/>
            <a:ext cx="247650"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900" b="1">
                <a:solidFill>
                  <a:srgbClr val="148A8A"/>
                </a:solidFill>
                <a:latin typeface="Helvetica Neue"/>
                <a:ea typeface="Helvetica Neue"/>
                <a:cs typeface="Helvetica Neue"/>
              </a:defRPr>
            </a:defPPr>
          </a:lstStyle>
          <a:p xmlns:a="http://schemas.openxmlformats.org/drawingml/2006/main">
            <a:pPr algn="ctr">
              <a:lnSpc>
                <a:spcPct val="105000"/>
              </a:lnSpc>
              <a:buNone/>
              <a:defRPr sz="900" b="1">
                <a:solidFill>
                  <a:srgbClr val="148A8A"/>
                </a:solidFill>
                <a:latin typeface="Helvetica Neue"/>
                <a:ea typeface="Helvetica Neue"/>
                <a:cs typeface="Helvetica Neue"/>
              </a:defRPr>
            </a:pPr>
            <a:r>
              <a:rPr sz="900" b="1">
                <a:solidFill>
                  <a:srgbClr val="148A8A"/>
                </a:solidFill>
                <a:latin typeface="Helvetica Neue"/>
                <a:ea typeface="Helvetica Neue"/>
                <a:cs typeface="Helvetica Neue"/>
              </a:rPr>
              <a:t>3</a:t>
            </a:r>
          </a:p>
        </p:txBody>
      </p:sp>
      <p:sp>
        <p:nvSpPr>
          <p:cNvPr id="20" name="">
            <a:extLst xmlns:a="http://schemas.openxmlformats.org/drawingml/2006/main">
              <a:ext uri="{FF2B5EF4-FFF2-40B4-BE49-F238E27FC236}">
                <a16:creationId xmlns:a16="http://schemas.microsoft.com/office/drawing/2014/main" id="{64B07557-510D-4B97-B5F3-1E45909C1BF8}"/>
              </a:ext>
            </a:extLst>
          </p:cNvPr>
          <p:cNvSpPr>
            <a:spLocks xmlns:a="http://schemas.openxmlformats.org/drawingml/2006/main" noGrp="1"/>
          </p:cNvSpPr>
          <p:nvPr/>
        </p:nvSpPr>
        <p:spPr>
          <a:xfrm xmlns:a="http://schemas.openxmlformats.org/drawingml/2006/main">
            <a:off x="6896100" y="3181350"/>
            <a:ext cx="43624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a:solidFill>
                  <a:srgbClr val="13283F"/>
                </a:solidFill>
                <a:latin typeface="Helvetica Neue"/>
                <a:ea typeface="Helvetica Neue"/>
                <a:cs typeface="Helvetica Neue"/>
              </a:defRPr>
            </a:defPPr>
          </a:lstStyle>
          <a:p xmlns:a="http://schemas.openxmlformats.org/drawingml/2006/main">
            <a:pPr algn="l">
              <a:lnSpc>
                <a:spcPct val="105000"/>
              </a:lnSpc>
              <a:buNone/>
              <a:defRPr sz="1275" b="0">
                <a:solidFill>
                  <a:srgbClr val="13283F"/>
                </a:solidFill>
                <a:latin typeface="Helvetica Neue"/>
                <a:ea typeface="Helvetica Neue"/>
                <a:cs typeface="Helvetica Neue"/>
              </a:defRPr>
            </a:pPr>
            <a:r>
              <a:rPr sz="1275" b="0">
                <a:solidFill>
                  <a:srgbClr val="13283F"/>
                </a:solidFill>
                <a:latin typeface="Helvetica Neue"/>
                <a:ea typeface="Helvetica Neue"/>
                <a:cs typeface="Helvetica Neue"/>
              </a:rPr>
              <a:t>Report repeated seeds, calibration, and risk–coverage</a:t>
            </a:r>
          </a:p>
        </p:txBody>
      </p:sp>
      <p:sp>
        <p:nvSpPr>
          <p:cNvPr id="21" name="">
            <a:extLst xmlns:a="http://schemas.openxmlformats.org/drawingml/2006/main">
              <a:ext uri="{FF2B5EF4-FFF2-40B4-BE49-F238E27FC236}">
                <a16:creationId xmlns:a16="http://schemas.microsoft.com/office/drawing/2014/main" id="{0447E3A0-345C-4099-A4C5-442623C7FA4F}"/>
              </a:ext>
            </a:extLst>
          </p:cNvPr>
          <p:cNvSpPr>
            <a:spLocks xmlns:a="http://schemas.openxmlformats.org/drawingml/2006/main" noGrp="1"/>
          </p:cNvSpPr>
          <p:nvPr/>
        </p:nvSpPr>
        <p:spPr>
          <a:xfrm xmlns:a="http://schemas.openxmlformats.org/drawingml/2006/main">
            <a:off x="6477000" y="3857625"/>
            <a:ext cx="247650" cy="247650"/>
          </a:xfrm>
          <a:prstGeom xmlns:a="http://schemas.openxmlformats.org/drawingml/2006/main" prst="ellipse">
            <a:avLst/>
          </a:prstGeom>
          <a:solidFill xmlns:a="http://schemas.openxmlformats.org/drawingml/2006/main">
            <a:srgbClr val="DDF3F1"/>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1BFDE8F4-11F2-4F16-9156-6EEAE3B09E69}"/>
              </a:ext>
            </a:extLst>
          </p:cNvPr>
          <p:cNvSpPr>
            <a:spLocks xmlns:a="http://schemas.openxmlformats.org/drawingml/2006/main" noGrp="1"/>
          </p:cNvSpPr>
          <p:nvPr/>
        </p:nvSpPr>
        <p:spPr>
          <a:xfrm xmlns:a="http://schemas.openxmlformats.org/drawingml/2006/main">
            <a:off x="6477000" y="3905250"/>
            <a:ext cx="247650"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900" b="1">
                <a:solidFill>
                  <a:srgbClr val="148A8A"/>
                </a:solidFill>
                <a:latin typeface="Helvetica Neue"/>
                <a:ea typeface="Helvetica Neue"/>
                <a:cs typeface="Helvetica Neue"/>
              </a:defRPr>
            </a:defPPr>
          </a:lstStyle>
          <a:p xmlns:a="http://schemas.openxmlformats.org/drawingml/2006/main">
            <a:pPr algn="ctr">
              <a:lnSpc>
                <a:spcPct val="105000"/>
              </a:lnSpc>
              <a:buNone/>
              <a:defRPr sz="900" b="1">
                <a:solidFill>
                  <a:srgbClr val="148A8A"/>
                </a:solidFill>
                <a:latin typeface="Helvetica Neue"/>
                <a:ea typeface="Helvetica Neue"/>
                <a:cs typeface="Helvetica Neue"/>
              </a:defRPr>
            </a:pPr>
            <a:r>
              <a:rPr sz="900" b="1">
                <a:solidFill>
                  <a:srgbClr val="148A8A"/>
                </a:solidFill>
                <a:latin typeface="Helvetica Neue"/>
                <a:ea typeface="Helvetica Neue"/>
                <a:cs typeface="Helvetica Neue"/>
              </a:rPr>
              <a:t>4</a:t>
            </a:r>
          </a:p>
        </p:txBody>
      </p:sp>
      <p:sp>
        <p:nvSpPr>
          <p:cNvPr id="23" name="">
            <a:extLst xmlns:a="http://schemas.openxmlformats.org/drawingml/2006/main">
              <a:ext uri="{FF2B5EF4-FFF2-40B4-BE49-F238E27FC236}">
                <a16:creationId xmlns:a16="http://schemas.microsoft.com/office/drawing/2014/main" id="{2C01CE56-C5E1-4157-A38D-3325704C44DB}"/>
              </a:ext>
            </a:extLst>
          </p:cNvPr>
          <p:cNvSpPr>
            <a:spLocks xmlns:a="http://schemas.openxmlformats.org/drawingml/2006/main" noGrp="1"/>
          </p:cNvSpPr>
          <p:nvPr/>
        </p:nvSpPr>
        <p:spPr>
          <a:xfrm xmlns:a="http://schemas.openxmlformats.org/drawingml/2006/main">
            <a:off x="6896100" y="3848100"/>
            <a:ext cx="43624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a:solidFill>
                  <a:srgbClr val="13283F"/>
                </a:solidFill>
                <a:latin typeface="Helvetica Neue"/>
                <a:ea typeface="Helvetica Neue"/>
                <a:cs typeface="Helvetica Neue"/>
              </a:defRPr>
            </a:defPPr>
          </a:lstStyle>
          <a:p xmlns:a="http://schemas.openxmlformats.org/drawingml/2006/main">
            <a:pPr algn="l">
              <a:lnSpc>
                <a:spcPct val="105000"/>
              </a:lnSpc>
              <a:buNone/>
              <a:defRPr sz="1275" b="0">
                <a:solidFill>
                  <a:srgbClr val="13283F"/>
                </a:solidFill>
                <a:latin typeface="Helvetica Neue"/>
                <a:ea typeface="Helvetica Neue"/>
                <a:cs typeface="Helvetica Neue"/>
              </a:defRPr>
            </a:pPr>
            <a:r>
              <a:rPr sz="1275" b="0">
                <a:solidFill>
                  <a:srgbClr val="13283F"/>
                </a:solidFill>
                <a:latin typeface="Helvetica Neue"/>
                <a:ea typeface="Helvetica Neue"/>
                <a:cs typeface="Helvetica Neue"/>
              </a:rPr>
              <a:t>Profile inference time and memory on documented hardware</a:t>
            </a:r>
          </a:p>
        </p:txBody>
      </p:sp>
      <p:sp>
        <p:nvSpPr>
          <p:cNvPr id="24" name="">
            <a:extLst xmlns:a="http://schemas.openxmlformats.org/drawingml/2006/main">
              <a:ext uri="{FF2B5EF4-FFF2-40B4-BE49-F238E27FC236}">
                <a16:creationId xmlns:a16="http://schemas.microsoft.com/office/drawing/2014/main" id="{A34A6B9A-1D12-4CA8-94AD-74A0A9CEAB42}"/>
              </a:ext>
            </a:extLst>
          </p:cNvPr>
          <p:cNvSpPr>
            <a:spLocks xmlns:a="http://schemas.openxmlformats.org/drawingml/2006/main" noGrp="1"/>
          </p:cNvSpPr>
          <p:nvPr/>
        </p:nvSpPr>
        <p:spPr>
          <a:xfrm xmlns:a="http://schemas.openxmlformats.org/drawingml/2006/main" flipV="0">
            <a:off x="685800" y="5314950"/>
            <a:ext cx="10668000" cy="0"/>
          </a:xfrm>
          <a:prstGeom xmlns:a="http://schemas.openxmlformats.org/drawingml/2006/main" prst="line">
            <a:avLst/>
          </a:prstGeom>
          <a:noFill xmlns:a="http://schemas.openxmlformats.org/drawingml/2006/main"/>
          <a:ln xmlns:a="http://schemas.openxmlformats.org/drawingml/2006/main" w="9525">
            <a:solidFill>
              <a:srgbClr val="D6DEE8"/>
            </a:solidFill>
            <a:prstDash val="solid"/>
          </a:ln>
        </p:spPr>
      </p:sp>
      <p:sp>
        <p:nvSpPr>
          <p:cNvPr id="25" name="">
            <a:extLst xmlns:a="http://schemas.openxmlformats.org/drawingml/2006/main">
              <a:ext uri="{FF2B5EF4-FFF2-40B4-BE49-F238E27FC236}">
                <a16:creationId xmlns:a16="http://schemas.microsoft.com/office/drawing/2014/main" id="{3DA1DAB1-732F-493D-B58E-A3394C979365}"/>
              </a:ext>
            </a:extLst>
          </p:cNvPr>
          <p:cNvSpPr>
            <a:spLocks xmlns:a="http://schemas.openxmlformats.org/drawingml/2006/main" noGrp="1"/>
          </p:cNvSpPr>
          <p:nvPr/>
        </p:nvSpPr>
        <p:spPr>
          <a:xfrm xmlns:a="http://schemas.openxmlformats.org/drawingml/2006/main">
            <a:off x="685800" y="5524500"/>
            <a:ext cx="4857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250" b="1">
                <a:solidFill>
                  <a:srgbClr val="10253F"/>
                </a:solidFill>
                <a:latin typeface="Helvetica Neue"/>
                <a:ea typeface="Helvetica Neue"/>
                <a:cs typeface="Helvetica Neue"/>
              </a:defRPr>
            </a:defPPr>
          </a:lstStyle>
          <a:p xmlns:a="http://schemas.openxmlformats.org/drawingml/2006/main">
            <a:pPr algn="l">
              <a:lnSpc>
                <a:spcPct val="105000"/>
              </a:lnSpc>
              <a:buNone/>
              <a:defRPr sz="2250" b="1">
                <a:solidFill>
                  <a:srgbClr val="10253F"/>
                </a:solidFill>
                <a:latin typeface="Helvetica Neue"/>
                <a:ea typeface="Helvetica Neue"/>
                <a:cs typeface="Helvetica Neue"/>
              </a:defRPr>
            </a:pPr>
            <a:r>
              <a:rPr sz="2250" b="1">
                <a:solidFill>
                  <a:srgbClr val="10253F"/>
                </a:solidFill>
                <a:latin typeface="Helvetica Neue"/>
                <a:ea typeface="Helvetica Neue"/>
                <a:cs typeface="Helvetica Neue"/>
              </a:rPr>
              <a:t>Thank You</a:t>
            </a:r>
          </a:p>
        </p:txBody>
      </p:sp>
      <p:sp>
        <p:nvSpPr>
          <p:cNvPr id="26" name="">
            <a:extLst xmlns:a="http://schemas.openxmlformats.org/drawingml/2006/main">
              <a:ext uri="{FF2B5EF4-FFF2-40B4-BE49-F238E27FC236}">
                <a16:creationId xmlns:a16="http://schemas.microsoft.com/office/drawing/2014/main" id="{DD3AEA4E-8563-4D05-805B-DB62C72B9FAC}"/>
              </a:ext>
            </a:extLst>
          </p:cNvPr>
          <p:cNvSpPr>
            <a:spLocks xmlns:a="http://schemas.openxmlformats.org/drawingml/2006/main" noGrp="1"/>
          </p:cNvSpPr>
          <p:nvPr/>
        </p:nvSpPr>
        <p:spPr>
          <a:xfrm xmlns:a="http://schemas.openxmlformats.org/drawingml/2006/main">
            <a:off x="685800" y="5962650"/>
            <a:ext cx="4857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1">
                <a:solidFill>
                  <a:srgbClr val="2864C5"/>
                </a:solidFill>
                <a:latin typeface="Helvetica Neue"/>
                <a:ea typeface="Helvetica Neue"/>
                <a:cs typeface="Helvetica Neue"/>
              </a:defRPr>
            </a:defPPr>
          </a:lstStyle>
          <a:p xmlns:a="http://schemas.openxmlformats.org/drawingml/2006/main">
            <a:pPr algn="l">
              <a:lnSpc>
                <a:spcPct val="105000"/>
              </a:lnSpc>
              <a:buNone/>
              <a:defRPr sz="1350" b="1">
                <a:solidFill>
                  <a:srgbClr val="2864C5"/>
                </a:solidFill>
                <a:latin typeface="Helvetica Neue"/>
                <a:ea typeface="Helvetica Neue"/>
                <a:cs typeface="Helvetica Neue"/>
              </a:defRPr>
            </a:pPr>
            <a:r>
              <a:rPr sz="1350" b="1">
                <a:solidFill>
                  <a:srgbClr val="2864C5"/>
                </a:solidFill>
                <a:latin typeface="Helvetica Neue"/>
                <a:ea typeface="Helvetica Neue"/>
                <a:cs typeface="Helvetica Neue"/>
              </a:rPr>
              <a:t>Questions &amp; Discussion</a:t>
            </a:r>
          </a:p>
        </p:txBody>
      </p:sp>
      <p:sp>
        <p:nvSpPr>
          <p:cNvPr id="27" name="">
            <a:extLst xmlns:a="http://schemas.openxmlformats.org/drawingml/2006/main">
              <a:ext uri="{FF2B5EF4-FFF2-40B4-BE49-F238E27FC236}">
                <a16:creationId xmlns:a16="http://schemas.microsoft.com/office/drawing/2014/main" id="{A5F98D76-BA30-400E-B89B-97B874A68E38}"/>
              </a:ext>
            </a:extLst>
          </p:cNvPr>
          <p:cNvSpPr>
            <a:spLocks xmlns:a="http://schemas.openxmlformats.org/drawingml/2006/main" noGrp="1"/>
          </p:cNvSpPr>
          <p:nvPr/>
        </p:nvSpPr>
        <p:spPr>
          <a:xfrm xmlns:a="http://schemas.openxmlformats.org/drawingml/2006/main">
            <a:off x="7467600" y="5762625"/>
            <a:ext cx="3810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1125" b="1">
                <a:solidFill>
                  <a:srgbClr val="536477"/>
                </a:solidFill>
                <a:latin typeface="Helvetica Neue"/>
                <a:ea typeface="Helvetica Neue"/>
                <a:cs typeface="Helvetica Neue"/>
              </a:defRPr>
            </a:defPPr>
          </a:lstStyle>
          <a:p xmlns:a="http://schemas.openxmlformats.org/drawingml/2006/main">
            <a:pPr algn="r">
              <a:lnSpc>
                <a:spcPct val="105000"/>
              </a:lnSpc>
              <a:buNone/>
              <a:defRPr sz="1125" b="1">
                <a:solidFill>
                  <a:srgbClr val="536477"/>
                </a:solidFill>
                <a:latin typeface="Helvetica Neue"/>
                <a:ea typeface="Helvetica Neue"/>
                <a:cs typeface="Helvetica Neue"/>
              </a:defRPr>
            </a:pPr>
            <a:r>
              <a:rPr sz="1125" b="1">
                <a:solidFill>
                  <a:srgbClr val="536477"/>
                </a:solidFill>
                <a:latin typeface="Helvetica Neue"/>
                <a:ea typeface="Helvetica Neue"/>
                <a:cs typeface="Helvetica Neue"/>
              </a:rPr>
              <a:t>SCOPE  ·  VIT-AP UNIVERSITY</a:t>
            </a:r>
          </a:p>
        </p:txBody>
      </p:sp>
    </p:spTree>
    <p:extLst>
      <p:ext uri="{BB962C8B-B14F-4D97-AF65-F5344CB8AC3E}">
        <p14:creationId xmlns:p14="http://schemas.microsoft.com/office/powerpoint/2010/main" val="189687553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2026-10-02T12:05:30.5960000Z</dcterms:created>
  <dcterms:modified xsi:type="dcterms:W3CDTF">2026-10-02T12:05:30.5960000Z</dcterms:modified>
</coreProperties>
</file>